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970" cy="6857983" type="screen4x3"/>
  <p:notesSz cx="6858000" cy="9144000"/>
  <p:embeddedFontLst>
    <p:embeddedFont>
      <p:font typeface="Poppins" charset="1" panose="00000500000000000000"/>
      <p:regular r:id="rIdFont1a"/>
      <p:bold r:id="rIdFont1b"/>
    </p:embeddedFont>
    <p:embeddedFont>
      <p:font typeface="Raleway" charset="1" panose="00000000000000000000"/>
      <p:regular r:id="rIdFont2a"/>
      <p:bold r:id="rIdFont2b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Font1a" Type="http://schemas.openxmlformats.org/officeDocument/2006/relationships/font" Target="fonts/font17.fntdata"/><Relationship Id="rIdFont1b" Type="http://schemas.openxmlformats.org/officeDocument/2006/relationships/font" Target="fonts/font19.fntdata"/><Relationship Id="rIdFont2a" Type="http://schemas.openxmlformats.org/officeDocument/2006/relationships/font" Target="fonts/font18.fntdata"/><Relationship Id="rIdFont2b" Type="http://schemas.openxmlformats.org/officeDocument/2006/relationships/font" Target="fonts/font1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png"/><Relationship Id="rId4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40.png"/><Relationship Id="rId4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44.png"/><Relationship Id="rId4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image" Target="../media/image49.png"/><Relationship Id="rId4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594359"/>
            <a:ext cx="699514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16">
                <a:solidFill>
                  <a:srgbClr val="CFE9F8"/>
                </a:solidFill>
                <a:latin typeface="Poppins"/>
              </a:rPr>
              <a:t>GROUP 4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905826"/>
            <a:ext cx="870506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260"/>
              </a:lnSpc>
              <a:buNone/>
            </a:pPr>
            <a:r>
              <a:rPr sz="6600" b="1" i="0">
                <a:solidFill>
                  <a:srgbClr val="FFFFFF"/>
                </a:solidFill>
                <a:latin typeface="Raleway"/>
              </a:rPr>
              <a:t>GESTALT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802698"/>
            <a:ext cx="870506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260"/>
              </a:lnSpc>
              <a:buNone/>
            </a:pPr>
            <a:r>
              <a:rPr sz="6600" b="1" i="0">
                <a:solidFill>
                  <a:srgbClr val="FFFFFF"/>
                </a:solidFill>
                <a:latin typeface="Raleway"/>
              </a:rPr>
              <a:t>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8" y="2791009"/>
            <a:ext cx="792782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80"/>
              </a:lnSpc>
              <a:buNone/>
            </a:pPr>
            <a:r>
              <a:rPr sz="1250" b="1" i="0" spc="180">
                <a:solidFill>
                  <a:srgbClr val="CFE9F8"/>
                </a:solidFill>
                <a:latin typeface="Raleway"/>
              </a:rPr>
              <a:t>AND ITS APPLICATION TO COUNSELLING</a:t>
            </a:r>
          </a:p>
        </p:txBody>
      </p:sp>
      <p:pic>
        <p:nvPicPr>
          <p:cNvPr id="8" name="Picture 7" descr="ti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284395"/>
            <a:ext cx="137160" cy="137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73477" y="3352975"/>
            <a:ext cx="388619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B7D6E9"/>
                </a:solidFill>
                <a:latin typeface="Poppins"/>
              </a:rPr>
              <a:t>PRESENTED BY</a:t>
            </a:r>
          </a:p>
        </p:txBody>
      </p:sp>
      <p:pic>
        <p:nvPicPr>
          <p:cNvPr id="10" name="Picture 9" descr="ti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657774"/>
            <a:ext cx="114300" cy="114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7757" y="3619674"/>
            <a:ext cx="334212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10"/>
              </a:lnSpc>
              <a:buNone/>
            </a:pPr>
            <a:r>
              <a:rPr sz="1350" b="1" i="0">
                <a:solidFill>
                  <a:srgbClr val="FFFFFF"/>
                </a:solidFill>
                <a:latin typeface="Poppins"/>
              </a:rPr>
              <a:t>Josephine Biwott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2429" y="364253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0" i="0">
                <a:solidFill>
                  <a:srgbClr val="D8EBF7"/>
                </a:solidFill>
                <a:latin typeface="Poppins"/>
              </a:rPr>
              <a:t>MACP/35996/0/26</a:t>
            </a:r>
          </a:p>
        </p:txBody>
      </p:sp>
      <p:pic>
        <p:nvPicPr>
          <p:cNvPr id="13" name="Picture 12" descr="ti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947334"/>
            <a:ext cx="114300" cy="114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7757" y="3909234"/>
            <a:ext cx="334212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10"/>
              </a:lnSpc>
              <a:buNone/>
            </a:pPr>
            <a:r>
              <a:rPr sz="1350" b="1" i="0">
                <a:solidFill>
                  <a:srgbClr val="FFFFFF"/>
                </a:solidFill>
                <a:latin typeface="Poppins"/>
              </a:rPr>
              <a:t>Cynthia Cherono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2429" y="393209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0" i="0">
                <a:solidFill>
                  <a:srgbClr val="D8EBF7"/>
                </a:solidFill>
                <a:latin typeface="Poppins"/>
              </a:rPr>
              <a:t>MACP/35785/4/26</a:t>
            </a:r>
          </a:p>
        </p:txBody>
      </p:sp>
      <p:pic>
        <p:nvPicPr>
          <p:cNvPr id="16" name="Picture 15" descr="ti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236893"/>
            <a:ext cx="114300" cy="114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27757" y="4198793"/>
            <a:ext cx="334212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10"/>
              </a:lnSpc>
              <a:buNone/>
            </a:pPr>
            <a:r>
              <a:rPr sz="1350" b="1" i="0">
                <a:solidFill>
                  <a:srgbClr val="FFFFFF"/>
                </a:solidFill>
                <a:latin typeface="Poppins"/>
              </a:rPr>
              <a:t>Yvonne Juliet Awuor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2429" y="4221653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0" i="0">
                <a:solidFill>
                  <a:srgbClr val="D8EBF7"/>
                </a:solidFill>
                <a:latin typeface="Poppins"/>
              </a:rPr>
              <a:t>MALD/36547/4/26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9981" y="3276592"/>
            <a:ext cx="357529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CFE9F8"/>
                </a:solidFill>
                <a:latin typeface="Poppins"/>
              </a:rPr>
              <a:t>COURSE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9981" y="3542339"/>
            <a:ext cx="357529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Poppins"/>
              </a:rPr>
              <a:t>MCP504 Theories of Counseling and Psychotherapy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9981" y="4208254"/>
            <a:ext cx="357529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CFE9F8"/>
                </a:solidFill>
                <a:latin typeface="Poppins"/>
              </a:rPr>
              <a:t>INSTITUTION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981" y="4474001"/>
            <a:ext cx="357529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9981" y="4898398"/>
            <a:ext cx="357529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CFE9F8"/>
                </a:solidFill>
                <a:latin typeface="Poppins"/>
              </a:rPr>
              <a:t>LECTURER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9981" y="5164146"/>
            <a:ext cx="357529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Poppins"/>
              </a:rPr>
              <a:t>Dr. Lucy Gachenia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478" y="6233144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0" i="0" spc="180">
                <a:solidFill>
                  <a:srgbClr val="B7D6E9"/>
                </a:solidFill>
                <a:latin typeface="Poppins"/>
              </a:rPr>
              <a:t>AWARENESS    PRESENCE    CONTACT</a:t>
            </a:r>
          </a:p>
        </p:txBody>
      </p:sp>
    </p:spTree>
  </p:cSld>
  <p:transition spd="slow" advOnClk="1" advTm="0">
    <p:fade thruBlk="1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15" presetID="22" presetClass="entr" presetSubtype="0" fill="hold" grpId="0" nodeType="afterEffect">
                      <p:stCondLst>
                        <p:cond delay="300"/>
                      </p:stCondLst>
                      <p:childTnLst>
                        <p:set>
                          <p:cBhvr>
                            <p:cTn id="1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1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112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24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12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0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36" presetID="22" presetClass="entr" presetSubtype="0" fill="hold" grpId="0" nodeType="afterEffect">
                      <p:stCondLst>
                        <p:cond delay="460"/>
                      </p:stCondLst>
                      <p:childTnLst>
                        <p:set>
                          <p:cBhvr>
                            <p:cTn id="13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2" dur="620"/>
                            <p:tgtEl>
                              <p:spTgt spid="6"/>
                            </p:tgtEl>
                          </p:cBhvr>
                        </p:animEffect>
                        <p:anim calcmode="lin" valueType="num">
                          <p:cBhvr additive="base">
                            <p:cTn id="133" dur="520" fill="hold"/>
                            <p:tgtEl>
                              <p:spTgt spid="6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45" presetID="10" presetClass="entr" presetSubtype="0" fill="hold" grpId="0" nodeType="afterEffect">
                      <p:stCondLst>
                        <p:cond delay="620"/>
                      </p:stCondLst>
                      <p:childTnLst>
                        <p:set>
                          <p:cBhvr>
                            <p:cTn id="1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1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57" presetID="10" presetClass="entr" presetSubtype="0" fill="hold" grpId="0" nodeType="afterEffect">
                      <p:stCondLst>
                        <p:cond delay="760"/>
                      </p:stCondLst>
                      <p:childTnLst>
                        <p:set>
                          <p:cBhvr>
                            <p:cTn id="1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3" dur="420"/>
                            <p:tgtEl>
                              <p:spTgt spid="8"/>
                            </p:tgtEl>
                          </p:cBhvr>
                        </p:animEffect>
                        <p:animScale>
                          <p:cBhvr>
                            <p:cTn id="154" dur="520" fill="hold"/>
                            <p:tgtEl>
                              <p:spTgt spid="8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66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1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2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78" presetID="10" presetClass="entr" presetSubtype="0" fill="hold" grpId="0" nodeType="afterEffect">
                      <p:stCondLst>
                        <p:cond delay="940"/>
                      </p:stCondLst>
                      <p:childTnLst>
                        <p:set>
                          <p:cBhvr>
                            <p:cTn id="1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4" dur="420"/>
                            <p:tgtEl>
                              <p:spTgt spid="10"/>
                            </p:tgtEl>
                          </p:cBhvr>
                        </p:animEffect>
                        <p:animScale>
                          <p:cBhvr>
                            <p:cTn id="175" dur="520" fill="hold"/>
                            <p:tgtEl>
                              <p:spTgt spid="1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87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19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3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96" presetID="10" presetClass="entr" presetSubtype="0" fill="hold" grpId="0" nodeType="afterEffect">
                      <p:stCondLst>
                        <p:cond delay="1060"/>
                      </p:stCondLst>
                      <p:childTnLst>
                        <p:set>
                          <p:cBhvr>
                            <p:cTn id="19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2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08" presetID="10" presetClass="entr" presetSubtype="0" fill="hold" grpId="0" nodeType="afterEffect">
                      <p:stCondLst>
                        <p:cond delay="1080"/>
                      </p:stCondLst>
                      <p:childTnLst>
                        <p:set>
                          <p:cBhvr>
                            <p:cTn id="2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4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205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17" presetID="10" presetClass="entr" presetSubtype="0" fill="hold" grpId="0" nodeType="afterEffect">
                      <p:stCondLst>
                        <p:cond delay="1140"/>
                      </p:stCondLst>
                      <p:childTnLst>
                        <p:set>
                          <p:cBhvr>
                            <p:cTn id="2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3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226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2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2" dur="52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238" presetID="10" presetClass="entr" presetSubtype="0" fill="hold" grpId="0" nodeType="afterEffect">
                      <p:stCondLst>
                        <p:cond delay="1220"/>
                      </p:stCondLst>
                      <p:childTnLst>
                        <p:set>
                          <p:cBhvr>
                            <p:cTn id="2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4" dur="420"/>
                            <p:tgtEl>
                              <p:spTgt spid="16"/>
                            </p:tgtEl>
                          </p:cBhvr>
                        </p:animEffect>
                        <p:animScale>
                          <p:cBhvr>
                            <p:cTn id="235" dur="520" fill="hold"/>
                            <p:tgtEl>
                              <p:spTgt spid="16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47" presetID="10" presetClass="entr" presetSubtype="0" fill="hold" grpId="0" nodeType="afterEffect">
                      <p:stCondLst>
                        <p:cond delay="1280"/>
                      </p:stCondLst>
                      <p:childTnLst>
                        <p:set>
                          <p:cBhvr>
                            <p:cTn id="25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3" dur="52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56" presetID="10" presetClass="entr" presetSubtype="0" fill="hold" grpId="0" nodeType="afterEffect">
                      <p:stCondLst>
                        <p:cond delay="1340"/>
                      </p:stCondLst>
                      <p:childTnLst>
                        <p:set>
                          <p:cBhvr>
                            <p:cTn id="25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2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65" presetID="10" presetClass="entr" presetSubtype="0" fill="hold" grpId="0" nodeType="afterEffect">
                      <p:stCondLst>
                        <p:cond delay="1500"/>
                      </p:stCondLst>
                      <p:childTnLst>
                        <p:set>
                          <p:cBhvr>
                            <p:cTn id="2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1" dur="52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77" presetID="22" presetClass="entr" presetSubtype="0" fill="hold" grpId="0" nodeType="afterEffect">
                      <p:stCondLst>
                        <p:cond delay="1560"/>
                      </p:stCondLst>
                      <p:childTnLst>
                        <p:set>
                          <p:cBhvr>
                            <p:cTn id="2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3" dur="620"/>
                            <p:tgtEl>
                              <p:spTgt spid="20"/>
                            </p:tgtEl>
                          </p:cBhvr>
                        </p:animEffect>
                        <p:anim calcmode="lin" valueType="num">
                          <p:cBhvr additive="base">
                            <p:cTn id="274" dur="520" fill="hold"/>
                            <p:tgtEl>
                              <p:spTgt spid="2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86" presetID="10" presetClass="entr" presetSubtype="0" fill="hold" grpId="0" nodeType="afterEffect">
                      <p:stCondLst>
                        <p:cond delay="1620"/>
                      </p:stCondLst>
                      <p:childTnLst>
                        <p:set>
                          <p:cBhvr>
                            <p:cTn id="28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2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298" presetID="22" presetClass="entr" presetSubtype="0" fill="hold" grpId="0" nodeType="afterEffect">
                      <p:stCondLst>
                        <p:cond delay="1680"/>
                      </p:stCondLst>
                      <p:childTnLst>
                        <p:set>
                          <p:cBhvr>
                            <p:cTn id="3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4" dur="620"/>
                            <p:tgtEl>
                              <p:spTgt spid="22"/>
                            </p:tgtEl>
                          </p:cBhvr>
                        </p:animEffect>
                        <p:anim calcmode="lin" valueType="num">
                          <p:cBhvr additive="base">
                            <p:cTn id="295" dur="520" fill="hold"/>
                            <p:tgtEl>
                              <p:spTgt spid="22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307" presetID="10" presetClass="entr" presetSubtype="0" fill="hold" grpId="0" nodeType="afterEffect">
                      <p:stCondLst>
                        <p:cond delay="1740"/>
                      </p:stCondLst>
                      <p:childTnLst>
                        <p:set>
                          <p:cBhvr>
                            <p:cTn id="3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3" dur="52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319" presetID="22" presetClass="entr" presetSubtype="0" fill="hold" grpId="0" nodeType="afterEffect">
                      <p:stCondLst>
                        <p:cond delay="1800"/>
                      </p:stCondLst>
                      <p:childTnLst>
                        <p:set>
                          <p:cBhvr>
                            <p:cTn id="3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5" dur="620"/>
                            <p:tgtEl>
                              <p:spTgt spid="24"/>
                            </p:tgtEl>
                          </p:cBhvr>
                        </p:animEffect>
                        <p:anim calcmode="lin" valueType="num">
                          <p:cBhvr additive="base">
                            <p:cTn id="316" dur="520" fill="hold"/>
                            <p:tgtEl>
                              <p:spTgt spid="24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328" presetID="10" presetClass="entr" presetSubtype="0" fill="hold" grpId="0" nodeType="afterEffect">
                      <p:stCondLst>
                        <p:cond delay="2000"/>
                      </p:stCondLst>
                      <p:childTnLst>
                        <p:set>
                          <p:cBhvr>
                            <p:cTn id="3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4" dur="52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02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An experiential and humanistic approach to counselling.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02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368562"/>
            <a:ext cx="121920" cy="12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3432" y="2285994"/>
            <a:ext cx="666777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00" b="0" i="0">
                <a:solidFill>
                  <a:srgbClr val="33506B"/>
                </a:solidFill>
                <a:latin typeface="Poppins"/>
              </a:rPr>
              <a:t>Emphasizes awareness, present experience and contact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436194"/>
            <a:ext cx="121920" cy="12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3432" y="3353626"/>
            <a:ext cx="666777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00" b="0" i="0">
                <a:solidFill>
                  <a:srgbClr val="33506B"/>
                </a:solidFill>
                <a:latin typeface="Poppins"/>
              </a:rPr>
              <a:t>Understands individuals within their environment and relationships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503826"/>
            <a:ext cx="121920" cy="12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3432" y="4421258"/>
            <a:ext cx="666777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00" b="0" i="0">
                <a:solidFill>
                  <a:srgbClr val="33506B"/>
                </a:solidFill>
                <a:latin typeface="Poppins"/>
              </a:rPr>
              <a:t>Encourages personal responsibility, choice and authentic living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571458"/>
            <a:ext cx="121920" cy="121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3432" y="5488890"/>
            <a:ext cx="666777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00" b="0" i="0">
                <a:solidFill>
                  <a:srgbClr val="33506B"/>
                </a:solidFill>
                <a:latin typeface="Poppins"/>
              </a:rPr>
              <a:t>Focuses on the client's experience in the here and now</a:t>
            </a:r>
          </a:p>
        </p:txBody>
      </p:sp>
    </p:spTree>
  </p:cSld>
  <p:transition spd="slow" advOnClk="1" advTm="0">
    <p:push thruBlk="0" dir="r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7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3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346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3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2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355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35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1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367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37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3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364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376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37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2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385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3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1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397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4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3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394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06" presetID="10" presetClass="entr" presetSubtype="0" fill="hold" grpId="0" nodeType="afterEffect">
                      <p:stCondLst>
                        <p:cond delay="570"/>
                      </p:stCondLst>
                      <p:childTnLst>
                        <p:set>
                          <p:cBhvr>
                            <p:cTn id="4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2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418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4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4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415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27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43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3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439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44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5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436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48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4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4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460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46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6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457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69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47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5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03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200"/>
              </a:lnSpc>
              <a:buNone/>
            </a:pPr>
            <a:r>
              <a:rPr sz="5050" b="1" i="0">
                <a:solidFill>
                  <a:srgbClr val="4595C2"/>
                </a:solidFill>
                <a:latin typeface="Raleway"/>
              </a:rPr>
              <a:t>HISTORICAL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600516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A therapy that grew out of the 1940s and 1950s.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03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714184"/>
            <a:ext cx="121920" cy="12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38120" y="2636061"/>
            <a:ext cx="881885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10"/>
              </a:lnSpc>
              <a:buNone/>
            </a:pPr>
            <a:r>
              <a:rPr sz="1400" b="0" i="0">
                <a:solidFill>
                  <a:srgbClr val="33506B"/>
                </a:solidFill>
                <a:latin typeface="Poppins"/>
              </a:rPr>
              <a:t>Emerged during the 1940s and 1950s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254475"/>
            <a:ext cx="121920" cy="12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8120" y="3176353"/>
            <a:ext cx="881885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10"/>
              </a:lnSpc>
              <a:buNone/>
            </a:pPr>
            <a:r>
              <a:rPr sz="1400" b="0" i="0">
                <a:solidFill>
                  <a:srgbClr val="33506B"/>
                </a:solidFill>
                <a:latin typeface="Poppins"/>
              </a:rPr>
              <a:t>Developed partly in response to limitations perceived in traditional psychoanalysis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78" y="3698356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INFLUENCED BY</a:t>
            </a:r>
          </a:p>
        </p:txBody>
      </p:sp>
      <p:pic>
        <p:nvPicPr>
          <p:cNvPr id="14" name="Picture 13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014601"/>
            <a:ext cx="106680" cy="106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64054" y="3942196"/>
            <a:ext cx="2676497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Gestalt psychology</a:t>
            </a:r>
          </a:p>
        </p:txBody>
      </p:sp>
      <p:pic>
        <p:nvPicPr>
          <p:cNvPr id="16" name="Picture 15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70" y="4014601"/>
            <a:ext cx="106680" cy="1066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2047" y="3942196"/>
            <a:ext cx="2676497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Phenomenology</a:t>
            </a:r>
          </a:p>
        </p:txBody>
      </p:sp>
      <p:pic>
        <p:nvPicPr>
          <p:cNvPr id="18" name="Picture 17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463" y="4014601"/>
            <a:ext cx="106680" cy="1066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60039" y="3942196"/>
            <a:ext cx="2676497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Existential philosophy</a:t>
            </a:r>
          </a:p>
        </p:txBody>
      </p:sp>
      <p:pic>
        <p:nvPicPr>
          <p:cNvPr id="20" name="Picture 19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403252"/>
            <a:ext cx="106680" cy="106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4054" y="4330846"/>
            <a:ext cx="2676497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Field theory</a:t>
            </a:r>
          </a:p>
        </p:txBody>
      </p:sp>
      <p:pic>
        <p:nvPicPr>
          <p:cNvPr id="22" name="Picture 21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70" y="4403252"/>
            <a:ext cx="106680" cy="1066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112047" y="4330846"/>
            <a:ext cx="2676497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Holistic approaches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478" y="4917616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INTELLECTUAL ROOTS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8" y="5161456"/>
            <a:ext cx="22769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930"/>
              </a:lnSpc>
              <a:buNone/>
            </a:pPr>
            <a:r>
              <a:rPr sz="1150" b="1" i="0" spc="60">
                <a:solidFill>
                  <a:srgbClr val="33506B"/>
                </a:solidFill>
                <a:latin typeface="Poppins"/>
              </a:rPr>
              <a:t>Gestalt psychology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24784" y="5161456"/>
            <a:ext cx="22769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930"/>
              </a:lnSpc>
              <a:buNone/>
            </a:pPr>
            <a:r>
              <a:rPr sz="1150" b="1" i="0" spc="60">
                <a:solidFill>
                  <a:srgbClr val="33506B"/>
                </a:solidFill>
                <a:latin typeface="Poppins"/>
              </a:rPr>
              <a:t>Phenomenology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8049" y="5161456"/>
            <a:ext cx="22769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930"/>
              </a:lnSpc>
              <a:buNone/>
            </a:pPr>
            <a:r>
              <a:rPr sz="1150" b="1" i="0" spc="60">
                <a:solidFill>
                  <a:srgbClr val="33506B"/>
                </a:solidFill>
                <a:latin typeface="Poppins"/>
              </a:rPr>
              <a:t>Existentialism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1314" y="5161456"/>
            <a:ext cx="22769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930"/>
              </a:lnSpc>
              <a:buNone/>
            </a:pPr>
            <a:r>
              <a:rPr sz="1150" b="1" i="0" spc="60">
                <a:solidFill>
                  <a:srgbClr val="33506B"/>
                </a:solidFill>
                <a:latin typeface="Poppins"/>
              </a:rPr>
              <a:t>Field theory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4580" y="5161456"/>
            <a:ext cx="22769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930"/>
              </a:lnSpc>
              <a:buNone/>
            </a:pPr>
            <a:r>
              <a:rPr sz="1150" b="1" i="0" spc="60">
                <a:solidFill>
                  <a:srgbClr val="33506B"/>
                </a:solidFill>
                <a:latin typeface="Poppins"/>
              </a:rPr>
              <a:t>Gestalt therapy</a:t>
            </a:r>
          </a:p>
        </p:txBody>
      </p:sp>
    </p:spTree>
  </p:cSld>
  <p:transition spd="slow" advOnClk="1" advTm="0">
    <p:fade thruBlk="1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78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4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487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49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3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496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49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2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508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5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4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505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517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5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3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526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5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2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38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5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4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535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47" presetID="10" presetClass="entr" presetSubtype="0" fill="hold" grpId="0" nodeType="afterEffect">
                      <p:stCondLst>
                        <p:cond delay="570"/>
                      </p:stCondLst>
                      <p:childTnLst>
                        <p:set>
                          <p:cBhvr>
                            <p:cTn id="55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3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559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56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5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556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68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5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4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577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5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83" dur="52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589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59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95" dur="420"/>
                            <p:tgtEl>
                              <p:spTgt spid="14"/>
                            </p:tgtEl>
                          </p:cBhvr>
                        </p:animEffect>
                        <p:animScale>
                          <p:cBhvr>
                            <p:cTn id="586" dur="520" fill="hold"/>
                            <p:tgtEl>
                              <p:spTgt spid="14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98" presetID="10" presetClass="entr" presetSubtype="0" fill="hold" grpId="0" nodeType="afterEffect">
                      <p:stCondLst>
                        <p:cond delay="1070"/>
                      </p:stCondLst>
                      <p:childTnLst>
                        <p:set>
                          <p:cBhvr>
                            <p:cTn id="6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4" dur="52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610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6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6" dur="420"/>
                            <p:tgtEl>
                              <p:spTgt spid="16"/>
                            </p:tgtEl>
                          </p:cBhvr>
                        </p:animEffect>
                        <p:animScale>
                          <p:cBhvr>
                            <p:cTn id="607" dur="520" fill="hold"/>
                            <p:tgtEl>
                              <p:spTgt spid="16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19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6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25" dur="52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631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63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37" dur="420"/>
                            <p:tgtEl>
                              <p:spTgt spid="18"/>
                            </p:tgtEl>
                          </p:cBhvr>
                        </p:animEffect>
                        <p:animScale>
                          <p:cBhvr>
                            <p:cTn id="628" dur="520" fill="hold"/>
                            <p:tgtEl>
                              <p:spTgt spid="18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40" presetID="10" presetClass="entr" presetSubtype="0" fill="hold" grpId="0" nodeType="afterEffect">
                      <p:stCondLst>
                        <p:cond delay="1270"/>
                      </p:stCondLst>
                      <p:childTnLst>
                        <p:set>
                          <p:cBhvr>
                            <p:cTn id="64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46" dur="52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652" presetID="10" presetClass="entr" presetSubtype="0" fill="hold" grpId="0" nodeType="afterEffect">
                      <p:stCondLst>
                        <p:cond delay="1300"/>
                      </p:stCondLst>
                      <p:childTnLst>
                        <p:set>
                          <p:cBhvr>
                            <p:cTn id="65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8" dur="420"/>
                            <p:tgtEl>
                              <p:spTgt spid="20"/>
                            </p:tgtEl>
                          </p:cBhvr>
                        </p:animEffect>
                        <p:animScale>
                          <p:cBhvr>
                            <p:cTn id="649" dur="520" fill="hold"/>
                            <p:tgtEl>
                              <p:spTgt spid="2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61" presetID="10" presetClass="entr" presetSubtype="0" fill="hold" grpId="0" nodeType="afterEffect">
                      <p:stCondLst>
                        <p:cond delay="1370"/>
                      </p:stCondLst>
                      <p:childTnLst>
                        <p:set>
                          <p:cBhvr>
                            <p:cTn id="66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67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673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6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79" dur="420"/>
                            <p:tgtEl>
                              <p:spTgt spid="22"/>
                            </p:tgtEl>
                          </p:cBhvr>
                        </p:animEffect>
                        <p:animScale>
                          <p:cBhvr>
                            <p:cTn id="670" dur="520" fill="hold"/>
                            <p:tgtEl>
                              <p:spTgt spid="22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82" presetID="10" presetClass="entr" presetSubtype="0" fill="hold" grpId="0" nodeType="afterEffect">
                      <p:stCondLst>
                        <p:cond delay="1470"/>
                      </p:stCondLst>
                      <p:childTnLst>
                        <p:set>
                          <p:cBhvr>
                            <p:cTn id="68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8" dur="52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691" presetID="10" presetClass="entr" presetSubtype="0" fill="hold" grpId="0" nodeType="afterEffect">
                      <p:stCondLst>
                        <p:cond delay="1600"/>
                      </p:stCondLst>
                      <p:childTnLst>
                        <p:set>
                          <p:cBhvr>
                            <p:cTn id="69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97" dur="52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700" presetID="10" presetClass="entr" presetSubtype="0" fill="hold" grpId="0" nodeType="afterEffect">
                      <p:stCondLst>
                        <p:cond delay="1700"/>
                      </p:stCondLst>
                      <p:childTnLst>
                        <p:set>
                          <p:cBhvr>
                            <p:cTn id="70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06" dur="52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709" presetID="10" presetClass="entr" presetSubtype="0" fill="hold" grpId="0" nodeType="afterEffect">
                      <p:stCondLst>
                        <p:cond delay="1840"/>
                      </p:stCondLst>
                      <p:childTnLst>
                        <p:set>
                          <p:cBhvr>
                            <p:cTn id="7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15" dur="52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718" presetID="10" presetClass="entr" presetSubtype="0" fill="hold" grpId="0" nodeType="afterEffect">
                      <p:stCondLst>
                        <p:cond delay="1980"/>
                      </p:stCondLst>
                      <p:childTnLst>
                        <p:set>
                          <p:cBhvr>
                            <p:cTn id="7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24" dur="52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727" presetID="10" presetClass="entr" presetSubtype="0" fill="hold" grpId="0" nodeType="afterEffect">
                      <p:stCondLst>
                        <p:cond delay="2120"/>
                      </p:stCondLst>
                      <p:childTnLst>
                        <p:set>
                          <p:cBhvr>
                            <p:cTn id="73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33" dur="52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736" presetID="10" presetClass="entr" presetSubtype="0" fill="hold" grpId="0" nodeType="afterEffect">
                      <p:stCondLst>
                        <p:cond delay="2260"/>
                      </p:stCondLst>
                      <p:childTnLst>
                        <p:set>
                          <p:cBhvr>
                            <p:cTn id="73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42" dur="52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04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MAJOR THEORISTS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Three voices that shaped the theory and its practice.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04</a:t>
            </a:r>
          </a:p>
        </p:txBody>
      </p:sp>
      <p:pic>
        <p:nvPicPr>
          <p:cNvPr id="9" name="Picture 8" descr="medallion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834300"/>
            <a:ext cx="1188717" cy="11887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48835" y="2971459"/>
            <a:ext cx="230062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370"/>
              </a:lnSpc>
              <a:buNone/>
            </a:pPr>
            <a:r>
              <a:rPr sz="2050" b="1" i="0">
                <a:solidFill>
                  <a:srgbClr val="4595C2"/>
                </a:solidFill>
                <a:latin typeface="Raleway"/>
              </a:rPr>
              <a:t>FRITZ PERLS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35" y="3306739"/>
            <a:ext cx="230062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80"/>
              </a:lnSpc>
              <a:buNone/>
            </a:pPr>
            <a:r>
              <a:rPr sz="1250" b="1" i="0" spc="96">
                <a:solidFill>
                  <a:srgbClr val="4595C2"/>
                </a:solidFill>
                <a:latin typeface="Raleway"/>
              </a:rPr>
              <a:t>1893 TO 1970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35" y="3596298"/>
            <a:ext cx="230062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39"/>
              </a:lnSpc>
              <a:buNone/>
            </a:pPr>
            <a:r>
              <a:rPr sz="1250" b="1" i="0">
                <a:solidFill>
                  <a:srgbClr val="5F7E97"/>
                </a:solidFill>
                <a:latin typeface="Poppins"/>
              </a:rPr>
              <a:t>Major founder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78" y="4782492"/>
            <a:ext cx="121920" cy="12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3432" y="4708815"/>
            <a:ext cx="309247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Awareness, experience and responsibility</a:t>
            </a:r>
          </a:p>
        </p:txBody>
      </p:sp>
      <p:pic>
        <p:nvPicPr>
          <p:cNvPr id="15" name="Picture 14" descr="medallion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3869" y="2834300"/>
            <a:ext cx="1188717" cy="118871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30226" y="2971459"/>
            <a:ext cx="230062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370"/>
              </a:lnSpc>
              <a:buNone/>
            </a:pPr>
            <a:r>
              <a:rPr sz="2050" b="1" i="0">
                <a:solidFill>
                  <a:srgbClr val="4595C2"/>
                </a:solidFill>
                <a:latin typeface="Raleway"/>
              </a:rPr>
              <a:t>LAURA PERLS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0226" y="3306739"/>
            <a:ext cx="230062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80"/>
              </a:lnSpc>
              <a:buNone/>
            </a:pPr>
            <a:r>
              <a:rPr sz="1250" b="1" i="0" spc="96">
                <a:solidFill>
                  <a:srgbClr val="4595C2"/>
                </a:solidFill>
                <a:latin typeface="Raleway"/>
              </a:rPr>
              <a:t>1905 TO 1990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30226" y="3596298"/>
            <a:ext cx="230062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39"/>
              </a:lnSpc>
              <a:buNone/>
            </a:pPr>
            <a:r>
              <a:rPr sz="1250" b="1" i="0">
                <a:solidFill>
                  <a:srgbClr val="5F7E97"/>
                </a:solidFill>
                <a:latin typeface="Poppins"/>
              </a:rPr>
              <a:t>Major contributor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3869" y="4782492"/>
            <a:ext cx="121920" cy="121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94823" y="4708815"/>
            <a:ext cx="309247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Contact, relationship and embodied experience</a:t>
            </a:r>
          </a:p>
        </p:txBody>
      </p:sp>
      <p:pic>
        <p:nvPicPr>
          <p:cNvPr id="21" name="Picture 20" descr="medallion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60" y="2834300"/>
            <a:ext cx="1188717" cy="118871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311617" y="2971459"/>
            <a:ext cx="230062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370"/>
              </a:lnSpc>
              <a:buNone/>
            </a:pPr>
            <a:r>
              <a:rPr sz="2050" b="1" i="0">
                <a:solidFill>
                  <a:srgbClr val="4595C2"/>
                </a:solidFill>
                <a:latin typeface="Raleway"/>
              </a:rPr>
              <a:t>PAUL GOODMAN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1617" y="3306739"/>
            <a:ext cx="230062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80"/>
              </a:lnSpc>
              <a:buNone/>
            </a:pPr>
            <a:r>
              <a:rPr sz="1250" b="1" i="0" spc="96">
                <a:solidFill>
                  <a:srgbClr val="4595C2"/>
                </a:solidFill>
                <a:latin typeface="Raleway"/>
              </a:rPr>
              <a:t>1911 TO 1972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1617" y="3596298"/>
            <a:ext cx="230062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39"/>
              </a:lnSpc>
              <a:buNone/>
            </a:pPr>
            <a:r>
              <a:rPr sz="1250" b="1" i="0">
                <a:solidFill>
                  <a:srgbClr val="5F7E97"/>
                </a:solidFill>
                <a:latin typeface="Poppins"/>
              </a:rPr>
              <a:t>Co author of the 1951 text</a:t>
            </a:r>
          </a:p>
        </p:txBody>
      </p:sp>
      <p:pic>
        <p:nvPicPr>
          <p:cNvPr id="25" name="Picture 24" descr="tick_dee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60" y="4782492"/>
            <a:ext cx="121920" cy="121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76214" y="4708815"/>
            <a:ext cx="309247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Shaped the theoretical formulation</a:t>
            </a:r>
          </a:p>
        </p:txBody>
      </p:sp>
    </p:spTree>
  </p:cSld>
  <p:transition spd="slow" advOnClk="1" advTm="0">
    <p:fade thruBlk="1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45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51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754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7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60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763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76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69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775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77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81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772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784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78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90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793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7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99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805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8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11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802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817" presetID="22" presetClass="entr" presetSubtype="0" fill="hold" grpId="0" nodeType="afterEffect">
                      <p:stCondLst>
                        <p:cond delay="550"/>
                      </p:stCondLst>
                      <p:childTnLst>
                        <p:set>
                          <p:cBhvr>
                            <p:cTn id="8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23" dur="620"/>
                            <p:tgtEl>
                              <p:spTgt spid="10"/>
                            </p:tgtEl>
                          </p:cBhvr>
                        </p:animEffect>
                        <p:anim calcmode="lin" valueType="num">
                          <p:cBhvr additive="base">
                            <p:cTn id="814" dur="520" fill="hold"/>
                            <p:tgtEl>
                              <p:spTgt spid="1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829" presetID="10" presetClass="entr" presetSubtype="0" fill="hold" grpId="0" nodeType="afterEffect">
                      <p:stCondLst>
                        <p:cond delay="610"/>
                      </p:stCondLst>
                      <p:childTnLst>
                        <p:set>
                          <p:cBhvr>
                            <p:cTn id="8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35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826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838" presetID="10" presetClass="entr" presetSubtype="0" fill="hold" grpId="0" nodeType="afterEffect">
                      <p:stCondLst>
                        <p:cond delay="620"/>
                      </p:stCondLst>
                      <p:childTnLst>
                        <p:set>
                          <p:cBhvr>
                            <p:cTn id="8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44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847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85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53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859" presetID="22" presetClass="entr" presetSubtype="0" fill="hold" grpId="0" nodeType="afterEffect">
                      <p:stCondLst>
                        <p:cond delay="710"/>
                      </p:stCondLst>
                      <p:childTnLst>
                        <p:set>
                          <p:cBhvr>
                            <p:cTn id="86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65" dur="620"/>
                            <p:tgtEl>
                              <p:spTgt spid="16"/>
                            </p:tgtEl>
                          </p:cBhvr>
                        </p:animEffect>
                        <p:anim calcmode="lin" valueType="num">
                          <p:cBhvr additive="base">
                            <p:cTn id="856" dur="520" fill="hold"/>
                            <p:tgtEl>
                              <p:spTgt spid="16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871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87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77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868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883" presetID="10" presetClass="entr" presetSubtype="0" fill="hold" grpId="0" nodeType="afterEffect">
                      <p:stCondLst>
                        <p:cond delay="780"/>
                      </p:stCondLst>
                      <p:childTnLst>
                        <p:set>
                          <p:cBhvr>
                            <p:cTn id="88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89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880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892" presetID="10" presetClass="entr" presetSubtype="0" fill="hold" grpId="0" nodeType="afterEffect">
                      <p:stCondLst>
                        <p:cond delay="780"/>
                      </p:stCondLst>
                      <p:childTnLst>
                        <p:set>
                          <p:cBhvr>
                            <p:cTn id="89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98" dur="52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901" presetID="10" presetClass="entr" presetSubtype="0" fill="hold" grpId="0" nodeType="afterEffect">
                      <p:stCondLst>
                        <p:cond delay="850"/>
                      </p:stCondLst>
                      <p:childTnLst>
                        <p:set>
                          <p:cBhvr>
                            <p:cTn id="9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07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910" presetID="10" presetClass="entr" presetSubtype="0" fill="hold" grpId="0" nodeType="afterEffect">
                      <p:stCondLst>
                        <p:cond delay="860"/>
                      </p:stCondLst>
                      <p:childTnLst>
                        <p:set>
                          <p:cBhvr>
                            <p:cTn id="9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16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922" presetID="22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9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28" dur="620"/>
                            <p:tgtEl>
                              <p:spTgt spid="22"/>
                            </p:tgtEl>
                          </p:cBhvr>
                        </p:animEffect>
                        <p:anim calcmode="lin" valueType="num">
                          <p:cBhvr additive="base">
                            <p:cTn id="919" dur="520" fill="hold"/>
                            <p:tgtEl>
                              <p:spTgt spid="22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931" presetID="10" presetClass="entr" presetSubtype="0" fill="hold" grpId="0" nodeType="afterEffect">
                      <p:stCondLst>
                        <p:cond delay="940"/>
                      </p:stCondLst>
                      <p:childTnLst>
                        <p:set>
                          <p:cBhvr>
                            <p:cTn id="93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37" dur="52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943" presetID="10" presetClass="entr" presetSubtype="0" fill="hold" grpId="0" nodeType="afterEffect">
                      <p:stCondLst>
                        <p:cond delay="940"/>
                      </p:stCondLst>
                      <p:childTnLst>
                        <p:set>
                          <p:cBhvr>
                            <p:cTn id="94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49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940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952" presetID="10" presetClass="entr" presetSubtype="0" fill="hold" grpId="0" nodeType="afterEffect">
                      <p:stCondLst>
                        <p:cond delay="1010"/>
                      </p:stCondLst>
                      <p:childTnLst>
                        <p:set>
                          <p:cBhvr>
                            <p:cTn id="95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58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961" presetID="10" presetClass="entr" presetSubtype="0" fill="hold" grpId="0" nodeType="afterEffect">
                      <p:stCondLst>
                        <p:cond delay="1020"/>
                      </p:stCondLst>
                      <p:childTnLst>
                        <p:set>
                          <p:cBhvr>
                            <p:cTn id="96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67" dur="52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973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9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79" dur="420"/>
                            <p:tgtEl>
                              <p:spTgt spid="25"/>
                            </p:tgtEl>
                          </p:cBhvr>
                        </p:animEffect>
                        <p:animScale>
                          <p:cBhvr>
                            <p:cTn id="970" dur="520" fill="hold"/>
                            <p:tgtEl>
                              <p:spTgt spid="2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982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98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88" dur="52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05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CORE 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Seven beliefs that hold the whole approach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05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359671"/>
            <a:ext cx="121920" cy="12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38120" y="2285994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People are best understood as whole persons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389193"/>
            <a:ext cx="121920" cy="12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8120" y="3315516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Human experience is influenced by the environment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703227"/>
            <a:ext cx="121920" cy="12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38120" y="4629551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Awareness is central to psychological growth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732749"/>
            <a:ext cx="121920" cy="121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8120" y="5659072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Experience unfolds in the present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2359671"/>
            <a:ext cx="121920" cy="121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2107" y="2285994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People have capacity for choice and self regulation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046210"/>
            <a:ext cx="121920" cy="121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72107" y="3972533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Healthy functioning involves meaningful contact</a:t>
            </a:r>
          </a:p>
        </p:txBody>
      </p:sp>
      <p:pic>
        <p:nvPicPr>
          <p:cNvPr id="21" name="Picture 2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5448236"/>
            <a:ext cx="121920" cy="121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72107" y="5374559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Psychological difficulties may involve interruptions in awareness or contact</a:t>
            </a:r>
          </a:p>
        </p:txBody>
      </p:sp>
    </p:spTree>
  </p:cSld>
  <p:transition spd="slow" advOnClk="1" advTm="0">
    <p:wipe dir="l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91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99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97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000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100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6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009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10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5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021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10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7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1018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030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10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6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039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104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5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051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105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7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1048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060" presetID="10" presetClass="entr" presetSubtype="0" fill="hold" grpId="0" nodeType="afterEffect">
                      <p:stCondLst>
                        <p:cond delay="570"/>
                      </p:stCondLst>
                      <p:childTnLst>
                        <p:set>
                          <p:cBhvr>
                            <p:cTn id="106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6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072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107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8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1069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081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10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87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093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10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9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1090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102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11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08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114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11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0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1111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123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112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9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135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113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41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1132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144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114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50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156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115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62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1153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165" presetID="10" presetClass="entr" presetSubtype="0" fill="hold" grpId="0" nodeType="afterEffect">
                      <p:stCondLst>
                        <p:cond delay="1070"/>
                      </p:stCondLst>
                      <p:childTnLst>
                        <p:set>
                          <p:cBhvr>
                            <p:cTn id="11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71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177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11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83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1174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186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118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92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06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The central concept in Gestalt therapy.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357141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NOTICING</a:t>
            </a:r>
          </a:p>
        </p:txBody>
      </p:sp>
      <p:pic>
        <p:nvPicPr>
          <p:cNvPr id="10" name="Picture 9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688626"/>
            <a:ext cx="106680" cy="106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64054" y="2616221"/>
            <a:ext cx="143291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Thoughts</a:t>
            </a:r>
          </a:p>
        </p:txBody>
      </p:sp>
      <p:pic>
        <p:nvPicPr>
          <p:cNvPr id="12" name="Picture 11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33" y="2688626"/>
            <a:ext cx="106680" cy="106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877610" y="2616221"/>
            <a:ext cx="143291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Feelings</a:t>
            </a:r>
          </a:p>
        </p:txBody>
      </p:sp>
      <p:pic>
        <p:nvPicPr>
          <p:cNvPr id="14" name="Picture 13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589" y="2688626"/>
            <a:ext cx="106680" cy="106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91165" y="2616221"/>
            <a:ext cx="143291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Bodily sensations</a:t>
            </a:r>
          </a:p>
        </p:txBody>
      </p:sp>
      <p:pic>
        <p:nvPicPr>
          <p:cNvPr id="16" name="Picture 15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144" y="2688626"/>
            <a:ext cx="106680" cy="1066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04721" y="2616221"/>
            <a:ext cx="143291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Behaviour</a:t>
            </a:r>
          </a:p>
        </p:txBody>
      </p:sp>
      <p:pic>
        <p:nvPicPr>
          <p:cNvPr id="18" name="Picture 17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00" y="2688626"/>
            <a:ext cx="106680" cy="1066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18276" y="2616221"/>
            <a:ext cx="143291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Needs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478" y="3164859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THE PROCESS</a:t>
            </a:r>
          </a:p>
        </p:txBody>
      </p:sp>
      <p:pic>
        <p:nvPicPr>
          <p:cNvPr id="21" name="Picture 2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502061"/>
            <a:ext cx="121920" cy="121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38120" y="3423939"/>
            <a:ext cx="897430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10"/>
              </a:lnSpc>
              <a:buNone/>
            </a:pPr>
            <a:r>
              <a:rPr sz="1400" b="0" i="0">
                <a:solidFill>
                  <a:srgbClr val="33506B"/>
                </a:solidFill>
                <a:latin typeface="Poppins"/>
              </a:rPr>
              <a:t>Focuses on present experience</a:t>
            </a:r>
          </a:p>
        </p:txBody>
      </p:sp>
      <p:pic>
        <p:nvPicPr>
          <p:cNvPr id="23" name="Picture 2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452917"/>
            <a:ext cx="121920" cy="121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38120" y="4374795"/>
            <a:ext cx="897430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10"/>
              </a:lnSpc>
              <a:buNone/>
            </a:pPr>
            <a:r>
              <a:rPr sz="1400" b="0" i="0">
                <a:solidFill>
                  <a:srgbClr val="33506B"/>
                </a:solidFill>
                <a:latin typeface="Poppins"/>
              </a:rPr>
              <a:t>Creates opportunities for choice and 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158" y="5523771"/>
            <a:ext cx="193197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760"/>
              </a:lnSpc>
              <a:buNone/>
            </a:pPr>
            <a:r>
              <a:rPr sz="1650" b="1" i="0" spc="60">
                <a:solidFill>
                  <a:srgbClr val="33506B"/>
                </a:solidFill>
                <a:latin typeface="Poppins"/>
              </a:rPr>
              <a:t>Awareness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4214" y="5523771"/>
            <a:ext cx="193197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760"/>
              </a:lnSpc>
              <a:buNone/>
            </a:pPr>
            <a:r>
              <a:rPr sz="1650" b="1" i="0" spc="60">
                <a:solidFill>
                  <a:srgbClr val="33506B"/>
                </a:solidFill>
                <a:latin typeface="Poppins"/>
              </a:rPr>
              <a:t>Choice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9271" y="5523771"/>
            <a:ext cx="193197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760"/>
              </a:lnSpc>
              <a:buNone/>
            </a:pPr>
            <a:r>
              <a:rPr sz="1650" b="1" i="0" spc="60">
                <a:solidFill>
                  <a:srgbClr val="33506B"/>
                </a:solidFill>
                <a:latin typeface="Poppins"/>
              </a:rPr>
              <a:t>Change</a:t>
            </a:r>
          </a:p>
        </p:txBody>
      </p:sp>
    </p:spTree>
  </p:cSld>
  <p:transition spd="slow" advOnClk="1" advTm="0">
    <p:push thruBlk="0" dir="r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95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9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01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204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120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10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213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12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19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225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12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31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1222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234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12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40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43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124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49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52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125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58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264" presetID="10" presetClass="entr" presetSubtype="0" fill="hold" grpId="0" nodeType="afterEffect">
                      <p:stCondLst>
                        <p:cond delay="580"/>
                      </p:stCondLst>
                      <p:childTnLst>
                        <p:set>
                          <p:cBhvr>
                            <p:cTn id="126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70" dur="420"/>
                            <p:tgtEl>
                              <p:spTgt spid="10"/>
                            </p:tgtEl>
                          </p:cBhvr>
                        </p:animEffect>
                        <p:animScale>
                          <p:cBhvr>
                            <p:cTn id="1261" dur="520" fill="hold"/>
                            <p:tgtEl>
                              <p:spTgt spid="1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273" presetID="10" presetClass="entr" presetSubtype="0" fill="hold" grpId="0" nodeType="afterEffect">
                      <p:stCondLst>
                        <p:cond delay="650"/>
                      </p:stCondLst>
                      <p:childTnLst>
                        <p:set>
                          <p:cBhvr>
                            <p:cTn id="12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79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285" presetID="10" presetClass="entr" presetSubtype="0" fill="hold" grpId="0" nodeType="afterEffect">
                      <p:stCondLst>
                        <p:cond delay="680"/>
                      </p:stCondLst>
                      <p:childTnLst>
                        <p:set>
                          <p:cBhvr>
                            <p:cTn id="12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91" dur="420"/>
                            <p:tgtEl>
                              <p:spTgt spid="12"/>
                            </p:tgtEl>
                          </p:cBhvr>
                        </p:animEffect>
                        <p:animScale>
                          <p:cBhvr>
                            <p:cTn id="1282" dur="520" fill="hold"/>
                            <p:tgtEl>
                              <p:spTgt spid="12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294" presetID="10" presetClass="entr" presetSubtype="0" fill="hold" grpId="0" nodeType="afterEffect">
                      <p:stCondLst>
                        <p:cond delay="750"/>
                      </p:stCondLst>
                      <p:childTnLst>
                        <p:set>
                          <p:cBhvr>
                            <p:cTn id="12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00" dur="52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306" presetID="10" presetClass="entr" presetSubtype="0" fill="hold" grpId="0" nodeType="afterEffect">
                      <p:stCondLst>
                        <p:cond delay="780"/>
                      </p:stCondLst>
                      <p:childTnLst>
                        <p:set>
                          <p:cBhvr>
                            <p:cTn id="13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12" dur="420"/>
                            <p:tgtEl>
                              <p:spTgt spid="14"/>
                            </p:tgtEl>
                          </p:cBhvr>
                        </p:animEffect>
                        <p:animScale>
                          <p:cBhvr>
                            <p:cTn id="1303" dur="520" fill="hold"/>
                            <p:tgtEl>
                              <p:spTgt spid="14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315" presetID="10" presetClass="entr" presetSubtype="0" fill="hold" grpId="0" nodeType="afterEffect">
                      <p:stCondLst>
                        <p:cond delay="850"/>
                      </p:stCondLst>
                      <p:childTnLst>
                        <p:set>
                          <p:cBhvr>
                            <p:cTn id="13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21" dur="52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327" presetID="10" presetClass="entr" presetSubtype="0" fill="hold" grpId="0" nodeType="afterEffect">
                      <p:stCondLst>
                        <p:cond delay="880"/>
                      </p:stCondLst>
                      <p:childTnLst>
                        <p:set>
                          <p:cBhvr>
                            <p:cTn id="133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33" dur="420"/>
                            <p:tgtEl>
                              <p:spTgt spid="16"/>
                            </p:tgtEl>
                          </p:cBhvr>
                        </p:animEffect>
                        <p:animScale>
                          <p:cBhvr>
                            <p:cTn id="1324" dur="520" fill="hold"/>
                            <p:tgtEl>
                              <p:spTgt spid="16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336" presetID="10" presetClass="entr" presetSubtype="0" fill="hold" grpId="0" nodeType="afterEffect">
                      <p:stCondLst>
                        <p:cond delay="950"/>
                      </p:stCondLst>
                      <p:childTnLst>
                        <p:set>
                          <p:cBhvr>
                            <p:cTn id="133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42" dur="52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1348" presetID="10" presetClass="entr" presetSubtype="0" fill="hold" grpId="0" nodeType="afterEffect">
                      <p:stCondLst>
                        <p:cond delay="980"/>
                      </p:stCondLst>
                      <p:childTnLst>
                        <p:set>
                          <p:cBhvr>
                            <p:cTn id="13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54" dur="420"/>
                            <p:tgtEl>
                              <p:spTgt spid="18"/>
                            </p:tgtEl>
                          </p:cBhvr>
                        </p:animEffect>
                        <p:animScale>
                          <p:cBhvr>
                            <p:cTn id="1345" dur="520" fill="hold"/>
                            <p:tgtEl>
                              <p:spTgt spid="18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357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13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63" dur="52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1366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13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72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378" presetID="10" presetClass="entr" presetSubtype="0" fill="hold" grpId="0" nodeType="afterEffect">
                      <p:stCondLst>
                        <p:cond delay="1280"/>
                      </p:stCondLst>
                      <p:childTnLst>
                        <p:set>
                          <p:cBhvr>
                            <p:cTn id="13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84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1375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387" presetID="10" presetClass="entr" presetSubtype="0" fill="hold" grpId="0" nodeType="afterEffect">
                      <p:stCondLst>
                        <p:cond delay="1350"/>
                      </p:stCondLst>
                      <p:childTnLst>
                        <p:set>
                          <p:cBhvr>
                            <p:cTn id="139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93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1399" presetID="10" presetClass="entr" presetSubtype="0" fill="hold" grpId="0" nodeType="afterEffect">
                      <p:stCondLst>
                        <p:cond delay="1380"/>
                      </p:stCondLst>
                      <p:childTnLst>
                        <p:set>
                          <p:cBhvr>
                            <p:cTn id="140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05" dur="420"/>
                            <p:tgtEl>
                              <p:spTgt spid="23"/>
                            </p:tgtEl>
                          </p:cBhvr>
                        </p:animEffect>
                        <p:animScale>
                          <p:cBhvr>
                            <p:cTn id="1396" dur="520" fill="hold"/>
                            <p:tgtEl>
                              <p:spTgt spid="2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408" presetID="10" presetClass="entr" presetSubtype="0" fill="hold" grpId="0" nodeType="afterEffect">
                      <p:stCondLst>
                        <p:cond delay="1450"/>
                      </p:stCondLst>
                      <p:childTnLst>
                        <p:set>
                          <p:cBhvr>
                            <p:cTn id="14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14" dur="52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1417" presetID="10" presetClass="entr" presetSubtype="0" fill="hold" grpId="0" nodeType="afterEffect">
                      <p:stCondLst>
                        <p:cond delay="1600"/>
                      </p:stCondLst>
                      <p:childTnLst>
                        <p:set>
                          <p:cBhvr>
                            <p:cTn id="14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23" dur="52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1426" presetID="10" presetClass="entr" presetSubtype="0" fill="hold" grpId="0" nodeType="afterEffect">
                      <p:stCondLst>
                        <p:cond delay="1740"/>
                      </p:stCondLst>
                      <p:childTnLst>
                        <p:set>
                          <p:cBhvr>
                            <p:cTn id="14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32" dur="52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1435" presetID="10" presetClass="entr" presetSubtype="0" fill="hold" grpId="0" nodeType="afterEffect">
                      <p:stCondLst>
                        <p:cond delay="1880"/>
                      </p:stCondLst>
                      <p:childTnLst>
                        <p:set>
                          <p:cBhvr>
                            <p:cTn id="143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41" dur="52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07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THE HERE AND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Change happens in the present moment.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334531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THE FOCUS</a:t>
            </a:r>
          </a:p>
        </p:txBody>
      </p:sp>
      <p:pic>
        <p:nvPicPr>
          <p:cNvPr id="10" name="Picture 9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667287"/>
            <a:ext cx="121920" cy="121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8120" y="2593611"/>
            <a:ext cx="462176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Focuses on the client's present experience</a:t>
            </a:r>
          </a:p>
        </p:txBody>
      </p:sp>
      <p:pic>
        <p:nvPicPr>
          <p:cNvPr id="12" name="Picture 11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480125"/>
            <a:ext cx="121920" cy="121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38120" y="4406448"/>
            <a:ext cx="462176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Includes thoughts, emotions, bodily sensations and behaviour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864" y="2334531"/>
            <a:ext cx="435253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THE PAST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864" y="2667287"/>
            <a:ext cx="121920" cy="121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24507" y="2593611"/>
            <a:ext cx="41554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Past experiences are explored through their current impact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864" y="4480125"/>
            <a:ext cx="121920" cy="121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24507" y="4406448"/>
            <a:ext cx="41554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The therapeutic relationship offers present moment awareness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748270"/>
            <a:ext cx="121920" cy="121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38120" y="5665702"/>
            <a:ext cx="93629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00" b="0" i="0">
                <a:solidFill>
                  <a:srgbClr val="33506B"/>
                </a:solidFill>
                <a:latin typeface="Poppins"/>
              </a:rPr>
              <a:t>Encourages direct experience rather than excessive intellectual analysis</a:t>
            </a:r>
          </a:p>
        </p:txBody>
      </p:sp>
    </p:spTree>
  </p:cSld>
  <p:transition spd="slow" advOnClk="1" advTm="0">
    <p:fade thruBlk="1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4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44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50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453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14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59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462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14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68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474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14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80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1471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483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148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89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492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149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98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501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15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07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513" presetID="10" presetClass="entr" presetSubtype="0" fill="hold" grpId="0" nodeType="afterEffect">
                      <p:stCondLst>
                        <p:cond delay="580"/>
                      </p:stCondLst>
                      <p:childTnLst>
                        <p:set>
                          <p:cBhvr>
                            <p:cTn id="15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19" dur="420"/>
                            <p:tgtEl>
                              <p:spTgt spid="10"/>
                            </p:tgtEl>
                          </p:cBhvr>
                        </p:animEffect>
                        <p:animScale>
                          <p:cBhvr>
                            <p:cTn id="1510" dur="520" fill="hold"/>
                            <p:tgtEl>
                              <p:spTgt spid="1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522" presetID="10" presetClass="entr" presetSubtype="0" fill="hold" grpId="0" nodeType="afterEffect">
                      <p:stCondLst>
                        <p:cond delay="650"/>
                      </p:stCondLst>
                      <p:childTnLst>
                        <p:set>
                          <p:cBhvr>
                            <p:cTn id="15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28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534" presetID="10" presetClass="entr" presetSubtype="0" fill="hold" grpId="0" nodeType="afterEffect">
                      <p:stCondLst>
                        <p:cond delay="680"/>
                      </p:stCondLst>
                      <p:childTnLst>
                        <p:set>
                          <p:cBhvr>
                            <p:cTn id="15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40" dur="420"/>
                            <p:tgtEl>
                              <p:spTgt spid="12"/>
                            </p:tgtEl>
                          </p:cBhvr>
                        </p:animEffect>
                        <p:animScale>
                          <p:cBhvr>
                            <p:cTn id="1531" dur="520" fill="hold"/>
                            <p:tgtEl>
                              <p:spTgt spid="12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543" presetID="10" presetClass="entr" presetSubtype="0" fill="hold" grpId="0" nodeType="afterEffect">
                      <p:stCondLst>
                        <p:cond delay="750"/>
                      </p:stCondLst>
                      <p:childTnLst>
                        <p:set>
                          <p:cBhvr>
                            <p:cTn id="154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49" dur="52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552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155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58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564" presetID="10" presetClass="entr" presetSubtype="0" fill="hold" grpId="0" nodeType="afterEffect">
                      <p:stCondLst>
                        <p:cond delay="980"/>
                      </p:stCondLst>
                      <p:childTnLst>
                        <p:set>
                          <p:cBhvr>
                            <p:cTn id="156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70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1561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573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15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79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585" presetID="10" presetClass="entr" presetSubtype="0" fill="hold" grpId="0" nodeType="afterEffect">
                      <p:stCondLst>
                        <p:cond delay="1080"/>
                      </p:stCondLst>
                      <p:childTnLst>
                        <p:set>
                          <p:cBhvr>
                            <p:cTn id="15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91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1582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594" presetID="10" presetClass="entr" presetSubtype="0" fill="hold" grpId="0" nodeType="afterEffect">
                      <p:stCondLst>
                        <p:cond delay="1150"/>
                      </p:stCondLst>
                      <p:childTnLst>
                        <p:set>
                          <p:cBhvr>
                            <p:cTn id="15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00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606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16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12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1603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615" presetID="10" presetClass="entr" presetSubtype="0" fill="hold" grpId="0" nodeType="afterEffect">
                      <p:stCondLst>
                        <p:cond delay="1470"/>
                      </p:stCondLst>
                      <p:childTnLst>
                        <p:set>
                          <p:cBhvr>
                            <p:cTn id="16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21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08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FIGURE AND 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One element steps forward from its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08</a:t>
            </a:r>
          </a:p>
        </p:txBody>
      </p:sp>
      <p:pic>
        <p:nvPicPr>
          <p:cNvPr id="9" name="Picture 8" descr="figure_grou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316" y="2438394"/>
            <a:ext cx="3276592" cy="32765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98316" y="3489951"/>
            <a:ext cx="334212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000"/>
              </a:lnSpc>
              <a:buNone/>
            </a:pPr>
            <a:r>
              <a:rPr sz="1200" b="1" i="0" spc="144">
                <a:solidFill>
                  <a:srgbClr val="33506B"/>
                </a:solidFill>
                <a:latin typeface="Poppins"/>
              </a:rPr>
              <a:t>FIGURE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8316" y="3703311"/>
            <a:ext cx="334212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080"/>
              </a:lnSpc>
              <a:buNone/>
            </a:pPr>
            <a:r>
              <a:rPr sz="1250" b="0" i="0">
                <a:solidFill>
                  <a:srgbClr val="5F7E97"/>
                </a:solidFill>
                <a:latin typeface="Raleway"/>
              </a:rPr>
              <a:t>what steps 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8316" y="5135867"/>
            <a:ext cx="334212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730"/>
              </a:lnSpc>
              <a:buNone/>
            </a:pPr>
            <a:r>
              <a:rPr sz="1050" b="1" i="0" spc="180">
                <a:solidFill>
                  <a:srgbClr val="5F7E97"/>
                </a:solidFill>
                <a:latin typeface="Poppins"/>
              </a:rPr>
              <a:t>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66" y="2255514"/>
            <a:ext cx="435253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010"/>
              </a:lnSpc>
              <a:buNone/>
            </a:pPr>
            <a:r>
              <a:rPr sz="2450" b="1" i="0">
                <a:solidFill>
                  <a:srgbClr val="4595C2"/>
                </a:solidFill>
                <a:latin typeface="Raleway"/>
              </a:rPr>
              <a:t>FIGURE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66" y="2810439"/>
            <a:ext cx="4235947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10"/>
              </a:lnSpc>
              <a:buNone/>
            </a:pPr>
            <a:r>
              <a:rPr sz="1300" b="0" i="0">
                <a:solidFill>
                  <a:srgbClr val="5F7E97"/>
                </a:solidFill>
                <a:latin typeface="Poppins"/>
              </a:rPr>
              <a:t>What is most prominent in awareness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66" y="3397873"/>
            <a:ext cx="435253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010"/>
              </a:lnSpc>
              <a:buNone/>
            </a:pPr>
            <a:r>
              <a:rPr sz="2450" b="1" i="0">
                <a:solidFill>
                  <a:srgbClr val="4595C2"/>
                </a:solidFill>
                <a:latin typeface="Raleway"/>
              </a:rPr>
              <a:t>GROUND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66" y="3952798"/>
            <a:ext cx="4235947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10"/>
              </a:lnSpc>
              <a:buNone/>
            </a:pPr>
            <a:r>
              <a:rPr sz="1300" b="0" i="0">
                <a:solidFill>
                  <a:srgbClr val="5F7E97"/>
                </a:solidFill>
                <a:latin typeface="Poppins"/>
              </a:rPr>
              <a:t>The surrounding context and experiences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66" y="4367527"/>
            <a:ext cx="121920" cy="121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14908" y="4311632"/>
            <a:ext cx="399997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Needs and concerns move between figure and ground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66" y="5013557"/>
            <a:ext cx="121920" cy="121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14908" y="4957663"/>
            <a:ext cx="399997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The figure changes as circumstances change</a:t>
            </a:r>
          </a:p>
        </p:txBody>
      </p:sp>
      <p:pic>
        <p:nvPicPr>
          <p:cNvPr id="21" name="Picture 20" descr="tick_dee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66" y="5410639"/>
            <a:ext cx="121920" cy="121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14908" y="5354744"/>
            <a:ext cx="399997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Awareness reveals what matters most right now</a:t>
            </a:r>
          </a:p>
        </p:txBody>
      </p:sp>
    </p:spTree>
  </p:cSld>
  <p:transition spd="slow" advOnClk="1" advTm="0">
    <p:fade thruBlk="1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2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62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30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633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16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39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642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16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48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654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16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60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1651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663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166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69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672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167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78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684" presetID="23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168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90" dur="70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1681" dur="520" fill="hold"/>
                            <p:tgtEl>
                              <p:spTgt spid="9"/>
                            </p:tgtEl>
                          </p:cBhvr>
                          <p:from x="92000" y="92000"/>
                          <p:to x="100000" y="100000"/>
                        </p:animScale>
                      </p:childTnLst>
                    </p:cTn>
                  </p:par>
                  <p:par>
                    <p:cTn id="1696" presetID="22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169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02" dur="620"/>
                            <p:tgtEl>
                              <p:spTgt spid="13"/>
                            </p:tgtEl>
                          </p:cBhvr>
                        </p:animEffect>
                        <p:anim calcmode="lin" valueType="num">
                          <p:cBhvr additive="base">
                            <p:cTn id="1693" dur="520" fill="hold"/>
                            <p:tgtEl>
                              <p:spTgt spid="1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705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17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11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714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17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20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726" presetID="22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17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32" dur="620"/>
                            <p:tgtEl>
                              <p:spTgt spid="15"/>
                            </p:tgtEl>
                          </p:cBhvr>
                        </p:animEffect>
                        <p:anim calcmode="lin" valueType="num">
                          <p:cBhvr additive="base">
                            <p:cTn id="1723" dur="520" fill="hold"/>
                            <p:tgtEl>
                              <p:spTgt spid="1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735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173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41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744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174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50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753" presetID="10" presetClass="entr" presetSubtype="0" fill="hold" grpId="0" nodeType="afterEffect">
                      <p:stCondLst>
                        <p:cond delay="1150"/>
                      </p:stCondLst>
                      <p:childTnLst>
                        <p:set>
                          <p:cBhvr>
                            <p:cTn id="17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59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765" presetID="10" presetClass="entr" presetSubtype="0" fill="hold" grpId="0" nodeType="afterEffect">
                      <p:stCondLst>
                        <p:cond delay="1300"/>
                      </p:stCondLst>
                      <p:childTnLst>
                        <p:set>
                          <p:cBhvr>
                            <p:cTn id="17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71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1762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774" presetID="10" presetClass="entr" presetSubtype="0" fill="hold" grpId="0" nodeType="afterEffect">
                      <p:stCondLst>
                        <p:cond delay="1370"/>
                      </p:stCondLst>
                      <p:childTnLst>
                        <p:set>
                          <p:cBhvr>
                            <p:cTn id="17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80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786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178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92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1783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795" presetID="10" presetClass="entr" presetSubtype="0" fill="hold" grpId="0" nodeType="afterEffect">
                      <p:stCondLst>
                        <p:cond delay="1470"/>
                      </p:stCondLst>
                      <p:childTnLst>
                        <p:set>
                          <p:cBhvr>
                            <p:cTn id="179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01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807" presetID="10" presetClass="entr" presetSubtype="0" fill="hold" grpId="0" nodeType="afterEffect">
                      <p:stCondLst>
                        <p:cond delay="1500"/>
                      </p:stCondLst>
                      <p:childTnLst>
                        <p:set>
                          <p:cBhvr>
                            <p:cTn id="18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13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1804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816" presetID="10" presetClass="entr" presetSubtype="0" fill="hold" grpId="0" nodeType="afterEffect">
                      <p:stCondLst>
                        <p:cond delay="1570"/>
                      </p:stCondLst>
                      <p:childTnLst>
                        <p:set>
                          <p:cBhvr>
                            <p:cTn id="181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22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09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680"/>
              </a:lnSpc>
              <a:buNone/>
            </a:pPr>
            <a:r>
              <a:rPr sz="4000" b="1" i="0">
                <a:solidFill>
                  <a:srgbClr val="4595C2"/>
                </a:solidFill>
                <a:latin typeface="Raleway"/>
              </a:rPr>
              <a:t>CONTACT AND THE CONTACT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2128238"/>
            <a:ext cx="816100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Where the person and the world meet.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09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732411"/>
            <a:ext cx="121920" cy="12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38120" y="2658734"/>
            <a:ext cx="897430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Contact is the interaction between the individual and the environment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368196"/>
            <a:ext cx="121920" cy="12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8120" y="3294519"/>
            <a:ext cx="897430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The contact boundary is the point at which the two meet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003980"/>
            <a:ext cx="121920" cy="12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38120" y="3930304"/>
            <a:ext cx="897430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Healthy contact addresses needs while keeping a sense of self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639765"/>
            <a:ext cx="121920" cy="121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8120" y="4566089"/>
            <a:ext cx="897430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Contact involves engaging, responding and withdrawing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275550"/>
            <a:ext cx="121920" cy="121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38120" y="5201873"/>
            <a:ext cx="897430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Relationships, culture and circumstances influence contact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78" y="5745466"/>
            <a:ext cx="258043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340"/>
              </a:lnSpc>
              <a:buNone/>
            </a:pPr>
            <a:r>
              <a:rPr sz="1400" b="1" i="0" spc="60">
                <a:solidFill>
                  <a:srgbClr val="33506B"/>
                </a:solidFill>
                <a:latin typeface="Poppins"/>
              </a:rPr>
              <a:t>Individual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71" y="5745466"/>
            <a:ext cx="258043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340"/>
              </a:lnSpc>
              <a:buNone/>
            </a:pPr>
            <a:r>
              <a:rPr sz="1400" b="1" i="0" spc="60">
                <a:solidFill>
                  <a:srgbClr val="33506B"/>
                </a:solidFill>
                <a:latin typeface="Poppins"/>
              </a:rPr>
              <a:t>Contact 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0265" y="5745466"/>
            <a:ext cx="258043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340"/>
              </a:lnSpc>
              <a:buNone/>
            </a:pPr>
            <a:r>
              <a:rPr sz="1400" b="1" i="0" spc="60">
                <a:solidFill>
                  <a:srgbClr val="33506B"/>
                </a:solidFill>
                <a:latin typeface="Poppins"/>
              </a:rPr>
              <a:t>Environment</a:t>
            </a:r>
          </a:p>
        </p:txBody>
      </p:sp>
    </p:spTree>
  </p:cSld>
  <p:transition spd="slow" advOnClk="1" advTm="0">
    <p:fade thruBlk="1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25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8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31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834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18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40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843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184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49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855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185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61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1852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864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186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70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873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18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79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885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18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91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1882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894" presetID="10" presetClass="entr" presetSubtype="0" fill="hold" grpId="0" nodeType="afterEffect">
                      <p:stCondLst>
                        <p:cond delay="570"/>
                      </p:stCondLst>
                      <p:childTnLst>
                        <p:set>
                          <p:cBhvr>
                            <p:cTn id="18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00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906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19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12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1903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915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19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21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927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193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33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1924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936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193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42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948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19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54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1945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957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19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63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969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197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75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1966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978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19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84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987" presetID="10" presetClass="entr" presetSubtype="0" fill="hold" grpId="0" nodeType="afterEffect">
                      <p:stCondLst>
                        <p:cond delay="1300"/>
                      </p:stCondLst>
                      <p:childTnLst>
                        <p:set>
                          <p:cBhvr>
                            <p:cTn id="199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93" dur="52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1996" presetID="10" presetClass="entr" presetSubtype="0" fill="hold" grpId="0" nodeType="afterEffect">
                      <p:stCondLst>
                        <p:cond delay="1440"/>
                      </p:stCondLst>
                      <p:childTnLst>
                        <p:set>
                          <p:cBhvr>
                            <p:cTn id="199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02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005" presetID="10" presetClass="entr" presetSubtype="0" fill="hold" grpId="0" nodeType="afterEffect">
                      <p:stCondLst>
                        <p:cond delay="1580"/>
                      </p:stCondLst>
                      <p:childTnLst>
                        <p:set>
                          <p:cBhvr>
                            <p:cTn id="20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11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10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680"/>
              </a:lnSpc>
              <a:buNone/>
            </a:pPr>
            <a:r>
              <a:rPr sz="4000" b="1" i="0">
                <a:solidFill>
                  <a:srgbClr val="4595C2"/>
                </a:solidFill>
                <a:latin typeface="Raleway"/>
              </a:rPr>
              <a:t>CONTACT BOUNDARY DISTURBANCES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407018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How awareness, contact and the self environment connection become restricted.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10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350780"/>
            <a:ext cx="121920" cy="12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38120" y="2285994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Patterns through which awareness or contact becomes restricted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106440"/>
            <a:ext cx="121920" cy="12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8120" y="3041655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Also described as interruptions or resistances to contact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862101"/>
            <a:ext cx="121920" cy="12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38120" y="3797315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May develop as coping and serve a protective function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2350780"/>
            <a:ext cx="121920" cy="121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72107" y="2285994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Not diagnoses or permanent personality characteristics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106440"/>
            <a:ext cx="121920" cy="121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2107" y="3041655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Significance depends on context, flexibility and whether they restrict choice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862101"/>
            <a:ext cx="121920" cy="121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72107" y="3797315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Five patterns are most commonly discussed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478" y="4605097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FIVE PATTERNS FROM PAGE 10</a:t>
            </a:r>
          </a:p>
        </p:txBody>
      </p:sp>
      <p:pic>
        <p:nvPicPr>
          <p:cNvPr id="22" name="Picture 21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921342"/>
            <a:ext cx="106680" cy="1066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88743" y="4848936"/>
            <a:ext cx="296221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1" i="0">
                <a:solidFill>
                  <a:srgbClr val="33506B"/>
                </a:solidFill>
                <a:latin typeface="Poppins"/>
              </a:rPr>
              <a:t>Introjection</a:t>
            </a:r>
          </a:p>
        </p:txBody>
      </p:sp>
      <p:pic>
        <p:nvPicPr>
          <p:cNvPr id="24" name="Picture 23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1469" y="4921342"/>
            <a:ext cx="106680" cy="1066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17734" y="4848936"/>
            <a:ext cx="296221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1" i="0">
                <a:solidFill>
                  <a:srgbClr val="33506B"/>
                </a:solidFill>
                <a:latin typeface="Poppins"/>
              </a:rPr>
              <a:t>Projection</a:t>
            </a:r>
          </a:p>
        </p:txBody>
      </p:sp>
      <p:pic>
        <p:nvPicPr>
          <p:cNvPr id="26" name="Picture 25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461" y="4921342"/>
            <a:ext cx="106680" cy="1066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946726" y="4848936"/>
            <a:ext cx="296221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1" i="0">
                <a:solidFill>
                  <a:srgbClr val="33506B"/>
                </a:solidFill>
                <a:latin typeface="Poppins"/>
              </a:rPr>
              <a:t>Retroflection</a:t>
            </a:r>
          </a:p>
        </p:txBody>
      </p:sp>
      <p:pic>
        <p:nvPicPr>
          <p:cNvPr id="28" name="Picture 27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271861"/>
            <a:ext cx="106680" cy="1066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88743" y="5199455"/>
            <a:ext cx="296221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1" i="0">
                <a:solidFill>
                  <a:srgbClr val="33506B"/>
                </a:solidFill>
                <a:latin typeface="Poppins"/>
              </a:rPr>
              <a:t>Deflection</a:t>
            </a:r>
          </a:p>
        </p:txBody>
      </p:sp>
      <p:pic>
        <p:nvPicPr>
          <p:cNvPr id="30" name="Picture 29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1469" y="5271861"/>
            <a:ext cx="106680" cy="1066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517734" y="5199455"/>
            <a:ext cx="296221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1" i="0">
                <a:solidFill>
                  <a:srgbClr val="33506B"/>
                </a:solidFill>
                <a:latin typeface="Poppins"/>
              </a:rPr>
              <a:t>Confluence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478" y="5793814"/>
            <a:ext cx="252855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210"/>
              </a:lnSpc>
              <a:buNone/>
            </a:pPr>
            <a:r>
              <a:rPr sz="1350" b="1" i="0" spc="60">
                <a:solidFill>
                  <a:srgbClr val="33506B"/>
                </a:solidFill>
                <a:latin typeface="Poppins"/>
              </a:rPr>
              <a:t>Experience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2416" y="5793814"/>
            <a:ext cx="252855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210"/>
              </a:lnSpc>
              <a:buNone/>
            </a:pPr>
            <a:r>
              <a:rPr sz="1350" b="1" i="0" spc="60">
                <a:solidFill>
                  <a:srgbClr val="33506B"/>
                </a:solidFill>
                <a:latin typeface="Poppins"/>
              </a:rPr>
              <a:t>Boundary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72354" y="5793814"/>
            <a:ext cx="252855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210"/>
              </a:lnSpc>
              <a:buNone/>
            </a:pPr>
            <a:r>
              <a:rPr sz="1350" b="1" i="0" spc="60">
                <a:solidFill>
                  <a:srgbClr val="33506B"/>
                </a:solidFill>
                <a:latin typeface="Poppins"/>
              </a:rPr>
              <a:t>Meaningful contact</a:t>
            </a:r>
          </a:p>
        </p:txBody>
      </p:sp>
    </p:spTree>
  </p:cSld>
  <p:transition spd="slow" advOnClk="1" advTm="0">
    <p:push thruBlk="0" dir="r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1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0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20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2023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202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29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2032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203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38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2044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204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50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2041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053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20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59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2062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20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68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2074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20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80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2071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083" presetID="10" presetClass="entr" presetSubtype="0" fill="hold" grpId="0" nodeType="afterEffect">
                      <p:stCondLst>
                        <p:cond delay="570"/>
                      </p:stCondLst>
                      <p:childTnLst>
                        <p:set>
                          <p:cBhvr>
                            <p:cTn id="208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89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2095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209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01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2092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104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210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10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116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211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22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2113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125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21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31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2137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21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43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2134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146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21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52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158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21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64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2155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167" presetID="10" presetClass="entr" presetSubtype="0" fill="hold" grpId="0" nodeType="afterEffect">
                      <p:stCondLst>
                        <p:cond delay="1070"/>
                      </p:stCondLst>
                      <p:childTnLst>
                        <p:set>
                          <p:cBhvr>
                            <p:cTn id="217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73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179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218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85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2176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188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219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94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2197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22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03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209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22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15" dur="420"/>
                            <p:tgtEl>
                              <p:spTgt spid="22"/>
                            </p:tgtEl>
                          </p:cBhvr>
                        </p:animEffect>
                        <p:animScale>
                          <p:cBhvr>
                            <p:cTn id="2206" dur="520" fill="hold"/>
                            <p:tgtEl>
                              <p:spTgt spid="22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218" presetID="10" presetClass="entr" presetSubtype="0" fill="hold" grpId="0" nodeType="afterEffect">
                      <p:stCondLst>
                        <p:cond delay="1270"/>
                      </p:stCondLst>
                      <p:childTnLst>
                        <p:set>
                          <p:cBhvr>
                            <p:cTn id="22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24" dur="52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2230" presetID="10" presetClass="entr" presetSubtype="0" fill="hold" grpId="0" nodeType="afterEffect">
                      <p:stCondLst>
                        <p:cond delay="1300"/>
                      </p:stCondLst>
                      <p:childTnLst>
                        <p:set>
                          <p:cBhvr>
                            <p:cTn id="22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36" dur="420"/>
                            <p:tgtEl>
                              <p:spTgt spid="24"/>
                            </p:tgtEl>
                          </p:cBhvr>
                        </p:animEffect>
                        <p:animScale>
                          <p:cBhvr>
                            <p:cTn id="2227" dur="520" fill="hold"/>
                            <p:tgtEl>
                              <p:spTgt spid="24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239" presetID="10" presetClass="entr" presetSubtype="0" fill="hold" grpId="0" nodeType="afterEffect">
                      <p:stCondLst>
                        <p:cond delay="1370"/>
                      </p:stCondLst>
                      <p:childTnLst>
                        <p:set>
                          <p:cBhvr>
                            <p:cTn id="224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45" dur="52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2251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225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57" dur="420"/>
                            <p:tgtEl>
                              <p:spTgt spid="26"/>
                            </p:tgtEl>
                          </p:cBhvr>
                        </p:animEffect>
                        <p:animScale>
                          <p:cBhvr>
                            <p:cTn id="2248" dur="520" fill="hold"/>
                            <p:tgtEl>
                              <p:spTgt spid="26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260" presetID="10" presetClass="entr" presetSubtype="0" fill="hold" grpId="0" nodeType="afterEffect">
                      <p:stCondLst>
                        <p:cond delay="1470"/>
                      </p:stCondLst>
                      <p:childTnLst>
                        <p:set>
                          <p:cBhvr>
                            <p:cTn id="226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66" dur="52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2272" presetID="10" presetClass="entr" presetSubtype="0" fill="hold" grpId="0" nodeType="afterEffect">
                      <p:stCondLst>
                        <p:cond delay="1500"/>
                      </p:stCondLst>
                      <p:childTnLst>
                        <p:set>
                          <p:cBhvr>
                            <p:cTn id="227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78" dur="420"/>
                            <p:tgtEl>
                              <p:spTgt spid="28"/>
                            </p:tgtEl>
                          </p:cBhvr>
                        </p:animEffect>
                        <p:animScale>
                          <p:cBhvr>
                            <p:cTn id="2269" dur="520" fill="hold"/>
                            <p:tgtEl>
                              <p:spTgt spid="28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281" presetID="10" presetClass="entr" presetSubtype="0" fill="hold" grpId="0" nodeType="afterEffect">
                      <p:stCondLst>
                        <p:cond delay="1570"/>
                      </p:stCondLst>
                      <p:childTnLst>
                        <p:set>
                          <p:cBhvr>
                            <p:cTn id="22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87" dur="52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2293" presetID="10" presetClass="entr" presetSubtype="0" fill="hold" grpId="0" nodeType="afterEffect">
                      <p:stCondLst>
                        <p:cond delay="1600"/>
                      </p:stCondLst>
                      <p:childTnLst>
                        <p:set>
                          <p:cBhvr>
                            <p:cTn id="22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99" dur="420"/>
                            <p:tgtEl>
                              <p:spTgt spid="30"/>
                            </p:tgtEl>
                          </p:cBhvr>
                        </p:animEffect>
                        <p:animScale>
                          <p:cBhvr>
                            <p:cTn id="2290" dur="520" fill="hold"/>
                            <p:tgtEl>
                              <p:spTgt spid="3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302" presetID="10" presetClass="entr" presetSubtype="0" fill="hold" grpId="0" nodeType="afterEffect">
                      <p:stCondLst>
                        <p:cond delay="1670"/>
                      </p:stCondLst>
                      <p:childTnLst>
                        <p:set>
                          <p:cBhvr>
                            <p:cTn id="23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08" dur="52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2311" presetID="10" presetClass="entr" presetSubtype="0" fill="hold" grpId="0" nodeType="afterEffect">
                      <p:stCondLst>
                        <p:cond delay="1800"/>
                      </p:stCondLst>
                      <p:childTnLst>
                        <p:set>
                          <p:cBhvr>
                            <p:cTn id="23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17" dur="52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  <p:par>
                    <p:cTn id="2320" presetID="10" presetClass="entr" presetSubtype="0" fill="hold" grpId="0" nodeType="afterEffect">
                      <p:stCondLst>
                        <p:cond delay="1940"/>
                      </p:stCondLst>
                      <p:childTnLst>
                        <p:set>
                          <p:cBhvr>
                            <p:cTn id="232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26" dur="52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  <p:par>
                    <p:cTn id="2329" presetID="10" presetClass="entr" presetSubtype="0" fill="hold" grpId="0" nodeType="afterEffect">
                      <p:stCondLst>
                        <p:cond delay="2080"/>
                      </p:stCondLst>
                      <p:childTnLst>
                        <p:set>
                          <p:cBhvr>
                            <p:cTn id="23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35" dur="52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11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CONTACT BOUNDARY DISTURBANCES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INTROJECTION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816100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Accepting beliefs without examining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317456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78" y="2530815"/>
            <a:ext cx="96377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7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Taking in rules, beliefs, values or expectations from others without adequately examining whether they fit own experience or circumstances. An external expectation becomes an unquestioned internal rule.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8" y="3454031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65" y="3454031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EFFECT AND APPROACH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723286"/>
            <a:ext cx="121920" cy="12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38120" y="3667391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Everyday: A child taught that a good child must always obey continues to follow family decisions even with legitimate concerns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667642"/>
            <a:ext cx="121920" cy="121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8120" y="4611747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Counselling: “A responsible person must never say no to the supervisor”, accepts every duty even when exhausted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723286"/>
            <a:ext cx="121920" cy="121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2107" y="3667391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Effect: struggles to recognise own needs, guilt or anxiety when considering an alternative response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418693"/>
            <a:ext cx="121920" cy="121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72107" y="4362799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Counsellor asks: “Where did you learn that rule?” “Does it apply in every situation?” “What happens when you consider your own needs?”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478" y="5771550"/>
            <a:ext cx="96377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>
                <a:solidFill>
                  <a:srgbClr val="4595C2"/>
                </a:solidFill>
                <a:latin typeface="Poppins"/>
              </a:rPr>
              <a:t>KEY DISTINCTION: Accepting an external rule without sufficient examination. Illustrative statement: “I must never disappoint anyone.”</a:t>
            </a:r>
          </a:p>
        </p:txBody>
      </p:sp>
    </p:spTree>
  </p:cSld>
  <p:transition spd="slow" advOnClk="1" advTm="0">
    <p:fade thruBlk="1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38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3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44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2347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235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53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2356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235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62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2368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23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74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2365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377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23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83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2386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238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92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2395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239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01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2404" presetID="10" presetClass="entr" presetSubtype="0" fill="hold" grpId="0" nodeType="afterEffect">
                      <p:stCondLst>
                        <p:cond delay="580"/>
                      </p:stCondLst>
                      <p:childTnLst>
                        <p:set>
                          <p:cBhvr>
                            <p:cTn id="240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10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2413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24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19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422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24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28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434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24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40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2431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443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244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49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2455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245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61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2452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467" presetID="10" presetClass="entr" presetSubtype="0" fill="hold" grpId="0" nodeType="afterEffect">
                      <p:stCondLst>
                        <p:cond delay="1250"/>
                      </p:stCondLst>
                      <p:childTnLst>
                        <p:set>
                          <p:cBhvr>
                            <p:cTn id="247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73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2464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476" presetID="10" presetClass="entr" presetSubtype="0" fill="hold" grpId="0" nodeType="afterEffect">
                      <p:stCondLst>
                        <p:cond delay="1270"/>
                      </p:stCondLst>
                      <p:childTnLst>
                        <p:set>
                          <p:cBhvr>
                            <p:cTn id="247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82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485" presetID="10" presetClass="entr" presetSubtype="0" fill="hold" grpId="0" nodeType="afterEffect">
                      <p:stCondLst>
                        <p:cond delay="1320"/>
                      </p:stCondLst>
                      <p:childTnLst>
                        <p:set>
                          <p:cBhvr>
                            <p:cTn id="24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91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497" presetID="10" presetClass="entr" presetSubtype="0" fill="hold" grpId="0" nodeType="afterEffect">
                      <p:stCondLst>
                        <p:cond delay="1350"/>
                      </p:stCondLst>
                      <p:childTnLst>
                        <p:set>
                          <p:cBhvr>
                            <p:cTn id="25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03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2494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506" presetID="10" presetClass="entr" presetSubtype="0" fill="hold" grpId="0" nodeType="afterEffect">
                      <p:stCondLst>
                        <p:cond delay="1420"/>
                      </p:stCondLst>
                      <p:childTnLst>
                        <p:set>
                          <p:cBhvr>
                            <p:cTn id="25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12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515" presetID="10" presetClass="entr" presetSubtype="0" fill="hold" grpId="0" nodeType="afterEffect">
                      <p:stCondLst>
                        <p:cond delay="1500"/>
                      </p:stCondLst>
                      <p:childTnLst>
                        <p:set>
                          <p:cBhvr>
                            <p:cTn id="25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21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12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CONTACT BOUNDARY DISTURBANCES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PROJECTION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Attributing one's own experience to others.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285994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78" y="2499354"/>
            <a:ext cx="96377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7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Attributing feelings, intentions or characteristics to someone else without adequately recognising own possible contribution. Finding it difficult to acknowledge a feeling within and instead perceiving it as belonging to another.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8" y="3192493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65" y="3192493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EFFECT AND APPROACH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461747"/>
            <a:ext cx="121920" cy="12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38120" y="3405853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Everyday: A person jealous of a friend's success repeatedly claims the friend is jealous of them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157155"/>
            <a:ext cx="121920" cy="121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8120" y="4101260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Counselling: Client feels angry with a colleague but says “My colleague hates me and is always looking for a fight” without clear evidence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461747"/>
            <a:ext cx="121920" cy="121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2107" y="3405853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Effect: responds to assumptions rather than checking what is actually happening, risking misunderstanding or conflict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406104"/>
            <a:ext cx="121920" cy="121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72107" y="4350209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Counsellor asks: “What feelings arise in you as you describe this?” “What have you observed directly, and what are you assuming?”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478" y="5279935"/>
            <a:ext cx="96377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>
                <a:solidFill>
                  <a:srgbClr val="4595C2"/>
                </a:solidFill>
                <a:latin typeface="Poppins"/>
              </a:rPr>
              <a:t>KEY  Not every perception is inaccurate. Others may genuinely behave in harmful ways. Illustrative: “Everyone here is hostile towards me.”</a:t>
            </a:r>
          </a:p>
        </p:txBody>
      </p:sp>
    </p:spTree>
  </p:cSld>
  <p:transition spd="slow" advOnClk="1" advTm="0">
    <p:fade thruBlk="1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2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52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30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2533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25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39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2542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25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48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2554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25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60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2551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563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256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69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2572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257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78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2581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25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87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2590" presetID="10" presetClass="entr" presetSubtype="0" fill="hold" grpId="0" nodeType="afterEffect">
                      <p:stCondLst>
                        <p:cond delay="580"/>
                      </p:stCondLst>
                      <p:childTnLst>
                        <p:set>
                          <p:cBhvr>
                            <p:cTn id="259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96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2599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260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05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608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26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14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620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262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26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2617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629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26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35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2641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26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47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2638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653" presetID="10" presetClass="entr" presetSubtype="0" fill="hold" grpId="0" nodeType="afterEffect">
                      <p:stCondLst>
                        <p:cond delay="1250"/>
                      </p:stCondLst>
                      <p:childTnLst>
                        <p:set>
                          <p:cBhvr>
                            <p:cTn id="26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59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2650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662" presetID="10" presetClass="entr" presetSubtype="0" fill="hold" grpId="0" nodeType="afterEffect">
                      <p:stCondLst>
                        <p:cond delay="1270"/>
                      </p:stCondLst>
                      <p:childTnLst>
                        <p:set>
                          <p:cBhvr>
                            <p:cTn id="26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68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671" presetID="10" presetClass="entr" presetSubtype="0" fill="hold" grpId="0" nodeType="afterEffect">
                      <p:stCondLst>
                        <p:cond delay="1320"/>
                      </p:stCondLst>
                      <p:childTnLst>
                        <p:set>
                          <p:cBhvr>
                            <p:cTn id="267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77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683" presetID="10" presetClass="entr" presetSubtype="0" fill="hold" grpId="0" nodeType="afterEffect">
                      <p:stCondLst>
                        <p:cond delay="1350"/>
                      </p:stCondLst>
                      <p:childTnLst>
                        <p:set>
                          <p:cBhvr>
                            <p:cTn id="268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89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2680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692" presetID="10" presetClass="entr" presetSubtype="0" fill="hold" grpId="0" nodeType="afterEffect">
                      <p:stCondLst>
                        <p:cond delay="1420"/>
                      </p:stCondLst>
                      <p:childTnLst>
                        <p:set>
                          <p:cBhvr>
                            <p:cTn id="269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98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701" presetID="10" presetClass="entr" presetSubtype="0" fill="hold" grpId="0" nodeType="afterEffect">
                      <p:stCondLst>
                        <p:cond delay="1500"/>
                      </p:stCondLst>
                      <p:childTnLst>
                        <p:set>
                          <p:cBhvr>
                            <p:cTn id="27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07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13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CONTACT BOUNDARY DISTURBANCES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RETROFLECTION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Turning an outward response inward.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285994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78" y="2499354"/>
            <a:ext cx="96377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7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Directing towards self feelings, actions or energy that might otherwise be expressed towards another person or into the environment.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8" y="3192493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65" y="3192493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EFFECT AND APPROACH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461747"/>
            <a:ext cx="121920" cy="12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38120" y="3405853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Everyday: Feels angry after unfair treatment but repeatedly criticises self for being weak instead of expressing concern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406104"/>
            <a:ext cx="121920" cy="121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8120" y="4350209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Counselling: Worker frustrated by unreasonable workload does not communicate, says “I am weak and should manage everything” and becomes self critical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461747"/>
            <a:ext cx="121920" cy="121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2107" y="3405853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Effect: inhibits direct expression, creates internal tension, turns understandable frustration into self blame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157155"/>
            <a:ext cx="121920" cy="121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72107" y="4101260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Counsellor asks: “What would you want to say if you felt safe?” “What happens inside when you hold back?”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478" y="5279935"/>
            <a:ext cx="96377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>
                <a:solidFill>
                  <a:srgbClr val="4595C2"/>
                </a:solidFill>
                <a:latin typeface="Poppins"/>
              </a:rPr>
              <a:t>KEY  Not all restraint is unhealthy. Withholding can be necessary for safety or professional judgement. Illustrative: “I am angry, so I must be a terrible person.”</a:t>
            </a:r>
          </a:p>
        </p:txBody>
      </p:sp>
    </p:spTree>
  </p:cSld>
  <p:transition spd="slow" advOnClk="1" advTm="0">
    <p:fade thruBlk="1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10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7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16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2719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27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25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2728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27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34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2740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274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46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2737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749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27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55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2758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27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64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2767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277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73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2776" presetID="10" presetClass="entr" presetSubtype="0" fill="hold" grpId="0" nodeType="afterEffect">
                      <p:stCondLst>
                        <p:cond delay="580"/>
                      </p:stCondLst>
                      <p:childTnLst>
                        <p:set>
                          <p:cBhvr>
                            <p:cTn id="277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82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2785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27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91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794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27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00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806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28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12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2803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815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28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21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2827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283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33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2824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839" presetID="10" presetClass="entr" presetSubtype="0" fill="hold" grpId="0" nodeType="afterEffect">
                      <p:stCondLst>
                        <p:cond delay="1250"/>
                      </p:stCondLst>
                      <p:childTnLst>
                        <p:set>
                          <p:cBhvr>
                            <p:cTn id="284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45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2836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848" presetID="10" presetClass="entr" presetSubtype="0" fill="hold" grpId="0" nodeType="afterEffect">
                      <p:stCondLst>
                        <p:cond delay="1270"/>
                      </p:stCondLst>
                      <p:childTnLst>
                        <p:set>
                          <p:cBhvr>
                            <p:cTn id="28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54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857" presetID="10" presetClass="entr" presetSubtype="0" fill="hold" grpId="0" nodeType="afterEffect">
                      <p:stCondLst>
                        <p:cond delay="1320"/>
                      </p:stCondLst>
                      <p:childTnLst>
                        <p:set>
                          <p:cBhvr>
                            <p:cTn id="28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63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869" presetID="10" presetClass="entr" presetSubtype="0" fill="hold" grpId="0" nodeType="afterEffect">
                      <p:stCondLst>
                        <p:cond delay="1350"/>
                      </p:stCondLst>
                      <p:childTnLst>
                        <p:set>
                          <p:cBhvr>
                            <p:cTn id="287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75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2866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878" presetID="10" presetClass="entr" presetSubtype="0" fill="hold" grpId="0" nodeType="afterEffect">
                      <p:stCondLst>
                        <p:cond delay="1420"/>
                      </p:stCondLst>
                      <p:childTnLst>
                        <p:set>
                          <p:cBhvr>
                            <p:cTn id="28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84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887" presetID="10" presetClass="entr" presetSubtype="0" fill="hold" grpId="0" nodeType="afterEffect">
                      <p:stCondLst>
                        <p:cond delay="1500"/>
                      </p:stCondLst>
                      <p:childTnLst>
                        <p:set>
                          <p:cBhvr>
                            <p:cTn id="289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93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14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CONTACT BOUNDARY DISTURBANCES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DEFLECTION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Avoiding direct contact with an experience.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332094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78" y="2545454"/>
            <a:ext cx="96377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7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Reducing intensity or directness of contact through distraction, humour, vague language, changing the subject or other avoidance.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8" y="3463343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65" y="3463343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EFFECT AND APPROACH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732597"/>
            <a:ext cx="121920" cy="12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38120" y="3676702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Everyday: Whenever a difficult family issue arises, makes jokes or quickly introduces another topic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652754"/>
            <a:ext cx="121920" cy="121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8120" y="4596860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Counselling: Client begins discussing death of a close relative but immediately jokes and changes subject whenever grief is approached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732597"/>
            <a:ext cx="121920" cy="121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2107" y="3676702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Effect: difficulty remaining with painful feelings long enough to understand or communicate them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652754"/>
            <a:ext cx="121920" cy="121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72107" y="4596860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Counsellor asks gently: “I noticed you laughed as you mentioned the loss, what are you experiencing right now?”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478" y="5751336"/>
            <a:ext cx="96377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>
                <a:solidFill>
                  <a:srgbClr val="4595C2"/>
                </a:solidFill>
                <a:latin typeface="Poppins"/>
              </a:rPr>
              <a:t>KEY  Concerns how direct contact is diluted, often through distraction. Illustrative: joking whenever painful feelings arise.</a:t>
            </a:r>
          </a:p>
        </p:txBody>
      </p:sp>
    </p:spTree>
  </p:cSld>
  <p:transition spd="slow" advOnClk="1" advTm="0">
    <p:fade thruBlk="1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896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89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02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2905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29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11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2914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29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20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2926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29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32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2923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935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293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41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2944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294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50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2953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29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59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2962" presetID="10" presetClass="entr" presetSubtype="0" fill="hold" grpId="0" nodeType="afterEffect">
                      <p:stCondLst>
                        <p:cond delay="580"/>
                      </p:stCondLst>
                      <p:childTnLst>
                        <p:set>
                          <p:cBhvr>
                            <p:cTn id="29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68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2971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297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77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980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298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86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992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299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98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2989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001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30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07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3013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30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19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3010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025" presetID="10" presetClass="entr" presetSubtype="0" fill="hold" grpId="0" nodeType="afterEffect">
                      <p:stCondLst>
                        <p:cond delay="1250"/>
                      </p:stCondLst>
                      <p:childTnLst>
                        <p:set>
                          <p:cBhvr>
                            <p:cTn id="30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31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3022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034" presetID="10" presetClass="entr" presetSubtype="0" fill="hold" grpId="0" nodeType="afterEffect">
                      <p:stCondLst>
                        <p:cond delay="1270"/>
                      </p:stCondLst>
                      <p:childTnLst>
                        <p:set>
                          <p:cBhvr>
                            <p:cTn id="30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40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3043" presetID="10" presetClass="entr" presetSubtype="0" fill="hold" grpId="0" nodeType="afterEffect">
                      <p:stCondLst>
                        <p:cond delay="1320"/>
                      </p:stCondLst>
                      <p:childTnLst>
                        <p:set>
                          <p:cBhvr>
                            <p:cTn id="304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49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3055" presetID="10" presetClass="entr" presetSubtype="0" fill="hold" grpId="0" nodeType="afterEffect">
                      <p:stCondLst>
                        <p:cond delay="1350"/>
                      </p:stCondLst>
                      <p:childTnLst>
                        <p:set>
                          <p:cBhvr>
                            <p:cTn id="305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61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3052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064" presetID="10" presetClass="entr" presetSubtype="0" fill="hold" grpId="0" nodeType="afterEffect">
                      <p:stCondLst>
                        <p:cond delay="1420"/>
                      </p:stCondLst>
                      <p:childTnLst>
                        <p:set>
                          <p:cBhvr>
                            <p:cTn id="306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70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3073" presetID="10" presetClass="entr" presetSubtype="0" fill="hold" grpId="0" nodeType="afterEffect">
                      <p:stCondLst>
                        <p:cond delay="1500"/>
                      </p:stCondLst>
                      <p:childTnLst>
                        <p:set>
                          <p:cBhvr>
                            <p:cTn id="30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79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15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CONTACT BOUNDARY DISTURBANCES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CONFLUENCE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Difficulty distinguishing self from others.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317456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78" y="2530815"/>
            <a:ext cx="96377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7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The distinction between own feelings, needs, beliefs or preferences and those of another becomes unclear. Agreement or togetherness feels necessary for maintaining the relationship.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8" y="3377339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65" y="3377339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EFFECT AND APPROACH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646593"/>
            <a:ext cx="121920" cy="12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38120" y="3590699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Everyday: Consistently agrees with friends about activities because expressing a different preference feels threatening to friendship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744334"/>
            <a:ext cx="121920" cy="121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8120" y="4688440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Counselling: Woman agrees with partner on major decisions even when privately disagreeing, says “Whatever makes him happy is what I want”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646593"/>
            <a:ext cx="121920" cy="121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2107" y="3590699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Effect: loses sight of personal needs, experiences resentment, struggles to make independent decisions while appearing harmonious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744334"/>
            <a:ext cx="121920" cy="121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72107" y="4688440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Counsellor asks: “If your partner's preference were not part of the decision, what would you want?”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478" y="5771550"/>
            <a:ext cx="96377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>
                <a:solidFill>
                  <a:srgbClr val="4595C2"/>
                </a:solidFill>
                <a:latin typeface="Poppins"/>
              </a:rPr>
              <a:t>KEY  Concerns a blurred self other distinction, not simply a rule or avoided topic. Illustrative: “Whatever you want is what I want.”</a:t>
            </a:r>
          </a:p>
        </p:txBody>
      </p:sp>
    </p:spTree>
  </p:cSld>
  <p:transition spd="slow" advOnClk="1" advTm="0">
    <p:wipe dir="l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82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08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88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3091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309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97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3100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310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06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3112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311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18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3109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3121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31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27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3130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31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36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3139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314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45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3148" presetID="10" presetClass="entr" presetSubtype="0" fill="hold" grpId="0" nodeType="afterEffect">
                      <p:stCondLst>
                        <p:cond delay="580"/>
                      </p:stCondLst>
                      <p:childTnLst>
                        <p:set>
                          <p:cBhvr>
                            <p:cTn id="31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54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3157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31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63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3166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31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72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3178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31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84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3175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187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319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93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3199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320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05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3196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211" presetID="10" presetClass="entr" presetSubtype="0" fill="hold" grpId="0" nodeType="afterEffect">
                      <p:stCondLst>
                        <p:cond delay="1250"/>
                      </p:stCondLst>
                      <p:childTnLst>
                        <p:set>
                          <p:cBhvr>
                            <p:cTn id="32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17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3208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220" presetID="10" presetClass="entr" presetSubtype="0" fill="hold" grpId="0" nodeType="afterEffect">
                      <p:stCondLst>
                        <p:cond delay="1270"/>
                      </p:stCondLst>
                      <p:childTnLst>
                        <p:set>
                          <p:cBhvr>
                            <p:cTn id="322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26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3229" presetID="10" presetClass="entr" presetSubtype="0" fill="hold" grpId="0" nodeType="afterEffect">
                      <p:stCondLst>
                        <p:cond delay="1320"/>
                      </p:stCondLst>
                      <p:childTnLst>
                        <p:set>
                          <p:cBhvr>
                            <p:cTn id="32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35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3241" presetID="10" presetClass="entr" presetSubtype="0" fill="hold" grpId="0" nodeType="afterEffect">
                      <p:stCondLst>
                        <p:cond delay="1350"/>
                      </p:stCondLst>
                      <p:childTnLst>
                        <p:set>
                          <p:cBhvr>
                            <p:cTn id="32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47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3238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250" presetID="10" presetClass="entr" presetSubtype="0" fill="hold" grpId="0" nodeType="afterEffect">
                      <p:stCondLst>
                        <p:cond delay="1420"/>
                      </p:stCondLst>
                      <p:childTnLst>
                        <p:set>
                          <p:cBhvr>
                            <p:cTn id="32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56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3259" presetID="10" presetClass="entr" presetSubtype="0" fill="hold" grpId="0" nodeType="afterEffect">
                      <p:stCondLst>
                        <p:cond delay="1500"/>
                      </p:stCondLst>
                      <p:childTnLst>
                        <p:set>
                          <p:cBhvr>
                            <p:cTn id="326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65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16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CONTACT BOUNDARY DISTURBANCES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680"/>
              </a:lnSpc>
              <a:buNone/>
            </a:pPr>
            <a:r>
              <a:rPr sz="4000" b="1" i="0">
                <a:solidFill>
                  <a:srgbClr val="4595C2"/>
                </a:solidFill>
                <a:latin typeface="Raleway"/>
              </a:rPr>
              <a:t>COMPARISON AND CLINICAL SIGNIFICANCE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2128238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From exploratory frameworks to flexible responding.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658734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COMPARISON</a:t>
            </a:r>
          </a:p>
        </p:txBody>
      </p:sp>
      <p:pic>
        <p:nvPicPr>
          <p:cNvPr id="10" name="Picture 9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934973"/>
            <a:ext cx="99060" cy="990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64054" y="2872094"/>
            <a:ext cx="43864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Introjection: Accepting an external rule without examining it, “I must never disappoint anyone”</a:t>
            </a:r>
          </a:p>
        </p:txBody>
      </p:sp>
      <p:pic>
        <p:nvPicPr>
          <p:cNvPr id="12" name="Picture 11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587910"/>
            <a:ext cx="99060" cy="990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64054" y="3525031"/>
            <a:ext cx="43864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Projection: Attributing own possible feelings to another, “Everyone here is hostile towards me”</a:t>
            </a:r>
          </a:p>
        </p:txBody>
      </p:sp>
      <p:pic>
        <p:nvPicPr>
          <p:cNvPr id="14" name="Picture 13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240847"/>
            <a:ext cx="99060" cy="990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64054" y="4177967"/>
            <a:ext cx="43864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Retroflection: Directing inward what might be expressed outward, “I am angry so I must be terrible”</a:t>
            </a:r>
          </a:p>
        </p:txBody>
      </p:sp>
      <p:pic>
        <p:nvPicPr>
          <p:cNvPr id="16" name="Picture 15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2934973"/>
            <a:ext cx="99060" cy="990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98041" y="2872094"/>
            <a:ext cx="454186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Deflection: Avoiding direct engagement, joking whenever painful feelings arise</a:t>
            </a:r>
          </a:p>
        </p:txBody>
      </p:sp>
      <p:pic>
        <p:nvPicPr>
          <p:cNvPr id="18" name="Picture 17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587910"/>
            <a:ext cx="99060" cy="990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98041" y="3525031"/>
            <a:ext cx="454186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Confluence: Losing clarity about own needs, “Whatever you want is what I want”</a:t>
            </a:r>
          </a:p>
        </p:txBody>
      </p:sp>
      <p:pic>
        <p:nvPicPr>
          <p:cNvPr id="20" name="Picture 19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240847"/>
            <a:ext cx="99060" cy="990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8041" y="4177967"/>
            <a:ext cx="454186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Overlap is common, patterns are best used as exploratory frameworks not fixed labels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478" y="4871443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CLINICAL SIGNIFICANCE</a:t>
            </a:r>
          </a:p>
        </p:txBody>
      </p:sp>
      <p:pic>
        <p:nvPicPr>
          <p:cNvPr id="23" name="Picture 2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140697"/>
            <a:ext cx="121920" cy="121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38120" y="5084802"/>
            <a:ext cx="9285197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Helps counsellor develop questions that increase awareness collaboratively, not to impose labels</a:t>
            </a:r>
          </a:p>
        </p:txBody>
      </p:sp>
      <p:pic>
        <p:nvPicPr>
          <p:cNvPr id="25" name="Picture 2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562467"/>
            <a:ext cx="121920" cy="121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38120" y="5506572"/>
            <a:ext cx="9285197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Requires attention to environment: fear of retaliation, need for safety and timing before exploring loss</a:t>
            </a:r>
          </a:p>
        </p:txBody>
      </p:sp>
      <p:pic>
        <p:nvPicPr>
          <p:cNvPr id="27" name="Picture 2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984237"/>
            <a:ext cx="121920" cy="1219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38120" y="5928342"/>
            <a:ext cx="9285197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Aim is to recognise patterns and develop more flexible ways of responding, not to eliminate every interruption</a:t>
            </a:r>
          </a:p>
        </p:txBody>
      </p:sp>
    </p:spTree>
  </p:cSld>
  <p:transition spd="slow" advOnClk="1" advTm="0">
    <p:fade thruBlk="1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68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2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74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3277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32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83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3286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328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92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3298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33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04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3295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3307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33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13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3316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331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22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3325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33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31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3337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33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43" dur="420"/>
                            <p:tgtEl>
                              <p:spTgt spid="10"/>
                            </p:tgtEl>
                          </p:cBhvr>
                        </p:animEffect>
                        <p:animScale>
                          <p:cBhvr>
                            <p:cTn id="3334" dur="520" fill="hold"/>
                            <p:tgtEl>
                              <p:spTgt spid="1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346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33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52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3358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33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64" dur="420"/>
                            <p:tgtEl>
                              <p:spTgt spid="12"/>
                            </p:tgtEl>
                          </p:cBhvr>
                        </p:animEffect>
                        <p:animScale>
                          <p:cBhvr>
                            <p:cTn id="3355" dur="520" fill="hold"/>
                            <p:tgtEl>
                              <p:spTgt spid="12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367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337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73" dur="52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3379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338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85" dur="420"/>
                            <p:tgtEl>
                              <p:spTgt spid="14"/>
                            </p:tgtEl>
                          </p:cBhvr>
                        </p:animEffect>
                        <p:animScale>
                          <p:cBhvr>
                            <p:cTn id="3376" dur="520" fill="hold"/>
                            <p:tgtEl>
                              <p:spTgt spid="14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391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339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97" dur="420"/>
                            <p:tgtEl>
                              <p:spTgt spid="16"/>
                            </p:tgtEl>
                          </p:cBhvr>
                        </p:animEffect>
                        <p:animScale>
                          <p:cBhvr>
                            <p:cTn id="3388" dur="520" fill="hold"/>
                            <p:tgtEl>
                              <p:spTgt spid="16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400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340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06" dur="52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3409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34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15" dur="52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3421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34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27" dur="420"/>
                            <p:tgtEl>
                              <p:spTgt spid="18"/>
                            </p:tgtEl>
                          </p:cBhvr>
                        </p:animEffect>
                        <p:animScale>
                          <p:cBhvr>
                            <p:cTn id="3418" dur="520" fill="hold"/>
                            <p:tgtEl>
                              <p:spTgt spid="18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430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34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36" dur="52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3442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34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48" dur="420"/>
                            <p:tgtEl>
                              <p:spTgt spid="20"/>
                            </p:tgtEl>
                          </p:cBhvr>
                        </p:animEffect>
                        <p:animScale>
                          <p:cBhvr>
                            <p:cTn id="3439" dur="520" fill="hold"/>
                            <p:tgtEl>
                              <p:spTgt spid="2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451" presetID="10" presetClass="entr" presetSubtype="0" fill="hold" grpId="0" nodeType="afterEffect">
                      <p:stCondLst>
                        <p:cond delay="1070"/>
                      </p:stCondLst>
                      <p:childTnLst>
                        <p:set>
                          <p:cBhvr>
                            <p:cTn id="345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57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3460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346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66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3472" presetID="10" presetClass="entr" presetSubtype="0" fill="hold" grpId="0" nodeType="afterEffect">
                      <p:stCondLst>
                        <p:cond delay="1300"/>
                      </p:stCondLst>
                      <p:childTnLst>
                        <p:set>
                          <p:cBhvr>
                            <p:cTn id="347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78" dur="420"/>
                            <p:tgtEl>
                              <p:spTgt spid="23"/>
                            </p:tgtEl>
                          </p:cBhvr>
                        </p:animEffect>
                        <p:animScale>
                          <p:cBhvr>
                            <p:cTn id="3469" dur="520" fill="hold"/>
                            <p:tgtEl>
                              <p:spTgt spid="2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481" presetID="10" presetClass="entr" presetSubtype="0" fill="hold" grpId="0" nodeType="afterEffect">
                      <p:stCondLst>
                        <p:cond delay="1370"/>
                      </p:stCondLst>
                      <p:childTnLst>
                        <p:set>
                          <p:cBhvr>
                            <p:cTn id="34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87" dur="52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3493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34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99" dur="420"/>
                            <p:tgtEl>
                              <p:spTgt spid="25"/>
                            </p:tgtEl>
                          </p:cBhvr>
                        </p:animEffect>
                        <p:animScale>
                          <p:cBhvr>
                            <p:cTn id="3490" dur="520" fill="hold"/>
                            <p:tgtEl>
                              <p:spTgt spid="2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502" presetID="10" presetClass="entr" presetSubtype="0" fill="hold" grpId="0" nodeType="afterEffect">
                      <p:stCondLst>
                        <p:cond delay="1470"/>
                      </p:stCondLst>
                      <p:childTnLst>
                        <p:set>
                          <p:cBhvr>
                            <p:cTn id="35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08" dur="52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3514" presetID="10" presetClass="entr" presetSubtype="0" fill="hold" grpId="0" nodeType="afterEffect">
                      <p:stCondLst>
                        <p:cond delay="1500"/>
                      </p:stCondLst>
                      <p:childTnLst>
                        <p:set>
                          <p:cBhvr>
                            <p:cTn id="35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20" dur="420"/>
                            <p:tgtEl>
                              <p:spTgt spid="27"/>
                            </p:tgtEl>
                          </p:cBhvr>
                        </p:animEffect>
                        <p:animScale>
                          <p:cBhvr>
                            <p:cTn id="3511" dur="520" fill="hold"/>
                            <p:tgtEl>
                              <p:spTgt spid="2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523" presetID="10" presetClass="entr" presetSubtype="0" fill="hold" grpId="0" nodeType="afterEffect">
                      <p:stCondLst>
                        <p:cond delay="1570"/>
                      </p:stCondLst>
                      <p:childTnLst>
                        <p:set>
                          <p:cBhvr>
                            <p:cTn id="352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29" dur="52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17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UNFINISHED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Unresolved experience keeps its hold on the present.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285994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MAY INCLUDE</a:t>
            </a:r>
          </a:p>
        </p:txBody>
      </p:sp>
      <p:pic>
        <p:nvPicPr>
          <p:cNvPr id="10" name="Picture 9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637165"/>
            <a:ext cx="106680" cy="106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64054" y="2560314"/>
            <a:ext cx="143291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70"/>
              </a:lnSpc>
              <a:buNone/>
            </a:pPr>
            <a:r>
              <a:rPr sz="1300" b="0" i="0">
                <a:solidFill>
                  <a:srgbClr val="33506B"/>
                </a:solidFill>
                <a:latin typeface="Poppins"/>
              </a:rPr>
              <a:t>Grief</a:t>
            </a:r>
          </a:p>
        </p:txBody>
      </p:sp>
      <p:pic>
        <p:nvPicPr>
          <p:cNvPr id="12" name="Picture 11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33" y="2637165"/>
            <a:ext cx="106680" cy="106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877610" y="2560314"/>
            <a:ext cx="143291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70"/>
              </a:lnSpc>
              <a:buNone/>
            </a:pPr>
            <a:r>
              <a:rPr sz="1300" b="0" i="0">
                <a:solidFill>
                  <a:srgbClr val="33506B"/>
                </a:solidFill>
                <a:latin typeface="Poppins"/>
              </a:rPr>
              <a:t>Anger</a:t>
            </a:r>
          </a:p>
        </p:txBody>
      </p:sp>
      <p:pic>
        <p:nvPicPr>
          <p:cNvPr id="14" name="Picture 13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589" y="2637165"/>
            <a:ext cx="106680" cy="106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91165" y="2560314"/>
            <a:ext cx="143291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70"/>
              </a:lnSpc>
              <a:buNone/>
            </a:pPr>
            <a:r>
              <a:rPr sz="1300" b="0" i="0">
                <a:solidFill>
                  <a:srgbClr val="33506B"/>
                </a:solidFill>
                <a:latin typeface="Poppins"/>
              </a:rPr>
              <a:t>Guilt</a:t>
            </a:r>
          </a:p>
        </p:txBody>
      </p:sp>
      <p:pic>
        <p:nvPicPr>
          <p:cNvPr id="16" name="Picture 15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144" y="2637165"/>
            <a:ext cx="106680" cy="1066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04721" y="2560314"/>
            <a:ext cx="143291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70"/>
              </a:lnSpc>
              <a:buNone/>
            </a:pPr>
            <a:r>
              <a:rPr sz="1300" b="0" i="0">
                <a:solidFill>
                  <a:srgbClr val="33506B"/>
                </a:solidFill>
                <a:latin typeface="Poppins"/>
              </a:rPr>
              <a:t>Resentment</a:t>
            </a:r>
          </a:p>
        </p:txBody>
      </p:sp>
      <p:pic>
        <p:nvPicPr>
          <p:cNvPr id="18" name="Picture 17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00" y="2637165"/>
            <a:ext cx="106680" cy="1066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18276" y="2560314"/>
            <a:ext cx="143291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70"/>
              </a:lnSpc>
              <a:buNone/>
            </a:pPr>
            <a:r>
              <a:rPr sz="1300" b="0" i="0">
                <a:solidFill>
                  <a:srgbClr val="33506B"/>
                </a:solidFill>
                <a:latin typeface="Poppins"/>
              </a:rPr>
              <a:t>Unmet needs</a:t>
            </a:r>
          </a:p>
        </p:txBody>
      </p:sp>
      <p:pic>
        <p:nvPicPr>
          <p:cNvPr id="20" name="Picture 19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243589"/>
            <a:ext cx="121920" cy="121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38120" y="3169912"/>
            <a:ext cx="897430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Can remain psychologically active in the present</a:t>
            </a:r>
          </a:p>
        </p:txBody>
      </p:sp>
      <p:pic>
        <p:nvPicPr>
          <p:cNvPr id="22" name="Picture 21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411969"/>
            <a:ext cx="121920" cy="121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38120" y="4338292"/>
            <a:ext cx="897430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May interfere with healthy contact</a:t>
            </a:r>
          </a:p>
        </p:txBody>
      </p:sp>
      <p:pic>
        <p:nvPicPr>
          <p:cNvPr id="24" name="Picture 23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580349"/>
            <a:ext cx="121920" cy="1219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38120" y="5506673"/>
            <a:ext cx="897430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Therapy promotes awareness and processing</a:t>
            </a:r>
          </a:p>
        </p:txBody>
      </p:sp>
    </p:spTree>
  </p:cSld>
  <p:transition spd="slow" advOnClk="1" advTm="0">
    <p:push thruBlk="0" dir="r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532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53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38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3541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35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47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3550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35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56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3562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35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68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3559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3571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357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77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3580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358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86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3589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359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95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3601" presetID="10" presetClass="entr" presetSubtype="0" fill="hold" grpId="0" nodeType="afterEffect">
                      <p:stCondLst>
                        <p:cond delay="580"/>
                      </p:stCondLst>
                      <p:childTnLst>
                        <p:set>
                          <p:cBhvr>
                            <p:cTn id="36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07" dur="420"/>
                            <p:tgtEl>
                              <p:spTgt spid="10"/>
                            </p:tgtEl>
                          </p:cBhvr>
                        </p:animEffect>
                        <p:animScale>
                          <p:cBhvr>
                            <p:cTn id="3598" dur="520" fill="hold"/>
                            <p:tgtEl>
                              <p:spTgt spid="1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610" presetID="10" presetClass="entr" presetSubtype="0" fill="hold" grpId="0" nodeType="afterEffect">
                      <p:stCondLst>
                        <p:cond delay="650"/>
                      </p:stCondLst>
                      <p:childTnLst>
                        <p:set>
                          <p:cBhvr>
                            <p:cTn id="36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16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3622" presetID="10" presetClass="entr" presetSubtype="0" fill="hold" grpId="0" nodeType="afterEffect">
                      <p:stCondLst>
                        <p:cond delay="680"/>
                      </p:stCondLst>
                      <p:childTnLst>
                        <p:set>
                          <p:cBhvr>
                            <p:cTn id="36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28" dur="420"/>
                            <p:tgtEl>
                              <p:spTgt spid="12"/>
                            </p:tgtEl>
                          </p:cBhvr>
                        </p:animEffect>
                        <p:animScale>
                          <p:cBhvr>
                            <p:cTn id="3619" dur="520" fill="hold"/>
                            <p:tgtEl>
                              <p:spTgt spid="12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631" presetID="10" presetClass="entr" presetSubtype="0" fill="hold" grpId="0" nodeType="afterEffect">
                      <p:stCondLst>
                        <p:cond delay="750"/>
                      </p:stCondLst>
                      <p:childTnLst>
                        <p:set>
                          <p:cBhvr>
                            <p:cTn id="363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37" dur="52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3643" presetID="10" presetClass="entr" presetSubtype="0" fill="hold" grpId="0" nodeType="afterEffect">
                      <p:stCondLst>
                        <p:cond delay="780"/>
                      </p:stCondLst>
                      <p:childTnLst>
                        <p:set>
                          <p:cBhvr>
                            <p:cTn id="364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49" dur="420"/>
                            <p:tgtEl>
                              <p:spTgt spid="14"/>
                            </p:tgtEl>
                          </p:cBhvr>
                        </p:animEffect>
                        <p:animScale>
                          <p:cBhvr>
                            <p:cTn id="3640" dur="520" fill="hold"/>
                            <p:tgtEl>
                              <p:spTgt spid="14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652" presetID="10" presetClass="entr" presetSubtype="0" fill="hold" grpId="0" nodeType="afterEffect">
                      <p:stCondLst>
                        <p:cond delay="850"/>
                      </p:stCondLst>
                      <p:childTnLst>
                        <p:set>
                          <p:cBhvr>
                            <p:cTn id="365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58" dur="52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3664" presetID="10" presetClass="entr" presetSubtype="0" fill="hold" grpId="0" nodeType="afterEffect">
                      <p:stCondLst>
                        <p:cond delay="880"/>
                      </p:stCondLst>
                      <p:childTnLst>
                        <p:set>
                          <p:cBhvr>
                            <p:cTn id="366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70" dur="420"/>
                            <p:tgtEl>
                              <p:spTgt spid="16"/>
                            </p:tgtEl>
                          </p:cBhvr>
                        </p:animEffect>
                        <p:animScale>
                          <p:cBhvr>
                            <p:cTn id="3661" dur="520" fill="hold"/>
                            <p:tgtEl>
                              <p:spTgt spid="16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673" presetID="10" presetClass="entr" presetSubtype="0" fill="hold" grpId="0" nodeType="afterEffect">
                      <p:stCondLst>
                        <p:cond delay="950"/>
                      </p:stCondLst>
                      <p:childTnLst>
                        <p:set>
                          <p:cBhvr>
                            <p:cTn id="36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79" dur="52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3685" presetID="10" presetClass="entr" presetSubtype="0" fill="hold" grpId="0" nodeType="afterEffect">
                      <p:stCondLst>
                        <p:cond delay="980"/>
                      </p:stCondLst>
                      <p:childTnLst>
                        <p:set>
                          <p:cBhvr>
                            <p:cTn id="36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91" dur="420"/>
                            <p:tgtEl>
                              <p:spTgt spid="18"/>
                            </p:tgtEl>
                          </p:cBhvr>
                        </p:animEffect>
                        <p:animScale>
                          <p:cBhvr>
                            <p:cTn id="3682" dur="520" fill="hold"/>
                            <p:tgtEl>
                              <p:spTgt spid="18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694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36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00" dur="52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3706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37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12" dur="420"/>
                            <p:tgtEl>
                              <p:spTgt spid="20"/>
                            </p:tgtEl>
                          </p:cBhvr>
                        </p:animEffect>
                        <p:animScale>
                          <p:cBhvr>
                            <p:cTn id="3703" dur="520" fill="hold"/>
                            <p:tgtEl>
                              <p:spTgt spid="2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715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37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21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3727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373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33" dur="420"/>
                            <p:tgtEl>
                              <p:spTgt spid="22"/>
                            </p:tgtEl>
                          </p:cBhvr>
                        </p:animEffect>
                        <p:animScale>
                          <p:cBhvr>
                            <p:cTn id="3724" dur="520" fill="hold"/>
                            <p:tgtEl>
                              <p:spTgt spid="22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736" presetID="10" presetClass="entr" presetSubtype="0" fill="hold" grpId="0" nodeType="afterEffect">
                      <p:stCondLst>
                        <p:cond delay="1270"/>
                      </p:stCondLst>
                      <p:childTnLst>
                        <p:set>
                          <p:cBhvr>
                            <p:cTn id="373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42" dur="52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3748" presetID="10" presetClass="entr" presetSubtype="0" fill="hold" grpId="0" nodeType="afterEffect">
                      <p:stCondLst>
                        <p:cond delay="1300"/>
                      </p:stCondLst>
                      <p:childTnLst>
                        <p:set>
                          <p:cBhvr>
                            <p:cTn id="37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54" dur="420"/>
                            <p:tgtEl>
                              <p:spTgt spid="24"/>
                            </p:tgtEl>
                          </p:cBhvr>
                        </p:animEffect>
                        <p:animScale>
                          <p:cBhvr>
                            <p:cTn id="3745" dur="520" fill="hold"/>
                            <p:tgtEl>
                              <p:spTgt spid="24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757" presetID="10" presetClass="entr" presetSubtype="0" fill="hold" grpId="0" nodeType="afterEffect">
                      <p:stCondLst>
                        <p:cond delay="1370"/>
                      </p:stCondLst>
                      <p:childTnLst>
                        <p:set>
                          <p:cBhvr>
                            <p:cTn id="37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63" dur="52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18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200"/>
              </a:lnSpc>
              <a:buNone/>
            </a:pPr>
            <a:r>
              <a:rPr sz="5050" b="1" i="0">
                <a:solidFill>
                  <a:srgbClr val="4595C2"/>
                </a:solidFill>
                <a:latin typeface="Raleway"/>
              </a:rPr>
              <a:t>PERSONAL RESPONSIBILITY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600516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Owning your choices, without blame.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18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359671"/>
            <a:ext cx="121920" cy="12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38120" y="2285994"/>
            <a:ext cx="508811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Recognising one's own choices and responses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280831"/>
            <a:ext cx="121920" cy="12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8120" y="3207154"/>
            <a:ext cx="508811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Promotes agency and ownership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201991"/>
            <a:ext cx="121920" cy="12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38120" y="4128314"/>
            <a:ext cx="508811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Encourages authentic decision making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123150"/>
            <a:ext cx="121920" cy="121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8120" y="5049474"/>
            <a:ext cx="508811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Uses language that reflects personal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78" y="5577826"/>
            <a:ext cx="512977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39"/>
              </a:lnSpc>
              <a:buNone/>
            </a:pPr>
            <a:r>
              <a:rPr sz="1050" b="1" i="0" spc="132">
                <a:solidFill>
                  <a:srgbClr val="4595C2"/>
                </a:solidFill>
                <a:latin typeface="Poppins"/>
              </a:rPr>
              <a:t>RESPONSIBILITY IS OWNERSHIP  NOT BLAME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864" y="2240274"/>
            <a:ext cx="435253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LANGUAGE IN PRACTICE</a:t>
            </a:r>
          </a:p>
        </p:txBody>
      </p:sp>
      <p:pic>
        <p:nvPicPr>
          <p:cNvPr id="19" name="Picture 18" descr="mark_cr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864" y="2560314"/>
            <a:ext cx="137160" cy="1371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37944" y="2529834"/>
            <a:ext cx="435253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40"/>
              </a:lnSpc>
              <a:buNone/>
            </a:pPr>
            <a:r>
              <a:rPr sz="1750" b="0" i="0">
                <a:solidFill>
                  <a:srgbClr val="5F7E97"/>
                </a:solidFill>
                <a:latin typeface="Raleway"/>
              </a:rPr>
              <a:t>“You make me angry.”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44" y="2929006"/>
            <a:ext cx="435253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0" i="0">
                <a:solidFill>
                  <a:srgbClr val="8FA9BC"/>
                </a:solidFill>
                <a:latin typeface="Poppins"/>
              </a:rPr>
              <a:t>blames the other person</a:t>
            </a:r>
          </a:p>
        </p:txBody>
      </p:sp>
      <p:pic>
        <p:nvPicPr>
          <p:cNvPr id="22" name="Picture 21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864" y="3371727"/>
            <a:ext cx="137160" cy="1371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37944" y="3341247"/>
            <a:ext cx="45079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40"/>
              </a:lnSpc>
              <a:buNone/>
            </a:pPr>
            <a:r>
              <a:rPr sz="1750" b="0" i="0">
                <a:solidFill>
                  <a:srgbClr val="33506B"/>
                </a:solidFill>
                <a:latin typeface="Raleway"/>
              </a:rPr>
              <a:t>“I notice that I become angry when…”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44" y="3740420"/>
            <a:ext cx="45079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0" i="0">
                <a:solidFill>
                  <a:srgbClr val="8FA9BC"/>
                </a:solidFill>
                <a:latin typeface="Poppins"/>
              </a:rPr>
              <a:t>owns the experience</a:t>
            </a:r>
          </a:p>
        </p:txBody>
      </p:sp>
    </p:spTree>
  </p:cSld>
  <p:transition spd="slow" advOnClk="1" advTm="0">
    <p:fade thruBlk="1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766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7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72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3775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377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81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3784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378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90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3796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379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02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3793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3805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38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11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3814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38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20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3826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38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32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3823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835" presetID="10" presetClass="entr" presetSubtype="0" fill="hold" grpId="0" nodeType="afterEffect">
                      <p:stCondLst>
                        <p:cond delay="570"/>
                      </p:stCondLst>
                      <p:childTnLst>
                        <p:set>
                          <p:cBhvr>
                            <p:cTn id="383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41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3847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385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53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3844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856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385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62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3865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38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71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3877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38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83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3874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889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389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95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3886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898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39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04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3907" presetID="10" presetClass="entr" presetSubtype="0" fill="hold" grpId="0" nodeType="afterEffect">
                      <p:stCondLst>
                        <p:cond delay="780"/>
                      </p:stCondLst>
                      <p:childTnLst>
                        <p:set>
                          <p:cBhvr>
                            <p:cTn id="39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13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3919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39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25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3916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928" presetID="10" presetClass="entr" presetSubtype="0" fill="hold" grpId="0" nodeType="afterEffect">
                      <p:stCondLst>
                        <p:cond delay="860"/>
                      </p:stCondLst>
                      <p:childTnLst>
                        <p:set>
                          <p:cBhvr>
                            <p:cTn id="39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34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3937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39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43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3949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39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55" dur="420"/>
                            <p:tgtEl>
                              <p:spTgt spid="22"/>
                            </p:tgtEl>
                          </p:cBhvr>
                        </p:animEffect>
                        <p:animScale>
                          <p:cBhvr>
                            <p:cTn id="3946" dur="520" fill="hold"/>
                            <p:tgtEl>
                              <p:spTgt spid="22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958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39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64" dur="52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3967" presetID="10" presetClass="entr" presetSubtype="0" fill="hold" grpId="0" nodeType="afterEffect">
                      <p:stCondLst>
                        <p:cond delay="1130"/>
                      </p:stCondLst>
                      <p:childTnLst>
                        <p:set>
                          <p:cBhvr>
                            <p:cTn id="397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73" dur="52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3976" presetID="10" presetClass="entr" presetSubtype="0" fill="hold" grpId="0" nodeType="afterEffect">
                      <p:stCondLst>
                        <p:cond delay="1210"/>
                      </p:stCondLst>
                      <p:childTnLst>
                        <p:set>
                          <p:cBhvr>
                            <p:cTn id="397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82" dur="52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19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680"/>
              </a:lnSpc>
              <a:buNone/>
            </a:pPr>
            <a:r>
              <a:rPr sz="4000" b="1" i="0">
                <a:solidFill>
                  <a:srgbClr val="4595C2"/>
                </a:solidFill>
                <a:latin typeface="Raleway"/>
              </a:rPr>
              <a:t>ROLE OF THE GESTALT COUNSELLOR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407018"/>
            <a:ext cx="816100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A companion in the client's present experience.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19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359671"/>
            <a:ext cx="121920" cy="12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38120" y="2285994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Facilitates awareness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433230"/>
            <a:ext cx="121920" cy="12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8120" y="3359554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Focuses on present experience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506790"/>
            <a:ext cx="121920" cy="12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38120" y="4433113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Observes verbal and non verbal behaviour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580349"/>
            <a:ext cx="121920" cy="121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8120" y="5506673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Uses the therapeutic relationship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2359671"/>
            <a:ext cx="121920" cy="121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2107" y="2285994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Encourages authentic expression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433230"/>
            <a:ext cx="121920" cy="121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72107" y="3359554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Explores interruptions in contact</a:t>
            </a:r>
          </a:p>
        </p:txBody>
      </p:sp>
      <p:pic>
        <p:nvPicPr>
          <p:cNvPr id="21" name="Picture 2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506790"/>
            <a:ext cx="121920" cy="121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72107" y="4433113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Promotes responsibility and choice</a:t>
            </a:r>
          </a:p>
        </p:txBody>
      </p:sp>
    </p:spTree>
  </p:cSld>
  <p:transition spd="slow" advOnClk="1" advTm="0">
    <p:fade thruBlk="1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85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9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91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3994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39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00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4003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400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09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4015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40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21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4012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4024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402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30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4033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40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39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4045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40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51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4042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054" presetID="10" presetClass="entr" presetSubtype="0" fill="hold" grpId="0" nodeType="afterEffect">
                      <p:stCondLst>
                        <p:cond delay="570"/>
                      </p:stCondLst>
                      <p:childTnLst>
                        <p:set>
                          <p:cBhvr>
                            <p:cTn id="40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60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4066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40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72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4063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075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407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81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4087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409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93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4084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096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409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02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4108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4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14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4105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117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41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23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4129" presetID="10" presetClass="entr" presetSubtype="0" fill="hold" grpId="0" nodeType="afterEffect">
                      <p:stCondLst>
                        <p:cond delay="950"/>
                      </p:stCondLst>
                      <p:childTnLst>
                        <p:set>
                          <p:cBhvr>
                            <p:cTn id="41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35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4126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138" presetID="10" presetClass="entr" presetSubtype="0" fill="hold" grpId="0" nodeType="afterEffect">
                      <p:stCondLst>
                        <p:cond delay="1020"/>
                      </p:stCondLst>
                      <p:childTnLst>
                        <p:set>
                          <p:cBhvr>
                            <p:cTn id="41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44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4150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41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56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4147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159" presetID="10" presetClass="entr" presetSubtype="0" fill="hold" grpId="0" nodeType="afterEffect">
                      <p:stCondLst>
                        <p:cond delay="1120"/>
                      </p:stCondLst>
                      <p:childTnLst>
                        <p:set>
                          <p:cBhvr>
                            <p:cTn id="416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65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4171" presetID="10" presetClass="entr" presetSubtype="0" fill="hold" grpId="0" nodeType="afterEffect">
                      <p:stCondLst>
                        <p:cond delay="1150"/>
                      </p:stCondLst>
                      <p:childTnLst>
                        <p:set>
                          <p:cBhvr>
                            <p:cTn id="417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77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4168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180" presetID="10" presetClass="entr" presetSubtype="0" fill="hold" grpId="0" nodeType="afterEffect">
                      <p:stCondLst>
                        <p:cond delay="1220"/>
                      </p:stCondLst>
                      <p:childTnLst>
                        <p:set>
                          <p:cBhvr>
                            <p:cTn id="418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86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20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680"/>
              </a:lnSpc>
              <a:buNone/>
            </a:pPr>
            <a:r>
              <a:rPr sz="4000" b="1" i="0">
                <a:solidFill>
                  <a:srgbClr val="4595C2"/>
                </a:solidFill>
                <a:latin typeface="Raleway"/>
              </a:rPr>
              <a:t>GESTALT THERAPEUTIC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407018"/>
            <a:ext cx="854961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Nine experiments that turn talking into experiencing.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20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747485"/>
            <a:ext cx="114300" cy="114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88743" y="2669999"/>
            <a:ext cx="303993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Empty chair technique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3869" y="2747485"/>
            <a:ext cx="114300" cy="114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70134" y="2669999"/>
            <a:ext cx="303993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Two chair dialogue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60" y="2747485"/>
            <a:ext cx="114300" cy="114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51525" y="2669999"/>
            <a:ext cx="303993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Exaggeration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022596"/>
            <a:ext cx="114300" cy="114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88743" y="3945109"/>
            <a:ext cx="303993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Staying with the feeling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3869" y="4022596"/>
            <a:ext cx="114300" cy="1143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70134" y="3945109"/>
            <a:ext cx="303993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Role play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60" y="4022596"/>
            <a:ext cx="114300" cy="1143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51525" y="3945109"/>
            <a:ext cx="303993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Body awareness</a:t>
            </a:r>
          </a:p>
        </p:txBody>
      </p:sp>
      <p:pic>
        <p:nvPicPr>
          <p:cNvPr id="21" name="Picture 2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297707"/>
            <a:ext cx="114300" cy="1143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88743" y="5220220"/>
            <a:ext cx="303993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“I” statements</a:t>
            </a:r>
          </a:p>
        </p:txBody>
      </p:sp>
      <p:pic>
        <p:nvPicPr>
          <p:cNvPr id="23" name="Picture 2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3869" y="5297707"/>
            <a:ext cx="114300" cy="1143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70134" y="5220220"/>
            <a:ext cx="303993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Dream work</a:t>
            </a:r>
          </a:p>
        </p:txBody>
      </p:sp>
      <p:pic>
        <p:nvPicPr>
          <p:cNvPr id="25" name="Picture 2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60" y="5297707"/>
            <a:ext cx="114300" cy="1143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51525" y="5220220"/>
            <a:ext cx="303993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Here and now questioning</a:t>
            </a:r>
          </a:p>
        </p:txBody>
      </p:sp>
    </p:spTree>
  </p:cSld>
  <p:transition spd="slow" advOnClk="1" advTm="0">
    <p:push thruBlk="0" dir="r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189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19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95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4198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42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04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4207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42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13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4219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42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25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4216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4228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42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34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4237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42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43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4249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42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55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4246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258" presetID="10" presetClass="entr" presetSubtype="0" fill="hold" grpId="0" nodeType="afterEffect">
                      <p:stCondLst>
                        <p:cond delay="520"/>
                      </p:stCondLst>
                      <p:childTnLst>
                        <p:set>
                          <p:cBhvr>
                            <p:cTn id="42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64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4270" presetID="10" presetClass="entr" presetSubtype="0" fill="hold" grpId="0" nodeType="afterEffect">
                      <p:stCondLst>
                        <p:cond delay="540"/>
                      </p:stCondLst>
                      <p:childTnLst>
                        <p:set>
                          <p:cBhvr>
                            <p:cTn id="427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76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4267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279" presetID="10" presetClass="entr" presetSubtype="0" fill="hold" grpId="0" nodeType="afterEffect">
                      <p:stCondLst>
                        <p:cond delay="610"/>
                      </p:stCondLst>
                      <p:childTnLst>
                        <p:set>
                          <p:cBhvr>
                            <p:cTn id="428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85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4291" presetID="10" presetClass="entr" presetSubtype="0" fill="hold" grpId="0" nodeType="afterEffect">
                      <p:stCondLst>
                        <p:cond delay="630"/>
                      </p:stCondLst>
                      <p:childTnLst>
                        <p:set>
                          <p:cBhvr>
                            <p:cTn id="429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97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4288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300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430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06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4312" presetID="10" presetClass="entr" presetSubtype="0" fill="hold" grpId="0" nodeType="afterEffect">
                      <p:stCondLst>
                        <p:cond delay="720"/>
                      </p:stCondLst>
                      <p:childTnLst>
                        <p:set>
                          <p:cBhvr>
                            <p:cTn id="431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18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4309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321" presetID="10" presetClass="entr" presetSubtype="0" fill="hold" grpId="0" nodeType="afterEffect">
                      <p:stCondLst>
                        <p:cond delay="790"/>
                      </p:stCondLst>
                      <p:childTnLst>
                        <p:set>
                          <p:cBhvr>
                            <p:cTn id="43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27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4333" presetID="10" presetClass="entr" presetSubtype="0" fill="hold" grpId="0" nodeType="afterEffect">
                      <p:stCondLst>
                        <p:cond delay="810"/>
                      </p:stCondLst>
                      <p:childTnLst>
                        <p:set>
                          <p:cBhvr>
                            <p:cTn id="43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39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4330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342" presetID="10" presetClass="entr" presetSubtype="0" fill="hold" grpId="0" nodeType="afterEffect">
                      <p:stCondLst>
                        <p:cond delay="880"/>
                      </p:stCondLst>
                      <p:childTnLst>
                        <p:set>
                          <p:cBhvr>
                            <p:cTn id="43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48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4354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43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60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4351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363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436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69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4375" presetID="10" presetClass="entr" presetSubtype="0" fill="hold" grpId="0" nodeType="afterEffect">
                      <p:stCondLst>
                        <p:cond delay="990"/>
                      </p:stCondLst>
                      <p:childTnLst>
                        <p:set>
                          <p:cBhvr>
                            <p:cTn id="437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81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4372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384" presetID="10" presetClass="entr" presetSubtype="0" fill="hold" grpId="0" nodeType="afterEffect">
                      <p:stCondLst>
                        <p:cond delay="1060"/>
                      </p:stCondLst>
                      <p:childTnLst>
                        <p:set>
                          <p:cBhvr>
                            <p:cTn id="438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90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4396" presetID="10" presetClass="entr" presetSubtype="0" fill="hold" grpId="0" nodeType="afterEffect">
                      <p:stCondLst>
                        <p:cond delay="1080"/>
                      </p:stCondLst>
                      <p:childTnLst>
                        <p:set>
                          <p:cBhvr>
                            <p:cTn id="439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02" dur="420"/>
                            <p:tgtEl>
                              <p:spTgt spid="23"/>
                            </p:tgtEl>
                          </p:cBhvr>
                        </p:animEffect>
                        <p:animScale>
                          <p:cBhvr>
                            <p:cTn id="4393" dur="520" fill="hold"/>
                            <p:tgtEl>
                              <p:spTgt spid="2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405" presetID="10" presetClass="entr" presetSubtype="0" fill="hold" grpId="0" nodeType="afterEffect">
                      <p:stCondLst>
                        <p:cond delay="1150"/>
                      </p:stCondLst>
                      <p:childTnLst>
                        <p:set>
                          <p:cBhvr>
                            <p:cTn id="44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11" dur="52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4417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44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23" dur="420"/>
                            <p:tgtEl>
                              <p:spTgt spid="25"/>
                            </p:tgtEl>
                          </p:cBhvr>
                        </p:animEffect>
                        <p:animScale>
                          <p:cBhvr>
                            <p:cTn id="4414" dur="520" fill="hold"/>
                            <p:tgtEl>
                              <p:spTgt spid="2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426" presetID="10" presetClass="entr" presetSubtype="0" fill="hold" grpId="0" nodeType="afterEffect">
                      <p:stCondLst>
                        <p:cond delay="1240"/>
                      </p:stCondLst>
                      <p:childTnLst>
                        <p:set>
                          <p:cBhvr>
                            <p:cTn id="44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32" dur="52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21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EMPTY CHAIR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Speaking to the person who is not in the room.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21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359671"/>
            <a:ext cx="121920" cy="12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38120" y="2285994"/>
            <a:ext cx="570990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The client imagines another person in the empty chair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866383"/>
            <a:ext cx="121920" cy="12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8120" y="2792706"/>
            <a:ext cx="570990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Speaks directly to the imagined person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373094"/>
            <a:ext cx="121920" cy="12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38120" y="3299418"/>
            <a:ext cx="570990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Brings unresolved experience into present awareness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879806"/>
            <a:ext cx="121920" cy="121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8120" y="3806129"/>
            <a:ext cx="570990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Facilitates expression of unfinished emotions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386518"/>
            <a:ext cx="121920" cy="121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38120" y="4312841"/>
            <a:ext cx="570990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May open new awareness and perspectives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82" y="2133595"/>
            <a:ext cx="155447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009"/>
              </a:lnSpc>
              <a:buNone/>
            </a:pPr>
            <a:r>
              <a:rPr sz="7200" b="1" i="0">
                <a:solidFill>
                  <a:srgbClr val="4595C2"/>
                </a:solidFill>
                <a:latin typeface="Raleway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21" y="3069961"/>
            <a:ext cx="404163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70"/>
              </a:lnSpc>
              <a:buNone/>
            </a:pPr>
            <a:r>
              <a:rPr sz="1900" b="0" i="0">
                <a:solidFill>
                  <a:srgbClr val="33506B"/>
                </a:solidFill>
                <a:latin typeface="Raleway"/>
              </a:rPr>
              <a:t>Imagine your father is sitting in that chair. What would you want him to hear from you?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21" y="4370994"/>
            <a:ext cx="357529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478" y="4856433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THE 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198" y="5100273"/>
            <a:ext cx="226953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210"/>
              </a:lnSpc>
              <a:buNone/>
            </a:pPr>
            <a:r>
              <a:rPr sz="1350" b="1" i="0" spc="60">
                <a:solidFill>
                  <a:srgbClr val="33506B"/>
                </a:solidFill>
                <a:latin typeface="Poppins"/>
              </a:rPr>
              <a:t>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24192" y="5100273"/>
            <a:ext cx="226953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210"/>
              </a:lnSpc>
              <a:buNone/>
            </a:pPr>
            <a:r>
              <a:rPr sz="1350" b="1" i="0" spc="60">
                <a:solidFill>
                  <a:srgbClr val="33506B"/>
                </a:solidFill>
                <a:latin typeface="Poppins"/>
              </a:rPr>
              <a:t>Imagined person</a:t>
            </a:r>
          </a:p>
        </p:txBody>
      </p:sp>
    </p:spTree>
  </p:cSld>
  <p:transition spd="slow" advOnClk="1" advTm="0">
    <p:fade thruBlk="1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435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43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41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4444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444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50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4453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44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59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4465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44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71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4462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4474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44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80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4483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448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89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4495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449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01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4492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504" presetID="10" presetClass="entr" presetSubtype="0" fill="hold" grpId="0" nodeType="afterEffect">
                      <p:stCondLst>
                        <p:cond delay="570"/>
                      </p:stCondLst>
                      <p:childTnLst>
                        <p:set>
                          <p:cBhvr>
                            <p:cTn id="450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10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4516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451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22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4513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525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45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31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4537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45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43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4534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546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45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52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4558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45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64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4555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567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457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73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4579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458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85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4576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588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459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94" dur="52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4597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46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03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4609" presetID="22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46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15" dur="620"/>
                            <p:tgtEl>
                              <p:spTgt spid="20"/>
                            </p:tgtEl>
                          </p:cBhvr>
                        </p:animEffect>
                        <p:anim calcmode="lin" valueType="num">
                          <p:cBhvr additive="base">
                            <p:cTn id="4606" dur="520" fill="hold"/>
                            <p:tgtEl>
                              <p:spTgt spid="2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4618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46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24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4627" presetID="10" presetClass="entr" presetSubtype="0" fill="hold" grpId="0" nodeType="afterEffect">
                      <p:stCondLst>
                        <p:cond delay="1300"/>
                      </p:stCondLst>
                      <p:childTnLst>
                        <p:set>
                          <p:cBhvr>
                            <p:cTn id="463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33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4636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463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42" dur="52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4645" presetID="10" presetClass="entr" presetSubtype="0" fill="hold" grpId="0" nodeType="afterEffect">
                      <p:stCondLst>
                        <p:cond delay="1540"/>
                      </p:stCondLst>
                      <p:childTnLst>
                        <p:set>
                          <p:cBhvr>
                            <p:cTn id="46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51" dur="52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22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680"/>
              </a:lnSpc>
              <a:buNone/>
            </a:pPr>
            <a:r>
              <a:rPr sz="4000" b="1" i="0">
                <a:solidFill>
                  <a:srgbClr val="4595C2"/>
                </a:solidFill>
                <a:latin typeface="Raleway"/>
              </a:rPr>
              <a:t>OTHER EXPERIENTIAL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407018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What each experiment is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22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434262"/>
            <a:ext cx="114300" cy="114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3432" y="2356775"/>
            <a:ext cx="371426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1" i="0">
                <a:solidFill>
                  <a:srgbClr val="33506B"/>
                </a:solidFill>
                <a:latin typeface="Poppins"/>
              </a:rPr>
              <a:t>Two chair dialogue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2434262"/>
            <a:ext cx="114300" cy="114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47418" y="2356775"/>
            <a:ext cx="402516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5F7E97"/>
                </a:solidFill>
                <a:latin typeface="Poppins"/>
              </a:rPr>
              <a:t>Explore opposing parts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093460"/>
            <a:ext cx="114300" cy="114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3432" y="3015973"/>
            <a:ext cx="371426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1" i="0">
                <a:solidFill>
                  <a:srgbClr val="33506B"/>
                </a:solidFill>
                <a:latin typeface="Poppins"/>
              </a:rPr>
              <a:t>Exaggeration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093460"/>
            <a:ext cx="114300" cy="114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47418" y="3015973"/>
            <a:ext cx="402516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5F7E97"/>
                </a:solidFill>
                <a:latin typeface="Poppins"/>
              </a:rPr>
              <a:t>Increase awareness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752659"/>
            <a:ext cx="114300" cy="1143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3432" y="3675172"/>
            <a:ext cx="371426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1" i="0">
                <a:solidFill>
                  <a:srgbClr val="33506B"/>
                </a:solidFill>
                <a:latin typeface="Poppins"/>
              </a:rPr>
              <a:t>Staying with the feeling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752659"/>
            <a:ext cx="114300" cy="1143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47418" y="3675172"/>
            <a:ext cx="402516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5F7E97"/>
                </a:solidFill>
                <a:latin typeface="Poppins"/>
              </a:rPr>
              <a:t>Explore emerging emotions</a:t>
            </a:r>
          </a:p>
        </p:txBody>
      </p:sp>
      <p:pic>
        <p:nvPicPr>
          <p:cNvPr id="21" name="Picture 2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411857"/>
            <a:ext cx="114300" cy="1143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13432" y="4334370"/>
            <a:ext cx="371426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1" i="0">
                <a:solidFill>
                  <a:srgbClr val="33506B"/>
                </a:solidFill>
                <a:latin typeface="Poppins"/>
              </a:rPr>
              <a:t>Body awareness</a:t>
            </a:r>
          </a:p>
        </p:txBody>
      </p:sp>
      <p:pic>
        <p:nvPicPr>
          <p:cNvPr id="23" name="Picture 2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411857"/>
            <a:ext cx="114300" cy="1143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47418" y="4334370"/>
            <a:ext cx="402516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5F7E97"/>
                </a:solidFill>
                <a:latin typeface="Poppins"/>
              </a:rPr>
              <a:t>Notice physical experience</a:t>
            </a:r>
          </a:p>
        </p:txBody>
      </p:sp>
      <p:pic>
        <p:nvPicPr>
          <p:cNvPr id="25" name="Picture 2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071055"/>
            <a:ext cx="114300" cy="1143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13432" y="4993569"/>
            <a:ext cx="371426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1" i="0">
                <a:solidFill>
                  <a:srgbClr val="33506B"/>
                </a:solidFill>
                <a:latin typeface="Poppins"/>
              </a:rPr>
              <a:t>“I” statements</a:t>
            </a:r>
          </a:p>
        </p:txBody>
      </p:sp>
      <p:pic>
        <p:nvPicPr>
          <p:cNvPr id="27" name="Picture 2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5071055"/>
            <a:ext cx="114300" cy="1143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47418" y="4993569"/>
            <a:ext cx="402516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5F7E97"/>
                </a:solidFill>
                <a:latin typeface="Poppins"/>
              </a:rPr>
              <a:t>Own personal experience</a:t>
            </a:r>
          </a:p>
        </p:txBody>
      </p:sp>
      <p:pic>
        <p:nvPicPr>
          <p:cNvPr id="29" name="Picture 2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730254"/>
            <a:ext cx="114300" cy="1143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13432" y="5652767"/>
            <a:ext cx="371426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1" i="0">
                <a:solidFill>
                  <a:srgbClr val="33506B"/>
                </a:solidFill>
                <a:latin typeface="Poppins"/>
              </a:rPr>
              <a:t>Dream work</a:t>
            </a:r>
          </a:p>
        </p:txBody>
      </p:sp>
      <p:pic>
        <p:nvPicPr>
          <p:cNvPr id="31" name="Picture 3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5730254"/>
            <a:ext cx="114300" cy="1143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47418" y="5652767"/>
            <a:ext cx="402516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5F7E97"/>
                </a:solidFill>
                <a:latin typeface="Poppins"/>
              </a:rPr>
              <a:t>Explore present meaning</a:t>
            </a:r>
          </a:p>
        </p:txBody>
      </p:sp>
    </p:spTree>
  </p:cSld>
  <p:transition spd="slow" advOnClk="1" advTm="0">
    <p:fade thruBlk="1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65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6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60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4663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466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69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4672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467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78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4684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468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90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4681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4693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46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99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4702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47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08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4714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47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20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4711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726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47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32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4723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735" presetID="10" presetClass="entr" presetSubtype="0" fill="hold" grpId="0" nodeType="afterEffect">
                      <p:stCondLst>
                        <p:cond delay="520"/>
                      </p:stCondLst>
                      <p:childTnLst>
                        <p:set>
                          <p:cBhvr>
                            <p:cTn id="473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41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4747" presetID="10" presetClass="entr" presetSubtype="0" fill="hold" grpId="0" nodeType="afterEffect">
                      <p:stCondLst>
                        <p:cond delay="550"/>
                      </p:stCondLst>
                      <p:childTnLst>
                        <p:set>
                          <p:cBhvr>
                            <p:cTn id="475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53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4744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756" presetID="10" presetClass="entr" presetSubtype="0" fill="hold" grpId="0" nodeType="afterEffect">
                      <p:stCondLst>
                        <p:cond delay="570"/>
                      </p:stCondLst>
                      <p:childTnLst>
                        <p:set>
                          <p:cBhvr>
                            <p:cTn id="475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62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4768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47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74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4765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777" presetID="10" presetClass="entr" presetSubtype="0" fill="hold" grpId="0" nodeType="afterEffect">
                      <p:stCondLst>
                        <p:cond delay="620"/>
                      </p:stCondLst>
                      <p:childTnLst>
                        <p:set>
                          <p:cBhvr>
                            <p:cTn id="47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83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4789" presetID="10" presetClass="entr" presetSubtype="0" fill="hold" grpId="0" nodeType="afterEffect">
                      <p:stCondLst>
                        <p:cond delay="650"/>
                      </p:stCondLst>
                      <p:childTnLst>
                        <p:set>
                          <p:cBhvr>
                            <p:cTn id="479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95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4786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798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48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04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4810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48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16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4807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819" presetID="10" presetClass="entr" presetSubtype="0" fill="hold" grpId="0" nodeType="afterEffect">
                      <p:stCondLst>
                        <p:cond delay="720"/>
                      </p:stCondLst>
                      <p:childTnLst>
                        <p:set>
                          <p:cBhvr>
                            <p:cTn id="48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25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4831" presetID="10" presetClass="entr" presetSubtype="0" fill="hold" grpId="0" nodeType="afterEffect">
                      <p:stCondLst>
                        <p:cond delay="750"/>
                      </p:stCondLst>
                      <p:childTnLst>
                        <p:set>
                          <p:cBhvr>
                            <p:cTn id="483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37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4828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840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484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46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4852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485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58" dur="420"/>
                            <p:tgtEl>
                              <p:spTgt spid="23"/>
                            </p:tgtEl>
                          </p:cBhvr>
                        </p:animEffect>
                        <p:animScale>
                          <p:cBhvr>
                            <p:cTn id="4849" dur="520" fill="hold"/>
                            <p:tgtEl>
                              <p:spTgt spid="2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861" presetID="10" presetClass="entr" presetSubtype="0" fill="hold" grpId="0" nodeType="afterEffect">
                      <p:stCondLst>
                        <p:cond delay="820"/>
                      </p:stCondLst>
                      <p:childTnLst>
                        <p:set>
                          <p:cBhvr>
                            <p:cTn id="486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67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4873" presetID="10" presetClass="entr" presetSubtype="0" fill="hold" grpId="0" nodeType="afterEffect">
                      <p:stCondLst>
                        <p:cond delay="850"/>
                      </p:stCondLst>
                      <p:childTnLst>
                        <p:set>
                          <p:cBhvr>
                            <p:cTn id="48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79" dur="420"/>
                            <p:tgtEl>
                              <p:spTgt spid="25"/>
                            </p:tgtEl>
                          </p:cBhvr>
                        </p:animEffect>
                        <p:animScale>
                          <p:cBhvr>
                            <p:cTn id="4870" dur="520" fill="hold"/>
                            <p:tgtEl>
                              <p:spTgt spid="2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882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488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88" dur="52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4894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48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00" dur="420"/>
                            <p:tgtEl>
                              <p:spTgt spid="27"/>
                            </p:tgtEl>
                          </p:cBhvr>
                        </p:animEffect>
                        <p:animScale>
                          <p:cBhvr>
                            <p:cTn id="4891" dur="520" fill="hold"/>
                            <p:tgtEl>
                              <p:spTgt spid="2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903" presetID="10" presetClass="entr" presetSubtype="0" fill="hold" grpId="0" nodeType="afterEffect">
                      <p:stCondLst>
                        <p:cond delay="920"/>
                      </p:stCondLst>
                      <p:childTnLst>
                        <p:set>
                          <p:cBhvr>
                            <p:cTn id="490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09" dur="52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4915" presetID="10" presetClass="entr" presetSubtype="0" fill="hold" grpId="0" nodeType="afterEffect">
                      <p:stCondLst>
                        <p:cond delay="950"/>
                      </p:stCondLst>
                      <p:childTnLst>
                        <p:set>
                          <p:cBhvr>
                            <p:cTn id="49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21" dur="420"/>
                            <p:tgtEl>
                              <p:spTgt spid="29"/>
                            </p:tgtEl>
                          </p:cBhvr>
                        </p:animEffect>
                        <p:animScale>
                          <p:cBhvr>
                            <p:cTn id="4912" dur="520" fill="hold"/>
                            <p:tgtEl>
                              <p:spTgt spid="2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924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492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30" dur="52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4936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493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42" dur="420"/>
                            <p:tgtEl>
                              <p:spTgt spid="31"/>
                            </p:tgtEl>
                          </p:cBhvr>
                        </p:animEffect>
                        <p:animScale>
                          <p:cBhvr>
                            <p:cTn id="4933" dur="520" fill="hold"/>
                            <p:tgtEl>
                              <p:spTgt spid="3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945" presetID="10" presetClass="entr" presetSubtype="0" fill="hold" grpId="0" nodeType="afterEffect">
                      <p:stCondLst>
                        <p:cond delay="1020"/>
                      </p:stCondLst>
                      <p:childTnLst>
                        <p:set>
                          <p:cBhvr>
                            <p:cTn id="49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51" dur="52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4954" presetID="10" presetClass="entr" presetSubtype="0" fill="hold" grpId="0" nodeType="afterEffect">
                      <p:stCondLst>
                        <p:cond delay="1070"/>
                      </p:stCondLst>
                      <p:childTnLst>
                        <p:set>
                          <p:cBhvr>
                            <p:cTn id="49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60" dur="52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23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370"/>
              </a:lnSpc>
              <a:buNone/>
            </a:pPr>
            <a:r>
              <a:rPr sz="4450" b="1" i="0">
                <a:solidFill>
                  <a:srgbClr val="4595C2"/>
                </a:solidFill>
                <a:latin typeface="Raleway"/>
              </a:rPr>
              <a:t>APPLICATION IN COUNSELLING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494972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Gestalt therapy can be applied to the following areas.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23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428426"/>
            <a:ext cx="114300" cy="114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88743" y="2350939"/>
            <a:ext cx="420579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Grief and loss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866" y="2428426"/>
            <a:ext cx="114300" cy="114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13131" y="2350939"/>
            <a:ext cx="420579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Relationship difficulties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118048"/>
            <a:ext cx="114300" cy="114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8743" y="3040561"/>
            <a:ext cx="420579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Anxiety and emotional distress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866" y="3118048"/>
            <a:ext cx="114300" cy="114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13131" y="3040561"/>
            <a:ext cx="420579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Unresolved anger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807670"/>
            <a:ext cx="114300" cy="1143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88743" y="3730183"/>
            <a:ext cx="420579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Identity concerns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866" y="3807670"/>
            <a:ext cx="114300" cy="1143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13131" y="3730183"/>
            <a:ext cx="420579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Emotional expression difficulties</a:t>
            </a:r>
          </a:p>
        </p:txBody>
      </p:sp>
      <p:pic>
        <p:nvPicPr>
          <p:cNvPr id="21" name="Picture 2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497292"/>
            <a:ext cx="114300" cy="1143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88743" y="4419805"/>
            <a:ext cx="420579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Personal growth</a:t>
            </a:r>
          </a:p>
        </p:txBody>
      </p:sp>
      <p:pic>
        <p:nvPicPr>
          <p:cNvPr id="23" name="Picture 2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866" y="4497292"/>
            <a:ext cx="114300" cy="1143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13131" y="4419805"/>
            <a:ext cx="420579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Unresolved interpersonal experiences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478" y="5292306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THERAPEUTIC MOVEMENT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478" y="5551386"/>
            <a:ext cx="191174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070"/>
              </a:lnSpc>
              <a:buNone/>
            </a:pPr>
            <a:r>
              <a:rPr sz="1250" b="1" i="0" spc="60">
                <a:solidFill>
                  <a:srgbClr val="33506B"/>
                </a:solidFill>
                <a:latin typeface="Poppins"/>
              </a:rPr>
              <a:t>Awareness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27702" y="5551386"/>
            <a:ext cx="191174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070"/>
              </a:lnSpc>
              <a:buNone/>
            </a:pPr>
            <a:r>
              <a:rPr sz="1250" b="1" i="0" spc="60">
                <a:solidFill>
                  <a:srgbClr val="33506B"/>
                </a:solidFill>
                <a:latin typeface="Poppins"/>
              </a:rPr>
              <a:t>Contact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2926" y="5551386"/>
            <a:ext cx="191174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070"/>
              </a:lnSpc>
              <a:buNone/>
            </a:pPr>
            <a:r>
              <a:rPr sz="1250" b="1" i="0" spc="60">
                <a:solidFill>
                  <a:srgbClr val="33506B"/>
                </a:solidFill>
                <a:latin typeface="Poppins"/>
              </a:rPr>
              <a:t>Responsibility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8150" y="5551386"/>
            <a:ext cx="191174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070"/>
              </a:lnSpc>
              <a:buNone/>
            </a:pPr>
            <a:r>
              <a:rPr sz="1250" b="1" i="0" spc="60">
                <a:solidFill>
                  <a:srgbClr val="33506B"/>
                </a:solidFill>
                <a:latin typeface="Poppins"/>
              </a:rPr>
              <a:t>Choice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3374" y="5551386"/>
            <a:ext cx="191174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070"/>
              </a:lnSpc>
              <a:buNone/>
            </a:pPr>
            <a:r>
              <a:rPr sz="1250" b="1" i="0" spc="60">
                <a:solidFill>
                  <a:srgbClr val="33506B"/>
                </a:solidFill>
                <a:latin typeface="Poppins"/>
              </a:rPr>
              <a:t>Growth</a:t>
            </a:r>
          </a:p>
        </p:txBody>
      </p:sp>
    </p:spTree>
  </p:cSld>
  <p:transition spd="slow" advOnClk="1" advTm="0">
    <p:fade thruBlk="1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96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96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69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4972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497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78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4981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49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87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4993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49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99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4990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5002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50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08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5011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50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17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023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502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29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5020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032" presetID="10" presetClass="entr" presetSubtype="0" fill="hold" grpId="0" nodeType="afterEffect">
                      <p:stCondLst>
                        <p:cond delay="520"/>
                      </p:stCondLst>
                      <p:childTnLst>
                        <p:set>
                          <p:cBhvr>
                            <p:cTn id="503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38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5044" presetID="10" presetClass="entr" presetSubtype="0" fill="hold" grpId="0" nodeType="afterEffect">
                      <p:stCondLst>
                        <p:cond delay="540"/>
                      </p:stCondLst>
                      <p:childTnLst>
                        <p:set>
                          <p:cBhvr>
                            <p:cTn id="504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50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5041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053" presetID="10" presetClass="entr" presetSubtype="0" fill="hold" grpId="0" nodeType="afterEffect">
                      <p:stCondLst>
                        <p:cond delay="610"/>
                      </p:stCondLst>
                      <p:childTnLst>
                        <p:set>
                          <p:cBhvr>
                            <p:cTn id="50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59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5065" presetID="10" presetClass="entr" presetSubtype="0" fill="hold" grpId="0" nodeType="afterEffect">
                      <p:stCondLst>
                        <p:cond delay="630"/>
                      </p:stCondLst>
                      <p:childTnLst>
                        <p:set>
                          <p:cBhvr>
                            <p:cTn id="50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71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5062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074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50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80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5086" presetID="10" presetClass="entr" presetSubtype="0" fill="hold" grpId="0" nodeType="afterEffect">
                      <p:stCondLst>
                        <p:cond delay="720"/>
                      </p:stCondLst>
                      <p:childTnLst>
                        <p:set>
                          <p:cBhvr>
                            <p:cTn id="508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92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5083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095" presetID="10" presetClass="entr" presetSubtype="0" fill="hold" grpId="0" nodeType="afterEffect">
                      <p:stCondLst>
                        <p:cond delay="790"/>
                      </p:stCondLst>
                      <p:childTnLst>
                        <p:set>
                          <p:cBhvr>
                            <p:cTn id="509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01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5107" presetID="10" presetClass="entr" presetSubtype="0" fill="hold" grpId="0" nodeType="afterEffect">
                      <p:stCondLst>
                        <p:cond delay="810"/>
                      </p:stCondLst>
                      <p:childTnLst>
                        <p:set>
                          <p:cBhvr>
                            <p:cTn id="51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13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5104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116" presetID="10" presetClass="entr" presetSubtype="0" fill="hold" grpId="0" nodeType="afterEffect">
                      <p:stCondLst>
                        <p:cond delay="880"/>
                      </p:stCondLst>
                      <p:childTnLst>
                        <p:set>
                          <p:cBhvr>
                            <p:cTn id="511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22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5128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51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34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5125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137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51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43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5149" presetID="10" presetClass="entr" presetSubtype="0" fill="hold" grpId="0" nodeType="afterEffect">
                      <p:stCondLst>
                        <p:cond delay="990"/>
                      </p:stCondLst>
                      <p:childTnLst>
                        <p:set>
                          <p:cBhvr>
                            <p:cTn id="51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55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5146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158" presetID="10" presetClass="entr" presetSubtype="0" fill="hold" grpId="0" nodeType="afterEffect">
                      <p:stCondLst>
                        <p:cond delay="1060"/>
                      </p:stCondLst>
                      <p:childTnLst>
                        <p:set>
                          <p:cBhvr>
                            <p:cTn id="51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64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5170" presetID="10" presetClass="entr" presetSubtype="0" fill="hold" grpId="0" nodeType="afterEffect">
                      <p:stCondLst>
                        <p:cond delay="1080"/>
                      </p:stCondLst>
                      <p:childTnLst>
                        <p:set>
                          <p:cBhvr>
                            <p:cTn id="517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76" dur="420"/>
                            <p:tgtEl>
                              <p:spTgt spid="23"/>
                            </p:tgtEl>
                          </p:cBhvr>
                        </p:animEffect>
                        <p:animScale>
                          <p:cBhvr>
                            <p:cTn id="5167" dur="520" fill="hold"/>
                            <p:tgtEl>
                              <p:spTgt spid="2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179" presetID="10" presetClass="entr" presetSubtype="0" fill="hold" grpId="0" nodeType="afterEffect">
                      <p:stCondLst>
                        <p:cond delay="1150"/>
                      </p:stCondLst>
                      <p:childTnLst>
                        <p:set>
                          <p:cBhvr>
                            <p:cTn id="518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85" dur="52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5188" presetID="10" presetClass="entr" presetSubtype="0" fill="hold" grpId="0" nodeType="afterEffect">
                      <p:stCondLst>
                        <p:cond delay="1300"/>
                      </p:stCondLst>
                      <p:childTnLst>
                        <p:set>
                          <p:cBhvr>
                            <p:cTn id="519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94" dur="52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5197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52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03" dur="52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5206" presetID="10" presetClass="entr" presetSubtype="0" fill="hold" grpId="0" nodeType="afterEffect">
                      <p:stCondLst>
                        <p:cond delay="1540"/>
                      </p:stCondLst>
                      <p:childTnLst>
                        <p:set>
                          <p:cBhvr>
                            <p:cTn id="52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12" dur="52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5215" presetID="10" presetClass="entr" presetSubtype="0" fill="hold" grpId="0" nodeType="afterEffect">
                      <p:stCondLst>
                        <p:cond delay="1680"/>
                      </p:stCondLst>
                      <p:childTnLst>
                        <p:set>
                          <p:cBhvr>
                            <p:cTn id="52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21" dur="52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5224" presetID="10" presetClass="entr" presetSubtype="0" fill="hold" grpId="0" nodeType="afterEffect">
                      <p:stCondLst>
                        <p:cond delay="1820"/>
                      </p:stCondLst>
                      <p:childTnLst>
                        <p:set>
                          <p:cBhvr>
                            <p:cTn id="522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30" dur="52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5233" presetID="10" presetClass="entr" presetSubtype="0" fill="hold" grpId="0" nodeType="afterEffect">
                      <p:stCondLst>
                        <p:cond delay="1960"/>
                      </p:stCondLst>
                      <p:childTnLst>
                        <p:set>
                          <p:cBhvr>
                            <p:cTn id="52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39" dur="52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24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680"/>
              </a:lnSpc>
              <a:buNone/>
            </a:pPr>
            <a:r>
              <a:rPr sz="4000" b="1" i="0">
                <a:solidFill>
                  <a:srgbClr val="4595C2"/>
                </a:solidFill>
                <a:latin typeface="Raleway"/>
              </a:rPr>
              <a:t>STRENGTHS OF GESTALT THERAPY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407018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What this approach does particularly well.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24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359671"/>
            <a:ext cx="121920" cy="12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38120" y="2285994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Promotes self awareness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484030"/>
            <a:ext cx="121920" cy="12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8120" y="3410354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Focuses on lived experience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608390"/>
            <a:ext cx="121920" cy="12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38120" y="4534713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Encourages agency and responsibility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732749"/>
            <a:ext cx="121920" cy="121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8120" y="5659072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Integrates mind, emotion and body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2359671"/>
            <a:ext cx="121920" cy="121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2107" y="2285994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Considers person and environment interaction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829243"/>
            <a:ext cx="121920" cy="121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72107" y="3755567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Encourages active client participation</a:t>
            </a:r>
          </a:p>
        </p:txBody>
      </p:sp>
      <p:pic>
        <p:nvPicPr>
          <p:cNvPr id="21" name="Picture 2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5298816"/>
            <a:ext cx="121920" cy="121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72107" y="5225139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Supports experiential emotional processing</a:t>
            </a:r>
          </a:p>
        </p:txBody>
      </p:sp>
    </p:spTree>
  </p:cSld>
  <p:transition spd="slow" advOnClk="1" advTm="0">
    <p:push thruBlk="0" dir="r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242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2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48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5251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525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57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5260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526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66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5272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527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78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5269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5281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52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87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5290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529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96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302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53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08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5299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311" presetID="10" presetClass="entr" presetSubtype="0" fill="hold" grpId="0" nodeType="afterEffect">
                      <p:stCondLst>
                        <p:cond delay="520"/>
                      </p:stCondLst>
                      <p:childTnLst>
                        <p:set>
                          <p:cBhvr>
                            <p:cTn id="53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17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5323" presetID="10" presetClass="entr" presetSubtype="0" fill="hold" grpId="0" nodeType="afterEffect">
                      <p:stCondLst>
                        <p:cond delay="550"/>
                      </p:stCondLst>
                      <p:childTnLst>
                        <p:set>
                          <p:cBhvr>
                            <p:cTn id="532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29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5320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332" presetID="10" presetClass="entr" presetSubtype="0" fill="hold" grpId="0" nodeType="afterEffect">
                      <p:stCondLst>
                        <p:cond delay="620"/>
                      </p:stCondLst>
                      <p:childTnLst>
                        <p:set>
                          <p:cBhvr>
                            <p:cTn id="533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38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5344" presetID="10" presetClass="entr" presetSubtype="0" fill="hold" grpId="0" nodeType="afterEffect">
                      <p:stCondLst>
                        <p:cond delay="650"/>
                      </p:stCondLst>
                      <p:childTnLst>
                        <p:set>
                          <p:cBhvr>
                            <p:cTn id="534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50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5341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353" presetID="10" presetClass="entr" presetSubtype="0" fill="hold" grpId="0" nodeType="afterEffect">
                      <p:stCondLst>
                        <p:cond delay="720"/>
                      </p:stCondLst>
                      <p:childTnLst>
                        <p:set>
                          <p:cBhvr>
                            <p:cTn id="53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59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5365" presetID="10" presetClass="entr" presetSubtype="0" fill="hold" grpId="0" nodeType="afterEffect">
                      <p:stCondLst>
                        <p:cond delay="750"/>
                      </p:stCondLst>
                      <p:childTnLst>
                        <p:set>
                          <p:cBhvr>
                            <p:cTn id="53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71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5362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374" presetID="10" presetClass="entr" presetSubtype="0" fill="hold" grpId="0" nodeType="afterEffect">
                      <p:stCondLst>
                        <p:cond delay="820"/>
                      </p:stCondLst>
                      <p:childTnLst>
                        <p:set>
                          <p:cBhvr>
                            <p:cTn id="53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80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5386" presetID="10" presetClass="entr" presetSubtype="0" fill="hold" grpId="0" nodeType="afterEffect">
                      <p:stCondLst>
                        <p:cond delay="850"/>
                      </p:stCondLst>
                      <p:childTnLst>
                        <p:set>
                          <p:cBhvr>
                            <p:cTn id="538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92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5383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395" presetID="10" presetClass="entr" presetSubtype="0" fill="hold" grpId="0" nodeType="afterEffect">
                      <p:stCondLst>
                        <p:cond delay="920"/>
                      </p:stCondLst>
                      <p:childTnLst>
                        <p:set>
                          <p:cBhvr>
                            <p:cTn id="539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01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5407" presetID="10" presetClass="entr" presetSubtype="0" fill="hold" grpId="0" nodeType="afterEffect">
                      <p:stCondLst>
                        <p:cond delay="950"/>
                      </p:stCondLst>
                      <p:childTnLst>
                        <p:set>
                          <p:cBhvr>
                            <p:cTn id="54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13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5404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416" presetID="10" presetClass="entr" presetSubtype="0" fill="hold" grpId="0" nodeType="afterEffect">
                      <p:stCondLst>
                        <p:cond delay="1020"/>
                      </p:stCondLst>
                      <p:childTnLst>
                        <p:set>
                          <p:cBhvr>
                            <p:cTn id="541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22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5428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54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34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5425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437" presetID="10" presetClass="entr" presetSubtype="0" fill="hold" grpId="0" nodeType="afterEffect">
                      <p:stCondLst>
                        <p:cond delay="1120"/>
                      </p:stCondLst>
                      <p:childTnLst>
                        <p:set>
                          <p:cBhvr>
                            <p:cTn id="54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43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25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200"/>
              </a:lnSpc>
              <a:buNone/>
            </a:pPr>
            <a:r>
              <a:rPr sz="5050" b="1" i="0">
                <a:solidFill>
                  <a:srgbClr val="4595C2"/>
                </a:solidFill>
                <a:latin typeface="Raleway"/>
              </a:rPr>
              <a:t>LIMITATIONS AND CRITICISMS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600516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Honest considerations for careful practice.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25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359671"/>
            <a:ext cx="121920" cy="12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38120" y="2285994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Some techniques may feel intense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363793"/>
            <a:ext cx="121920" cy="12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8120" y="3290116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Requires skilled and sensitive application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367914"/>
            <a:ext cx="121920" cy="12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38120" y="4294238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May challenge clients who prefer highly structured approaches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656549"/>
            <a:ext cx="121920" cy="121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8120" y="5582872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Experiential techniques can be misused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2359671"/>
            <a:ext cx="121920" cy="121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2107" y="2285994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Not every intervention suits every client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829243"/>
            <a:ext cx="121920" cy="121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72107" y="3755567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Cultural context must be considered</a:t>
            </a:r>
          </a:p>
        </p:txBody>
      </p:sp>
      <p:pic>
        <p:nvPicPr>
          <p:cNvPr id="21" name="Picture 2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5298816"/>
            <a:ext cx="121920" cy="121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72107" y="5225139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Ethical boundaries are essential</a:t>
            </a:r>
          </a:p>
        </p:txBody>
      </p:sp>
    </p:spTree>
  </p:cSld>
  <p:transition spd="slow" advOnClk="1" advTm="0">
    <p:wipe dir="l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46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4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52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5455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545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61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5464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546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70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5476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547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82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5473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5485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54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91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5494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54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00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506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55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12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5503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515" presetID="10" presetClass="entr" presetSubtype="0" fill="hold" grpId="0" nodeType="afterEffect">
                      <p:stCondLst>
                        <p:cond delay="520"/>
                      </p:stCondLst>
                      <p:childTnLst>
                        <p:set>
                          <p:cBhvr>
                            <p:cTn id="55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21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5527" presetID="10" presetClass="entr" presetSubtype="0" fill="hold" grpId="0" nodeType="afterEffect">
                      <p:stCondLst>
                        <p:cond delay="550"/>
                      </p:stCondLst>
                      <p:childTnLst>
                        <p:set>
                          <p:cBhvr>
                            <p:cTn id="553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33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5524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536" presetID="10" presetClass="entr" presetSubtype="0" fill="hold" grpId="0" nodeType="afterEffect">
                      <p:stCondLst>
                        <p:cond delay="620"/>
                      </p:stCondLst>
                      <p:childTnLst>
                        <p:set>
                          <p:cBhvr>
                            <p:cTn id="553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42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5548" presetID="10" presetClass="entr" presetSubtype="0" fill="hold" grpId="0" nodeType="afterEffect">
                      <p:stCondLst>
                        <p:cond delay="650"/>
                      </p:stCondLst>
                      <p:childTnLst>
                        <p:set>
                          <p:cBhvr>
                            <p:cTn id="55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54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5545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557" presetID="10" presetClass="entr" presetSubtype="0" fill="hold" grpId="0" nodeType="afterEffect">
                      <p:stCondLst>
                        <p:cond delay="720"/>
                      </p:stCondLst>
                      <p:childTnLst>
                        <p:set>
                          <p:cBhvr>
                            <p:cTn id="55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63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5569" presetID="10" presetClass="entr" presetSubtype="0" fill="hold" grpId="0" nodeType="afterEffect">
                      <p:stCondLst>
                        <p:cond delay="750"/>
                      </p:stCondLst>
                      <p:childTnLst>
                        <p:set>
                          <p:cBhvr>
                            <p:cTn id="557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75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5566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578" presetID="10" presetClass="entr" presetSubtype="0" fill="hold" grpId="0" nodeType="afterEffect">
                      <p:stCondLst>
                        <p:cond delay="820"/>
                      </p:stCondLst>
                      <p:childTnLst>
                        <p:set>
                          <p:cBhvr>
                            <p:cTn id="55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84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5590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559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96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5587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599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560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05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5611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56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17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5608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620" presetID="10" presetClass="entr" presetSubtype="0" fill="hold" grpId="0" nodeType="afterEffect">
                      <p:stCondLst>
                        <p:cond delay="1070"/>
                      </p:stCondLst>
                      <p:childTnLst>
                        <p:set>
                          <p:cBhvr>
                            <p:cTn id="562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26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5632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563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38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5629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641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56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47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26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AMINA'S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A 32 year old administrative officer overwhelmed by workload.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184" y="2285994"/>
            <a:ext cx="155447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440"/>
              </a:lnSpc>
              <a:buNone/>
            </a:pPr>
            <a:r>
              <a:rPr sz="6600" b="1" i="0">
                <a:solidFill>
                  <a:srgbClr val="4595C2"/>
                </a:solidFill>
                <a:latin typeface="Raleway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383" y="3134906"/>
            <a:ext cx="404163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30"/>
              </a:lnSpc>
              <a:buNone/>
            </a:pPr>
            <a:r>
              <a:rPr sz="1750" b="0" i="0">
                <a:solidFill>
                  <a:srgbClr val="33506B"/>
                </a:solidFill>
                <a:latin typeface="Raleway"/>
              </a:rPr>
              <a:t>A good employee should never disappoint the people who depend on 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383" y="4358134"/>
            <a:ext cx="404163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AMINA'S OWN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383" y="4556253"/>
            <a:ext cx="404163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89"/>
              </a:lnSpc>
              <a:buNone/>
            </a:pPr>
            <a:r>
              <a:rPr sz="1100" b="0" i="0">
                <a:solidFill>
                  <a:srgbClr val="5F7E97"/>
                </a:solidFill>
                <a:latin typeface="Poppins"/>
              </a:rPr>
              <a:t>Supervisor frequently assigns additional duties, she usually accepts even when she has insufficient time.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346334"/>
            <a:ext cx="121920" cy="12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38120" y="2285994"/>
            <a:ext cx="508811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30"/>
              </a:lnSpc>
              <a:buNone/>
            </a:pPr>
            <a:r>
              <a:rPr sz="1200" b="0" i="0">
                <a:solidFill>
                  <a:srgbClr val="33506B"/>
                </a:solidFill>
                <a:latin typeface="Poppins"/>
              </a:rPr>
              <a:t>Amina, 32, administrative officer seeks counselling for feeling overwhelmed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059524"/>
            <a:ext cx="121920" cy="121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8120" y="2999184"/>
            <a:ext cx="508811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30"/>
              </a:lnSpc>
              <a:buNone/>
            </a:pPr>
            <a:r>
              <a:rPr sz="1200" b="0" i="0">
                <a:solidFill>
                  <a:srgbClr val="33506B"/>
                </a:solidFill>
                <a:latin typeface="Poppins"/>
              </a:rPr>
              <a:t>Supervisor frequently assigns additional duties, she accepts even when time is insufficient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772714"/>
            <a:ext cx="121920" cy="121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38120" y="3712374"/>
            <a:ext cx="508811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30"/>
              </a:lnSpc>
              <a:buNone/>
            </a:pPr>
            <a:r>
              <a:rPr sz="1200" b="0" i="0">
                <a:solidFill>
                  <a:srgbClr val="33506B"/>
                </a:solidFill>
                <a:latin typeface="Poppins"/>
              </a:rPr>
              <a:t>Fears that refusing will make her appear irresponsible or uncooperative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485904"/>
            <a:ext cx="121920" cy="121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38120" y="4425564"/>
            <a:ext cx="508811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30"/>
              </a:lnSpc>
              <a:buNone/>
            </a:pPr>
            <a:r>
              <a:rPr sz="1200" b="0" i="0">
                <a:solidFill>
                  <a:srgbClr val="33506B"/>
                </a:solidFill>
                <a:latin typeface="Poppins"/>
              </a:rPr>
              <a:t>Reports frequent muscle tension, difficulty sleeping and frustration rarely expressed openly</a:t>
            </a:r>
          </a:p>
        </p:txBody>
      </p:sp>
      <p:pic>
        <p:nvPicPr>
          <p:cNvPr id="21" name="Picture 2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199093"/>
            <a:ext cx="121920" cy="121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38120" y="5138753"/>
            <a:ext cx="508811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30"/>
              </a:lnSpc>
              <a:buNone/>
            </a:pPr>
            <a:r>
              <a:rPr sz="1200" b="0" i="0">
                <a:solidFill>
                  <a:srgbClr val="33506B"/>
                </a:solidFill>
                <a:latin typeface="Poppins"/>
              </a:rPr>
              <a:t>When discussing anger she laughs and quickly changes the subject</a:t>
            </a:r>
          </a:p>
        </p:txBody>
      </p:sp>
      <p:pic>
        <p:nvPicPr>
          <p:cNvPr id="23" name="Picture 2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912283"/>
            <a:ext cx="121920" cy="121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38120" y="5851943"/>
            <a:ext cx="508811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30"/>
              </a:lnSpc>
              <a:buNone/>
            </a:pPr>
            <a:r>
              <a:rPr sz="1200" b="0" i="0">
                <a:solidFill>
                  <a:srgbClr val="33506B"/>
                </a:solidFill>
                <a:latin typeface="Poppins"/>
              </a:rPr>
              <a:t>Criticises herself for feeling tired, believes she should be able to manage everything</a:t>
            </a:r>
          </a:p>
        </p:txBody>
      </p:sp>
    </p:spTree>
  </p:cSld>
  <p:transition spd="slow" advOnClk="1" advTm="0">
    <p:push thruBlk="0" dir="r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650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6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56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5659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566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65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5668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56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74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5680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568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86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5677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5689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569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95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5698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57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04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710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57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16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5707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719" presetID="10" presetClass="entr" presetSubtype="0" fill="hold" grpId="0" nodeType="afterEffect">
                      <p:stCondLst>
                        <p:cond delay="570"/>
                      </p:stCondLst>
                      <p:childTnLst>
                        <p:set>
                          <p:cBhvr>
                            <p:cTn id="57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25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5728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57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34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5740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574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46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5737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749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57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55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5761" presetID="22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576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67" dur="620"/>
                            <p:tgtEl>
                              <p:spTgt spid="10"/>
                            </p:tgtEl>
                          </p:cBhvr>
                        </p:animEffect>
                        <p:anim calcmode="lin" valueType="num">
                          <p:cBhvr additive="base">
                            <p:cTn id="5758" dur="520" fill="hold"/>
                            <p:tgtEl>
                              <p:spTgt spid="1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5773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57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79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5770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782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578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88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5794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57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800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5791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803" presetID="10" presetClass="entr" presetSubtype="0" fill="hold" grpId="0" nodeType="afterEffect">
                      <p:stCondLst>
                        <p:cond delay="850"/>
                      </p:stCondLst>
                      <p:childTnLst>
                        <p:set>
                          <p:cBhvr>
                            <p:cTn id="580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809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5812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581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818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5821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58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827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5833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58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839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5830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842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58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848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5854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58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860" dur="420"/>
                            <p:tgtEl>
                              <p:spTgt spid="23"/>
                            </p:tgtEl>
                          </p:cBhvr>
                        </p:animEffect>
                        <p:animScale>
                          <p:cBhvr>
                            <p:cTn id="5851" dur="520" fill="hold"/>
                            <p:tgtEl>
                              <p:spTgt spid="2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863" presetID="10" presetClass="entr" presetSubtype="0" fill="hold" grpId="0" nodeType="afterEffect">
                      <p:stCondLst>
                        <p:cond delay="1070"/>
                      </p:stCondLst>
                      <p:childTnLst>
                        <p:set>
                          <p:cBhvr>
                            <p:cTn id="586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869" dur="52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27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GESTALT FORMULATION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Reading Amina's experience as an interconnected whole.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285994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THROUGH THE GESTALT LENS</a:t>
            </a:r>
          </a:p>
        </p:txBody>
      </p:sp>
      <p:pic>
        <p:nvPicPr>
          <p:cNvPr id="10" name="Picture 9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555248"/>
            <a:ext cx="121920" cy="121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8120" y="2499354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Awareness and here and now: bodily tension, anxiety, anger and self critical thoughts when anticipating disappointing others</a:t>
            </a:r>
          </a:p>
        </p:txBody>
      </p:sp>
      <p:pic>
        <p:nvPicPr>
          <p:cNvPr id="12" name="Picture 11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924290"/>
            <a:ext cx="121920" cy="121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38120" y="3868396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Introjection: belief that a good employee must never disappoint, an internalised rule not fully examined</a:t>
            </a:r>
          </a:p>
        </p:txBody>
      </p:sp>
      <p:pic>
        <p:nvPicPr>
          <p:cNvPr id="14" name="Picture 13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044383"/>
            <a:ext cx="121920" cy="121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38120" y="4988488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Retroflection: directs frustration inward as self criticism rather than exploring workload concerns</a:t>
            </a:r>
          </a:p>
        </p:txBody>
      </p:sp>
      <p:pic>
        <p:nvPicPr>
          <p:cNvPr id="16" name="Picture 15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2555248"/>
            <a:ext cx="121920" cy="121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72107" y="2499354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Deflection: laughter and rapid subject changes when discussing anger, difficulty staying with emotion</a:t>
            </a:r>
          </a:p>
        </p:txBody>
      </p:sp>
      <p:pic>
        <p:nvPicPr>
          <p:cNvPr id="18" name="Picture 17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924290"/>
            <a:ext cx="121920" cy="121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72107" y="3868396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Organismic self regulation: fatigue and tension signal needs for rest and manageable demands not being met</a:t>
            </a:r>
          </a:p>
        </p:txBody>
      </p:sp>
      <p:pic>
        <p:nvPicPr>
          <p:cNvPr id="20" name="Picture 19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5044383"/>
            <a:ext cx="121920" cy="121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72107" y="4988488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Field theory: workplace expectations, power differences, job security and organisational culture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478" y="5730226"/>
            <a:ext cx="96377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>
                <a:solidFill>
                  <a:srgbClr val="4595C2"/>
                </a:solidFill>
                <a:latin typeface="Poppins"/>
              </a:rPr>
              <a:t>Amina's difficulty cannot be understood solely as an individual problem, the field matters as much as the person.</a:t>
            </a:r>
          </a:p>
        </p:txBody>
      </p:sp>
    </p:spTree>
  </p:cSld>
  <p:transition spd="slow" advOnClk="1" advTm="0">
    <p:fade thruBlk="1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872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87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878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5881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58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887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5890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589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896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5902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59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908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5899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5911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59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917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5920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592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926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929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59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935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5941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59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947" dur="420"/>
                            <p:tgtEl>
                              <p:spTgt spid="10"/>
                            </p:tgtEl>
                          </p:cBhvr>
                        </p:animEffect>
                        <p:animScale>
                          <p:cBhvr>
                            <p:cTn id="5938" dur="520" fill="hold"/>
                            <p:tgtEl>
                              <p:spTgt spid="1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950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59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956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5962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59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968" dur="420"/>
                            <p:tgtEl>
                              <p:spTgt spid="12"/>
                            </p:tgtEl>
                          </p:cBhvr>
                        </p:animEffect>
                        <p:animScale>
                          <p:cBhvr>
                            <p:cTn id="5959" dur="520" fill="hold"/>
                            <p:tgtEl>
                              <p:spTgt spid="12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971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597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977" dur="52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5983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598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989" dur="420"/>
                            <p:tgtEl>
                              <p:spTgt spid="14"/>
                            </p:tgtEl>
                          </p:cBhvr>
                        </p:animEffect>
                        <p:animScale>
                          <p:cBhvr>
                            <p:cTn id="5980" dur="520" fill="hold"/>
                            <p:tgtEl>
                              <p:spTgt spid="14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995" presetID="10" presetClass="entr" presetSubtype="0" fill="hold" grpId="0" nodeType="afterEffect">
                      <p:stCondLst>
                        <p:cond delay="850"/>
                      </p:stCondLst>
                      <p:childTnLst>
                        <p:set>
                          <p:cBhvr>
                            <p:cTn id="599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01" dur="420"/>
                            <p:tgtEl>
                              <p:spTgt spid="16"/>
                            </p:tgtEl>
                          </p:cBhvr>
                        </p:animEffect>
                        <p:animScale>
                          <p:cBhvr>
                            <p:cTn id="5992" dur="520" fill="hold"/>
                            <p:tgtEl>
                              <p:spTgt spid="16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004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600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10" dur="52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6013" presetID="10" presetClass="entr" presetSubtype="0" fill="hold" grpId="0" nodeType="afterEffect">
                      <p:stCondLst>
                        <p:cond delay="920"/>
                      </p:stCondLst>
                      <p:childTnLst>
                        <p:set>
                          <p:cBhvr>
                            <p:cTn id="60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19" dur="52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6025" presetID="10" presetClass="entr" presetSubtype="0" fill="hold" grpId="0" nodeType="afterEffect">
                      <p:stCondLst>
                        <p:cond delay="950"/>
                      </p:stCondLst>
                      <p:childTnLst>
                        <p:set>
                          <p:cBhvr>
                            <p:cTn id="60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31" dur="420"/>
                            <p:tgtEl>
                              <p:spTgt spid="18"/>
                            </p:tgtEl>
                          </p:cBhvr>
                        </p:animEffect>
                        <p:animScale>
                          <p:cBhvr>
                            <p:cTn id="6022" dur="520" fill="hold"/>
                            <p:tgtEl>
                              <p:spTgt spid="18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034" presetID="10" presetClass="entr" presetSubtype="0" fill="hold" grpId="0" nodeType="afterEffect">
                      <p:stCondLst>
                        <p:cond delay="1020"/>
                      </p:stCondLst>
                      <p:childTnLst>
                        <p:set>
                          <p:cBhvr>
                            <p:cTn id="60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40" dur="52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6046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60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52" dur="420"/>
                            <p:tgtEl>
                              <p:spTgt spid="20"/>
                            </p:tgtEl>
                          </p:cBhvr>
                        </p:animEffect>
                        <p:animScale>
                          <p:cBhvr>
                            <p:cTn id="6043" dur="520" fill="hold"/>
                            <p:tgtEl>
                              <p:spTgt spid="2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055" presetID="10" presetClass="entr" presetSubtype="0" fill="hold" grpId="0" nodeType="afterEffect">
                      <p:stCondLst>
                        <p:cond delay="1120"/>
                      </p:stCondLst>
                      <p:childTnLst>
                        <p:set>
                          <p:cBhvr>
                            <p:cTn id="605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61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6064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606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70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28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680"/>
              </a:lnSpc>
              <a:buNone/>
            </a:pPr>
            <a:r>
              <a:rPr sz="4000" b="1" i="0">
                <a:solidFill>
                  <a:srgbClr val="4595C2"/>
                </a:solidFill>
                <a:latin typeface="Raleway"/>
              </a:rPr>
              <a:t>GOALS, INTERVENTIONS AND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2128238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From awareness to deliberate choice, with attention to workplace realities.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658734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THERAPEUTIC GOALS</a:t>
            </a:r>
          </a:p>
        </p:txBody>
      </p:sp>
      <p:pic>
        <p:nvPicPr>
          <p:cNvPr id="10" name="Picture 9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923543"/>
            <a:ext cx="121920" cy="121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8120" y="2872094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Help Amina recognise emotional and bodily responses</a:t>
            </a:r>
          </a:p>
        </p:txBody>
      </p:sp>
      <p:pic>
        <p:nvPicPr>
          <p:cNvPr id="12" name="Picture 11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311733"/>
            <a:ext cx="121920" cy="121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38120" y="3260284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Examine the rule that she must never disappoint others</a:t>
            </a:r>
          </a:p>
        </p:txBody>
      </p:sp>
      <p:pic>
        <p:nvPicPr>
          <p:cNvPr id="14" name="Picture 13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699923"/>
            <a:ext cx="121920" cy="121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38120" y="3648474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Identify realistic choices for responding to workplace demands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65" y="2658734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INTERVENTIONS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2923543"/>
            <a:ext cx="121920" cy="121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2107" y="2872094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Body awareness: “What happens in your body when you imagine telling your supervisor you cannot take another assignment?”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791849"/>
            <a:ext cx="121920" cy="121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72107" y="3740400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Explore belief: “What does responsibility mean to you?”</a:t>
            </a:r>
          </a:p>
        </p:txBody>
      </p:sp>
      <p:pic>
        <p:nvPicPr>
          <p:cNvPr id="21" name="Picture 2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180039"/>
            <a:ext cx="121920" cy="121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72107" y="4128590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Two chair exercise if willing: part demanding constant performance versus part needing rest and fairness</a:t>
            </a:r>
          </a:p>
        </p:txBody>
      </p:sp>
      <p:pic>
        <p:nvPicPr>
          <p:cNvPr id="23" name="Picture 2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808287"/>
            <a:ext cx="121920" cy="121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72107" y="4756838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Practical planning: prioritise tasks, clarify deadlines, discuss capacity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478" y="5419833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EXPECTED OUTCOMES</a:t>
            </a:r>
          </a:p>
        </p:txBody>
      </p:sp>
      <p:pic>
        <p:nvPicPr>
          <p:cNvPr id="26" name="Picture 25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654162"/>
            <a:ext cx="121920" cy="1219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38120" y="5602713"/>
            <a:ext cx="9285197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Greater ability to recognise needs and evaluate internalised expectations</a:t>
            </a:r>
          </a:p>
        </p:txBody>
      </p:sp>
      <p:pic>
        <p:nvPicPr>
          <p:cNvPr id="28" name="Picture 27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6030008"/>
            <a:ext cx="121920" cy="1219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38120" y="5978559"/>
            <a:ext cx="9285197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Deliberate decisions based on responsibilities, limits and workplace conditions</a:t>
            </a:r>
          </a:p>
        </p:txBody>
      </p:sp>
      <p:pic>
        <p:nvPicPr>
          <p:cNvPr id="30" name="Picture 29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6405854"/>
            <a:ext cx="121920" cy="1219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38120" y="6354405"/>
            <a:ext cx="9285197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Shows how Gestalt integrates awareness, contact patterns, self regulation and field</a:t>
            </a:r>
          </a:p>
        </p:txBody>
      </p:sp>
    </p:spTree>
  </p:cSld>
  <p:transition spd="slow" advOnClk="1" advTm="0">
    <p:fade thruBlk="1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07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60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79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6082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608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88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6091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609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97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6103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610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09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6100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112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611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18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6121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61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27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6130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61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36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6142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61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48" dur="420"/>
                            <p:tgtEl>
                              <p:spTgt spid="10"/>
                            </p:tgtEl>
                          </p:cBhvr>
                        </p:animEffect>
                        <p:animScale>
                          <p:cBhvr>
                            <p:cTn id="6139" dur="520" fill="hold"/>
                            <p:tgtEl>
                              <p:spTgt spid="1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151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615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57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6163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616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69" dur="420"/>
                            <p:tgtEl>
                              <p:spTgt spid="12"/>
                            </p:tgtEl>
                          </p:cBhvr>
                        </p:animEffect>
                        <p:animScale>
                          <p:cBhvr>
                            <p:cTn id="6160" dur="520" fill="hold"/>
                            <p:tgtEl>
                              <p:spTgt spid="12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172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617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78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6181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61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87" dur="52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6193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61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99" dur="420"/>
                            <p:tgtEl>
                              <p:spTgt spid="14"/>
                            </p:tgtEl>
                          </p:cBhvr>
                        </p:animEffect>
                        <p:animScale>
                          <p:cBhvr>
                            <p:cTn id="6190" dur="520" fill="hold"/>
                            <p:tgtEl>
                              <p:spTgt spid="14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205" presetID="10" presetClass="entr" presetSubtype="0" fill="hold" grpId="0" nodeType="afterEffect">
                      <p:stCondLst>
                        <p:cond delay="850"/>
                      </p:stCondLst>
                      <p:childTnLst>
                        <p:set>
                          <p:cBhvr>
                            <p:cTn id="62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211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6202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214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62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220" dur="52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6223" presetID="10" presetClass="entr" presetSubtype="0" fill="hold" grpId="0" nodeType="afterEffect">
                      <p:stCondLst>
                        <p:cond delay="920"/>
                      </p:stCondLst>
                      <p:childTnLst>
                        <p:set>
                          <p:cBhvr>
                            <p:cTn id="622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229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6235" presetID="10" presetClass="entr" presetSubtype="0" fill="hold" grpId="0" nodeType="afterEffect">
                      <p:stCondLst>
                        <p:cond delay="950"/>
                      </p:stCondLst>
                      <p:childTnLst>
                        <p:set>
                          <p:cBhvr>
                            <p:cTn id="623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241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6232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244" presetID="10" presetClass="entr" presetSubtype="0" fill="hold" grpId="0" nodeType="afterEffect">
                      <p:stCondLst>
                        <p:cond delay="1020"/>
                      </p:stCondLst>
                      <p:childTnLst>
                        <p:set>
                          <p:cBhvr>
                            <p:cTn id="624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250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6256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625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262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6253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265" presetID="10" presetClass="entr" presetSubtype="0" fill="hold" grpId="0" nodeType="afterEffect">
                      <p:stCondLst>
                        <p:cond delay="1120"/>
                      </p:stCondLst>
                      <p:childTnLst>
                        <p:set>
                          <p:cBhvr>
                            <p:cTn id="62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271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6277" presetID="10" presetClass="entr" presetSubtype="0" fill="hold" grpId="0" nodeType="afterEffect">
                      <p:stCondLst>
                        <p:cond delay="1150"/>
                      </p:stCondLst>
                      <p:childTnLst>
                        <p:set>
                          <p:cBhvr>
                            <p:cTn id="62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283" dur="420"/>
                            <p:tgtEl>
                              <p:spTgt spid="23"/>
                            </p:tgtEl>
                          </p:cBhvr>
                        </p:animEffect>
                        <p:animScale>
                          <p:cBhvr>
                            <p:cTn id="6274" dur="520" fill="hold"/>
                            <p:tgtEl>
                              <p:spTgt spid="2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286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628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292" dur="52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6295" presetID="10" presetClass="entr" presetSubtype="0" fill="hold" grpId="0" nodeType="afterEffect">
                      <p:stCondLst>
                        <p:cond delay="1220"/>
                      </p:stCondLst>
                      <p:childTnLst>
                        <p:set>
                          <p:cBhvr>
                            <p:cTn id="629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301" dur="52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6307" presetID="10" presetClass="entr" presetSubtype="0" fill="hold" grpId="0" nodeType="afterEffect">
                      <p:stCondLst>
                        <p:cond delay="1300"/>
                      </p:stCondLst>
                      <p:childTnLst>
                        <p:set>
                          <p:cBhvr>
                            <p:cTn id="63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313" dur="420"/>
                            <p:tgtEl>
                              <p:spTgt spid="26"/>
                            </p:tgtEl>
                          </p:cBhvr>
                        </p:animEffect>
                        <p:animScale>
                          <p:cBhvr>
                            <p:cTn id="6304" dur="520" fill="hold"/>
                            <p:tgtEl>
                              <p:spTgt spid="26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316" presetID="10" presetClass="entr" presetSubtype="0" fill="hold" grpId="0" nodeType="afterEffect">
                      <p:stCondLst>
                        <p:cond delay="1370"/>
                      </p:stCondLst>
                      <p:childTnLst>
                        <p:set>
                          <p:cBhvr>
                            <p:cTn id="631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322" dur="52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6328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63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334" dur="420"/>
                            <p:tgtEl>
                              <p:spTgt spid="28"/>
                            </p:tgtEl>
                          </p:cBhvr>
                        </p:animEffect>
                        <p:animScale>
                          <p:cBhvr>
                            <p:cTn id="6325" dur="520" fill="hold"/>
                            <p:tgtEl>
                              <p:spTgt spid="28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337" presetID="10" presetClass="entr" presetSubtype="0" fill="hold" grpId="0" nodeType="afterEffect">
                      <p:stCondLst>
                        <p:cond delay="1470"/>
                      </p:stCondLst>
                      <p:childTnLst>
                        <p:set>
                          <p:cBhvr>
                            <p:cTn id="63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343" dur="52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6349" presetID="10" presetClass="entr" presetSubtype="0" fill="hold" grpId="0" nodeType="afterEffect">
                      <p:stCondLst>
                        <p:cond delay="1500"/>
                      </p:stCondLst>
                      <p:childTnLst>
                        <p:set>
                          <p:cBhvr>
                            <p:cTn id="63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355" dur="420"/>
                            <p:tgtEl>
                              <p:spTgt spid="30"/>
                            </p:tgtEl>
                          </p:cBhvr>
                        </p:animEffect>
                        <p:animScale>
                          <p:cBhvr>
                            <p:cTn id="6346" dur="520" fill="hold"/>
                            <p:tgtEl>
                              <p:spTgt spid="3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358" presetID="10" presetClass="entr" presetSubtype="0" fill="hold" grpId="0" nodeType="afterEffect">
                      <p:stCondLst>
                        <p:cond delay="1570"/>
                      </p:stCondLst>
                      <p:childTnLst>
                        <p:set>
                          <p:cBhvr>
                            <p:cTn id="63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364" dur="52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29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CRITICAL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What the theory contributes and what it asks of the therapist.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363427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65" y="2363427"/>
            <a:ext cx="435253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156">
                <a:solidFill>
                  <a:srgbClr val="4595C2"/>
                </a:solidFill>
                <a:latin typeface="Poppins"/>
              </a:rPr>
              <a:t>CONSIDERATIONS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687292"/>
            <a:ext cx="121920" cy="12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38120" y="2622506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Holistic understanding of human experience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447006"/>
            <a:ext cx="121920" cy="12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38120" y="3382220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Strong emphasis on awareness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206720"/>
            <a:ext cx="121920" cy="121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8120" y="4141935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Integrates body, emotion and cognition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966435"/>
            <a:ext cx="121920" cy="121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38120" y="4901649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Recognises person and environment interaction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726149"/>
            <a:ext cx="121920" cy="121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38120" y="5661363"/>
            <a:ext cx="43108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Promotes agency and authentic choice</a:t>
            </a:r>
          </a:p>
        </p:txBody>
      </p:sp>
      <p:pic>
        <p:nvPicPr>
          <p:cNvPr id="21" name="Picture 2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2687292"/>
            <a:ext cx="121920" cy="121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72107" y="2622506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Cultural adaptation</a:t>
            </a:r>
          </a:p>
        </p:txBody>
      </p:sp>
      <p:pic>
        <p:nvPicPr>
          <p:cNvPr id="23" name="Picture 2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447006"/>
            <a:ext cx="121920" cy="121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72107" y="3382220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Client readiness</a:t>
            </a:r>
          </a:p>
        </p:txBody>
      </p:sp>
      <p:pic>
        <p:nvPicPr>
          <p:cNvPr id="25" name="Picture 2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206720"/>
            <a:ext cx="121920" cy="121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72107" y="4141935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Therapist competence</a:t>
            </a:r>
          </a:p>
        </p:txBody>
      </p:sp>
      <p:pic>
        <p:nvPicPr>
          <p:cNvPr id="27" name="Picture 2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966435"/>
            <a:ext cx="121920" cy="1219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72107" y="4901649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Appropriate use of experiential techniques</a:t>
            </a:r>
          </a:p>
        </p:txBody>
      </p:sp>
      <p:pic>
        <p:nvPicPr>
          <p:cNvPr id="29" name="Picture 2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5726149"/>
            <a:ext cx="121920" cy="1219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72107" y="5661363"/>
            <a:ext cx="44663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Balance between present and past experience</a:t>
            </a:r>
          </a:p>
        </p:txBody>
      </p:sp>
    </p:spTree>
  </p:cSld>
  <p:transition spd="slow" advOnClk="1" advTm="0">
    <p:push thruBlk="0" dir="r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67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637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373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6376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637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382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6385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63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391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6397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64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403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6394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406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64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412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6415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64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421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6424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642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430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6436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643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442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6433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445" presetID="10" presetClass="entr" presetSubtype="0" fill="hold" grpId="0" nodeType="afterEffect">
                      <p:stCondLst>
                        <p:cond delay="570"/>
                      </p:stCondLst>
                      <p:childTnLst>
                        <p:set>
                          <p:cBhvr>
                            <p:cTn id="64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451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6457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64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463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6454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466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64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472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6475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647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481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6487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649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493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6484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496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649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02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6508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65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14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6505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520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652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26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6517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529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65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35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6538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65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44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6550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65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56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6547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562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65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68" dur="420"/>
                            <p:tgtEl>
                              <p:spTgt spid="23"/>
                            </p:tgtEl>
                          </p:cBhvr>
                        </p:animEffect>
                        <p:animScale>
                          <p:cBhvr>
                            <p:cTn id="6559" dur="520" fill="hold"/>
                            <p:tgtEl>
                              <p:spTgt spid="2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571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657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77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6580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658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86" dur="52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6592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659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98" dur="420"/>
                            <p:tgtEl>
                              <p:spTgt spid="25"/>
                            </p:tgtEl>
                          </p:cBhvr>
                        </p:animEffect>
                        <p:animScale>
                          <p:cBhvr>
                            <p:cTn id="6589" dur="520" fill="hold"/>
                            <p:tgtEl>
                              <p:spTgt spid="2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601" presetID="10" presetClass="entr" presetSubtype="0" fill="hold" grpId="0" nodeType="afterEffect">
                      <p:stCondLst>
                        <p:cond delay="1070"/>
                      </p:stCondLst>
                      <p:childTnLst>
                        <p:set>
                          <p:cBhvr>
                            <p:cTn id="66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607" dur="52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6613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66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619" dur="420"/>
                            <p:tgtEl>
                              <p:spTgt spid="27"/>
                            </p:tgtEl>
                          </p:cBhvr>
                        </p:animEffect>
                        <p:animScale>
                          <p:cBhvr>
                            <p:cTn id="6610" dur="520" fill="hold"/>
                            <p:tgtEl>
                              <p:spTgt spid="2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622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66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628" dur="52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6634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66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640" dur="420"/>
                            <p:tgtEl>
                              <p:spTgt spid="29"/>
                            </p:tgtEl>
                          </p:cBhvr>
                        </p:animEffect>
                        <p:animScale>
                          <p:cBhvr>
                            <p:cTn id="6631" dur="520" fill="hold"/>
                            <p:tgtEl>
                              <p:spTgt spid="2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643" presetID="10" presetClass="entr" presetSubtype="0" fill="hold" grpId="0" nodeType="afterEffect">
                      <p:stCondLst>
                        <p:cond delay="1270"/>
                      </p:stCondLst>
                      <p:childTnLst>
                        <p:set>
                          <p:cBhvr>
                            <p:cTn id="664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649" dur="52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CFE9F8"/>
                </a:solidFill>
                <a:latin typeface="Raleway"/>
              </a:rPr>
              <a:t>30</a:t>
            </a:r>
            <a:r>
              <a:rPr sz="1050" b="1" i="0" spc="156">
                <a:solidFill>
                  <a:srgbClr val="D8EBF7"/>
                </a:solidFill>
                <a:latin typeface="Poppins"/>
              </a:rPr>
              <a:t>    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FFFFFF"/>
                </a:solidFill>
                <a:latin typeface="Raleway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D8EBF7"/>
                </a:solidFill>
                <a:latin typeface="Poppins"/>
              </a:rPr>
              <a:t>Greater awareness creates greater possibilities for choice and 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B7D6E9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B7D6E9"/>
                </a:solidFill>
                <a:latin typeface="Poppins"/>
              </a:rPr>
              <a:t>30</a:t>
            </a:r>
          </a:p>
        </p:txBody>
      </p:sp>
      <p:pic>
        <p:nvPicPr>
          <p:cNvPr id="9" name="Picture 8" descr="ti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470840"/>
            <a:ext cx="114300" cy="114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58237" y="2325465"/>
            <a:ext cx="1719408" cy="405130"/>
          </a:xfrm>
          <a:prstGeom prst="rect">
            <a:avLst/>
          </a:prstGeom>
          <a:solidFill>
            <a:srgbClr val="CFE9F8"/>
          </a:solidFill>
        </p:spPr>
        <p:txBody>
          <a:bodyPr wrap="square" lIns="0" rIns="0" tIns="0" bIns="0" anchor="t"/>
          <a:lstStyle/>
          <a:p>
            <a:pPr algn="l">
              <a:lnSpc>
                <a:spcPts val="3190"/>
              </a:lnSpc>
              <a:buNone/>
            </a:pPr>
            <a:r>
              <a:rPr sz="2050" b="1" i="0">
                <a:solidFill>
                  <a:srgbClr val="33506B"/>
                </a:solidFill>
                <a:highlight>
                  <a:srgbClr val="CFE9F8"/>
                </a:highlight>
                <a:latin typeface="Raleway"/>
              </a:rPr>
              <a:t>AWARENESS</a:t>
            </a:r>
          </a:p>
        </p:txBody>
      </p:sp>
      <p:sp>
        <p:nvSpPr>
          <p:cNvPr id="20" name="Desc 20"/>
          <p:cNvSpPr txBox="1"/>
          <p:nvPr/>
        </p:nvSpPr>
        <p:spPr>
          <a:xfrm>
            <a:off x="1207008" y="2752344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00"/>
              </a:lnSpc>
              <a:buNone/>
            </a:pPr>
            <a:r>
              <a:rPr sz="1200" b="0" i="0">
                <a:solidFill>
                  <a:srgbClr val="D8EBF7"/>
                </a:solidFill>
                <a:latin typeface="Poppins"/>
              </a:rPr>
              <a:t>Noticing needs, emotions and beliefs as they arise.</a:t>
            </a:r>
          </a:p>
        </p:txBody>
      </p:sp>
      <p:pic>
        <p:nvPicPr>
          <p:cNvPr id="11" name="Picture 10" descr="ti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312161"/>
            <a:ext cx="114300" cy="114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8237" y="3166786"/>
            <a:ext cx="2126075" cy="405130"/>
          </a:xfrm>
          <a:prstGeom prst="rect">
            <a:avLst/>
          </a:prstGeom>
          <a:solidFill>
            <a:srgbClr val="CFE9F8"/>
          </a:solidFill>
        </p:spPr>
        <p:txBody>
          <a:bodyPr wrap="square" lIns="0" rIns="0" tIns="0" bIns="0" anchor="t"/>
          <a:lstStyle/>
          <a:p>
            <a:pPr algn="l">
              <a:lnSpc>
                <a:spcPts val="3190"/>
              </a:lnSpc>
              <a:buNone/>
            </a:pPr>
            <a:r>
              <a:rPr sz="2050" b="1" i="0">
                <a:solidFill>
                  <a:srgbClr val="33506B"/>
                </a:solidFill>
                <a:highlight>
                  <a:srgbClr val="CFE9F8"/>
                </a:highlight>
                <a:latin typeface="Raleway"/>
              </a:rPr>
              <a:t>HERE AND NOW</a:t>
            </a:r>
          </a:p>
        </p:txBody>
      </p:sp>
      <p:sp>
        <p:nvSpPr>
          <p:cNvPr id="21" name="Desc 21"/>
          <p:cNvSpPr txBox="1"/>
          <p:nvPr/>
        </p:nvSpPr>
        <p:spPr>
          <a:xfrm>
            <a:off x="1207008" y="3593592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00"/>
              </a:lnSpc>
              <a:buNone/>
            </a:pPr>
            <a:r>
              <a:rPr sz="1200" b="0" i="0">
                <a:solidFill>
                  <a:srgbClr val="D8EBF7"/>
                </a:solidFill>
                <a:latin typeface="Poppins"/>
              </a:rPr>
              <a:t>Exploring experience as it happens in the present.</a:t>
            </a:r>
          </a:p>
        </p:txBody>
      </p:sp>
      <p:pic>
        <p:nvPicPr>
          <p:cNvPr id="13" name="Picture 12" descr="ti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153481"/>
            <a:ext cx="114300" cy="114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58237" y="4008106"/>
            <a:ext cx="1341380" cy="405130"/>
          </a:xfrm>
          <a:prstGeom prst="rect">
            <a:avLst/>
          </a:prstGeom>
          <a:solidFill>
            <a:srgbClr val="CFE9F8"/>
          </a:solidFill>
        </p:spPr>
        <p:txBody>
          <a:bodyPr wrap="square" lIns="0" rIns="0" tIns="0" bIns="0" anchor="t"/>
          <a:lstStyle/>
          <a:p>
            <a:pPr algn="l">
              <a:lnSpc>
                <a:spcPts val="3190"/>
              </a:lnSpc>
              <a:buNone/>
            </a:pPr>
            <a:r>
              <a:rPr sz="2050" b="1" i="0">
                <a:solidFill>
                  <a:srgbClr val="33506B"/>
                </a:solidFill>
                <a:highlight>
                  <a:srgbClr val="CFE9F8"/>
                </a:highlight>
                <a:latin typeface="Raleway"/>
              </a:rPr>
              <a:t>CONTACT</a:t>
            </a:r>
          </a:p>
        </p:txBody>
      </p:sp>
      <p:sp>
        <p:nvSpPr>
          <p:cNvPr id="22" name="Desc 22"/>
          <p:cNvSpPr txBox="1"/>
          <p:nvPr/>
        </p:nvSpPr>
        <p:spPr>
          <a:xfrm>
            <a:off x="1207008" y="4434840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00"/>
              </a:lnSpc>
              <a:buNone/>
            </a:pPr>
            <a:r>
              <a:rPr sz="1200" b="0" i="0">
                <a:solidFill>
                  <a:srgbClr val="D8EBF7"/>
                </a:solidFill>
                <a:latin typeface="Poppins"/>
              </a:rPr>
              <a:t>How the client engages with self, others and the world.</a:t>
            </a:r>
          </a:p>
        </p:txBody>
      </p:sp>
      <p:pic>
        <p:nvPicPr>
          <p:cNvPr id="15" name="Picture 14" descr="ti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994802"/>
            <a:ext cx="114300" cy="114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58237" y="4849427"/>
            <a:ext cx="3847249" cy="405130"/>
          </a:xfrm>
          <a:prstGeom prst="rect">
            <a:avLst/>
          </a:prstGeom>
          <a:solidFill>
            <a:srgbClr val="CFE9F8"/>
          </a:solidFill>
        </p:spPr>
        <p:txBody>
          <a:bodyPr wrap="square" lIns="0" rIns="0" tIns="0" bIns="0" anchor="t"/>
          <a:lstStyle/>
          <a:p>
            <a:pPr algn="l">
              <a:lnSpc>
                <a:spcPts val="3190"/>
              </a:lnSpc>
              <a:buNone/>
            </a:pPr>
            <a:r>
              <a:rPr sz="2050" b="1" i="0">
                <a:solidFill>
                  <a:srgbClr val="33506B"/>
                </a:solidFill>
                <a:highlight>
                  <a:srgbClr val="CFE9F8"/>
                </a:highlight>
                <a:latin typeface="Raleway"/>
              </a:rPr>
              <a:t>RESPONSIBILITY AND CHOICE</a:t>
            </a:r>
          </a:p>
        </p:txBody>
      </p:sp>
      <p:sp>
        <p:nvSpPr>
          <p:cNvPr id="23" name="Desc 23"/>
          <p:cNvSpPr txBox="1"/>
          <p:nvPr/>
        </p:nvSpPr>
        <p:spPr>
          <a:xfrm>
            <a:off x="1207008" y="5276088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00"/>
              </a:lnSpc>
              <a:buNone/>
            </a:pPr>
            <a:r>
              <a:rPr sz="1200" b="0" i="0">
                <a:solidFill>
                  <a:srgbClr val="D8EBF7"/>
                </a:solidFill>
                <a:latin typeface="Poppins"/>
              </a:rPr>
              <a:t>Owning one's responses and the choices available.</a:t>
            </a:r>
          </a:p>
        </p:txBody>
      </p:sp>
      <p:pic>
        <p:nvPicPr>
          <p:cNvPr id="17" name="Picture 16" descr="ti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733288"/>
            <a:ext cx="109728" cy="109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61288" y="5577840"/>
            <a:ext cx="3738943" cy="405130"/>
          </a:xfrm>
          <a:prstGeom prst="rect">
            <a:avLst/>
          </a:prstGeom>
          <a:solidFill>
            <a:srgbClr val="CFE9F8"/>
          </a:solidFill>
        </p:spPr>
        <p:txBody>
          <a:bodyPr wrap="square" lIns="0" rIns="0" tIns="0" bIns="0" anchor="t"/>
          <a:lstStyle/>
          <a:p>
            <a:pPr algn="l">
              <a:lnSpc>
                <a:spcPts val="3190"/>
              </a:lnSpc>
              <a:buNone/>
            </a:pPr>
            <a:r>
              <a:rPr sz="2050" b="1" i="0">
                <a:solidFill>
                  <a:srgbClr val="33506B"/>
                </a:solidFill>
                <a:latin typeface="Raleway"/>
              </a:rPr>
              <a:t>PERSON AND ENVIRONMENT</a:t>
            </a:r>
          </a:p>
        </p:txBody>
      </p:sp>
      <p:sp>
        <p:nvSpPr>
          <p:cNvPr id="24" name="Desc 24"/>
          <p:cNvSpPr txBox="1"/>
          <p:nvPr/>
        </p:nvSpPr>
        <p:spPr>
          <a:xfrm>
            <a:off x="1207008" y="6007608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00"/>
              </a:lnSpc>
              <a:buNone/>
            </a:pPr>
            <a:r>
              <a:rPr sz="1200" b="0" i="0">
                <a:solidFill>
                  <a:srgbClr val="D8EBF7"/>
                </a:solidFill>
                <a:latin typeface="Poppins"/>
              </a:rPr>
              <a:t>Experience understood within relationships and context.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61" y="4731555"/>
            <a:ext cx="404163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  <a:buNone/>
            </a:pPr>
            <a:r>
              <a:rPr sz="1650" b="0" i="0">
                <a:solidFill>
                  <a:srgbClr val="FFFFFF"/>
                </a:solidFill>
                <a:latin typeface="Raleway"/>
              </a:rPr>
              <a:t>Therapeutic change begins with noticing what is happening now.</a:t>
            </a:r>
          </a:p>
        </p:txBody>
      </p:sp>
    </p:spTree>
  </p:cSld>
  <p:transition spd="slow" advOnClk="1" advTm="0">
    <p:fade thruBlk="1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52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665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658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6661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666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667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6670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667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676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6682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668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688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6679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691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669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697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6700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670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706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6712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671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718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6709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724" presetID="22" presetClass="entr" presetSubtype="0" fill="hold" grpId="0" nodeType="afterEffect">
                      <p:stCondLst>
                        <p:cond delay="520"/>
                      </p:stCondLst>
                      <p:childTnLst>
                        <p:set>
                          <p:cBhvr>
                            <p:cTn id="672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730" dur="620"/>
                            <p:tgtEl>
                              <p:spTgt spid="10"/>
                            </p:tgtEl>
                          </p:cBhvr>
                        </p:animEffect>
                        <p:anim calcmode="lin" valueType="num">
                          <p:cBhvr additive="base">
                            <p:cTn id="6721" dur="520" fill="hold"/>
                            <p:tgtEl>
                              <p:spTgt spid="1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839" presetID="22" presetClass="entr" presetSubtype="0" fill="hold" grpId="0" nodeType="afterEffect">
                      <p:stCondLst>
                        <p:cond delay="520"/>
                      </p:stCondLst>
                      <p:childTnLst>
                        <p:set>
                          <p:cBhvr>
                            <p:cTn id="68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41" dur="620"/>
                            <p:tgtEl>
                              <p:spTgt spid="20"/>
                            </p:tgtEl>
                          </p:cBhvr>
                        </p:animEffect>
                        <p:anim calcmode="lin" valueType="num">
                          <p:cBhvr additive="base">
                            <p:cTn id="6842" dur="520" fill="hold"/>
                            <p:tgtEl>
                              <p:spTgt spid="2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736" presetID="10" presetClass="entr" presetSubtype="0" fill="hold" grpId="0" nodeType="afterEffect">
                      <p:stCondLst>
                        <p:cond delay="610"/>
                      </p:stCondLst>
                      <p:childTnLst>
                        <p:set>
                          <p:cBhvr>
                            <p:cTn id="673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742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6733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748" presetID="22" presetClass="entr" presetSubtype="0" fill="hold" grpId="0" nodeType="afterEffect">
                      <p:stCondLst>
                        <p:cond delay="680"/>
                      </p:stCondLst>
                      <p:childTnLst>
                        <p:set>
                          <p:cBhvr>
                            <p:cTn id="67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754" dur="620"/>
                            <p:tgtEl>
                              <p:spTgt spid="12"/>
                            </p:tgtEl>
                          </p:cBhvr>
                        </p:animEffect>
                        <p:anim calcmode="lin" valueType="num">
                          <p:cBhvr additive="base">
                            <p:cTn id="6745" dur="520" fill="hold"/>
                            <p:tgtEl>
                              <p:spTgt spid="12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843" presetID="22" presetClass="entr" presetSubtype="0" fill="hold" grpId="0" nodeType="afterEffect">
                      <p:stCondLst>
                        <p:cond delay="680"/>
                      </p:stCondLst>
                      <p:childTnLst>
                        <p:set>
                          <p:cBhvr>
                            <p:cTn id="68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45" dur="620"/>
                            <p:tgtEl>
                              <p:spTgt spid="21"/>
                            </p:tgtEl>
                          </p:cBhvr>
                        </p:animEffect>
                        <p:anim calcmode="lin" valueType="num">
                          <p:cBhvr additive="base">
                            <p:cTn id="6846" dur="520" fill="hold"/>
                            <p:tgtEl>
                              <p:spTgt spid="21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760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676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766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6757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772" presetID="22" presetClass="entr" presetSubtype="0" fill="hold" grpId="0" nodeType="afterEffect">
                      <p:stCondLst>
                        <p:cond delay="840"/>
                      </p:stCondLst>
                      <p:childTnLst>
                        <p:set>
                          <p:cBhvr>
                            <p:cTn id="677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778" dur="620"/>
                            <p:tgtEl>
                              <p:spTgt spid="14"/>
                            </p:tgtEl>
                          </p:cBhvr>
                        </p:animEffect>
                        <p:anim calcmode="lin" valueType="num">
                          <p:cBhvr additive="base">
                            <p:cTn id="6769" dur="520" fill="hold"/>
                            <p:tgtEl>
                              <p:spTgt spid="14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847" presetID="22" presetClass="entr" presetSubtype="0" fill="hold" grpId="0" nodeType="afterEffect">
                      <p:stCondLst>
                        <p:cond delay="840"/>
                      </p:stCondLst>
                      <p:childTnLst>
                        <p:set>
                          <p:cBhvr>
                            <p:cTn id="68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49" dur="620"/>
                            <p:tgtEl>
                              <p:spTgt spid="22"/>
                            </p:tgtEl>
                          </p:cBhvr>
                        </p:animEffect>
                        <p:anim calcmode="lin" valueType="num">
                          <p:cBhvr additive="base">
                            <p:cTn id="6850" dur="520" fill="hold"/>
                            <p:tgtEl>
                              <p:spTgt spid="22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784" presetID="10" presetClass="entr" presetSubtype="0" fill="hold" grpId="0" nodeType="afterEffect">
                      <p:stCondLst>
                        <p:cond delay="930"/>
                      </p:stCondLst>
                      <p:childTnLst>
                        <p:set>
                          <p:cBhvr>
                            <p:cTn id="678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790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6781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796" presetID="22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679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02" dur="620"/>
                            <p:tgtEl>
                              <p:spTgt spid="16"/>
                            </p:tgtEl>
                          </p:cBhvr>
                        </p:animEffect>
                        <p:anim calcmode="lin" valueType="num">
                          <p:cBhvr additive="base">
                            <p:cTn id="6793" dur="520" fill="hold"/>
                            <p:tgtEl>
                              <p:spTgt spid="16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851" presetID="22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68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53" dur="620"/>
                            <p:tgtEl>
                              <p:spTgt spid="23"/>
                            </p:tgtEl>
                          </p:cBhvr>
                        </p:animEffect>
                        <p:anim calcmode="lin" valueType="num">
                          <p:cBhvr additive="base">
                            <p:cTn id="6854" dur="520" fill="hold"/>
                            <p:tgtEl>
                              <p:spTgt spid="2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808" presetID="10" presetClass="entr" presetSubtype="0" fill="hold" grpId="0" nodeType="afterEffect">
                      <p:stCondLst>
                        <p:cond delay="1090"/>
                      </p:stCondLst>
                      <p:childTnLst>
                        <p:set>
                          <p:cBhvr>
                            <p:cTn id="68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14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6805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820" presetID="22" presetClass="entr" presetSubtype="0" fill="hold" grpId="0" nodeType="afterEffect">
                      <p:stCondLst>
                        <p:cond delay="1160"/>
                      </p:stCondLst>
                      <p:childTnLst>
                        <p:set>
                          <p:cBhvr>
                            <p:cTn id="682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26" dur="620"/>
                            <p:tgtEl>
                              <p:spTgt spid="18"/>
                            </p:tgtEl>
                          </p:cBhvr>
                        </p:animEffect>
                        <p:anim calcmode="lin" valueType="num">
                          <p:cBhvr additive="base">
                            <p:cTn id="6817" dur="52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855" presetID="22" presetClass="entr" presetSubtype="0" fill="hold" grpId="0" nodeType="afterEffect">
                      <p:stCondLst>
                        <p:cond delay="1160"/>
                      </p:stCondLst>
                      <p:childTnLst>
                        <p:set>
                          <p:cBhvr>
                            <p:cTn id="68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57" dur="620"/>
                            <p:tgtEl>
                              <p:spTgt spid="24"/>
                            </p:tgtEl>
                          </p:cBhvr>
                        </p:animEffect>
                        <p:anim calcmode="lin" valueType="num">
                          <p:cBhvr additive="base">
                            <p:cTn id="6858" dur="520" fill="hold"/>
                            <p:tgtEl>
                              <p:spTgt spid="24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832" presetID="22" presetClass="entr" presetSubtype="0" fill="hold" grpId="0" nodeType="afterEffect">
                      <p:stCondLst>
                        <p:cond delay="1500"/>
                      </p:stCondLst>
                      <p:childTnLst>
                        <p:set>
                          <p:cBhvr>
                            <p:cTn id="683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38" dur="620"/>
                            <p:tgtEl>
                              <p:spTgt spid="19"/>
                            </p:tgtEl>
                          </p:cBhvr>
                        </p:animEffect>
                        <p:anim calcmode="lin" valueType="num">
                          <p:cBhvr additive="base">
                            <p:cTn id="6829" dur="520" fill="hold"/>
                            <p:tgtEl>
                              <p:spTgt spid="1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31</a:t>
            </a:r>
            <a:r>
              <a:rPr sz="1050" b="1" i="0" spc="156">
                <a:solidFill>
                  <a:srgbClr val="5F7E97"/>
                </a:solidFill>
                <a:latin typeface="Poppins"/>
              </a:rPr>
              <a:t>    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84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20">
                <a:solidFill>
                  <a:srgbClr val="8FA9BC"/>
                </a:solidFill>
                <a:latin typeface="Poppins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4054" y="2209794"/>
            <a:ext cx="936074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5F7E97"/>
                </a:solidFill>
                <a:latin typeface="Poppins"/>
              </a:rPr>
              <a:t>Brownell, P. (2010). Gestalt therapy: A guide to contemporary practice. Springer.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4054" y="2827758"/>
            <a:ext cx="936074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5F7E97"/>
                </a:solidFill>
                <a:latin typeface="Poppins"/>
              </a:rPr>
              <a:t>Corey, G. (2024). Theory and practice of counseling and psychotherapy (11th ed.). Cengage.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4054" y="3445721"/>
            <a:ext cx="936074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5F7E97"/>
                </a:solidFill>
                <a:latin typeface="Poppins"/>
              </a:rPr>
              <a:t>Joyce, P., and Sills, C. (2014). Skills in Gestalt counselling and psychotherapy (3rd ed.). SAGE.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4054" y="4063685"/>
            <a:ext cx="936074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5F7E97"/>
                </a:solidFill>
                <a:latin typeface="Poppins"/>
              </a:rPr>
              <a:t>Perls, F. S., Hefferline, R. F., and Goodman, P. (1951). Gestalt therapy: Excitement and growth in the human personality. Julian Press.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054" y="4921706"/>
            <a:ext cx="936074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5F7E97"/>
                </a:solidFill>
                <a:latin typeface="Poppins"/>
              </a:rPr>
              <a:t>Woldt, A. L., and Toman, S. M. (2005). Gestalt therapy: History, theory, and practice. SAGE.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4054" y="5539669"/>
            <a:ext cx="936074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5F7E97"/>
                </a:solidFill>
                <a:latin typeface="Poppins"/>
              </a:rPr>
              <a:t>Yontef, G., and Fuhr, R. (2005). Gestalt therapy theory of change. In Woldt and Toman (Eds.), Gestalt therapy: History, theory, and practice (pp. 81 to 100). SAGE.</a:t>
            </a:r>
          </a:p>
        </p:txBody>
      </p:sp>
    </p:spTree>
  </p:cSld>
  <p:transition spd="slow" advOnClk="1" advTm="0">
    <p:fade thruBlk="1"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841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68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47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6850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68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56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6859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686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65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6871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687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77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6868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892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689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98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6901" presetID="10" presetClass="entr" presetSubtype="0" fill="hold" grpId="0" nodeType="afterEffect">
                      <p:stCondLst>
                        <p:cond delay="470"/>
                      </p:stCondLst>
                      <p:childTnLst>
                        <p:set>
                          <p:cBhvr>
                            <p:cTn id="69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907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6922" presetID="10" presetClass="entr" presetSubtype="0" fill="hold" grpId="0" nodeType="afterEffect">
                      <p:stCondLst>
                        <p:cond delay="570"/>
                      </p:stCondLst>
                      <p:childTnLst>
                        <p:set>
                          <p:cBhvr>
                            <p:cTn id="69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928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6943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694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949" dur="52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6964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696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970" dur="52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6985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69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991" dur="52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7006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70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012" dur="52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