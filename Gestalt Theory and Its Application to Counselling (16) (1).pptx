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970" cy="6857983" type="screen4x3"/>
  <p:notesSz cx="6858000" cy="9144000"/>
  <p:embeddedFontLst>
    <p:embeddedFont>
      <p:font typeface="Poppins" charset="1" panose="00000500000000000000"/>
      <p:regular r:id="rIdFont1a"/>
      <p:bold r:id="rIdFont1b"/>
    </p:embeddedFont>
    <p:embeddedFont>
      <p:font typeface="Raleway" charset="1" panose="00000000000000000000"/>
      <p:regular r:id="rIdFont2a"/>
      <p:bold r:id="rIdFont2b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Font1a" Type="http://schemas.openxmlformats.org/officeDocument/2006/relationships/font" Target="fonts/font17.fntdata"/><Relationship Id="rIdFont1b" Type="http://schemas.openxmlformats.org/officeDocument/2006/relationships/font" Target="fonts/font19.fntdata"/><Relationship Id="rIdFont2a" Type="http://schemas.openxmlformats.org/officeDocument/2006/relationships/font" Target="fonts/font18.fntdata"/><Relationship Id="rIdFont2b" Type="http://schemas.openxmlformats.org/officeDocument/2006/relationships/font" Target="fonts/font16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6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image" Target="../media/image16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pn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40.png"/><Relationship Id="rId4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image" Target="../media/image44.png"/><Relationship Id="rId4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png"/><Relationship Id="rId4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594359"/>
            <a:ext cx="699514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216">
                <a:solidFill>
                  <a:srgbClr val="CFE9F8"/>
                </a:solidFill>
                <a:latin typeface="Poppins"/>
              </a:rPr>
              <a:t>GROUP 4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905826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GESTALT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802698"/>
            <a:ext cx="87050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260"/>
              </a:lnSpc>
              <a:buNone/>
            </a:pPr>
            <a:r>
              <a:rPr sz="6600" b="1" i="0">
                <a:solidFill>
                  <a:srgbClr val="FFFFFF"/>
                </a:solidFill>
                <a:latin typeface="Raleway"/>
              </a:rPr>
              <a:t>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78" y="2791009"/>
            <a:ext cx="792782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180">
                <a:solidFill>
                  <a:srgbClr val="CFE9F8"/>
                </a:solidFill>
                <a:latin typeface="Raleway"/>
              </a:rPr>
              <a:t>AND ITS APPLICATION TO COUNSELLING</a:t>
            </a:r>
          </a:p>
        </p:txBody>
      </p:sp>
      <p:pic>
        <p:nvPicPr>
          <p:cNvPr id="8" name="Picture 7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4395"/>
            <a:ext cx="137160" cy="137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73477" y="3352975"/>
            <a:ext cx="388619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B7D6E9"/>
                </a:solidFill>
                <a:latin typeface="Poppins"/>
              </a:rPr>
              <a:t>PRESENTED BY</a:t>
            </a:r>
          </a:p>
        </p:txBody>
      </p:sp>
      <p:pic>
        <p:nvPicPr>
          <p:cNvPr id="10" name="Picture 9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57774"/>
            <a:ext cx="114300" cy="1143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27757" y="361967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Josephine Biwott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2429" y="364253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MACP/35996/0/26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47334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27757" y="3909234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Cynthia Cherono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2429" y="393209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MACP/35785/4/26</a:t>
            </a:r>
          </a:p>
        </p:txBody>
      </p:sp>
      <p:pic>
        <p:nvPicPr>
          <p:cNvPr id="16" name="Picture 15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36893"/>
            <a:ext cx="114300" cy="1143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7757" y="4198793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10"/>
              </a:lnSpc>
              <a:buNone/>
            </a:pPr>
            <a:r>
              <a:rPr sz="1350" b="1" i="0">
                <a:solidFill>
                  <a:srgbClr val="FFFFFF"/>
                </a:solidFill>
                <a:latin typeface="Poppins"/>
              </a:rPr>
              <a:t>Yvonne Juliet Awuor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2429" y="4221653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D8EBF7"/>
                </a:solidFill>
                <a:latin typeface="Poppins"/>
              </a:rPr>
              <a:t>MALD/36547/4/26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81" y="3276592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COURSE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19981" y="3542339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MCP504 Theories of Counseling and Psychotherapy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19981" y="420825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INSTITUTION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81" y="4474001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9981" y="4898398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CFE9F8"/>
                </a:solidFill>
                <a:latin typeface="Poppins"/>
              </a:rPr>
              <a:t>LECTURER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19981" y="5164146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00"/>
              </a:lnSpc>
              <a:buNone/>
            </a:pPr>
            <a:r>
              <a:rPr sz="1150" b="0" i="0">
                <a:solidFill>
                  <a:srgbClr val="FFFFFF"/>
                </a:solidFill>
                <a:latin typeface="Poppins"/>
              </a:rPr>
              <a:t>Dr. Lucy Gachenia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623314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 spc="180">
                <a:solidFill>
                  <a:srgbClr val="B7D6E9"/>
                </a:solidFill>
                <a:latin typeface="Poppins"/>
              </a:rPr>
              <a:t>AWARENESS    PRESENCE    CONTACT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15" presetID="22" presetClass="entr" presetSubtype="0" fill="hold" grpId="0" nodeType="afterEffect">
                      <p:stCondLst>
                        <p:cond delay="300"/>
                      </p:stCondLst>
                      <p:childTnLst>
                        <p:set>
                          <p:cBhvr>
                            <p:cTn id="1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36" presetID="22" presetClass="entr" presetSubtype="0" fill="hold" grpId="0" nodeType="afterEffect">
                      <p:stCondLst>
                        <p:cond delay="460"/>
                      </p:stCondLst>
                      <p:childTnLst>
                        <p:set>
                          <p:cBhvr>
                            <p:cTn id="1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" dur="620"/>
                            <p:tgtEl>
                              <p:spTgt spid="6"/>
                            </p:tgtEl>
                          </p:cBhvr>
                        </p:animEffect>
                        <p:anim calcmode="lin" valueType="num">
                          <p:cBhvr additive="base">
                            <p:cTn id="133" dur="520" fill="hold"/>
                            <p:tgtEl>
                              <p:spTgt spid="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5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1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57" presetID="10" presetClass="entr" presetSubtype="0" fill="hold" grpId="0" nodeType="afterEffect">
                      <p:stCondLst>
                        <p:cond delay="760"/>
                      </p:stCondLst>
                      <p:childTnLst>
                        <p:set>
                          <p:cBhvr>
                            <p:cTn id="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" dur="420"/>
                            <p:tgtEl>
                              <p:spTgt spid="8"/>
                            </p:tgtEl>
                          </p:cBhvr>
                        </p:animEffect>
                        <p:animScale>
                          <p:cBhvr>
                            <p:cTn id="154" dur="520" fill="hold"/>
                            <p:tgtEl>
                              <p:spTgt spid="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6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78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75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96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1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08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2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0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7" presetID="10" presetClass="entr" presetSubtype="0" fill="hold" grpId="0" nodeType="afterEffect">
                      <p:stCondLst>
                        <p:cond delay="1140"/>
                      </p:stCondLst>
                      <p:childTnLst>
                        <p:set>
                          <p:cBhvr>
                            <p:cTn id="2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2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238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2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235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2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256" presetID="10" presetClass="entr" presetSubtype="0" fill="hold" grpId="0" nodeType="afterEffect">
                      <p:stCondLst>
                        <p:cond delay="1340"/>
                      </p:stCondLst>
                      <p:childTnLst>
                        <p:set>
                          <p:cBhvr>
                            <p:cTn id="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277" presetID="22" presetClass="entr" presetSubtype="0" fill="hold" grpId="0" nodeType="afterEffect">
                      <p:stCondLst>
                        <p:cond delay="1560"/>
                      </p:stCondLst>
                      <p:childTnLst>
                        <p:set>
                          <p:cBhvr>
                            <p:cTn id="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274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86" presetID="10" presetClass="entr" presetSubtype="0" fill="hold" grpId="0" nodeType="afterEffect">
                      <p:stCondLst>
                        <p:cond delay="1620"/>
                      </p:stCondLst>
                      <p:childTnLst>
                        <p:set>
                          <p:cBhvr>
                            <p:cTn id="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98" presetID="22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295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07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19" presetID="22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3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" dur="620"/>
                            <p:tgtEl>
                              <p:spTgt spid="24"/>
                            </p:tgtEl>
                          </p:cBhvr>
                        </p:animEffect>
                        <p:anim calcmode="lin" valueType="num">
                          <p:cBhvr additive="base">
                            <p:cTn id="316" dur="520" fill="hold"/>
                            <p:tgtEl>
                              <p:spTgt spid="2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28" presetID="10" presetClass="entr" presetSubtype="0" fill="hold" grpId="0" nodeType="afterEffect">
                      <p:stCondLst>
                        <p:cond delay="2000"/>
                      </p:stCondLst>
                      <p:childTnLst>
                        <p:set>
                          <p:cBhvr>
                            <p:cTn id="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An experiential and humanistic approach to counselling.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68562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3432" y="2285994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Emphasizes awareness, present experience and contact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36194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13432" y="3353626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Understands individuals within their environment and relationships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0382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4421258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personal responsibility, choice and authentic living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71458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13432" y="5488890"/>
            <a:ext cx="666777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the client's experience in the here and now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3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4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6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6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7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9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94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1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15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3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36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6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6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HISTORICAL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therapy that grew out of the 1940s and 1950s.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14184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636061"/>
            <a:ext cx="88188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Emerged during the 1940s and 1950s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54475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176353"/>
            <a:ext cx="881885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Developed partly in response to limitations perceived in traditional psychoanalysis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478" y="36983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INFLUENCED BY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14601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014601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112047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8463" y="4014601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60039" y="394219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Existential philosophy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03252"/>
            <a:ext cx="106680" cy="1066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4054" y="433084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70" y="4403252"/>
            <a:ext cx="106680" cy="106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112047" y="4330846"/>
            <a:ext cx="26764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approaches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2478" y="491761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INTELLECTUAL ROOTS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18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Gestalt psychology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2478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Phenomenology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18049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Existentialism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11314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Field theory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4580" y="5161456"/>
            <a:ext cx="22769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930"/>
              </a:lnSpc>
              <a:buNone/>
            </a:pPr>
            <a:r>
              <a:rPr sz="1150" b="1" i="0" spc="60">
                <a:solidFill>
                  <a:srgbClr val="33506B"/>
                </a:solidFill>
                <a:latin typeface="Poppins"/>
              </a:rPr>
              <a:t>Gestalt therapy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7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8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0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0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1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8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35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7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9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6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7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8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8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8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1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607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3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2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5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4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7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670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8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691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700" presetID="10" presetClass="entr" presetSubtype="0" fill="hold" grpId="0" nodeType="afterEffect">
                      <p:stCondLst>
                        <p:cond delay="1700"/>
                      </p:stCondLst>
                      <p:childTnLst>
                        <p:set>
                          <p:cBhvr>
                            <p:cTn id="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6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709" presetID="10" presetClass="entr" presetSubtype="0" fill="hold" grpId="0" nodeType="afterEffect">
                      <p:stCondLst>
                        <p:cond delay="1840"/>
                      </p:stCondLst>
                      <p:childTnLst>
                        <p:set>
                          <p:cBhvr>
                            <p:cTn id="7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15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718" presetID="10" presetClass="entr" presetSubtype="0" fill="hold" grpId="0" nodeType="afterEffect">
                      <p:stCondLst>
                        <p:cond delay="1980"/>
                      </p:stCondLst>
                      <p:childTnLst>
                        <p:set>
                          <p:cBhvr>
                            <p:cTn id="7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24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727" presetID="10" presetClass="entr" presetSubtype="0" fill="hold" grpId="0" nodeType="afterEffect">
                      <p:stCondLst>
                        <p:cond delay="2120"/>
                      </p:stCondLst>
                      <p:childTnLst>
                        <p:set>
                          <p:cBhvr>
                            <p:cTn id="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33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736" presetID="10" presetClass="entr" presetSubtype="0" fill="hold" grpId="0" nodeType="afterEffect">
                      <p:stCondLst>
                        <p:cond delay="2260"/>
                      </p:stCondLst>
                      <p:childTnLst>
                        <p:set>
                          <p:cBhvr>
                            <p:cTn id="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42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MAJOR THEORISTS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Three voices that shaped the theory and its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04</a:t>
            </a:r>
          </a:p>
        </p:txBody>
      </p:sp>
      <p:pic>
        <p:nvPicPr>
          <p:cNvPr id="9" name="Picture 8" descr="medallion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34300"/>
            <a:ext cx="1188717" cy="11887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148835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FRITZ PERLS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35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1893 TO 1970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35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founder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78" y="4782492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Awareness, experience and responsibility</a:t>
            </a:r>
          </a:p>
        </p:txBody>
      </p:sp>
      <p:pic>
        <p:nvPicPr>
          <p:cNvPr id="15" name="Picture 14" descr="medallion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3869" y="2834300"/>
            <a:ext cx="1188717" cy="118871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0226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LAURA PERLS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0226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1905 TO 1990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30226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Major contributor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869" y="4782492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694823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Contact, relationship and embodied experience</a:t>
            </a:r>
          </a:p>
        </p:txBody>
      </p:sp>
      <p:pic>
        <p:nvPicPr>
          <p:cNvPr id="21" name="Picture 20" descr="medallion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5260" y="2834300"/>
            <a:ext cx="1188717" cy="118871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311617" y="297145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370"/>
              </a:lnSpc>
              <a:buNone/>
            </a:pPr>
            <a:r>
              <a:rPr sz="2050" b="1" i="0">
                <a:solidFill>
                  <a:srgbClr val="4595C2"/>
                </a:solidFill>
                <a:latin typeface="Raleway"/>
              </a:rPr>
              <a:t>PAUL GOODMAN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11617" y="3306739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80"/>
              </a:lnSpc>
              <a:buNone/>
            </a:pPr>
            <a:r>
              <a:rPr sz="1250" b="1" i="0" spc="96">
                <a:solidFill>
                  <a:srgbClr val="4595C2"/>
                </a:solidFill>
                <a:latin typeface="Raleway"/>
              </a:rPr>
              <a:t>1911 TO 1972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11617" y="3596298"/>
            <a:ext cx="230062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9"/>
              </a:lnSpc>
              <a:buNone/>
            </a:pPr>
            <a:r>
              <a:rPr sz="1250" b="1" i="0">
                <a:solidFill>
                  <a:srgbClr val="5F7E97"/>
                </a:solidFill>
                <a:latin typeface="Poppins"/>
              </a:rPr>
              <a:t>Co author of the 1951 text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60" y="4782492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76214" y="4708815"/>
            <a:ext cx="309247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Shaped the theoretical formulation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74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7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5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75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7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7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6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77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8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77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78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79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7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9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80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1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80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17" presetID="22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8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23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814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2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8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3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82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38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8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44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84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53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859" presetID="22" presetClass="entr" presetSubtype="0" fill="hold" grpId="0" nodeType="afterEffect">
                      <p:stCondLst>
                        <p:cond delay="710"/>
                      </p:stCondLst>
                      <p:childTnLst>
                        <p:set>
                          <p:cBhvr>
                            <p:cTn id="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65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856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8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8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8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8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88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892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898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901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910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9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16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922" presetID="22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28" dur="620"/>
                            <p:tgtEl>
                              <p:spTgt spid="22"/>
                            </p:tgtEl>
                          </p:cBhvr>
                        </p:animEffect>
                        <p:anim calcmode="lin" valueType="num">
                          <p:cBhvr additive="base">
                            <p:cTn id="919" dur="520" fill="hold"/>
                            <p:tgtEl>
                              <p:spTgt spid="2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931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37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943" presetID="10" presetClass="entr" presetSubtype="0" fill="hold" grpId="0" nodeType="afterEffect">
                      <p:stCondLst>
                        <p:cond delay="940"/>
                      </p:stCondLst>
                      <p:childTnLst>
                        <p:set>
                          <p:cBhvr>
                            <p:cTn id="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4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94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52" presetID="10" presetClass="entr" presetSubtype="0" fill="hold" grpId="0" nodeType="afterEffect">
                      <p:stCondLst>
                        <p:cond delay="1010"/>
                      </p:stCondLst>
                      <p:childTnLst>
                        <p:set>
                          <p:cBhvr>
                            <p:cTn id="9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5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961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9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6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97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9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9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98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9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8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CORE ASSUMPTIONS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Seven beliefs that hold the whole approach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are best understood as whole persons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8919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31551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Human experience is influenced by the environment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0322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629551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Awareness is central to psychological growth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27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65907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Experience unfolds in the present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People have capacity for choice and self regulation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04621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97253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functioning involves meaningful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44823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37455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Psychological difficulties may involve interruptions in awareness or contact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99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9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9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0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06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00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0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15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02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0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2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01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030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0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3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03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0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45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05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0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57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048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60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0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6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07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0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78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069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08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0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8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09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0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099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090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0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1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0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11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1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11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23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1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2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135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1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4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13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4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1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5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15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1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6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15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65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11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7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177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1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8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17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186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11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19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AWARENESS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The central concept in Gestalt therapy.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5714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NOTICING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8626"/>
            <a:ext cx="106680" cy="106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Thoughts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88626"/>
            <a:ext cx="106680" cy="106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77610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Feelings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88626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1165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Bodily sensations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88626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4721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Behaviour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88626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276" y="2616221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478" y="316485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PROCESS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02061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8120" y="342393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5291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4374795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1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Creates opportunities for choice and change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158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4214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09271" y="5523771"/>
            <a:ext cx="1931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760"/>
              </a:lnSpc>
              <a:buNone/>
            </a:pPr>
            <a:r>
              <a:rPr sz="1650" b="1" i="0" spc="60">
                <a:solidFill>
                  <a:srgbClr val="33506B"/>
                </a:solidFill>
                <a:latin typeface="Poppins"/>
              </a:rPr>
              <a:t>Change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9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1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0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20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21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2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1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22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2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3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22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23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2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24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2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4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252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2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58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26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2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0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261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73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2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7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285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2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291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282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294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2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00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306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13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12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1303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1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13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21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1327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13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33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1324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36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13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42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1348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3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54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1345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57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3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6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36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13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7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378" presetID="10" presetClass="entr" presetSubtype="0" fill="hold" grpId="0" nodeType="afterEffect">
                      <p:stCondLst>
                        <p:cond delay="1280"/>
                      </p:stCondLst>
                      <p:childTnLst>
                        <p:set>
                          <p:cBhvr>
                            <p:cTn id="13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8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37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38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13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9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1399" presetID="10" presetClass="entr" presetSubtype="0" fill="hold" grpId="0" nodeType="afterEffect">
                      <p:stCondLst>
                        <p:cond delay="1380"/>
                      </p:stCondLst>
                      <p:childTnLst>
                        <p:set>
                          <p:cBhvr>
                            <p:cTn id="14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05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1396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408" presetID="10" presetClass="entr" presetSubtype="0" fill="hold" grpId="0" nodeType="afterEffect">
                      <p:stCondLst>
                        <p:cond delay="1450"/>
                      </p:stCondLst>
                      <p:childTnLst>
                        <p:set>
                          <p:cBhvr>
                            <p:cTn id="14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14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1417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1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2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1426" presetID="10" presetClass="entr" presetSubtype="0" fill="hold" grpId="0" nodeType="afterEffect">
                      <p:stCondLst>
                        <p:cond delay="1740"/>
                      </p:stCondLst>
                      <p:childTnLst>
                        <p:set>
                          <p:cBhvr>
                            <p:cTn id="1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1435" presetID="10" presetClass="entr" presetSubtype="0" fill="hold" grpId="0" nodeType="afterEffect">
                      <p:stCondLst>
                        <p:cond delay="1880"/>
                      </p:stCondLst>
                      <p:childTnLst>
                        <p:set>
                          <p:cBhvr>
                            <p:cTn id="1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41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THE HERE AND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Change happens in the present moment.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45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FOCUS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67287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593611"/>
            <a:ext cx="46217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the client's present experience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0125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4406448"/>
            <a:ext cx="46217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Includes thoughts, emotions, bodily sensations and behaviour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8864" y="2334531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PAST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2667287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24507" y="2593611"/>
            <a:ext cx="41554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Past experiences are explored through their current impact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4480125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24507" y="4406448"/>
            <a:ext cx="415542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therapeutic relationship offers present moment awareness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4827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5665702"/>
            <a:ext cx="93629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00" b="0" i="0">
                <a:solidFill>
                  <a:srgbClr val="33506B"/>
                </a:solidFill>
                <a:latin typeface="Poppins"/>
              </a:rPr>
              <a:t>Encourages direct experience rather than excessive intellectual analysis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4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5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46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4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6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47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47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48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8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4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4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4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50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5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1513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15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19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1510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22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15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534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15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0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1531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43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15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155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5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58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564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15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56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73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5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79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585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15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59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58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594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5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0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60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6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1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60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61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6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2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FIGURE AND 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One element steps forward from its context.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08</a:t>
            </a:r>
          </a:p>
        </p:txBody>
      </p:sp>
      <p:pic>
        <p:nvPicPr>
          <p:cNvPr id="9" name="Picture 8" descr="figure_g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8316" y="2438394"/>
            <a:ext cx="3276592" cy="32765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798316" y="348995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00"/>
              </a:lnSpc>
              <a:buNone/>
            </a:pPr>
            <a:r>
              <a:rPr sz="1200" b="1" i="0" spc="144">
                <a:solidFill>
                  <a:srgbClr val="33506B"/>
                </a:solidFill>
                <a:latin typeface="Poppins"/>
              </a:rPr>
              <a:t>FIGURE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98316" y="3703311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80"/>
              </a:lnSpc>
              <a:buNone/>
            </a:pPr>
            <a:r>
              <a:rPr sz="1250" b="0" i="0">
                <a:solidFill>
                  <a:srgbClr val="5F7E97"/>
                </a:solidFill>
                <a:latin typeface="Raleway"/>
              </a:rPr>
              <a:t>what steps forward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8316" y="5135867"/>
            <a:ext cx="334212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1730"/>
              </a:lnSpc>
              <a:buNone/>
            </a:pPr>
            <a:r>
              <a:rPr sz="1050" b="1" i="0" spc="180">
                <a:solidFill>
                  <a:srgbClr val="5F7E97"/>
                </a:solidFill>
                <a:latin typeface="Poppins"/>
              </a:rPr>
              <a:t>GROUND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66" y="225551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FIGURE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66" y="2810439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What is most prominent in awareness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66" y="3397873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010"/>
              </a:lnSpc>
              <a:buNone/>
            </a:pPr>
            <a:r>
              <a:rPr sz="2450" b="1" i="0">
                <a:solidFill>
                  <a:srgbClr val="4595C2"/>
                </a:solidFill>
                <a:latin typeface="Raleway"/>
              </a:rPr>
              <a:t>GROUND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66" y="3952798"/>
            <a:ext cx="423594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10"/>
              </a:lnSpc>
              <a:buNone/>
            </a:pPr>
            <a:r>
              <a:rPr sz="1300" b="0" i="0">
                <a:solidFill>
                  <a:srgbClr val="5F7E97"/>
                </a:solidFill>
                <a:latin typeface="Poppins"/>
              </a:rPr>
              <a:t>The surrounding context and experiences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436752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14908" y="4311632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Needs and concerns move between figure and ground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013557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14908" y="4957663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The figure changes as circumstances change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66" y="5410639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14908" y="5354744"/>
            <a:ext cx="399997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reveals what matters most right now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6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6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6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6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6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6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6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6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684" presetID="23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690" dur="70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681" dur="520" fill="hold"/>
                            <p:tgtEl>
                              <p:spTgt spid="9"/>
                            </p:tgtEl>
                          </p:cBhvr>
                          <p:from x="92000" y="92000"/>
                          <p:to x="100000" y="100000"/>
                        </p:animScale>
                      </p:childTnLst>
                    </p:cTn>
                  </p:par>
                  <p:par>
                    <p:cTn id="1696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6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02" dur="620"/>
                            <p:tgtEl>
                              <p:spTgt spid="13"/>
                            </p:tgtEl>
                          </p:cBhvr>
                        </p:animEffect>
                        <p:anim calcmode="lin" valueType="num">
                          <p:cBhvr additive="base">
                            <p:cTn id="1693" dur="520" fill="hold"/>
                            <p:tgtEl>
                              <p:spTgt spid="13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05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7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1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71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2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72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1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32" dur="620"/>
                            <p:tgtEl>
                              <p:spTgt spid="15"/>
                            </p:tgtEl>
                          </p:cBhvr>
                        </p:animEffect>
                        <p:anim calcmode="lin" valueType="num">
                          <p:cBhvr additive="base">
                            <p:cTn id="1723" dur="520" fill="hold"/>
                            <p:tgtEl>
                              <p:spTgt spid="1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735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1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4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174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17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753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17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765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7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7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76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74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17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80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78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17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92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1783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795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17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01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180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18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13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1804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16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18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22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09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AND THE CONTACT BOUNDARY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Where the person and the world meet.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09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3241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658734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is the interaction between the individual and the environment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68196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9451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contact boundary is the point at which the two meet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0398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930304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Healthy contact addresses needs while keeping a sense of self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39765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566089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Contact involves engaging, responding and withdrawing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75550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5201873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Relationships, culture and circumstances influence contact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78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Individual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9471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Contact boundary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0265" y="5745466"/>
            <a:ext cx="258043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340"/>
              </a:lnSpc>
              <a:buNone/>
            </a:pPr>
            <a:r>
              <a:rPr sz="1400" b="1" i="0" spc="60">
                <a:solidFill>
                  <a:srgbClr val="33506B"/>
                </a:solidFill>
                <a:latin typeface="Poppins"/>
              </a:rPr>
              <a:t>Environment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2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18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3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183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184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18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4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185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18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6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185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186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18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187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1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7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188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18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89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188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89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1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0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190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19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1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190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1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1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2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192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19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3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192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3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1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4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194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19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5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194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5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19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6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196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19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7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196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1978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19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8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198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19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993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1996" presetID="10" presetClass="entr" presetSubtype="0" fill="hold" grpId="0" nodeType="afterEffect">
                      <p:stCondLst>
                        <p:cond delay="1440"/>
                      </p:stCondLst>
                      <p:childTnLst>
                        <p:set>
                          <p:cBhvr>
                            <p:cTn id="19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0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005" presetID="10" presetClass="entr" presetSubtype="0" fill="hold" grpId="0" nodeType="afterEffect">
                      <p:stCondLst>
                        <p:cond delay="1580"/>
                      </p:stCondLst>
                      <p:childTnLst>
                        <p:set>
                          <p:cBhvr>
                            <p:cTn id="20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1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10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CONTACT BOUNDARY DISTURBANCES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How awareness, contact and the self environment connection become restricted.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10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0780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Patterns through which awareness or contact becomes restricted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0644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04165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Also described as interruptions or resistances to contact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62101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79731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May develop as coping and serve a protective function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078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Not diagnoses or permanent personality characteristics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106440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04165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Significance depends on context, flexibility and whether they restrict choice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62101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9731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Five patterns are most commonly discussed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4605097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FIVE PATTERNS FROM PAGE 10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21342"/>
            <a:ext cx="106680" cy="1066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88743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Introjection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1469" y="4921342"/>
            <a:ext cx="106680" cy="1066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517734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Projection</a:t>
            </a:r>
          </a:p>
        </p:txBody>
      </p:sp>
      <p:pic>
        <p:nvPicPr>
          <p:cNvPr id="26" name="Picture 2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0461" y="4921342"/>
            <a:ext cx="106680" cy="1066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946726" y="4848936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Retroflection</a:t>
            </a:r>
          </a:p>
        </p:txBody>
      </p:sp>
      <p:pic>
        <p:nvPicPr>
          <p:cNvPr id="28" name="Picture 2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71861"/>
            <a:ext cx="106680" cy="1066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88743" y="5199455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Deflection</a:t>
            </a:r>
          </a:p>
        </p:txBody>
      </p:sp>
      <p:pic>
        <p:nvPicPr>
          <p:cNvPr id="30" name="Picture 2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1469" y="5271861"/>
            <a:ext cx="106680" cy="10668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517734" y="5199455"/>
            <a:ext cx="296221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1" i="0">
                <a:solidFill>
                  <a:srgbClr val="33506B"/>
                </a:solidFill>
                <a:latin typeface="Poppins"/>
              </a:rPr>
              <a:t>Confluence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2478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2416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Boundary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72354" y="5793814"/>
            <a:ext cx="252855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Meaningful contact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1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0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02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2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03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3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04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04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05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5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06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0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6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074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0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207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083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20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089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095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20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01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2092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04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21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1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116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2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2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11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25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21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3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137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2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4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13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4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21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5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158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6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15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67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21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7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179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8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17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18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19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219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0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20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2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1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220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1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2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24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2230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22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36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2227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39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22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45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2251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22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57" dur="420"/>
                            <p:tgtEl>
                              <p:spTgt spid="26"/>
                            </p:tgtEl>
                          </p:cBhvr>
                        </p:animEffect>
                        <p:animScale>
                          <p:cBhvr>
                            <p:cTn id="2248" dur="520" fill="hold"/>
                            <p:tgtEl>
                              <p:spTgt spid="2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60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22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66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2272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2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78" dur="420"/>
                            <p:tgtEl>
                              <p:spTgt spid="28"/>
                            </p:tgtEl>
                          </p:cBhvr>
                        </p:animEffect>
                        <p:animScale>
                          <p:cBhvr>
                            <p:cTn id="2269" dur="520" fill="hold"/>
                            <p:tgtEl>
                              <p:spTgt spid="2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281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22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87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2293" presetID="10" presetClass="entr" presetSubtype="0" fill="hold" grpId="0" nodeType="afterEffect">
                      <p:stCondLst>
                        <p:cond delay="1600"/>
                      </p:stCondLst>
                      <p:childTnLst>
                        <p:set>
                          <p:cBhvr>
                            <p:cTn id="22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299" dur="420"/>
                            <p:tgtEl>
                              <p:spTgt spid="30"/>
                            </p:tgtEl>
                          </p:cBhvr>
                        </p:animEffect>
                        <p:animScale>
                          <p:cBhvr>
                            <p:cTn id="2290" dur="520" fill="hold"/>
                            <p:tgtEl>
                              <p:spTgt spid="3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302" presetID="10" presetClass="entr" presetSubtype="0" fill="hold" grpId="0" nodeType="afterEffect">
                      <p:stCondLst>
                        <p:cond delay="1670"/>
                      </p:stCondLst>
                      <p:childTnLst>
                        <p:set>
                          <p:cBhvr>
                            <p:cTn id="23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08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  <p:par>
                    <p:cTn id="2311" presetID="10" presetClass="entr" presetSubtype="0" fill="hold" grpId="0" nodeType="afterEffect">
                      <p:stCondLst>
                        <p:cond delay="1800"/>
                      </p:stCondLst>
                      <p:childTnLst>
                        <p:set>
                          <p:cBhvr>
                            <p:cTn id="23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17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  <p:par>
                    <p:cTn id="2320" presetID="10" presetClass="entr" presetSubtype="0" fill="hold" grpId="0" nodeType="afterEffect">
                      <p:stCondLst>
                        <p:cond delay="1940"/>
                      </p:stCondLst>
                      <p:childTnLst>
                        <p:set>
                          <p:cBhvr>
                            <p:cTn id="23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26" dur="520"/>
                            <p:tgtEl>
                              <p:spTgt spid="33"/>
                            </p:tgtEl>
                          </p:cBhvr>
                        </p:animEffect>
                      </p:childTnLst>
                    </p:cTn>
                  </p:par>
                  <p:par>
                    <p:cTn id="2329" presetID="10" presetClass="entr" presetSubtype="0" fill="hold" grpId="0" nodeType="afterEffect">
                      <p:stCondLst>
                        <p:cond delay="2080"/>
                      </p:stCondLst>
                      <p:childTnLst>
                        <p:set>
                          <p:cBhvr>
                            <p:cTn id="23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35" dur="520"/>
                            <p:tgtEl>
                              <p:spTgt spid="3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INTROJECTION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Accepting beliefs without examining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174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3081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Taking in rules, beliefs, values or expectations from others without adequately examining whether they fit own experience or circumstances. An external expectation becomes an unquestioned internal rule.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540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454031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2328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667391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A child taught that a good child must always obey continues to follow family decisions even with legitimate concerns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67642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611747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“A responsible person must never say no to the supervisor”, accepts every duty even when exhausted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23286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667391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struggles to recognise own needs, guilt or anxiety when considering an alternative response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869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36279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“Where did you learn that rule?” “Does it apply in every situation?” “What happens when you consider your own needs?”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71550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DISTINCTION: Accepting an external rule without sufficient examination. Illustrative statement: “I must never disappoint anyone.”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3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3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4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34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3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5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35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3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6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36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3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7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36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37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3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8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38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3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39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39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3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01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404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4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413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4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1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422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4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2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434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4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43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43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4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49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455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4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61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452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67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4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7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46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476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8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485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491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497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5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03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494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506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1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515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2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PROJECTION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Attributing one's own experience to 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993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Attributing feelings, intentions or characteristics to someone else without adequately recognising own possible contribution. Finding it difficult to acknowledge a feeling within and instead perceiving it as belonging to another.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174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40585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A person jealous of a friend's success repeatedly claims the friend is jealous of them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57155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10126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Client feels angry with a colleague but says “My colleague hates me and is always looking for a fight” without clear evidence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6174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40585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responds to assumptions rather than checking what is actually happening, risking misunderstanding or conflict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0610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35020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“What feelings arise in you as you describe this?” “What have you observed directly, and what are you assuming?”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27993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Not every perception is inaccurate. Others may genuinely behave in harmful ways. Illustrative: “Everyone here is hostile towards me.”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52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5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53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5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3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54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5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4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55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5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55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56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5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6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57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5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7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581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5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8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590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596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599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05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608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6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14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620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2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61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29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6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3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641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47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638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53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6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5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65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62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6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68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671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6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77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683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6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89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680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692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6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69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701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7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0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RETROFLECTION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Turning an outward response inward.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4993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Directing towards self feelings, actions or energy that might otherwise be expressed towards another person or into the environment.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19249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6174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40585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Feels angry after unfair treatment but repeatedly criticises self for being weak instead of expressing concern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0610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35020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Worker frustrated by unreasonable workload does not communicate, says “I am weak and should manage everything” and becomes self critical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6174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40585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inhibits direct expression, creates internal tension, turns understandable frustration into self blame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57155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10126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“What would you want to say if you felt safe?” “What happens inside when you hold back?”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27993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Not all restraint is unhealthy. Withholding can be necessary for safety or professional judgement. Illustrative: “I am angry, so I must be a terrible person.”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71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1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71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2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72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7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34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74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4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73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749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7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5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75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7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64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767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7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73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776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7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82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785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7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791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794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00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806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8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12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803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15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28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21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2827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28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3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282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39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28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4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283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48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28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5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2857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28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6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2869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28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7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286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2878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28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84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2887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28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893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DEFLECTION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Avoiding direct contact with an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320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45454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Reducing intensity or directness of contact through distraction, humour, vague language, changing the subject or other avoidance.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4633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4633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32597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67670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Whenever a difficult family issue arises, makes jokes or quickly introduces another topic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5275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59686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Client begins discussing death of a close relative but immediately jokes and changes subject whenever grief is approached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32597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676702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difficulty remaining with painful feelings long enough to understand or communicate them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65275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59686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 gently: “I noticed you laughed as you mentioned the loss, what are you experiencing right now?”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51336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Concerns how direct contact is diluted, often through distraction. Illustrative: joking whenever painful feelings arise.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89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28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0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290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1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291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29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2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292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29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3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292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293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29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4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294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29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2953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29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59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2962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29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68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297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29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7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298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29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86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299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29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2998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2989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0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0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07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013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0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19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010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25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30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3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02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34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0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043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30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49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055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30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6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05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064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30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0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073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0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79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CONFLUENCE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Difficulty distinguishing self from others.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1745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DEFINITION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478" y="2530815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7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 distinction between own feelings, needs, beliefs or preferences and those of another becomes unclear. Agreement or togetherness feels necessary for maintaining the relationship.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78" y="337733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65" y="3377339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EFFECT AND APPROACH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46593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59069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Everyday: Consistently agrees with friends about activities because expressing a different preference feels threatening to friendship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74433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68844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Counselling: Woman agrees with partner on major decisions even when privately disagreeing, says “Whatever makes him happy is what I want”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646593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359069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Effect: loses sight of personal needs, experiences resentment, struggles to make independent decisions while appearing harmonious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74433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468844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Counsellor asks: “If your partner's preference were not part of the decision, what would you want?”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478" y="5771550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KEY  Concerns a blurred self other distinction, not simply a rule or avoided topic. Illustrative: “Whatever you want is what I want.”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08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0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8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09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09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10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1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0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11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1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1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10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12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1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2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13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1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3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13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14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4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148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31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54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157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1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63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16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1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7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17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1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8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17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18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1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19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199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2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0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19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11" presetID="10" presetClass="entr" presetSubtype="0" fill="hold" grpId="0" nodeType="afterEffect">
                      <p:stCondLst>
                        <p:cond delay="1250"/>
                      </p:stCondLst>
                      <p:childTnLst>
                        <p:set>
                          <p:cBhvr>
                            <p:cTn id="32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17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3208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20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2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26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229" presetID="10" presetClass="entr" presetSubtype="0" fill="hold" grpId="0" nodeType="afterEffect">
                      <p:stCondLst>
                        <p:cond delay="1320"/>
                      </p:stCondLst>
                      <p:childTnLst>
                        <p:set>
                          <p:cBhvr>
                            <p:cTn id="32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3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241" presetID="10" presetClass="entr" presetSubtype="0" fill="hold" grpId="0" nodeType="afterEffect">
                      <p:stCondLst>
                        <p:cond delay="1350"/>
                      </p:stCondLst>
                      <p:childTnLst>
                        <p:set>
                          <p:cBhvr>
                            <p:cTn id="32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4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23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250" presetID="10" presetClass="entr" presetSubtype="0" fill="hold" grpId="0" nodeType="afterEffect">
                      <p:stCondLst>
                        <p:cond delay="1420"/>
                      </p:stCondLst>
                      <p:childTnLst>
                        <p:set>
                          <p:cBhvr>
                            <p:cTn id="32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5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259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2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65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CONTACT BOUNDARY DISTURBANCES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COMPARISON AND CLINICAL SIGNIFICANCE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From exploratory frameworks to flexible responding.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COMPARISON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34973"/>
            <a:ext cx="99060" cy="990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872094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Introjection: Accepting an external rule without examining it, “I must never disappoint anyone”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587910"/>
            <a:ext cx="99060" cy="990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64054" y="3525031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Projection: Attributing own possible feelings to another, “Everyone here is hostile towards me”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40847"/>
            <a:ext cx="99060" cy="990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64054" y="4177967"/>
            <a:ext cx="43864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Retroflection: Directing inward what might be expressed outward, “I am angry so I must be terrible”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34973"/>
            <a:ext cx="99060" cy="990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398041" y="2872094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Deflection: Avoiding direct engagement, joking whenever painful feelings arise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587910"/>
            <a:ext cx="99060" cy="990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98041" y="3525031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Confluence: Losing clarity about own needs, “Whatever you want is what I want”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40847"/>
            <a:ext cx="99060" cy="9906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8041" y="4177967"/>
            <a:ext cx="454186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Overlap is common, patterns are best used as exploratory frameworks not fixed labels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7144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CLINICAL SIGNIFICANCE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4069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508480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Helps counsellor develop questions that increase awareness collaboratively, not to impose labels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62467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38120" y="550657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Requires attention to environment: fear of retaliation, need for safety and timing before exploring loss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984237"/>
            <a:ext cx="121920" cy="121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38120" y="5928342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Aim is to recognise patterns and develop more flexible ways of responding, not to eliminate every interruption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268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2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74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27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83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28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292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298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3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04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295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307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13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31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3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22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32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3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31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33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43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3334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46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3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52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358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3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64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3355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67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73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337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85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3376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391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3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397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3388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00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4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06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40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4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15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42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34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27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3418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3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34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36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442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34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48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3439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51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34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57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460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4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6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3472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4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7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346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481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34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87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3493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34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49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349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02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35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08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3514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35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0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3511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523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35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29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UNFINISHED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Unresolved experience keeps its hold on the present.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MAY INCLUDE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37165"/>
            <a:ext cx="106680" cy="106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64054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Grief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6033" y="2637165"/>
            <a:ext cx="106680" cy="106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77610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Anger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589" y="2637165"/>
            <a:ext cx="106680" cy="1066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91165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Guilt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144" y="2637165"/>
            <a:ext cx="106680" cy="1066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04721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Resentment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00" y="2637165"/>
            <a:ext cx="106680" cy="1066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18276" y="2560314"/>
            <a:ext cx="143291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0"/>
              </a:lnSpc>
              <a:buNone/>
            </a:pPr>
            <a:r>
              <a:rPr sz="1300" b="0" i="0">
                <a:solidFill>
                  <a:srgbClr val="33506B"/>
                </a:solidFill>
                <a:latin typeface="Poppins"/>
              </a:rPr>
              <a:t>Unmet needs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43589"/>
            <a:ext cx="121920" cy="121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38120" y="3169912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Can remain psychologically active in the present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1969"/>
            <a:ext cx="121920" cy="1219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138120" y="4338292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interfere with healthy contact</a:t>
            </a:r>
          </a:p>
        </p:txBody>
      </p:sp>
      <p:pic>
        <p:nvPicPr>
          <p:cNvPr id="24" name="Picture 2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80349"/>
            <a:ext cx="121920" cy="121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38120" y="5506673"/>
            <a:ext cx="89743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Therapy promotes awareness and processing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53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5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3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54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4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5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5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5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56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5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6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55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57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5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7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58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5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8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58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5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59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3601" presetID="10" presetClass="entr" presetSubtype="0" fill="hold" grpId="0" nodeType="afterEffect">
                      <p:stCondLst>
                        <p:cond delay="580"/>
                      </p:stCondLst>
                      <p:childTnLst>
                        <p:set>
                          <p:cBhvr>
                            <p:cTn id="36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07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3598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10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36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16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3622" presetID="10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36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28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3619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3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36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3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3643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36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4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364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52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3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58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3664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36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0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3661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73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36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79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685" presetID="10" presetClass="entr" presetSubtype="0" fill="hold" grpId="0" nodeType="afterEffect">
                      <p:stCondLst>
                        <p:cond delay="980"/>
                      </p:stCondLst>
                      <p:childTnLst>
                        <p:set>
                          <p:cBhvr>
                            <p:cTn id="36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691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3682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694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6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00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3706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7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12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3703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15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37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2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727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37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33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3724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36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3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42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748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37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54" dur="420"/>
                            <p:tgtEl>
                              <p:spTgt spid="24"/>
                            </p:tgtEl>
                          </p:cBhvr>
                        </p:animEffect>
                        <p:animScale>
                          <p:cBhvr>
                            <p:cTn id="3745" dur="520" fill="hold"/>
                            <p:tgtEl>
                              <p:spTgt spid="2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757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37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63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CORE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PERSONAL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Owning your choices, without blame.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18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Recognising one's own choices and responses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280831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0715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agency and ownership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01991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12831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decision making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2315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04947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language that reflects personal experience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478" y="5577826"/>
            <a:ext cx="512977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39"/>
              </a:lnSpc>
              <a:buNone/>
            </a:pPr>
            <a:r>
              <a:rPr sz="1050" b="1" i="0" spc="132">
                <a:solidFill>
                  <a:srgbClr val="4595C2"/>
                </a:solidFill>
                <a:latin typeface="Poppins"/>
              </a:rPr>
              <a:t>RESPONSIBILITY IS OWNERSHIP  NOT BLAME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78864" y="224027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LANGUAGE IN PRACTICE</a:t>
            </a:r>
          </a:p>
        </p:txBody>
      </p:sp>
      <p:pic>
        <p:nvPicPr>
          <p:cNvPr id="19" name="Picture 18" descr="mark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8864" y="2560314"/>
            <a:ext cx="137160" cy="1371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44" y="2529834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5F7E97"/>
                </a:solidFill>
                <a:latin typeface="Raleway"/>
              </a:rPr>
              <a:t>“You make me angry.”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44" y="2929006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blames the other person</a:t>
            </a:r>
          </a:p>
        </p:txBody>
      </p:sp>
      <p:pic>
        <p:nvPicPr>
          <p:cNvPr id="22" name="Picture 2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864" y="3371727"/>
            <a:ext cx="137160" cy="1371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44" y="3341247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84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“I notice that I become angry when…”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44" y="3740420"/>
            <a:ext cx="45079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0" i="0">
                <a:solidFill>
                  <a:srgbClr val="8FA9BC"/>
                </a:solidFill>
                <a:latin typeface="Poppins"/>
              </a:rPr>
              <a:t>owns the experience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76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7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7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77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8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378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79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379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37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0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379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380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38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1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381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38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2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382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38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3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382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35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38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4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384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8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53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3844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5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38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6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386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38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7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387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8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8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387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89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38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895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3886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898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39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04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3907" presetID="10" presetClass="entr" presetSubtype="0" fill="hold" grpId="0" nodeType="afterEffect">
                      <p:stCondLst>
                        <p:cond delay="780"/>
                      </p:stCondLst>
                      <p:childTnLst>
                        <p:set>
                          <p:cBhvr>
                            <p:cTn id="39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1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3919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39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2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391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28" presetID="10" presetClass="entr" presetSubtype="0" fill="hold" grpId="0" nodeType="afterEffect">
                      <p:stCondLst>
                        <p:cond delay="860"/>
                      </p:stCondLst>
                      <p:childTnLst>
                        <p:set>
                          <p:cBhvr>
                            <p:cTn id="39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3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393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39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4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3949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39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55" dur="420"/>
                            <p:tgtEl>
                              <p:spTgt spid="22"/>
                            </p:tgtEl>
                          </p:cBhvr>
                        </p:animEffect>
                        <p:animScale>
                          <p:cBhvr>
                            <p:cTn id="3946" dur="520" fill="hold"/>
                            <p:tgtEl>
                              <p:spTgt spid="2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3958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39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64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3967" presetID="10" presetClass="entr" presetSubtype="0" fill="hold" grpId="0" nodeType="afterEffect">
                      <p:stCondLst>
                        <p:cond delay="1130"/>
                      </p:stCondLst>
                      <p:childTnLst>
                        <p:set>
                          <p:cBhvr>
                            <p:cTn id="39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73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3976" presetID="10" presetClass="entr" presetSubtype="0" fill="hold" grpId="0" nodeType="afterEffect">
                      <p:stCondLst>
                        <p:cond delay="1210"/>
                      </p:stCondLst>
                      <p:childTnLst>
                        <p:set>
                          <p:cBhvr>
                            <p:cTn id="39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82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19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ROLE OF THE GESTALT COUNSELLOR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16100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companion in the client's present experience.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19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3323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3595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present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50679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43311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Observes verbal and non verbal behaviour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5803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50667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Uses the therapeutic relationship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authentic expression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33230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35955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Explores interruptions in contact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506790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443311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responsibility and choice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98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39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399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399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39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00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0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0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01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0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2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01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02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0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03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0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3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04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0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5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04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5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0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6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06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0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7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06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7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0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8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08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0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09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08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09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0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0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10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1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1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10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1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1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2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129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41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3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12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38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1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44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150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41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5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14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59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41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65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171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41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7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16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180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41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86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20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GESTALT THERAPEUTIC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854961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Nine experiments that turn talking into experiencing.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20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747485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8743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Empty chair technique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2747485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70134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2747485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51525" y="266999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022596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88743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4022596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670134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Role play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4022596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251525" y="3945109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297707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8743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3869" y="5297707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670134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60" y="5297707"/>
            <a:ext cx="114300" cy="114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251525" y="5220220"/>
            <a:ext cx="30399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Here and now questioning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189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1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195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19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2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04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207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2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13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219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2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25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216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228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2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34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237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2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43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249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2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55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246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58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2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64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270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42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76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267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279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42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85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291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42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297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288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00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3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06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312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3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18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309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21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43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27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333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43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3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33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42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43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48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354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3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0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351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63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3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69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375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43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81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372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384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43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390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396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43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02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393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05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44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1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417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442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23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414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426" presetID="10" presetClass="entr" presetSubtype="0" fill="hold" grpId="0" nodeType="afterEffect">
                      <p:stCondLst>
                        <p:cond delay="1240"/>
                      </p:stCondLst>
                      <p:childTnLst>
                        <p:set>
                          <p:cBhvr>
                            <p:cTn id="44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32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EMPTY CHAIR TECHNIQUE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Speaking to the person who is not in the room.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21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The client imagines another person in the empty chair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86638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2792706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Speaks directly to the imagined person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7309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299418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Brings unresolved experience into present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79806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3806129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Facilitates expression of unfinished emotions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86518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4312841"/>
            <a:ext cx="570990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open new awareness and perspectives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182" y="2133595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009"/>
              </a:lnSpc>
              <a:buNone/>
            </a:pPr>
            <a:r>
              <a:rPr sz="72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21" y="3069961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170"/>
              </a:lnSpc>
              <a:buNone/>
            </a:pPr>
            <a:r>
              <a:rPr sz="1900" b="0" i="0">
                <a:solidFill>
                  <a:srgbClr val="33506B"/>
                </a:solidFill>
                <a:latin typeface="Raleway"/>
              </a:rPr>
              <a:t>Imagine your father is sitting in that chair. What would you want him to hear from you?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21" y="4370994"/>
            <a:ext cx="357529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EXAMPLE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48564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 SETUP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8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Client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24192" y="5100273"/>
            <a:ext cx="226953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210"/>
              </a:lnSpc>
              <a:buNone/>
            </a:pPr>
            <a:r>
              <a:rPr sz="1350" b="1" i="0" spc="60">
                <a:solidFill>
                  <a:srgbClr val="33506B"/>
                </a:solidFill>
                <a:latin typeface="Poppins"/>
              </a:rPr>
              <a:t>Imagined person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435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4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41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44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4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0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45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4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59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465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4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71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462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474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4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0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48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4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489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495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4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01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492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04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5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10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516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5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2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51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25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5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3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53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5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4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53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4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5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5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55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5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6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55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67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5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73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579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5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8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57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588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5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594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4597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6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03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609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61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15" dur="620"/>
                            <p:tgtEl>
                              <p:spTgt spid="20"/>
                            </p:tgtEl>
                          </p:cBhvr>
                        </p:animEffect>
                        <p:anim calcmode="lin" valueType="num">
                          <p:cBhvr additive="base">
                            <p:cTn id="4606" dur="520" fill="hold"/>
                            <p:tgtEl>
                              <p:spTgt spid="2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618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462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24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462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46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3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636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46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42" dur="520"/>
                            <p:tgtEl>
                              <p:spTgt spid="23"/>
                            </p:tgtEl>
                          </p:cBhvr>
                        </p:animEffect>
                      </p:childTnLst>
                    </p:cTn>
                  </p:par>
                  <p:par>
                    <p:cTn id="4645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46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5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22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OTHER EXPERIENTIAL TECHNIQUES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each experiment is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22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34262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3432" y="2356775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Two chair dialogue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434262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47418" y="2356775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opposing parts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93460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13432" y="3015973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Exaggeration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093460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47418" y="3015973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Increase awareness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52659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3432" y="3675172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Staying with the feeling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52659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47418" y="3675172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emerging emotions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11857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3432" y="4334370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Body awareness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411857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47418" y="4334370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Notice physical experience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71055"/>
            <a:ext cx="114300" cy="1143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13432" y="4993569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“I” statements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71055"/>
            <a:ext cx="114300" cy="1143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47418" y="4993569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Own personal experience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0254"/>
            <a:ext cx="114300" cy="1143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113432" y="5652767"/>
            <a:ext cx="371426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1" i="0">
                <a:solidFill>
                  <a:srgbClr val="33506B"/>
                </a:solidFill>
                <a:latin typeface="Poppins"/>
              </a:rPr>
              <a:t>Dream work</a:t>
            </a:r>
          </a:p>
        </p:txBody>
      </p:sp>
      <p:pic>
        <p:nvPicPr>
          <p:cNvPr id="31" name="Picture 3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730254"/>
            <a:ext cx="114300" cy="1143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47418" y="5652767"/>
            <a:ext cx="4025160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5F7E97"/>
                </a:solidFill>
                <a:latin typeface="Poppins"/>
              </a:rPr>
              <a:t>Explore present meaning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654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6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0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663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6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69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67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6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78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684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6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0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681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4693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46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699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470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7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0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471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47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20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4711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2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472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3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472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35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47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4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4747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475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5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474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56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47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6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476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47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74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4765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77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47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8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4789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47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795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4786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798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48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0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4810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48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1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480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19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48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2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4831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483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37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4828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4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48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4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4852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48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5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484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61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48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67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4873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48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79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4870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882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48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888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4894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48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0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4891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0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49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09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491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49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21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4912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24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49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30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4936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49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42" dur="420"/>
                            <p:tgtEl>
                              <p:spTgt spid="31"/>
                            </p:tgtEl>
                          </p:cBhvr>
                        </p:animEffect>
                        <p:animScale>
                          <p:cBhvr>
                            <p:cTn id="4933" dur="520" fill="hold"/>
                            <p:tgtEl>
                              <p:spTgt spid="3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4945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49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51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  <p:par>
                    <p:cTn id="4954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49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0" dur="520"/>
                            <p:tgtEl>
                              <p:spTgt spid="3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23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370"/>
              </a:lnSpc>
              <a:buNone/>
            </a:pPr>
            <a:r>
              <a:rPr sz="4450" b="1" i="0">
                <a:solidFill>
                  <a:srgbClr val="4595C2"/>
                </a:solidFill>
                <a:latin typeface="Raleway"/>
              </a:rPr>
              <a:t>APPLICATION IN COUNSELLING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94972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Gestalt therapy can be applied to the following areas.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23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28426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88743" y="2350939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Grief and loss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2428426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3131" y="2350939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Relationship difficulties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118048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88743" y="3040561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Anxiety and emotional distress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118048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813131" y="3040561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anger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807670"/>
            <a:ext cx="114300" cy="1143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88743" y="3730183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Identity concerns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3807670"/>
            <a:ext cx="114300" cy="1143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13131" y="3730183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Emotional expression difficulties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97292"/>
            <a:ext cx="114300" cy="1143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88743" y="4419805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Personal growth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866" y="4497292"/>
            <a:ext cx="114300" cy="1143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813131" y="4419805"/>
            <a:ext cx="420579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Unresolved interpersonal experiences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292306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THERAPEUTIC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2478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Awareness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7702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Contact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2926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Responsibility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8150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33374" y="5551386"/>
            <a:ext cx="191174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ts val="2070"/>
              </a:lnSpc>
              <a:buNone/>
            </a:pPr>
            <a:r>
              <a:rPr sz="1250" b="1" i="0" spc="60">
                <a:solidFill>
                  <a:srgbClr val="33506B"/>
                </a:solidFill>
                <a:latin typeface="Poppins"/>
              </a:rPr>
              <a:t>Growth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96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9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6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497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78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498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49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87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4993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49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4999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4990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002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0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08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01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1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023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0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29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020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32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0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38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044" presetID="10" presetClass="entr" presetSubtype="0" fill="hold" grpId="0" nodeType="afterEffect">
                      <p:stCondLst>
                        <p:cond delay="540"/>
                      </p:stCondLst>
                      <p:childTnLst>
                        <p:set>
                          <p:cBhvr>
                            <p:cTn id="50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0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041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53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50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59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065" presetID="10" presetClass="entr" presetSubtype="0" fill="hold" grpId="0" nodeType="afterEffect">
                      <p:stCondLst>
                        <p:cond delay="630"/>
                      </p:stCondLst>
                      <p:childTnLst>
                        <p:set>
                          <p:cBhvr>
                            <p:cTn id="50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71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062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74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0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80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086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0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092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083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095" presetID="10" presetClass="entr" presetSubtype="0" fill="hold" grpId="0" nodeType="afterEffect">
                      <p:stCondLst>
                        <p:cond delay="790"/>
                      </p:stCondLst>
                      <p:childTnLst>
                        <p:set>
                          <p:cBhvr>
                            <p:cTn id="50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01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107" presetID="10" presetClass="entr" presetSubtype="0" fill="hold" grpId="0" nodeType="afterEffect">
                      <p:stCondLst>
                        <p:cond delay="810"/>
                      </p:stCondLst>
                      <p:childTnLst>
                        <p:set>
                          <p:cBhvr>
                            <p:cTn id="51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13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104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16" presetID="10" presetClass="entr" presetSubtype="0" fill="hold" grpId="0" nodeType="afterEffect">
                      <p:stCondLst>
                        <p:cond delay="880"/>
                      </p:stCondLst>
                      <p:childTnLst>
                        <p:set>
                          <p:cBhvr>
                            <p:cTn id="51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22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128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1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34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125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37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1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43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149" presetID="10" presetClass="entr" presetSubtype="0" fill="hold" grpId="0" nodeType="afterEffect">
                      <p:stCondLst>
                        <p:cond delay="990"/>
                      </p:stCondLst>
                      <p:childTnLst>
                        <p:set>
                          <p:cBhvr>
                            <p:cTn id="51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55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146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58" presetID="10" presetClass="entr" presetSubtype="0" fill="hold" grpId="0" nodeType="afterEffect">
                      <p:stCondLst>
                        <p:cond delay="1060"/>
                      </p:stCondLst>
                      <p:childTnLst>
                        <p:set>
                          <p:cBhvr>
                            <p:cTn id="51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64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170" presetID="10" presetClass="entr" presetSubtype="0" fill="hold" grpId="0" nodeType="afterEffect">
                      <p:stCondLst>
                        <p:cond delay="1080"/>
                      </p:stCondLst>
                      <p:childTnLst>
                        <p:set>
                          <p:cBhvr>
                            <p:cTn id="51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76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5167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179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518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85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5188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519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194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5197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52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03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5206" presetID="10" presetClass="entr" presetSubtype="0" fill="hold" grpId="0" nodeType="afterEffect">
                      <p:stCondLst>
                        <p:cond delay="1540"/>
                      </p:stCondLst>
                      <p:childTnLst>
                        <p:set>
                          <p:cBhvr>
                            <p:cTn id="52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12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5215" presetID="10" presetClass="entr" presetSubtype="0" fill="hold" grpId="0" nodeType="afterEffect">
                      <p:stCondLst>
                        <p:cond delay="1680"/>
                      </p:stCondLst>
                      <p:childTnLst>
                        <p:set>
                          <p:cBhvr>
                            <p:cTn id="52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21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5224" presetID="10" presetClass="entr" presetSubtype="0" fill="hold" grpId="0" nodeType="afterEffect">
                      <p:stCondLst>
                        <p:cond delay="1820"/>
                      </p:stCondLst>
                      <p:childTnLst>
                        <p:set>
                          <p:cBhvr>
                            <p:cTn id="52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0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5233" presetID="10" presetClass="entr" presetSubtype="0" fill="hold" grpId="0" nodeType="afterEffect">
                      <p:stCondLst>
                        <p:cond delay="1960"/>
                      </p:stCondLst>
                      <p:childTnLst>
                        <p:set>
                          <p:cBhvr>
                            <p:cTn id="52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39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24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STRENGTHS OF GESTALT THERAPY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40701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this approach does particularly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24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Promotes self awareness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84030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4103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Focuses on lived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608390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53471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agency and responsibility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327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659072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Integrates mind, emotion and body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Considers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2924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55567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Encourages active client participation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9881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22513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Supports experiential emotional processing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24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2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4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25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2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5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26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2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6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27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2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7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26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28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2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8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29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2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29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30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3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08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299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11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3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17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323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53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29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320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32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53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38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344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53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50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341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53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35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59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365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53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71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362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74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537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80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386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3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392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383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395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53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01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407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54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13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404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16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54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22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428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54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34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425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437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54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43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25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  <a:buNone/>
            </a:pPr>
            <a:r>
              <a:rPr sz="5050" b="1" i="0">
                <a:solidFill>
                  <a:srgbClr val="4595C2"/>
                </a:solidFill>
                <a:latin typeface="Raleway"/>
              </a:rPr>
              <a:t>LIMITATIONS AND CRITICISMS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600516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Honest considerations for careful practice.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25</a:t>
            </a:r>
          </a:p>
        </p:txBody>
      </p:sp>
      <p:pic>
        <p:nvPicPr>
          <p:cNvPr id="9" name="Picture 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59671"/>
            <a:ext cx="121920" cy="12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38120" y="22859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Some techniques may feel intense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63793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329011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Requires skilled and sensitive application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36791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429423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May challenge clients who prefer highly structured approaches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56549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5582872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Experiential techniques can be misused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359671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2859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Not every intervention suits every client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829243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55567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Cultural context must be considered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298816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522513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240"/>
              </a:lnSpc>
              <a:buNone/>
            </a:pPr>
            <a:r>
              <a:rPr sz="1350" b="0" i="0">
                <a:solidFill>
                  <a:srgbClr val="33506B"/>
                </a:solidFill>
                <a:latin typeface="Poppins"/>
              </a:rPr>
              <a:t>Ethical boundaries are essential</a:t>
            </a:r>
          </a:p>
        </p:txBody>
      </p:sp>
    </p:spTree>
  </p:cSld>
  <p:transition spd="slow" advOnClk="1" advTm="0">
    <p:wipe dir="l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446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4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52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45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4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61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464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4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70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476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4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82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473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485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4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491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49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4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00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506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5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12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5503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15" presetID="10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55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2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5527" presetID="10" presetClass="entr" presetSubtype="0" fill="hold" grpId="0" nodeType="afterEffect">
                      <p:stCondLst>
                        <p:cond delay="550"/>
                      </p:stCondLst>
                      <p:childTnLst>
                        <p:set>
                          <p:cBhvr>
                            <p:cTn id="553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33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5524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36" presetID="10" presetClass="entr" presetSubtype="0" fill="hold" grpId="0" nodeType="afterEffect">
                      <p:stCondLst>
                        <p:cond delay="620"/>
                      </p:stCondLst>
                      <p:childTnLst>
                        <p:set>
                          <p:cBhvr>
                            <p:cTn id="55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42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548" presetID="10" presetClass="entr" presetSubtype="0" fill="hold" grpId="0" nodeType="afterEffect">
                      <p:stCondLst>
                        <p:cond delay="650"/>
                      </p:stCondLst>
                      <p:childTnLst>
                        <p:set>
                          <p:cBhvr>
                            <p:cTn id="55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54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545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57" presetID="10" presetClass="entr" presetSubtype="0" fill="hold" grpId="0" nodeType="afterEffect">
                      <p:stCondLst>
                        <p:cond delay="720"/>
                      </p:stCondLst>
                      <p:childTnLst>
                        <p:set>
                          <p:cBhvr>
                            <p:cTn id="55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63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569" presetID="10" presetClass="entr" presetSubtype="0" fill="hold" grpId="0" nodeType="afterEffect">
                      <p:stCondLst>
                        <p:cond delay="750"/>
                      </p:stCondLst>
                      <p:childTnLst>
                        <p:set>
                          <p:cBhvr>
                            <p:cTn id="557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75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566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78" presetID="10" presetClass="entr" presetSubtype="0" fill="hold" grpId="0" nodeType="afterEffect">
                      <p:stCondLst>
                        <p:cond delay="820"/>
                      </p:stCondLst>
                      <p:childTnLst>
                        <p:set>
                          <p:cBhvr>
                            <p:cTn id="558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84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59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5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596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587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599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60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0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611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6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17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608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20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56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26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632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56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38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629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641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56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47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26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AMINA'S CASE STUDY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A 32 year old administrative officer overwhelmed by workload.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53184" y="2285994"/>
            <a:ext cx="155447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440"/>
              </a:lnSpc>
              <a:buNone/>
            </a:pPr>
            <a:r>
              <a:rPr sz="6600" b="1" i="0">
                <a:solidFill>
                  <a:srgbClr val="4595C2"/>
                </a:solidFill>
                <a:latin typeface="Raleway"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383" y="3134906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30"/>
              </a:lnSpc>
              <a:buNone/>
            </a:pPr>
            <a:r>
              <a:rPr sz="1750" b="0" i="0">
                <a:solidFill>
                  <a:srgbClr val="33506B"/>
                </a:solidFill>
                <a:latin typeface="Raleway"/>
              </a:rPr>
              <a:t>A good employee should never disappoint the people who depend on 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383" y="4358134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8FA9BC"/>
                </a:solidFill>
                <a:latin typeface="Poppins"/>
              </a:rPr>
              <a:t>AMINA'S OWN 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383" y="4556253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89"/>
              </a:lnSpc>
              <a:buNone/>
            </a:pPr>
            <a:r>
              <a:rPr sz="1100" b="0" i="0">
                <a:solidFill>
                  <a:srgbClr val="5F7E97"/>
                </a:solidFill>
                <a:latin typeface="Poppins"/>
              </a:rPr>
              <a:t>Supervisor frequently assigns additional duties, she usually accepts even when she has insufficient time.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346334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228599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Amina, 32, administrative officer seeks counselling for feeling overwhelmed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059524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299918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Supervisor frequently assigns additional duties, she accepts even when time is insufficient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772714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371237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Fears that refusing will make her appear irresponsible or uncooperative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485904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4425564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Reports frequent muscle tension, difficulty sleeping and frustration rarely expressed openly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199093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38120" y="5138753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When discussing anger she laughs and quickly changes the subject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912283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38120" y="5851943"/>
            <a:ext cx="508811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030"/>
              </a:lnSpc>
              <a:buNone/>
            </a:pPr>
            <a:r>
              <a:rPr sz="1200" b="0" i="0">
                <a:solidFill>
                  <a:srgbClr val="33506B"/>
                </a:solidFill>
                <a:latin typeface="Poppins"/>
              </a:rPr>
              <a:t>Criticises herself for feeling tired, believes she should be able to manage everything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650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6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56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65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6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6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668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67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74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680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6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86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677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689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69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695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698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70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04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710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71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1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570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19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572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25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5728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7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34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740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74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46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5737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49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7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55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5761" presetID="22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7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67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5758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77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7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79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5770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782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7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788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5794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79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00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5791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03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8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09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812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58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18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5821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27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5833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583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39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5830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42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58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48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5854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585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60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5851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863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58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69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27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GESTALT FORMULATION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Reading Amina's experience as an interconnected whole.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28599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THROUGH THE GESTALT LENS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555248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49935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Awareness and here and now: bodily tension, anxiety, anger and self critical thoughts when anticipating disappointing others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924290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386839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Introjection: belief that a good employee must never disappoint, an internalised rule not fully examined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044383"/>
            <a:ext cx="121920" cy="12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38120" y="4988488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Retroflection: directs frustration inward as self criticism rather than exploring workload concerns</a:t>
            </a:r>
          </a:p>
        </p:txBody>
      </p:sp>
      <p:pic>
        <p:nvPicPr>
          <p:cNvPr id="16" name="Picture 1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555248"/>
            <a:ext cx="121920" cy="1219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72107" y="249935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Deflection: laughter and rapid subject changes when discussing anger, difficulty staying with emotion</a:t>
            </a:r>
          </a:p>
        </p:txBody>
      </p:sp>
      <p:pic>
        <p:nvPicPr>
          <p:cNvPr id="18" name="Picture 1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924290"/>
            <a:ext cx="121920" cy="1219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72107" y="386839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Organismic self regulation: fatigue and tension signal needs for rest and manageable demands not being met</a:t>
            </a:r>
          </a:p>
        </p:txBody>
      </p:sp>
      <p:pic>
        <p:nvPicPr>
          <p:cNvPr id="20" name="Picture 1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044383"/>
            <a:ext cx="121920" cy="121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72107" y="498848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960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Field theory: workplace expectations, power differences, job security and organisational culture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478" y="5730226"/>
            <a:ext cx="9637752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>
                <a:solidFill>
                  <a:srgbClr val="4595C2"/>
                </a:solidFill>
                <a:latin typeface="Poppins"/>
              </a:rPr>
              <a:t>Amina's difficulty cannot be understood solely as an individual problem, the field matters as much as the person.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87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58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7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588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8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8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589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589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89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590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590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0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589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591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591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1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592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59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2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5929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59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35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5941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59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47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5938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50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59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56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596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59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68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5959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7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59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7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5983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598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98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598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599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59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01" dur="420"/>
                            <p:tgtEl>
                              <p:spTgt spid="16"/>
                            </p:tgtEl>
                          </p:cBhvr>
                        </p:animEffect>
                        <p:animScale>
                          <p:cBhvr>
                            <p:cTn id="5992" dur="520" fill="hold"/>
                            <p:tgtEl>
                              <p:spTgt spid="1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0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00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1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01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60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19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602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602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31" dur="420"/>
                            <p:tgtEl>
                              <p:spTgt spid="18"/>
                            </p:tgtEl>
                          </p:cBhvr>
                        </p:animEffect>
                        <p:animScale>
                          <p:cBhvr>
                            <p:cTn id="6022" dur="520" fill="hold"/>
                            <p:tgtEl>
                              <p:spTgt spid="1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34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60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40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  <p:par>
                    <p:cTn id="604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604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52" dur="420"/>
                            <p:tgtEl>
                              <p:spTgt spid="20"/>
                            </p:tgtEl>
                          </p:cBhvr>
                        </p:animEffect>
                        <p:animScale>
                          <p:cBhvr>
                            <p:cTn id="6043" dur="520" fill="hold"/>
                            <p:tgtEl>
                              <p:spTgt spid="2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055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605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61" dur="520"/>
                            <p:tgtEl>
                              <p:spTgt spid="21"/>
                            </p:tgtEl>
                          </p:cBhvr>
                        </p:animEffect>
                      </p:childTnLst>
                    </p:cTn>
                  </p:par>
                  <p:par>
                    <p:cTn id="6064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0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70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28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5680"/>
              </a:lnSpc>
              <a:buNone/>
            </a:pPr>
            <a:r>
              <a:rPr sz="4000" b="1" i="0">
                <a:solidFill>
                  <a:srgbClr val="4595C2"/>
                </a:solidFill>
                <a:latin typeface="Raleway"/>
              </a:rPr>
              <a:t>GOALS, INTERVENTIONS AND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2128238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From awareness to deliberate choice, with attention to workplace realities.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THERAPEUTIC GOALS</a:t>
            </a:r>
          </a:p>
        </p:txBody>
      </p:sp>
      <p:pic>
        <p:nvPicPr>
          <p:cNvPr id="10" name="Picture 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923543"/>
            <a:ext cx="121920" cy="121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38120" y="287209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Help Amina recognise emotional and bodily responses</a:t>
            </a:r>
          </a:p>
        </p:txBody>
      </p:sp>
      <p:pic>
        <p:nvPicPr>
          <p:cNvPr id="12" name="Picture 11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1733"/>
            <a:ext cx="121920" cy="1219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38120" y="326028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Examine the rule that she must never disappoint others</a:t>
            </a:r>
          </a:p>
        </p:txBody>
      </p:sp>
      <p:pic>
        <p:nvPicPr>
          <p:cNvPr id="14" name="Picture 13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699923"/>
            <a:ext cx="121920" cy="1219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38120" y="3648474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Identify realistic choices for responding to workplace demands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65" y="2658734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INTERVENTIONS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923543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2107" y="2872094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Body awareness: “What happens in your body when you imagine telling your supervisor you cannot take another assignment?”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791849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472107" y="374040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Explore belief: “What does responsibility mean to you?”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180039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412859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Two chair exercise if willing: part demanding constant performance versus part needing rest and fairness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808287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2107" y="4756838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Practical planning: prioritise tasks, clarify deadlines, discuss capacity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478" y="5419833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EXPECTED OUTCOMES</a:t>
            </a:r>
          </a:p>
        </p:txBody>
      </p:sp>
      <p:pic>
        <p:nvPicPr>
          <p:cNvPr id="26" name="Picture 25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54162"/>
            <a:ext cx="121920" cy="12192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38120" y="5602713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Greater ability to recognise needs and evaluate internalised expectations</a:t>
            </a:r>
          </a:p>
        </p:txBody>
      </p:sp>
      <p:pic>
        <p:nvPicPr>
          <p:cNvPr id="28" name="Picture 27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6030008"/>
            <a:ext cx="121920" cy="1219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38120" y="5978559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Deliberate decisions based on responsibilities, limits and workplace conditions</a:t>
            </a:r>
          </a:p>
        </p:txBody>
      </p:sp>
      <p:pic>
        <p:nvPicPr>
          <p:cNvPr id="30" name="Picture 29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6405854"/>
            <a:ext cx="121920" cy="12192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38120" y="6354405"/>
            <a:ext cx="9285197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33506B"/>
                </a:solidFill>
                <a:latin typeface="Poppins"/>
              </a:rPr>
              <a:t>Shows how Gestalt integrates awareness, contact patterns, self regulation and field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07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07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79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082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0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88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09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0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097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103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10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09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100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112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1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18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121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12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27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130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13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36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142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14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48" dur="420"/>
                            <p:tgtEl>
                              <p:spTgt spid="10"/>
                            </p:tgtEl>
                          </p:cBhvr>
                        </p:animEffect>
                        <p:animScale>
                          <p:cBhvr>
                            <p:cTn id="6139" dur="520" fill="hold"/>
                            <p:tgtEl>
                              <p:spTgt spid="1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51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15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57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6163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16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69" dur="420"/>
                            <p:tgtEl>
                              <p:spTgt spid="12"/>
                            </p:tgtEl>
                          </p:cBhvr>
                        </p:animEffect>
                        <p:animScale>
                          <p:cBhvr>
                            <p:cTn id="6160" dur="520" fill="hold"/>
                            <p:tgtEl>
                              <p:spTgt spid="12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172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1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78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6181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18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87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6193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19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199" dur="420"/>
                            <p:tgtEl>
                              <p:spTgt spid="14"/>
                            </p:tgtEl>
                          </p:cBhvr>
                        </p:animEffect>
                        <p:animScale>
                          <p:cBhvr>
                            <p:cTn id="6190" dur="520" fill="hold"/>
                            <p:tgtEl>
                              <p:spTgt spid="14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05" presetID="10" presetClass="entr" presetSubtype="0" fill="hold" grpId="0" nodeType="afterEffect">
                      <p:stCondLst>
                        <p:cond delay="850"/>
                      </p:stCondLst>
                      <p:childTnLst>
                        <p:set>
                          <p:cBhvr>
                            <p:cTn id="620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11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202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14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21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2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223" presetID="10" presetClass="entr" presetSubtype="0" fill="hold" grpId="0" nodeType="afterEffect">
                      <p:stCondLst>
                        <p:cond delay="920"/>
                      </p:stCondLst>
                      <p:childTnLst>
                        <p:set>
                          <p:cBhvr>
                            <p:cTn id="622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29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6235" presetID="10" presetClass="entr" presetSubtype="0" fill="hold" grpId="0" nodeType="afterEffect">
                      <p:stCondLst>
                        <p:cond delay="950"/>
                      </p:stCondLst>
                      <p:childTnLst>
                        <p:set>
                          <p:cBhvr>
                            <p:cTn id="623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41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6232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44" presetID="10" presetClass="entr" presetSubtype="0" fill="hold" grpId="0" nodeType="afterEffect">
                      <p:stCondLst>
                        <p:cond delay="1020"/>
                      </p:stCondLst>
                      <p:childTnLst>
                        <p:set>
                          <p:cBhvr>
                            <p:cTn id="624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50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6256" presetID="10" presetClass="entr" presetSubtype="0" fill="hold" grpId="0" nodeType="afterEffect">
                      <p:stCondLst>
                        <p:cond delay="1050"/>
                      </p:stCondLst>
                      <p:childTnLst>
                        <p:set>
                          <p:cBhvr>
                            <p:cTn id="625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62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6253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65" presetID="10" presetClass="entr" presetSubtype="0" fill="hold" grpId="0" nodeType="afterEffect">
                      <p:stCondLst>
                        <p:cond delay="1120"/>
                      </p:stCondLst>
                      <p:childTnLst>
                        <p:set>
                          <p:cBhvr>
                            <p:cTn id="626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71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6277" presetID="10" presetClass="entr" presetSubtype="0" fill="hold" grpId="0" nodeType="afterEffect">
                      <p:stCondLst>
                        <p:cond delay="1150"/>
                      </p:stCondLst>
                      <p:childTnLst>
                        <p:set>
                          <p:cBhvr>
                            <p:cTn id="628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83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6274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286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28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292" dur="520"/>
                            <p:tgtEl>
                              <p:spTgt spid="25"/>
                            </p:tgtEl>
                          </p:cBhvr>
                        </p:animEffect>
                      </p:childTnLst>
                    </p:cTn>
                  </p:par>
                  <p:par>
                    <p:cTn id="6295" presetID="10" presetClass="entr" presetSubtype="0" fill="hold" grpId="0" nodeType="afterEffect">
                      <p:stCondLst>
                        <p:cond delay="1220"/>
                      </p:stCondLst>
                      <p:childTnLst>
                        <p:set>
                          <p:cBhvr>
                            <p:cTn id="629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01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6307" presetID="10" presetClass="entr" presetSubtype="0" fill="hold" grpId="0" nodeType="afterEffect">
                      <p:stCondLst>
                        <p:cond delay="1300"/>
                      </p:stCondLst>
                      <p:childTnLst>
                        <p:set>
                          <p:cBhvr>
                            <p:cTn id="631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13" dur="420"/>
                            <p:tgtEl>
                              <p:spTgt spid="26"/>
                            </p:tgtEl>
                          </p:cBhvr>
                        </p:animEffect>
                        <p:animScale>
                          <p:cBhvr>
                            <p:cTn id="6304" dur="520" fill="hold"/>
                            <p:tgtEl>
                              <p:spTgt spid="26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16" presetID="10" presetClass="entr" presetSubtype="0" fill="hold" grpId="0" nodeType="afterEffect">
                      <p:stCondLst>
                        <p:cond delay="1370"/>
                      </p:stCondLst>
                      <p:childTnLst>
                        <p:set>
                          <p:cBhvr>
                            <p:cTn id="631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22" dur="520"/>
                            <p:tgtEl>
                              <p:spTgt spid="27"/>
                            </p:tgtEl>
                          </p:cBhvr>
                        </p:animEffect>
                      </p:childTnLst>
                    </p:cTn>
                  </p:par>
                  <p:par>
                    <p:cTn id="6328" presetID="10" presetClass="entr" presetSubtype="0" fill="hold" grpId="0" nodeType="afterEffect">
                      <p:stCondLst>
                        <p:cond delay="1400"/>
                      </p:stCondLst>
                      <p:childTnLst>
                        <p:set>
                          <p:cBhvr>
                            <p:cTn id="633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34" dur="420"/>
                            <p:tgtEl>
                              <p:spTgt spid="28"/>
                            </p:tgtEl>
                          </p:cBhvr>
                        </p:animEffect>
                        <p:animScale>
                          <p:cBhvr>
                            <p:cTn id="6325" dur="520" fill="hold"/>
                            <p:tgtEl>
                              <p:spTgt spid="28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37" presetID="10" presetClass="entr" presetSubtype="0" fill="hold" grpId="0" nodeType="afterEffect">
                      <p:stCondLst>
                        <p:cond delay="1470"/>
                      </p:stCondLst>
                      <p:childTnLst>
                        <p:set>
                          <p:cBhvr>
                            <p:cTn id="634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43" dur="520"/>
                            <p:tgtEl>
                              <p:spTgt spid="29"/>
                            </p:tgtEl>
                          </p:cBhvr>
                        </p:animEffect>
                      </p:childTnLst>
                    </p:cTn>
                  </p:par>
                  <p:par>
                    <p:cTn id="6349" presetID="10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635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55" dur="420"/>
                            <p:tgtEl>
                              <p:spTgt spid="30"/>
                            </p:tgtEl>
                          </p:cBhvr>
                        </p:animEffect>
                        <p:animScale>
                          <p:cBhvr>
                            <p:cTn id="6346" dur="520" fill="hold"/>
                            <p:tgtEl>
                              <p:spTgt spid="30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358" presetID="10" presetClass="entr" presetSubtype="0" fill="hold" grpId="0" nodeType="afterEffect">
                      <p:stCondLst>
                        <p:cond delay="1570"/>
                      </p:stCondLst>
                      <p:childTnLst>
                        <p:set>
                          <p:cBhvr>
                            <p:cTn id="636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64" dur="520"/>
                            <p:tgtEl>
                              <p:spTgt spid="31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29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CRITICAL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5F7E97"/>
                </a:solidFill>
                <a:latin typeface="Poppins"/>
              </a:rPr>
              <a:t>What the theory contributes and what it asks of the therapist.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478" y="2363427"/>
            <a:ext cx="59070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65" y="2363427"/>
            <a:ext cx="435253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730"/>
              </a:lnSpc>
              <a:buNone/>
            </a:pPr>
            <a:r>
              <a:rPr sz="1050" b="1" i="0" spc="156">
                <a:solidFill>
                  <a:srgbClr val="4595C2"/>
                </a:solidFill>
                <a:latin typeface="Poppins"/>
              </a:rPr>
              <a:t>CONSIDERATIONS</a:t>
            </a:r>
          </a:p>
        </p:txBody>
      </p:sp>
      <p:pic>
        <p:nvPicPr>
          <p:cNvPr id="11" name="Picture 1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687292"/>
            <a:ext cx="121920" cy="12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38120" y="2622506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Holistic understanding of human experience</a:t>
            </a:r>
          </a:p>
        </p:txBody>
      </p:sp>
      <p:pic>
        <p:nvPicPr>
          <p:cNvPr id="13" name="Picture 1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447006"/>
            <a:ext cx="121920" cy="12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38120" y="3382220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Strong emphasis on awareness</a:t>
            </a:r>
          </a:p>
        </p:txBody>
      </p:sp>
      <p:pic>
        <p:nvPicPr>
          <p:cNvPr id="15" name="Picture 1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206720"/>
            <a:ext cx="121920" cy="121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38120" y="4141935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Integrates body, emotion and cognition</a:t>
            </a:r>
          </a:p>
        </p:txBody>
      </p:sp>
      <p:pic>
        <p:nvPicPr>
          <p:cNvPr id="17" name="Picture 1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66435"/>
            <a:ext cx="121920" cy="121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38120" y="4901649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Recognises person and environment interaction</a:t>
            </a:r>
          </a:p>
        </p:txBody>
      </p:sp>
      <p:pic>
        <p:nvPicPr>
          <p:cNvPr id="19" name="Picture 1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726149"/>
            <a:ext cx="121920" cy="121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38120" y="5661363"/>
            <a:ext cx="431087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Promotes agency and authentic choice</a:t>
            </a:r>
          </a:p>
        </p:txBody>
      </p:sp>
      <p:pic>
        <p:nvPicPr>
          <p:cNvPr id="21" name="Picture 20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2687292"/>
            <a:ext cx="121920" cy="121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72107" y="2622506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Cultural adaptation</a:t>
            </a:r>
          </a:p>
        </p:txBody>
      </p:sp>
      <p:pic>
        <p:nvPicPr>
          <p:cNvPr id="23" name="Picture 22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3447006"/>
            <a:ext cx="121920" cy="121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72107" y="3382220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Client readiness</a:t>
            </a:r>
          </a:p>
        </p:txBody>
      </p:sp>
      <p:pic>
        <p:nvPicPr>
          <p:cNvPr id="25" name="Picture 24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206720"/>
            <a:ext cx="121920" cy="121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472107" y="4141935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Therapist competence</a:t>
            </a:r>
          </a:p>
        </p:txBody>
      </p:sp>
      <p:pic>
        <p:nvPicPr>
          <p:cNvPr id="27" name="Picture 26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4966435"/>
            <a:ext cx="121920" cy="121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72107" y="4901649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Appropriate use of experiential techniques</a:t>
            </a:r>
          </a:p>
        </p:txBody>
      </p:sp>
      <p:pic>
        <p:nvPicPr>
          <p:cNvPr id="29" name="Picture 28" descr="tick_dee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65" y="5726149"/>
            <a:ext cx="121920" cy="121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72107" y="5661363"/>
            <a:ext cx="446632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00"/>
              </a:lnSpc>
              <a:buNone/>
            </a:pPr>
            <a:r>
              <a:rPr sz="1250" b="0" i="0">
                <a:solidFill>
                  <a:srgbClr val="33506B"/>
                </a:solidFill>
                <a:latin typeface="Poppins"/>
              </a:rPr>
              <a:t>Balance between present and past experience</a:t>
            </a:r>
          </a:p>
        </p:txBody>
      </p:sp>
    </p:spTree>
  </p:cSld>
  <p:transition spd="slow" advOnClk="1" advTm="0">
    <p:push thruBlk="0" dir="r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367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37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73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376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37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82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385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3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391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397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40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03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394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406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4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12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415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41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21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424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4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30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436" presetID="10" presetClass="entr" presetSubtype="0" fill="hold" grpId="0" nodeType="afterEffect">
                      <p:stCondLst>
                        <p:cond delay="500"/>
                      </p:stCondLst>
                      <p:childTnLst>
                        <p:set>
                          <p:cBhvr>
                            <p:cTn id="64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4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643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45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644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51" dur="520"/>
                            <p:tgtEl>
                              <p:spTgt spid="12"/>
                            </p:tgtEl>
                          </p:cBhvr>
                        </p:animEffect>
                      </p:childTnLst>
                    </p:cTn>
                  </p:par>
                  <p:par>
                    <p:cTn id="6457" presetID="10" presetClass="entr" presetSubtype="0" fill="hold" grpId="0" nodeType="afterEffect">
                      <p:stCondLst>
                        <p:cond delay="600"/>
                      </p:stCondLst>
                      <p:childTnLst>
                        <p:set>
                          <p:cBhvr>
                            <p:cTn id="646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63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6454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66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46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72" dur="520"/>
                            <p:tgtEl>
                              <p:spTgt spid="14"/>
                            </p:tgtEl>
                          </p:cBhvr>
                        </p:animEffect>
                      </p:childTnLst>
                    </p:cTn>
                  </p:par>
                  <p:par>
                    <p:cTn id="6475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47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81" dur="520"/>
                            <p:tgtEl>
                              <p:spTgt spid="10"/>
                            </p:tgtEl>
                          </p:cBhvr>
                        </p:animEffect>
                      </p:childTnLst>
                    </p:cTn>
                  </p:par>
                  <p:par>
                    <p:cTn id="6487" presetID="10" presetClass="entr" presetSubtype="0" fill="hold" grpId="0" nodeType="afterEffect">
                      <p:stCondLst>
                        <p:cond delay="700"/>
                      </p:stCondLst>
                      <p:childTnLst>
                        <p:set>
                          <p:cBhvr>
                            <p:cTn id="6490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493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6484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496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4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02" dur="520"/>
                            <p:tgtEl>
                              <p:spTgt spid="16"/>
                            </p:tgtEl>
                          </p:cBhvr>
                        </p:animEffect>
                      </p:childTnLst>
                    </p:cTn>
                  </p:par>
                  <p:par>
                    <p:cTn id="6508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5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1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50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20" presetID="10" presetClass="entr" presetSubtype="0" fill="hold" grpId="0" nodeType="afterEffect">
                      <p:stCondLst>
                        <p:cond delay="800"/>
                      </p:stCondLst>
                      <p:childTnLst>
                        <p:set>
                          <p:cBhvr>
                            <p:cTn id="65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26" dur="420"/>
                            <p:tgtEl>
                              <p:spTgt spid="21"/>
                            </p:tgtEl>
                          </p:cBhvr>
                        </p:animEffect>
                        <p:animScale>
                          <p:cBhvr>
                            <p:cTn id="6517" dur="520" fill="hold"/>
                            <p:tgtEl>
                              <p:spTgt spid="2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29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53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35" dur="520"/>
                            <p:tgtEl>
                              <p:spTgt spid="18"/>
                            </p:tgtEl>
                          </p:cBhvr>
                        </p:animEffect>
                      </p:childTnLst>
                    </p:cTn>
                  </p:par>
                  <p:par>
                    <p:cTn id="6538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54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44" dur="520"/>
                            <p:tgtEl>
                              <p:spTgt spid="22"/>
                            </p:tgtEl>
                          </p:cBhvr>
                        </p:animEffect>
                      </p:childTnLst>
                    </p:cTn>
                  </p:par>
                  <p:par>
                    <p:cTn id="6550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65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56" dur="420"/>
                            <p:tgtEl>
                              <p:spTgt spid="19"/>
                            </p:tgtEl>
                          </p:cBhvr>
                        </p:animEffect>
                        <p:animScale>
                          <p:cBhvr>
                            <p:cTn id="6547" dur="520" fill="hold"/>
                            <p:tgtEl>
                              <p:spTgt spid="1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62" presetID="10" presetClass="entr" presetSubtype="0" fill="hold" grpId="0" nodeType="afterEffect">
                      <p:stCondLst>
                        <p:cond delay="900"/>
                      </p:stCondLst>
                      <p:childTnLst>
                        <p:set>
                          <p:cBhvr>
                            <p:cTn id="656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68" dur="420"/>
                            <p:tgtEl>
                              <p:spTgt spid="23"/>
                            </p:tgtEl>
                          </p:cBhvr>
                        </p:animEffect>
                        <p:animScale>
                          <p:cBhvr>
                            <p:cTn id="6559" dur="520" fill="hold"/>
                            <p:tgtEl>
                              <p:spTgt spid="2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571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65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77" dur="520"/>
                            <p:tgtEl>
                              <p:spTgt spid="20"/>
                            </p:tgtEl>
                          </p:cBhvr>
                        </p:animEffect>
                      </p:childTnLst>
                    </p:cTn>
                  </p:par>
                  <p:par>
                    <p:cTn id="6580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658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86" dur="520"/>
                            <p:tgtEl>
                              <p:spTgt spid="24"/>
                            </p:tgtEl>
                          </p:cBhvr>
                        </p:animEffect>
                      </p:childTnLst>
                    </p:cTn>
                  </p:par>
                  <p:par>
                    <p:cTn id="6592" presetID="10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65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598" dur="420"/>
                            <p:tgtEl>
                              <p:spTgt spid="25"/>
                            </p:tgtEl>
                          </p:cBhvr>
                        </p:animEffect>
                        <p:animScale>
                          <p:cBhvr>
                            <p:cTn id="6589" dur="520" fill="hold"/>
                            <p:tgtEl>
                              <p:spTgt spid="2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01" presetID="10" presetClass="entr" presetSubtype="0" fill="hold" grpId="0" nodeType="afterEffect">
                      <p:stCondLst>
                        <p:cond delay="1070"/>
                      </p:stCondLst>
                      <p:childTnLst>
                        <p:set>
                          <p:cBhvr>
                            <p:cTn id="66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07" dur="520"/>
                            <p:tgtEl>
                              <p:spTgt spid="26"/>
                            </p:tgtEl>
                          </p:cBhvr>
                        </p:animEffect>
                      </p:childTnLst>
                    </p:cTn>
                  </p:par>
                  <p:par>
                    <p:cTn id="6613" presetID="10" presetClass="entr" presetSubtype="0" fill="hold" grpId="0" nodeType="afterEffect">
                      <p:stCondLst>
                        <p:cond delay="1100"/>
                      </p:stCondLst>
                      <p:childTnLst>
                        <p:set>
                          <p:cBhvr>
                            <p:cTn id="661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19" dur="420"/>
                            <p:tgtEl>
                              <p:spTgt spid="27"/>
                            </p:tgtEl>
                          </p:cBhvr>
                        </p:animEffect>
                        <p:animScale>
                          <p:cBhvr>
                            <p:cTn id="6610" dur="520" fill="hold"/>
                            <p:tgtEl>
                              <p:spTgt spid="2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22" presetID="10" presetClass="entr" presetSubtype="0" fill="hold" grpId="0" nodeType="afterEffect">
                      <p:stCondLst>
                        <p:cond delay="1170"/>
                      </p:stCondLst>
                      <p:childTnLst>
                        <p:set>
                          <p:cBhvr>
                            <p:cTn id="66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28" dur="520"/>
                            <p:tgtEl>
                              <p:spTgt spid="28"/>
                            </p:tgtEl>
                          </p:cBhvr>
                        </p:animEffect>
                      </p:childTnLst>
                    </p:cTn>
                  </p:par>
                  <p:par>
                    <p:cTn id="6634" presetID="10" presetClass="entr" presetSubtype="0" fill="hold" grpId="0" nodeType="afterEffect">
                      <p:stCondLst>
                        <p:cond delay="1200"/>
                      </p:stCondLst>
                      <p:childTnLst>
                        <p:set>
                          <p:cBhvr>
                            <p:cTn id="663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2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40" dur="420"/>
                            <p:tgtEl>
                              <p:spTgt spid="29"/>
                            </p:tgtEl>
                          </p:cBhvr>
                        </p:animEffect>
                        <p:animScale>
                          <p:cBhvr>
                            <p:cTn id="6631" dur="520" fill="hold"/>
                            <p:tgtEl>
                              <p:spTgt spid="2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643" presetID="10" presetClass="entr" presetSubtype="0" fill="hold" grpId="0" nodeType="afterEffect">
                      <p:stCondLst>
                        <p:cond delay="1270"/>
                      </p:stCondLst>
                      <p:childTnLst>
                        <p:set>
                          <p:cBhvr>
                            <p:cTn id="66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49" dur="520"/>
                            <p:tgtEl>
                              <p:spTgt spid="30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CFE9F8"/>
                </a:solidFill>
                <a:latin typeface="Raleway"/>
              </a:rPr>
              <a:t>30</a:t>
            </a:r>
            <a:r>
              <a:rPr sz="1050" b="1" i="0" spc="156">
                <a:solidFill>
                  <a:srgbClr val="D8EBF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FFFFFF"/>
                </a:solidFill>
                <a:latin typeface="Raleway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78" y="1706060"/>
            <a:ext cx="9171409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380"/>
              </a:lnSpc>
              <a:buNone/>
            </a:pPr>
            <a:r>
              <a:rPr sz="1450" b="0" i="0">
                <a:solidFill>
                  <a:srgbClr val="D8EBF7"/>
                </a:solidFill>
                <a:latin typeface="Poppins"/>
              </a:rPr>
              <a:t>Greater awareness creates greater possibilities for choice and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B7D6E9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B7D6E9"/>
                </a:solidFill>
                <a:latin typeface="Poppins"/>
              </a:rPr>
              <a:t>30</a:t>
            </a:r>
          </a:p>
        </p:txBody>
      </p:sp>
      <p:pic>
        <p:nvPicPr>
          <p:cNvPr id="9" name="Picture 8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2470840"/>
            <a:ext cx="114300" cy="1143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58237" y="2325465"/>
            <a:ext cx="1719408" cy="405130"/>
          </a:xfrm>
          <a:prstGeom prst="rect">
            <a:avLst/>
          </a:prstGeom>
          <a:solidFill>
            <a:srgbClr val="CFE9F8"/>
          </a:solidFill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AWARENESS</a:t>
            </a:r>
          </a:p>
        </p:txBody>
      </p:sp>
      <p:pic>
        <p:nvPicPr>
          <p:cNvPr id="11" name="Picture 10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3312161"/>
            <a:ext cx="114300" cy="1143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58237" y="3166786"/>
            <a:ext cx="2126075" cy="405130"/>
          </a:xfrm>
          <a:prstGeom prst="rect">
            <a:avLst/>
          </a:prstGeom>
          <a:solidFill>
            <a:srgbClr val="CFE9F8"/>
          </a:solidFill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HERE AND NOW</a:t>
            </a:r>
          </a:p>
        </p:txBody>
      </p:sp>
      <p:pic>
        <p:nvPicPr>
          <p:cNvPr id="13" name="Picture 12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153481"/>
            <a:ext cx="114300" cy="114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58237" y="4008106"/>
            <a:ext cx="1341380" cy="405130"/>
          </a:xfrm>
          <a:prstGeom prst="rect">
            <a:avLst/>
          </a:prstGeom>
          <a:solidFill>
            <a:srgbClr val="CFE9F8"/>
          </a:solidFill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CONTACT</a:t>
            </a:r>
          </a:p>
        </p:txBody>
      </p:sp>
      <p:pic>
        <p:nvPicPr>
          <p:cNvPr id="15" name="Picture 14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4994802"/>
            <a:ext cx="114300" cy="1143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58237" y="4849427"/>
            <a:ext cx="3847249" cy="405130"/>
          </a:xfrm>
          <a:prstGeom prst="rect">
            <a:avLst/>
          </a:prstGeom>
          <a:solidFill>
            <a:srgbClr val="CFE9F8"/>
          </a:solidFill>
        </p:spPr>
        <p:txBody>
          <a:bodyPr wrap="square" lIns="0" rIns="0" tIns="0" bIns="0" anchor="t"/>
          <a:lstStyle/>
          <a:p>
            <a:pPr algn="l">
              <a:lnSpc>
                <a:spcPts val="3190"/>
              </a:lnSpc>
              <a:buNone/>
            </a:pPr>
            <a:r>
              <a:rPr sz="2050" b="1" i="0">
                <a:solidFill>
                  <a:srgbClr val="33506B"/>
                </a:solidFill>
                <a:highlight>
                  <a:srgbClr val="CFE9F8"/>
                </a:highlight>
                <a:latin typeface="Raleway"/>
              </a:rPr>
              <a:t>RESPONSIBILITY AND CHOICE</a:t>
            </a:r>
          </a:p>
        </p:txBody>
      </p:sp>
      <p:pic>
        <p:nvPicPr>
          <p:cNvPr id="17" name="Picture 16" descr="tick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78" y="5663217"/>
            <a:ext cx="152400" cy="152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203957" y="5498316"/>
            <a:ext cx="5440666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800"/>
              </a:lnSpc>
              <a:buNone/>
            </a:pPr>
            <a:r>
              <a:rPr sz="2450" b="1" i="0">
                <a:solidFill>
                  <a:srgbClr val="FFFFFF"/>
                </a:solidFill>
                <a:latin typeface="Raleway"/>
              </a:rPr>
              <a:t>GROWTH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61" y="4731555"/>
            <a:ext cx="4041638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990"/>
              </a:lnSpc>
              <a:buNone/>
            </a:pPr>
            <a:r>
              <a:rPr sz="1650" b="0" i="0">
                <a:solidFill>
                  <a:srgbClr val="FFFFFF"/>
                </a:solidFill>
                <a:latin typeface="Raleway"/>
              </a:rPr>
              <a:t>Therapeutic change begins with noticing what is happening now.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652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65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58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661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66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67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67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67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76" dur="520"/>
                            <p:tgtEl>
                              <p:spTgt spid="8"/>
                            </p:tgtEl>
                          </p:cBhvr>
                        </p:animEffect>
                      </p:childTnLst>
                    </p:cTn>
                  </p:par>
                  <p:par>
                    <p:cTn id="6682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68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88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679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691" presetID="10" presetClass="entr" presetSubtype="0" fill="hold" grpId="0" nodeType="afterEffect">
                      <p:stCondLst>
                        <p:cond delay="340"/>
                      </p:stCondLst>
                      <p:childTnLst>
                        <p:set>
                          <p:cBhvr>
                            <p:cTn id="669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697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700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70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06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71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71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18" dur="420"/>
                            <p:tgtEl>
                              <p:spTgt spid="9"/>
                            </p:tgtEl>
                          </p:cBhvr>
                        </p:animEffect>
                        <p:animScale>
                          <p:cBhvr>
                            <p:cTn id="6709" dur="520" fill="hold"/>
                            <p:tgtEl>
                              <p:spTgt spid="9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24" presetID="22" presetClass="entr" presetSubtype="0" fill="hold" grpId="0" nodeType="afterEffect">
                      <p:stCondLst>
                        <p:cond delay="520"/>
                      </p:stCondLst>
                      <p:childTnLst>
                        <p:set>
                          <p:cBhvr>
                            <p:cTn id="672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30" dur="620"/>
                            <p:tgtEl>
                              <p:spTgt spid="10"/>
                            </p:tgtEl>
                          </p:cBhvr>
                        </p:animEffect>
                        <p:anim calcmode="lin" valueType="num">
                          <p:cBhvr additive="base">
                            <p:cTn id="6721" dur="520" fill="hold"/>
                            <p:tgtEl>
                              <p:spTgt spid="10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36" presetID="10" presetClass="entr" presetSubtype="0" fill="hold" grpId="0" nodeType="afterEffect">
                      <p:stCondLst>
                        <p:cond delay="610"/>
                      </p:stCondLst>
                      <p:childTnLst>
                        <p:set>
                          <p:cBhvr>
                            <p:cTn id="673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42" dur="420"/>
                            <p:tgtEl>
                              <p:spTgt spid="11"/>
                            </p:tgtEl>
                          </p:cBhvr>
                        </p:animEffect>
                        <p:animScale>
                          <p:cBhvr>
                            <p:cTn id="6733" dur="520" fill="hold"/>
                            <p:tgtEl>
                              <p:spTgt spid="11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48" presetID="22" presetClass="entr" presetSubtype="0" fill="hold" grpId="0" nodeType="afterEffect">
                      <p:stCondLst>
                        <p:cond delay="680"/>
                      </p:stCondLst>
                      <p:childTnLst>
                        <p:set>
                          <p:cBhvr>
                            <p:cTn id="675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54" dur="620"/>
                            <p:tgtEl>
                              <p:spTgt spid="12"/>
                            </p:tgtEl>
                          </p:cBhvr>
                        </p:animEffect>
                        <p:anim calcmode="lin" valueType="num">
                          <p:cBhvr additive="base">
                            <p:cTn id="6745" dur="520" fill="hold"/>
                            <p:tgtEl>
                              <p:spTgt spid="12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60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76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66" dur="420"/>
                            <p:tgtEl>
                              <p:spTgt spid="13"/>
                            </p:tgtEl>
                          </p:cBhvr>
                        </p:animEffect>
                        <p:animScale>
                          <p:cBhvr>
                            <p:cTn id="6757" dur="520" fill="hold"/>
                            <p:tgtEl>
                              <p:spTgt spid="13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72" presetID="22" presetClass="entr" presetSubtype="0" fill="hold" grpId="0" nodeType="afterEffect">
                      <p:stCondLst>
                        <p:cond delay="840"/>
                      </p:stCondLst>
                      <p:childTnLst>
                        <p:set>
                          <p:cBhvr>
                            <p:cTn id="677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78" dur="620"/>
                            <p:tgtEl>
                              <p:spTgt spid="14"/>
                            </p:tgtEl>
                          </p:cBhvr>
                        </p:animEffect>
                        <p:anim calcmode="lin" valueType="num">
                          <p:cBhvr additive="base">
                            <p:cTn id="6769" dur="520" fill="hold"/>
                            <p:tgtEl>
                              <p:spTgt spid="14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784" presetID="10" presetClass="entr" presetSubtype="0" fill="hold" grpId="0" nodeType="afterEffect">
                      <p:stCondLst>
                        <p:cond delay="930"/>
                      </p:stCondLst>
                      <p:childTnLst>
                        <p:set>
                          <p:cBhvr>
                            <p:cTn id="678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790" dur="420"/>
                            <p:tgtEl>
                              <p:spTgt spid="15"/>
                            </p:tgtEl>
                          </p:cBhvr>
                        </p:animEffect>
                        <p:animScale>
                          <p:cBhvr>
                            <p:cTn id="6781" dur="520" fill="hold"/>
                            <p:tgtEl>
                              <p:spTgt spid="15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796" presetID="22" presetClass="entr" presetSubtype="0" fill="hold" grpId="0" nodeType="afterEffect">
                      <p:stCondLst>
                        <p:cond delay="1000"/>
                      </p:stCondLst>
                      <p:childTnLst>
                        <p:set>
                          <p:cBhvr>
                            <p:cTn id="679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02" dur="620"/>
                            <p:tgtEl>
                              <p:spTgt spid="16"/>
                            </p:tgtEl>
                          </p:cBhvr>
                        </p:animEffect>
                        <p:anim calcmode="lin" valueType="num">
                          <p:cBhvr additive="base">
                            <p:cTn id="6793" dur="520" fill="hold"/>
                            <p:tgtEl>
                              <p:spTgt spid="16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08" presetID="10" presetClass="entr" presetSubtype="0" fill="hold" grpId="0" nodeType="afterEffect">
                      <p:stCondLst>
                        <p:cond delay="1090"/>
                      </p:stCondLst>
                      <p:childTnLst>
                        <p:set>
                          <p:cBhvr>
                            <p:cTn id="6811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14" dur="420"/>
                            <p:tgtEl>
                              <p:spTgt spid="17"/>
                            </p:tgtEl>
                          </p:cBhvr>
                        </p:animEffect>
                        <p:animScale>
                          <p:cBhvr>
                            <p:cTn id="6805" dur="520" fill="hold"/>
                            <p:tgtEl>
                              <p:spTgt spid="17"/>
                            </p:tgtEl>
                          </p:cBhvr>
                          <p:from x="60000" y="60000"/>
                          <p:to x="100000" y="100000"/>
                        </p:animScale>
                      </p:childTnLst>
                    </p:cTn>
                  </p:par>
                  <p:par>
                    <p:cTn id="6820" presetID="22" presetClass="entr" presetSubtype="0" fill="hold" grpId="0" nodeType="afterEffect">
                      <p:stCondLst>
                        <p:cond delay="1160"/>
                      </p:stCondLst>
                      <p:childTnLst>
                        <p:set>
                          <p:cBhvr>
                            <p:cTn id="682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26" dur="620"/>
                            <p:tgtEl>
                              <p:spTgt spid="18"/>
                            </p:tgtEl>
                          </p:cBhvr>
                        </p:animEffect>
                        <p:anim calcmode="lin" valueType="num">
                          <p:cBhvr additive="base">
                            <p:cTn id="6817" dur="520" fill="hold"/>
                            <p:tgtEl>
                              <p:spTgt spid="18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32" presetID="22" presetClass="entr" presetSubtype="0" fill="hold" grpId="0" nodeType="afterEffect">
                      <p:stCondLst>
                        <p:cond delay="1500"/>
                      </p:stCondLst>
                      <p:childTnLst>
                        <p:set>
                          <p:cBhvr>
                            <p:cTn id="683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38" dur="620"/>
                            <p:tgtEl>
                              <p:spTgt spid="19"/>
                            </p:tgtEl>
                          </p:cBhvr>
                        </p:animEffect>
                        <p:anim calcmode="lin" valueType="num">
                          <p:cBhvr additive="base">
                            <p:cTn id="6829" dur="520" fill="hold"/>
                            <p:tgtEl>
                              <p:spTgt spid="19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pic>
        <p:nvPicPr>
          <p:cNvPr id="3" name="Picture 2" descr="graphics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70" cy="6857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2478" y="335279"/>
            <a:ext cx="7772381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410"/>
              </a:lnSpc>
              <a:buNone/>
            </a:pPr>
            <a:r>
              <a:rPr sz="1450" b="1" i="0">
                <a:solidFill>
                  <a:srgbClr val="4595C2"/>
                </a:solidFill>
                <a:latin typeface="Raleway"/>
              </a:rPr>
              <a:t>31</a:t>
            </a:r>
            <a:r>
              <a:rPr sz="1050" b="1" i="0" spc="156">
                <a:solidFill>
                  <a:srgbClr val="5F7E97"/>
                </a:solidFill>
                <a:latin typeface="Poppins"/>
              </a:rPr>
              <a:t>     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478" y="563879"/>
            <a:ext cx="9870923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030"/>
              </a:lnSpc>
              <a:buNone/>
            </a:pPr>
            <a:r>
              <a:rPr sz="5650" b="1" i="0">
                <a:solidFill>
                  <a:srgbClr val="4595C2"/>
                </a:solidFill>
                <a:latin typeface="Raleway"/>
              </a:rP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899" y="335279"/>
            <a:ext cx="2953505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84">
                <a:solidFill>
                  <a:srgbClr val="8FA9BC"/>
                </a:solidFill>
                <a:latin typeface="Poppins"/>
              </a:rPr>
              <a:t>PAN AFRICAN CHRISTIAN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13497" y="6385544"/>
            <a:ext cx="233171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ts val="1730"/>
              </a:lnSpc>
              <a:buNone/>
            </a:pPr>
            <a:r>
              <a:rPr sz="1050" b="1" i="0" spc="120">
                <a:solidFill>
                  <a:srgbClr val="8FA9BC"/>
                </a:solidFill>
                <a:latin typeface="Poppins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4054" y="2209794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Brownell, P. (2010). Gestalt therapy: A guide to contemporary practice. Springer.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4054" y="2827758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Corey, G. (2024). Theory and practice of counseling and psychotherapy (11th ed.). Cengage.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4054" y="3445721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Joyce, P., and Sills, C. (2014). Skills in Gestalt counselling and psychotherapy (3rd ed.). SAGE.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4054" y="4063685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Perls, F. S., Hefferline, R. F., and Goodman, P. (1951). Gestalt therapy: Excitement and growth in the human personality. Julian Press.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4054" y="4921706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Woldt, A. L., and Toman, S. M. (2005). Gestalt therapy: History, theory, and practice. SAGE.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4054" y="5539669"/>
            <a:ext cx="9360744" cy="22859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889"/>
              </a:lnSpc>
              <a:buNone/>
            </a:pPr>
            <a:r>
              <a:rPr sz="1150" b="0" i="0">
                <a:solidFill>
                  <a:srgbClr val="5F7E97"/>
                </a:solidFill>
                <a:latin typeface="Poppins"/>
              </a:rPr>
              <a:t>Yontef, G., and Fuhr, R. (2005). Gestalt therapy theory of change. In Woldt and Toman (Eds.), Gestalt therapy: History, theory, and practice (pp. 81 to 100). SAGE.</a:t>
            </a:r>
          </a:p>
        </p:txBody>
      </p:sp>
    </p:spTree>
  </p:cSld>
  <p:transition spd="slow" advOnClk="1" advTm="0">
    <p:fade thruBlk="1"/>
  </p:transition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841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684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47" dur="520"/>
                            <p:tgtEl>
                              <p:spTgt spid="4"/>
                            </p:tgtEl>
                          </p:cBhvr>
                        </p:animEffect>
                      </p:childTnLst>
                    </p:cTn>
                  </p:par>
                  <p:par>
                    <p:cTn id="6850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853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56" dur="520"/>
                            <p:tgtEl>
                              <p:spTgt spid="6"/>
                            </p:tgtEl>
                          </p:cBhvr>
                        </p:animEffect>
                      </p:childTnLst>
                    </p:cTn>
                  </p:par>
                  <p:par>
                    <p:cTn id="6859" presetID="10" presetClass="entr" presetSubtype="0" fill="hold" grpId="0" nodeType="afterEffect">
                      <p:stCondLst>
                        <p:cond delay="100"/>
                      </p:stCondLst>
                      <p:childTnLst>
                        <p:set>
                          <p:cBhvr>
                            <p:cTn id="6862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65" dur="520"/>
                            <p:tgtEl>
                              <p:spTgt spid="7"/>
                            </p:tgtEl>
                          </p:cBhvr>
                        </p:animEffect>
                      </p:childTnLst>
                    </p:cTn>
                  </p:par>
                  <p:par>
                    <p:cTn id="6871" presetID="22" presetClass="entr" presetSubtype="0" fill="hold" grpId="0" nodeType="afterEffect">
                      <p:stCondLst>
                        <p:cond delay="180"/>
                      </p:stCondLst>
                      <p:childTnLst>
                        <p:set>
                          <p:cBhvr>
                            <p:cTn id="687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77" dur="620"/>
                            <p:tgtEl>
                              <p:spTgt spid="5"/>
                            </p:tgtEl>
                          </p:cBhvr>
                        </p:animEffect>
                        <p:anim calcmode="lin" valueType="num">
                          <p:cBhvr additive="base">
                            <p:cTn id="6868" dur="520" fill="hold"/>
                            <p:tgtEl>
                              <p:spTgt spid="5"/>
                            </p:tgtEl>
                            <p:attrNameLst>
                              <p:attrName>ppt_y</p:attrName>
                            </p:attrNameLst>
                          </p:cBhvr>
                          <p:tavLst>
                            <p:tav tm="0">
                              <p:val>
                                <p:strVal val="#ppt_y+.035"/>
                              </p:val>
                            </p:tav>
                            <p:tav tm="100000">
                              <p:val>
                                <p:strVal val="#ppt_y"/>
                              </p:val>
                            </p:tav>
                          </p:tavLst>
                        </p:anim>
                      </p:childTnLst>
                    </p:cTn>
                  </p:par>
                  <p:par>
                    <p:cTn id="6892" presetID="10" presetClass="entr" presetSubtype="0" fill="hold" grpId="0" nodeType="afterEffect">
                      <p:stCondLst>
                        <p:cond delay="450"/>
                      </p:stCondLst>
                      <p:childTnLst>
                        <p:set>
                          <p:cBhvr>
                            <p:cTn id="689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898" dur="52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  <p:par>
                    <p:cTn id="6901" presetID="10" presetClass="entr" presetSubtype="0" fill="hold" grpId="0" nodeType="afterEffect">
                      <p:stCondLst>
                        <p:cond delay="470"/>
                      </p:stCondLst>
                      <p:childTnLst>
                        <p:set>
                          <p:cBhvr>
                            <p:cTn id="6904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07" dur="520"/>
                            <p:tgtEl>
                              <p:spTgt spid="9"/>
                            </p:tgtEl>
                          </p:cBhvr>
                        </p:animEffect>
                      </p:childTnLst>
                    </p:cTn>
                  </p:par>
                  <p:par>
                    <p:cTn id="6922" presetID="10" presetClass="entr" presetSubtype="0" fill="hold" grpId="0" nodeType="afterEffect">
                      <p:stCondLst>
                        <p:cond delay="570"/>
                      </p:stCondLst>
                      <p:childTnLst>
                        <p:set>
                          <p:cBhvr>
                            <p:cTn id="6925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28" dur="520"/>
                            <p:tgtEl>
                              <p:spTgt spid="11"/>
                            </p:tgtEl>
                          </p:cBhvr>
                        </p:animEffect>
                      </p:childTnLst>
                    </p:cTn>
                  </p:par>
                  <p:par>
                    <p:cTn id="6943" presetID="10" presetClass="entr" presetSubtype="0" fill="hold" grpId="0" nodeType="afterEffect">
                      <p:stCondLst>
                        <p:cond delay="670"/>
                      </p:stCondLst>
                      <p:childTnLst>
                        <p:set>
                          <p:cBhvr>
                            <p:cTn id="6946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49" dur="520"/>
                            <p:tgtEl>
                              <p:spTgt spid="13"/>
                            </p:tgtEl>
                          </p:cBhvr>
                        </p:animEffect>
                      </p:childTnLst>
                    </p:cTn>
                  </p:par>
                  <p:par>
                    <p:cTn id="6964" presetID="10" presetClass="entr" presetSubtype="0" fill="hold" grpId="0" nodeType="afterEffect">
                      <p:stCondLst>
                        <p:cond delay="770"/>
                      </p:stCondLst>
                      <p:childTnLst>
                        <p:set>
                          <p:cBhvr>
                            <p:cTn id="6967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70" dur="520"/>
                            <p:tgtEl>
                              <p:spTgt spid="15"/>
                            </p:tgtEl>
                          </p:cBhvr>
                        </p:animEffect>
                      </p:childTnLst>
                    </p:cTn>
                  </p:par>
                  <p:par>
                    <p:cTn id="6985" presetID="10" presetClass="entr" presetSubtype="0" fill="hold" grpId="0" nodeType="afterEffect">
                      <p:stCondLst>
                        <p:cond delay="870"/>
                      </p:stCondLst>
                      <p:childTnLst>
                        <p:set>
                          <p:cBhvr>
                            <p:cTn id="6988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6991" dur="520"/>
                            <p:tgtEl>
                              <p:spTgt spid="17"/>
                            </p:tgtEl>
                          </p:cBhvr>
                        </p:animEffect>
                      </p:childTnLst>
                    </p:cTn>
                  </p:par>
                  <p:par>
                    <p:cTn id="7006" presetID="10" presetClass="entr" presetSubtype="0" fill="hold" grpId="0" nodeType="afterEffect">
                      <p:stCondLst>
                        <p:cond delay="970"/>
                      </p:stCondLst>
                      <p:childTnLst>
                        <p:set>
                          <p:cBhvr>
                            <p:cTn id="7009" dur="1" fill="hold">
                              <p:stCondLst>
                                <p:cond delay="0"/>
                              </p:stCondLst>
                            </p:cTn>
                            <p:tgtEl>
                              <p:spTgt spid="1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7012" dur="520"/>
                            <p:tgtEl>
                              <p:spTgt spid="19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