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970" cy="6857983" type="screen4x3"/>
  <p:notesSz cx="6858000" cy="9144000"/>
  <p:embeddedFontLst>
    <p:embeddedFont>
      <p:font typeface="Poppins" charset="1" panose="00000500000000000000"/>
      <p:regular r:id="rIdFont1a"/>
      <p:bold r:id="rIdFont1b"/>
    </p:embeddedFont>
    <p:embeddedFont>
      <p:font typeface="Raleway" charset="1" panose="00000000000000000000"/>
      <p:regular r:id="rIdFont2a"/>
      <p:bold r:id="rIdFont2b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Font1a" Type="http://schemas.openxmlformats.org/officeDocument/2006/relationships/font" Target="fonts/font17.fntdata"/><Relationship Id="rIdFont1b" Type="http://schemas.openxmlformats.org/officeDocument/2006/relationships/font" Target="fonts/font19.fntdata"/><Relationship Id="rIdFont2a" Type="http://schemas.openxmlformats.org/officeDocument/2006/relationships/font" Target="fonts/font18.fntdata"/><Relationship Id="rIdFont2b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6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png"/><Relationship Id="rId4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png"/><Relationship Id="rId4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image" Target="../media/image49.png"/><Relationship Id="rId4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59435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16">
                <a:solidFill>
                  <a:srgbClr val="CFE9F8"/>
                </a:solidFill>
                <a:latin typeface="Poppins"/>
              </a:rPr>
              <a:t>GROUP 4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905826"/>
            <a:ext cx="8705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260"/>
              </a:lnSpc>
              <a:buNone/>
            </a:pPr>
            <a:r>
              <a:rPr sz="6600" b="1" i="0">
                <a:solidFill>
                  <a:srgbClr val="FFFFFF"/>
                </a:solidFill>
                <a:latin typeface="Raleway"/>
              </a:rPr>
              <a:t>GESTALT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802698"/>
            <a:ext cx="8705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260"/>
              </a:lnSpc>
              <a:buNone/>
            </a:pPr>
            <a:r>
              <a:rPr sz="6600" b="1" i="0">
                <a:solidFill>
                  <a:srgbClr val="FFFFFF"/>
                </a:solidFill>
                <a:latin typeface="Raleway"/>
              </a:rPr>
              <a:t>THEORY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791009"/>
            <a:ext cx="792782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180">
                <a:solidFill>
                  <a:srgbClr val="CFE9F8"/>
                </a:solidFill>
                <a:latin typeface="Raleway"/>
              </a:rPr>
              <a:t>AND ITS APPLICATION TO COUNSELLING</a:t>
            </a:r>
          </a:p>
        </p:txBody>
      </p:sp>
      <p:pic>
        <p:nvPicPr>
          <p:cNvPr id="8" name="Picture 7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84395"/>
            <a:ext cx="137160" cy="137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73477" y="3352975"/>
            <a:ext cx="388619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B7D6E9"/>
                </a:solidFill>
                <a:latin typeface="Poppins"/>
              </a:rPr>
              <a:t>PRESENTED BY</a:t>
            </a:r>
          </a:p>
        </p:txBody>
      </p:sp>
      <p:pic>
        <p:nvPicPr>
          <p:cNvPr id="10" name="Picture 9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57774"/>
            <a:ext cx="114300" cy="1143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27757" y="3619674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Josephine Biwott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2429" y="364253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D8EBF7"/>
                </a:solidFill>
                <a:latin typeface="Poppins"/>
              </a:rPr>
              <a:t>MACP/35996/0/26</a:t>
            </a:r>
          </a:p>
        </p:txBody>
      </p:sp>
      <p:pic>
        <p:nvPicPr>
          <p:cNvPr id="13" name="Picture 12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47334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27757" y="3909234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Cynthia Cherono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2429" y="393209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D8EBF7"/>
                </a:solidFill>
                <a:latin typeface="Poppins"/>
              </a:rPr>
              <a:t>MACP/35785/4/26</a:t>
            </a:r>
          </a:p>
        </p:txBody>
      </p:sp>
      <p:pic>
        <p:nvPicPr>
          <p:cNvPr id="16" name="Picture 15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36893"/>
            <a:ext cx="114300" cy="1143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27757" y="4198793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Yvonne Juliet Awuor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2429" y="4221653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D8EBF7"/>
                </a:solidFill>
                <a:latin typeface="Poppins"/>
              </a:rPr>
              <a:t>MALD/36547/4/26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981" y="3276592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CFE9F8"/>
                </a:solidFill>
                <a:latin typeface="Poppins"/>
              </a:rPr>
              <a:t>COURSE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9981" y="3542339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MCP504 Theories of Counseling and Psychotherapy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9981" y="4208254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CFE9F8"/>
                </a:solidFill>
                <a:latin typeface="Poppins"/>
              </a:rPr>
              <a:t>INSTITUTION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9981" y="4474001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9981" y="4898398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CFE9F8"/>
                </a:solidFill>
                <a:latin typeface="Poppins"/>
              </a:rPr>
              <a:t>LECTURER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19981" y="5164146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Dr. Lucy Gachenia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623314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 spc="180">
                <a:solidFill>
                  <a:srgbClr val="B7D6E9"/>
                </a:solidFill>
                <a:latin typeface="Poppins"/>
              </a:rPr>
              <a:t>AWARENESS    PRESENCE    CONTACT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9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15" presetID="22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id="1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1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36" presetID="22" presetClass="entr" presetSubtype="0" fill="hold" grpId="0" nodeType="afterEffect">
                      <p:stCondLst>
                        <p:cond delay="460"/>
                      </p:stCondLst>
                      <p:childTnLst>
                        <p:set>
                          <p:cBhvr>
                            <p:cTn id="1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2" dur="620"/>
                            <p:tgtEl>
                              <p:spTgt spid="6"/>
                            </p:tgtEl>
                          </p:cBhvr>
                        </p:animEffect>
                        <p:anim calcmode="lin" valueType="num">
                          <p:cBhvr additive="base">
                            <p:cTn id="133" dur="520" fill="hold"/>
                            <p:tgtEl>
                              <p:spTgt spid="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45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1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57" presetID="10" presetClass="entr" presetSubtype="0" fill="hold" grpId="0" nodeType="afterEffect">
                      <p:stCondLst>
                        <p:cond delay="760"/>
                      </p:stCondLst>
                      <p:childTnLst>
                        <p:set>
                          <p:cBhvr>
                            <p:cTn id="1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" dur="420"/>
                            <p:tgtEl>
                              <p:spTgt spid="8"/>
                            </p:tgtEl>
                          </p:cBhvr>
                        </p:animEffect>
                        <p:animScale>
                          <p:cBhvr>
                            <p:cTn id="154" dur="520" fill="hold"/>
                            <p:tgtEl>
                              <p:spTgt spid="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66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2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78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1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75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7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3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96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1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08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2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4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05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7" presetID="10" presetClass="entr" presetSubtype="0" fill="hold" grpId="0" nodeType="afterEffect">
                      <p:stCondLst>
                        <p:cond delay="1140"/>
                      </p:stCondLst>
                      <p:childTnLst>
                        <p:set>
                          <p:cBhvr>
                            <p:cTn id="2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2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2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238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2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235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7" presetID="10" presetClass="entr" presetSubtype="0" fill="hold" grpId="0" nodeType="afterEffect">
                      <p:stCondLst>
                        <p:cond delay="1280"/>
                      </p:stCondLst>
                      <p:childTnLst>
                        <p:set>
                          <p:cBhvr>
                            <p:cTn id="2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56" presetID="10" presetClass="entr" presetSubtype="0" fill="hold" grpId="0" nodeType="afterEffect">
                      <p:stCondLst>
                        <p:cond delay="1340"/>
                      </p:stCondLst>
                      <p:childTnLst>
                        <p:set>
                          <p:cBhvr>
                            <p:cTn id="2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2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65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1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277" presetID="22" presetClass="entr" presetSubtype="0" fill="hold" grpId="0" nodeType="afterEffect">
                      <p:stCondLst>
                        <p:cond delay="1560"/>
                      </p:stCondLst>
                      <p:childTnLst>
                        <p:set>
                          <p:cBhvr>
                            <p:cTn id="2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3" dur="620"/>
                            <p:tgtEl>
                              <p:spTgt spid="20"/>
                            </p:tgtEl>
                          </p:cBhvr>
                        </p:animEffect>
                        <p:anim calcmode="lin" valueType="num">
                          <p:cBhvr additive="base">
                            <p:cTn id="274" dur="52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86" presetID="10" presetClass="entr" presetSubtype="0" fill="hold" grpId="0" nodeType="afterEffect">
                      <p:stCondLst>
                        <p:cond delay="1620"/>
                      </p:stCondLst>
                      <p:childTnLst>
                        <p:set>
                          <p:cBhvr>
                            <p:cTn id="2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2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98" presetID="22" presetClass="entr" presetSubtype="0" fill="hold" grpId="0" nodeType="afterEffect">
                      <p:stCondLst>
                        <p:cond delay="1680"/>
                      </p:stCondLst>
                      <p:childTnLst>
                        <p:set>
                          <p:cBhvr>
                            <p:cTn id="3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295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07" presetID="10" presetClass="entr" presetSubtype="0" fill="hold" grpId="0" nodeType="afterEffect">
                      <p:stCondLst>
                        <p:cond delay="1740"/>
                      </p:stCondLst>
                      <p:childTnLst>
                        <p:set>
                          <p:cBhvr>
                            <p:cTn id="3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3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19" presetID="22" presetClass="entr" presetSubtype="0" fill="hold" grpId="0" nodeType="afterEffect">
                      <p:stCondLst>
                        <p:cond delay="1800"/>
                      </p:stCondLst>
                      <p:childTnLst>
                        <p:set>
                          <p:cBhvr>
                            <p:cTn id="3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5" dur="620"/>
                            <p:tgtEl>
                              <p:spTgt spid="24"/>
                            </p:tgtEl>
                          </p:cBhvr>
                        </p:animEffect>
                        <p:anim calcmode="lin" valueType="num">
                          <p:cBhvr additive="base">
                            <p:cTn id="316" dur="520" fill="hold"/>
                            <p:tgtEl>
                              <p:spTgt spid="24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28" presetID="10" presetClass="entr" presetSubtype="0" fill="hold" grpId="0" nodeType="afterEffect">
                      <p:stCondLst>
                        <p:cond delay="2000"/>
                      </p:stCondLst>
                      <p:childTnLst>
                        <p:set>
                          <p:cBhvr>
                            <p:cTn id="3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02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An experiential and humanistic approach to counselling.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02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68562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3432" y="2285994"/>
            <a:ext cx="666777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Emphasizes awareness, present experience and contact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36194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13432" y="3353626"/>
            <a:ext cx="666777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Understands individuals within their environment and relationships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503826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13432" y="4421258"/>
            <a:ext cx="666777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Encourages personal responsibility, choice and authentic living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71458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3432" y="5488890"/>
            <a:ext cx="666777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Focuses on the client's experience in the here and now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4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5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6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6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7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8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9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9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1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1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3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3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6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5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03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00"/>
              </a:lnSpc>
              <a:buNone/>
            </a:pPr>
            <a:r>
              <a:rPr sz="5050" b="1" i="0">
                <a:solidFill>
                  <a:srgbClr val="4595C2"/>
                </a:solidFill>
                <a:latin typeface="Raleway"/>
              </a:rPr>
              <a:t>HISTORICAL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00516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therapy that grew out of the 1940s and 1950s.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03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14184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636061"/>
            <a:ext cx="88188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Emerged during the 1940s and 1950s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54475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176353"/>
            <a:ext cx="88188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Developed partly in response to limitations perceived in traditional psychoanalysis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8" y="369835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INFLUENCED BY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14601"/>
            <a:ext cx="106680" cy="106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64054" y="394219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Gestalt psychology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70" y="4014601"/>
            <a:ext cx="106680" cy="106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112047" y="394219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Phenomenology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8463" y="4014601"/>
            <a:ext cx="106680" cy="106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60039" y="394219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Existential philosophy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03252"/>
            <a:ext cx="106680" cy="106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4054" y="433084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Field theory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70" y="4403252"/>
            <a:ext cx="106680" cy="1066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112047" y="433084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Holistic approaches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478" y="491761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INTELLECTUAL ROOTS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8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Gestalt psychology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4784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Phenomenology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18049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Existentialism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1314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Field theory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4580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Gestalt therapy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7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8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9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0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0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1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2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3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3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47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5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59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5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68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77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3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589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5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5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586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8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6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4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10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6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6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607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19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6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5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631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7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628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0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6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6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652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8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649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1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6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7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673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6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9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670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82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6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8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691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6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700" presetID="10" presetClass="entr" presetSubtype="0" fill="hold" grpId="0" nodeType="afterEffect">
                      <p:stCondLst>
                        <p:cond delay="1700"/>
                      </p:stCondLst>
                      <p:childTnLst>
                        <p:set>
                          <p:cBhvr>
                            <p:cTn id="7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06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709" presetID="10" presetClass="entr" presetSubtype="0" fill="hold" grpId="0" nodeType="afterEffect">
                      <p:stCondLst>
                        <p:cond delay="1840"/>
                      </p:stCondLst>
                      <p:childTnLst>
                        <p:set>
                          <p:cBhvr>
                            <p:cTn id="7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15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718" presetID="10" presetClass="entr" presetSubtype="0" fill="hold" grpId="0" nodeType="afterEffect">
                      <p:stCondLst>
                        <p:cond delay="1980"/>
                      </p:stCondLst>
                      <p:childTnLst>
                        <p:set>
                          <p:cBhvr>
                            <p:cTn id="7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24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727" presetID="10" presetClass="entr" presetSubtype="0" fill="hold" grpId="0" nodeType="afterEffect">
                      <p:stCondLst>
                        <p:cond delay="2120"/>
                      </p:stCondLst>
                      <p:childTnLst>
                        <p:set>
                          <p:cBhvr>
                            <p:cTn id="7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33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736" presetID="10" presetClass="entr" presetSubtype="0" fill="hold" grpId="0" nodeType="afterEffect">
                      <p:stCondLst>
                        <p:cond delay="2260"/>
                      </p:stCondLst>
                      <p:childTnLst>
                        <p:set>
                          <p:cBhvr>
                            <p:cTn id="7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42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04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MAJOR THEORISTS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Three voices that shaped the theory and its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04</a:t>
            </a:r>
          </a:p>
        </p:txBody>
      </p:sp>
      <p:pic>
        <p:nvPicPr>
          <p:cNvPr id="9" name="Picture 8" descr="medallio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34300"/>
            <a:ext cx="1188717" cy="11887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48835" y="297145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70"/>
              </a:lnSpc>
              <a:buNone/>
            </a:pPr>
            <a:r>
              <a:rPr sz="2050" b="1" i="0">
                <a:solidFill>
                  <a:srgbClr val="4595C2"/>
                </a:solidFill>
                <a:latin typeface="Raleway"/>
              </a:rPr>
              <a:t>FRITZ PERLS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35" y="330673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96">
                <a:solidFill>
                  <a:srgbClr val="4595C2"/>
                </a:solidFill>
                <a:latin typeface="Raleway"/>
              </a:rPr>
              <a:t>1893 TO 1970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35" y="3596298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9"/>
              </a:lnSpc>
              <a:buNone/>
            </a:pPr>
            <a:r>
              <a:rPr sz="1250" b="1" i="0">
                <a:solidFill>
                  <a:srgbClr val="5F7E97"/>
                </a:solidFill>
                <a:latin typeface="Poppins"/>
              </a:rPr>
              <a:t>Major founder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78" y="4782492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13432" y="4708815"/>
            <a:ext cx="309247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Awareness, experience and responsibility</a:t>
            </a:r>
          </a:p>
        </p:txBody>
      </p:sp>
      <p:pic>
        <p:nvPicPr>
          <p:cNvPr id="15" name="Picture 14" descr="medallion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3869" y="2834300"/>
            <a:ext cx="1188717" cy="118871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0226" y="297145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70"/>
              </a:lnSpc>
              <a:buNone/>
            </a:pPr>
            <a:r>
              <a:rPr sz="2050" b="1" i="0">
                <a:solidFill>
                  <a:srgbClr val="4595C2"/>
                </a:solidFill>
                <a:latin typeface="Raleway"/>
              </a:rPr>
              <a:t>LAURA PERLS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0226" y="330673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96">
                <a:solidFill>
                  <a:srgbClr val="4595C2"/>
                </a:solidFill>
                <a:latin typeface="Raleway"/>
              </a:rPr>
              <a:t>1905 TO 1990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0226" y="3596298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9"/>
              </a:lnSpc>
              <a:buNone/>
            </a:pPr>
            <a:r>
              <a:rPr sz="1250" b="1" i="0">
                <a:solidFill>
                  <a:srgbClr val="5F7E97"/>
                </a:solidFill>
                <a:latin typeface="Poppins"/>
              </a:rPr>
              <a:t>Major contributor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3869" y="4782492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694823" y="4708815"/>
            <a:ext cx="309247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Contact, relationship and embodied experience</a:t>
            </a:r>
          </a:p>
        </p:txBody>
      </p:sp>
      <p:pic>
        <p:nvPicPr>
          <p:cNvPr id="21" name="Picture 20" descr="medallion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60" y="2834300"/>
            <a:ext cx="1188717" cy="118871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11617" y="297145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70"/>
              </a:lnSpc>
              <a:buNone/>
            </a:pPr>
            <a:r>
              <a:rPr sz="2050" b="1" i="0">
                <a:solidFill>
                  <a:srgbClr val="4595C2"/>
                </a:solidFill>
                <a:latin typeface="Raleway"/>
              </a:rPr>
              <a:t>PAUL GOODMAN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1617" y="330673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96">
                <a:solidFill>
                  <a:srgbClr val="4595C2"/>
                </a:solidFill>
                <a:latin typeface="Raleway"/>
              </a:rPr>
              <a:t>1911 TO 1972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1617" y="3596298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9"/>
              </a:lnSpc>
              <a:buNone/>
            </a:pPr>
            <a:r>
              <a:rPr sz="1250" b="1" i="0">
                <a:solidFill>
                  <a:srgbClr val="5F7E97"/>
                </a:solidFill>
                <a:latin typeface="Poppins"/>
              </a:rPr>
              <a:t>Co author of the 1951 text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60" y="4782492"/>
            <a:ext cx="121920" cy="121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76214" y="4708815"/>
            <a:ext cx="309247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Shaped the theoretical formulation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4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5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7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7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6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76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7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6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77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7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8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77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78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9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79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7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9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80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8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1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80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17" presetID="22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8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23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814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29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8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3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82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38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8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44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84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8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5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859" presetID="22" presetClass="entr" presetSubtype="0" fill="hold" grpId="0" nodeType="afterEffect">
                      <p:stCondLst>
                        <p:cond delay="710"/>
                      </p:stCondLst>
                      <p:childTnLst>
                        <p:set>
                          <p:cBhvr>
                            <p:cTn id="8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65" dur="620"/>
                            <p:tgtEl>
                              <p:spTgt spid="16"/>
                            </p:tgtEl>
                          </p:cBhvr>
                        </p:animEffect>
                        <p:anim calcmode="lin" valueType="num">
                          <p:cBhvr additive="base">
                            <p:cTn id="856" dur="520" fill="hold"/>
                            <p:tgtEl>
                              <p:spTgt spid="1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71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8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7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86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83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8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8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88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92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8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98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901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9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07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910" presetID="10" presetClass="entr" presetSubtype="0" fill="hold" grpId="0" nodeType="afterEffect">
                      <p:stCondLst>
                        <p:cond delay="860"/>
                      </p:stCondLst>
                      <p:childTnLst>
                        <p:set>
                          <p:cBhvr>
                            <p:cTn id="9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16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922" presetID="22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9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28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919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31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9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37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943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9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49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940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952" presetID="10" presetClass="entr" presetSubtype="0" fill="hold" grpId="0" nodeType="afterEffect">
                      <p:stCondLst>
                        <p:cond delay="1010"/>
                      </p:stCondLst>
                      <p:childTnLst>
                        <p:set>
                          <p:cBhvr>
                            <p:cTn id="9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5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961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9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6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973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9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79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970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982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9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88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05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CORE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Seven beliefs that hold the whole approach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05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People are best understood as whole persons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89193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315516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Human experience is influenced by the environment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703227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629551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Awareness is central to psychological growth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32749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659072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Experience unfolds in the present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9671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People have capacity for choice and self regulation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046210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97253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Healthy functioning involves meaningful contact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448236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537455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Psychological difficulties may involve interruptions in awareness or contact</a:t>
            </a:r>
          </a:p>
        </p:txBody>
      </p:sp>
    </p:spTree>
  </p:cSld>
  <p:transition spd="slow" advOnClk="1" advTm="0">
    <p:wipe dir="l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9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9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9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00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0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0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00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0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1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02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0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2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01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03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0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3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03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0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4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05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0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5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04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060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10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66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072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0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7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106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081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10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87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093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0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9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109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02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11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0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114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1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2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11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23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11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2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135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1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4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13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44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11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5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156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1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6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15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65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11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7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177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11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8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17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86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11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9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06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The central concept in Gestalt therapy.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57141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NOTICING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88626"/>
            <a:ext cx="106680" cy="106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64054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Thoughts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33" y="2688626"/>
            <a:ext cx="106680" cy="106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77610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Feelings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89" y="2688626"/>
            <a:ext cx="106680" cy="106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91165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Bodily sensations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44" y="2688626"/>
            <a:ext cx="106680" cy="106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4721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Behaviour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00" y="2688626"/>
            <a:ext cx="106680" cy="106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18276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Needs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78" y="3164859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 PROCESS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02061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38120" y="3423939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Focuses on present experience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52917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38120" y="4374795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Creates opportunities for choice and 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58" y="5523771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60">
                <a:solidFill>
                  <a:srgbClr val="33506B"/>
                </a:solidFill>
                <a:latin typeface="Poppins"/>
              </a:rPr>
              <a:t>Awareness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4214" y="5523771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60">
                <a:solidFill>
                  <a:srgbClr val="33506B"/>
                </a:solidFill>
                <a:latin typeface="Poppins"/>
              </a:rPr>
              <a:t>Choice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271" y="5523771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60">
                <a:solidFill>
                  <a:srgbClr val="33506B"/>
                </a:solidFill>
                <a:latin typeface="Poppins"/>
              </a:rPr>
              <a:t>Change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9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0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20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2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21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2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22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2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3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22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3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2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4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24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2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4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252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2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58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264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12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70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261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273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12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79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285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12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91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1282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294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12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00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306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13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12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1303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1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13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21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1327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13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33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1324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36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13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42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1348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13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54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1345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57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3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63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36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13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7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378" presetID="10" presetClass="entr" presetSubtype="0" fill="hold" grpId="0" nodeType="afterEffect">
                      <p:stCondLst>
                        <p:cond delay="1280"/>
                      </p:stCondLst>
                      <p:childTnLst>
                        <p:set>
                          <p:cBhvr>
                            <p:cTn id="13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84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375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87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13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9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1399" presetID="10" presetClass="entr" presetSubtype="0" fill="hold" grpId="0" nodeType="afterEffect">
                      <p:stCondLst>
                        <p:cond delay="1380"/>
                      </p:stCondLst>
                      <p:childTnLst>
                        <p:set>
                          <p:cBhvr>
                            <p:cTn id="14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05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1396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408" presetID="10" presetClass="entr" presetSubtype="0" fill="hold" grpId="0" nodeType="afterEffect">
                      <p:stCondLst>
                        <p:cond delay="1450"/>
                      </p:stCondLst>
                      <p:childTnLst>
                        <p:set>
                          <p:cBhvr>
                            <p:cTn id="14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14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1417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14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23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1426" presetID="10" presetClass="entr" presetSubtype="0" fill="hold" grpId="0" nodeType="afterEffect">
                      <p:stCondLst>
                        <p:cond delay="1740"/>
                      </p:stCondLst>
                      <p:childTnLst>
                        <p:set>
                          <p:cBhvr>
                            <p:cTn id="14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32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1435" presetID="10" presetClass="entr" presetSubtype="0" fill="hold" grpId="0" nodeType="afterEffect">
                      <p:stCondLst>
                        <p:cond delay="1880"/>
                      </p:stCondLst>
                      <p:childTnLst>
                        <p:set>
                          <p:cBhvr>
                            <p:cTn id="14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41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07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THE HERE AND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Change happens in the present moment.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34531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 FOCUS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67287"/>
            <a:ext cx="121920" cy="121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8120" y="2593611"/>
            <a:ext cx="46217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the client's present experience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80125"/>
            <a:ext cx="121920" cy="12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38120" y="4406448"/>
            <a:ext cx="46217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Includes thoughts, emotions, bodily sensations and behaviour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864" y="2334531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 PAST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2667287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4507" y="2593611"/>
            <a:ext cx="41554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Past experiences are explored through their current impact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4480125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24507" y="4406448"/>
            <a:ext cx="41554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therapeutic relationship offers present moment awareness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48270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38120" y="5665702"/>
            <a:ext cx="93629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Encourages direct experience rather than excessive intellectual analysis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4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4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5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45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4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5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46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4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6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47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4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8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47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48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4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8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49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4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9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50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5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0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513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15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19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510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22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15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28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534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15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40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1531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4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15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49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55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5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5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564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15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7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56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73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5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7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585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15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9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58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94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15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0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60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16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1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60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615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16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2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08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FIGURE AND 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One element steps forward from its context.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08</a:t>
            </a:r>
          </a:p>
        </p:txBody>
      </p:sp>
      <p:pic>
        <p:nvPicPr>
          <p:cNvPr id="9" name="Picture 8" descr="figure_g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316" y="2438394"/>
            <a:ext cx="3276592" cy="3276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98316" y="3489951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00"/>
              </a:lnSpc>
              <a:buNone/>
            </a:pPr>
            <a:r>
              <a:rPr sz="1200" b="1" i="0" spc="144">
                <a:solidFill>
                  <a:srgbClr val="33506B"/>
                </a:solidFill>
                <a:latin typeface="Poppins"/>
              </a:rPr>
              <a:t>FIGURE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8316" y="3703311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80"/>
              </a:lnSpc>
              <a:buNone/>
            </a:pPr>
            <a:r>
              <a:rPr sz="1250" b="0" i="0">
                <a:solidFill>
                  <a:srgbClr val="5F7E97"/>
                </a:solidFill>
                <a:latin typeface="Raleway"/>
              </a:rPr>
              <a:t>what steps forward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8316" y="5135867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730"/>
              </a:lnSpc>
              <a:buNone/>
            </a:pPr>
            <a:r>
              <a:rPr sz="1050" b="1" i="0" spc="180">
                <a:solidFill>
                  <a:srgbClr val="5F7E97"/>
                </a:solidFill>
                <a:latin typeface="Poppins"/>
              </a:rPr>
              <a:t>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66" y="2255514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10"/>
              </a:lnSpc>
              <a:buNone/>
            </a:pPr>
            <a:r>
              <a:rPr sz="2450" b="1" i="0">
                <a:solidFill>
                  <a:srgbClr val="4595C2"/>
                </a:solidFill>
                <a:latin typeface="Raleway"/>
              </a:rPr>
              <a:t>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66" y="2810439"/>
            <a:ext cx="42359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10"/>
              </a:lnSpc>
              <a:buNone/>
            </a:pPr>
            <a:r>
              <a:rPr sz="1300" b="0" i="0">
                <a:solidFill>
                  <a:srgbClr val="5F7E97"/>
                </a:solidFill>
                <a:latin typeface="Poppins"/>
              </a:rPr>
              <a:t>What is most prominent in awareness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66" y="3397873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10"/>
              </a:lnSpc>
              <a:buNone/>
            </a:pPr>
            <a:r>
              <a:rPr sz="2450" b="1" i="0">
                <a:solidFill>
                  <a:srgbClr val="4595C2"/>
                </a:solidFill>
                <a:latin typeface="Raleway"/>
              </a:rPr>
              <a:t>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66" y="3952798"/>
            <a:ext cx="42359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10"/>
              </a:lnSpc>
              <a:buNone/>
            </a:pPr>
            <a:r>
              <a:rPr sz="1300" b="0" i="0">
                <a:solidFill>
                  <a:srgbClr val="5F7E97"/>
                </a:solidFill>
                <a:latin typeface="Poppins"/>
              </a:rPr>
              <a:t>The surrounding context and experiences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4367527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14908" y="4311632"/>
            <a:ext cx="3999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Needs and concerns move between figure and ground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5013557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14908" y="4957663"/>
            <a:ext cx="3999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The figure changes as circumstances change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5410639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14908" y="5354744"/>
            <a:ext cx="3999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Awareness reveals what matters most right now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63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6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64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6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4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65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6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6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65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66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6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6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67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6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7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684" presetID="23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6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90" dur="70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681" dur="520" fill="hold"/>
                            <p:tgtEl>
                              <p:spTgt spid="9"/>
                            </p:tgtEl>
                          </p:cBhvr>
                          <p:from x="92000" y="92000"/>
                          <p:to x="100000" y="100000"/>
                        </p:animScale>
                      </p:childTnLst>
                    </p:cTn>
                  </p:par>
                  <p:par>
                    <p:cTn id="1696" presetID="22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6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02" dur="620"/>
                            <p:tgtEl>
                              <p:spTgt spid="13"/>
                            </p:tgtEl>
                          </p:cBhvr>
                        </p:animEffect>
                        <p:anim calcmode="lin" valueType="num">
                          <p:cBhvr additive="base">
                            <p:cTn id="1693" dur="520" fill="hold"/>
                            <p:tgtEl>
                              <p:spTgt spid="1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05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7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1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714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7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2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726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7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32" dur="620"/>
                            <p:tgtEl>
                              <p:spTgt spid="15"/>
                            </p:tgtEl>
                          </p:cBhvr>
                        </p:animEffect>
                        <p:anim calcmode="lin" valueType="num">
                          <p:cBhvr additive="base">
                            <p:cTn id="1723" dur="520" fill="hold"/>
                            <p:tgtEl>
                              <p:spTgt spid="1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35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7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41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744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17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50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753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17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59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765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17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7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76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774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17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8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78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17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9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78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795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17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0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807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18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1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80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16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18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2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09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CONTACT AND THE CONTACT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128238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Where the person and the world meet.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09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3241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658734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Contact is the interaction between the individual and the environment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68196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294519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contact boundary is the point at which the two meet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03980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930304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Healthy contact addresses needs while keeping a sense of self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39765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566089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Contact involves engaging, responding and withdrawing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275550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8120" y="5201873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Relationships, culture and circumstances influence contact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78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60">
                <a:solidFill>
                  <a:srgbClr val="33506B"/>
                </a:solidFill>
                <a:latin typeface="Poppins"/>
              </a:rPr>
              <a:t>Individual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71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60">
                <a:solidFill>
                  <a:srgbClr val="33506B"/>
                </a:solidFill>
                <a:latin typeface="Poppins"/>
              </a:rPr>
              <a:t>Contact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0265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60">
                <a:solidFill>
                  <a:srgbClr val="33506B"/>
                </a:solidFill>
                <a:latin typeface="Poppins"/>
              </a:rPr>
              <a:t>Environment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2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8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3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83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8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84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8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85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8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6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85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86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8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7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87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8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7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88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8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9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88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9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18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0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90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9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1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190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1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19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2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92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9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3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192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3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19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4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94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9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5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94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5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19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6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969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9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7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96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78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19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8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987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19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93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996" presetID="10" presetClass="entr" presetSubtype="0" fill="hold" grpId="0" nodeType="afterEffect">
                      <p:stCondLst>
                        <p:cond delay="1440"/>
                      </p:stCondLst>
                      <p:childTnLst>
                        <p:set>
                          <p:cBhvr>
                            <p:cTn id="19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0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005" presetID="10" presetClass="entr" presetSubtype="0" fill="hold" grpId="0" nodeType="afterEffect">
                      <p:stCondLst>
                        <p:cond delay="1580"/>
                      </p:stCondLst>
                      <p:childTnLst>
                        <p:set>
                          <p:cBhvr>
                            <p:cTn id="20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1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10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CONTACT BOUNDARY DISTURBANCES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How awareness, contact and the self environment connection become restricted.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10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0780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Patterns through which awareness or contact becomes restricted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06440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041655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Also described as interruptions or resistances to contact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862101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797315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May develop as coping and serve a protective function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0780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72107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Not diagnoses or permanent personality characteristics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106440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041655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Significance depends on context, flexibility and whether they restrict choice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862101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797315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Five patterns are most commonly discussed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4605097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FIVE PATTERNS FROM PAGE 10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21342"/>
            <a:ext cx="106680" cy="1066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88743" y="4848936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Introjection</a:t>
            </a:r>
          </a:p>
        </p:txBody>
      </p:sp>
      <p:pic>
        <p:nvPicPr>
          <p:cNvPr id="24" name="Picture 2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1469" y="4921342"/>
            <a:ext cx="106680" cy="1066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17734" y="4848936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Projection</a:t>
            </a:r>
          </a:p>
        </p:txBody>
      </p:sp>
      <p:pic>
        <p:nvPicPr>
          <p:cNvPr id="26" name="Picture 2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461" y="4921342"/>
            <a:ext cx="106680" cy="1066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946726" y="4848936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Retroflection</a:t>
            </a:r>
          </a:p>
        </p:txBody>
      </p:sp>
      <p:pic>
        <p:nvPicPr>
          <p:cNvPr id="28" name="Picture 2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271861"/>
            <a:ext cx="106680" cy="1066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88743" y="5199455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Deflection</a:t>
            </a:r>
          </a:p>
        </p:txBody>
      </p:sp>
      <p:pic>
        <p:nvPicPr>
          <p:cNvPr id="30" name="Picture 2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1469" y="5271861"/>
            <a:ext cx="106680" cy="1066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17734" y="5199455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Confluence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478" y="5793814"/>
            <a:ext cx="252855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Experience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2416" y="5793814"/>
            <a:ext cx="252855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Boundary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2354" y="5793814"/>
            <a:ext cx="252855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Meaningful contact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1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0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02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0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03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0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3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04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0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5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04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05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0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5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06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0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6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074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0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80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071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083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0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89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095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0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0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09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04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21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10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116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1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22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113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25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21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3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137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21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43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134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46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21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52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158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1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64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155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67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21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73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179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1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8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17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88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94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197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2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03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209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2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15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2206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18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2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24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2230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22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36" dur="420"/>
                            <p:tgtEl>
                              <p:spTgt spid="24"/>
                            </p:tgtEl>
                          </p:cBhvr>
                        </p:animEffect>
                        <p:animScale>
                          <p:cBhvr>
                            <p:cTn id="2227" dur="520" fill="hold"/>
                            <p:tgtEl>
                              <p:spTgt spid="2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39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22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45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2251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22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57" dur="420"/>
                            <p:tgtEl>
                              <p:spTgt spid="26"/>
                            </p:tgtEl>
                          </p:cBhvr>
                        </p:animEffect>
                        <p:animScale>
                          <p:cBhvr>
                            <p:cTn id="2248" dur="520" fill="hold"/>
                            <p:tgtEl>
                              <p:spTgt spid="2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60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22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66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2272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2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78" dur="420"/>
                            <p:tgtEl>
                              <p:spTgt spid="28"/>
                            </p:tgtEl>
                          </p:cBhvr>
                        </p:animEffect>
                        <p:animScale>
                          <p:cBhvr>
                            <p:cTn id="2269" dur="520" fill="hold"/>
                            <p:tgtEl>
                              <p:spTgt spid="2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81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22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87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2293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22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99" dur="420"/>
                            <p:tgtEl>
                              <p:spTgt spid="30"/>
                            </p:tgtEl>
                          </p:cBhvr>
                        </p:animEffect>
                        <p:animScale>
                          <p:cBhvr>
                            <p:cTn id="2290" dur="520" fill="hold"/>
                            <p:tgtEl>
                              <p:spTgt spid="3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02" presetID="10" presetClass="entr" presetSubtype="0" fill="hold" grpId="0" nodeType="afterEffect">
                      <p:stCondLst>
                        <p:cond delay="1670"/>
                      </p:stCondLst>
                      <p:childTnLst>
                        <p:set>
                          <p:cBhvr>
                            <p:cTn id="23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08" dur="520"/>
                            <p:tgtEl>
                              <p:spTgt spid="31"/>
                            </p:tgtEl>
                          </p:cBhvr>
                        </p:animEffect>
                      </p:childTnLst>
                    </p:cTn>
                  </p:par>
                  <p:par>
                    <p:cTn id="2311" presetID="10" presetClass="entr" presetSubtype="0" fill="hold" grpId="0" nodeType="afterEffect">
                      <p:stCondLst>
                        <p:cond delay="1800"/>
                      </p:stCondLst>
                      <p:childTnLst>
                        <p:set>
                          <p:cBhvr>
                            <p:cTn id="23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17" dur="52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  <p:par>
                    <p:cTn id="2320" presetID="10" presetClass="entr" presetSubtype="0" fill="hold" grpId="0" nodeType="afterEffect">
                      <p:stCondLst>
                        <p:cond delay="1940"/>
                      </p:stCondLst>
                      <p:childTnLst>
                        <p:set>
                          <p:cBhvr>
                            <p:cTn id="23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26" dur="520"/>
                            <p:tgtEl>
                              <p:spTgt spid="33"/>
                            </p:tgtEl>
                          </p:cBhvr>
                        </p:animEffect>
                      </p:childTnLst>
                    </p:cTn>
                  </p:par>
                  <p:par>
                    <p:cTn id="2329" presetID="10" presetClass="entr" presetSubtype="0" fill="hold" grpId="0" nodeType="afterEffect">
                      <p:stCondLst>
                        <p:cond delay="2080"/>
                      </p:stCondLst>
                      <p:childTnLst>
                        <p:set>
                          <p:cBhvr>
                            <p:cTn id="23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35" dur="520"/>
                            <p:tgtEl>
                              <p:spTgt spid="3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11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INTROJECTION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Accepting beliefs without examining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1745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530815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Taking in rules, beliefs, values or expectations from others without adequately examining whether they fit own experience or circumstances. An external expectation becomes an unquestioned internal rule.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454031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454031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23286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667391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A child taught that a good child must always obey continues to follow family decisions even with legitimate concerns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67642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611747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“A responsible person must never say no to the supervisor”, accepts every duty even when exhausted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23286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667391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struggles to recognise own needs, guilt or anxiety when considering an alternative response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418693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36279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asks: “Where did you learn that rule?” “Does it apply in every situation?” “What happens when you consider your own needs?”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771550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DISTINCTION: Accepting an external rule without sufficient examination. Illustrative statement: “I must never disappoint anyone.”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3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3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4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34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3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5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35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3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6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36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3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7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36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37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3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8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38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3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9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39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3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01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404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4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1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413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4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19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422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4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28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434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4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0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431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43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4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9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455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4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61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452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67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24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73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464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76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4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82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485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24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91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497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25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03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494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06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25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1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515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5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2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12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PROJECTION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Attributing one's own experience to others.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2859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499354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Attributing feelings, intentions or characteristics to someone else without adequately recognising own possible contribution. Finding it difficult to acknowledge a feeling within and instead perceiving it as belonging to another.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19249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19249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61747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40585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A person jealous of a friend's success repeatedly claims the friend is jealous of them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57155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101260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Client feels angry with a colleague but says “My colleague hates me and is always looking for a fight” without clear evidence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461747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40585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responds to assumptions rather than checking what is actually happening, risking misunderstanding or conflict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406104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35020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asks: “What feelings arise in you as you describe this?” “What have you observed directly, and what are you assuming?”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279935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 Not every perception is inaccurate. Others may genuinely behave in harmful ways. Illustrative: “Everyone here is hostile towards me.”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5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53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5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54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5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4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55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5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6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55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56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5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6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57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5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7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58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5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8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590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5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96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599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6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05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608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6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1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620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6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26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617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29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6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35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641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6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47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638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53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26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59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650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62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6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68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671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26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77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683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26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89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680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92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26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9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701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7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07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13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RETROFLECTION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Turning an outward response inward.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2859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499354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Directing towards self feelings, actions or energy that might otherwise be expressed towards another person or into the environment.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19249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19249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61747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40585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Feels angry after unfair treatment but repeatedly criticises self for being weak instead of expressing concern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06104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350209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Worker frustrated by unreasonable workload does not communicate, says “I am weak and should manage everything” and becomes self critical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461747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40585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inhibits direct expression, creates internal tension, turns understandable frustration into self blame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157155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10126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asks: “What would you want to say if you felt safe?” “What happens inside when you hold back?”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279935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 Not all restraint is unhealthy. Withholding can be necessary for safety or professional judgement. Illustrative: “I am angry, so I must be a terrible person.”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10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7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16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71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7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25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728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7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34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740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7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46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737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749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7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55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758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7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64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76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7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73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776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7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8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785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7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91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794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7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00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806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8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12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803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15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8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2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827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8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33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824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39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28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4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83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48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8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54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857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28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63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869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28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7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86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78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28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84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887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8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93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14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DEFLECTION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Avoiding direct contact with an experience.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320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545454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Reducing intensity or directness of contact through distraction, humour, vague language, changing the subject or other avoidance.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46334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46334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32597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676702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Whenever a difficult family issue arises, makes jokes or quickly introduces another topic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52754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596860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Client begins discussing death of a close relative but immediately jokes and changes subject whenever grief is approached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32597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676702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difficulty remaining with painful feelings long enough to understand or communicate them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652754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59686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 gently: “I noticed you laughed as you mentioned the loss, what are you experiencing right now?”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751336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 Concerns how direct contact is diluted, often through distraction. Illustrative: joking whenever painful feelings arise.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9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8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0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90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9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1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91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9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2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92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9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3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92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93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9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4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94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9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5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953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9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59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962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9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68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971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9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77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980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9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86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992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9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98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989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01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30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07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013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0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19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010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25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30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3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02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34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30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0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043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30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9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055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30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61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052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64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30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70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073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30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79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15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CONFLUENCE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Difficulty distinguishing self from others.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1745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530815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The distinction between own feelings, needs, beliefs or preferences and those of another becomes unclear. Agreement or togetherness feels necessary for maintaining the relationship.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377339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377339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46593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590699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Consistently agrees with friends about activities because expressing a different preference feels threatening to friendship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744334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688440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Woman agrees with partner on major decisions even when privately disagreeing, says “Whatever makes him happy is what I want”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646593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59069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loses sight of personal needs, experiences resentment, struggles to make independent decisions while appearing harmonious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744334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68844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asks: “If your partner's preference were not part of the decision, what would you want?”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771550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 Concerns a blurred self other distinction, not simply a rule or avoided topic. Illustrative: “Whatever you want is what I want.”</a:t>
            </a:r>
          </a:p>
        </p:txBody>
      </p:sp>
    </p:spTree>
  </p:cSld>
  <p:transition spd="slow" advOnClk="1" advTm="0">
    <p:wipe dir="l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8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0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8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09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0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9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10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1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0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11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1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1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10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12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1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2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13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1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3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139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1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45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3148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31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54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157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31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63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3166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31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7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178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31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84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175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187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31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9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199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2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0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19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11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32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1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20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20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32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26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229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32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3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241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32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47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238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50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32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56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259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32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65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16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COMPARISON AND CLINICAL SIGNIFICANCE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12823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From exploratory frameworks to flexible responding.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65873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COMPARISON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34973"/>
            <a:ext cx="99060" cy="990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64054" y="2872094"/>
            <a:ext cx="43864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Introjection: Accepting an external rule without examining it, “I must never disappoint anyone”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87910"/>
            <a:ext cx="99060" cy="990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4054" y="3525031"/>
            <a:ext cx="43864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Projection: Attributing own possible feelings to another, “Everyone here is hostile towards me”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40847"/>
            <a:ext cx="99060" cy="990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64054" y="4177967"/>
            <a:ext cx="43864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Retroflection: Directing inward what might be expressed outward, “I am angry so I must be terrible”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934973"/>
            <a:ext cx="99060" cy="990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98041" y="2872094"/>
            <a:ext cx="45418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Deflection: Avoiding direct engagement, joking whenever painful feelings arise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587910"/>
            <a:ext cx="99060" cy="990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98041" y="3525031"/>
            <a:ext cx="45418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Confluence: Losing clarity about own needs, “Whatever you want is what I want”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240847"/>
            <a:ext cx="99060" cy="990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8041" y="4177967"/>
            <a:ext cx="45418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Overlap is common, patterns are best used as exploratory frameworks not fixed labels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78" y="487144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CLINICAL SIGNIFICANCE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140697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38120" y="5084802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Helps counsellor develop questions that increase awareness collaboratively, not to impose labels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62467"/>
            <a:ext cx="121920" cy="121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38120" y="5506572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Requires attention to environment: fear of retaliation, need for safety and timing before exploring loss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984237"/>
            <a:ext cx="121920" cy="121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38120" y="5928342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Aim is to recognise patterns and develop more flexible ways of responding, not to eliminate every interruption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6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2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7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27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2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8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28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2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9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29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3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0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29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30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3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1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31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3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2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32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3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31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3337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3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3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3334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46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33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52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3358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3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64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3355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67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33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73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3379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3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85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3376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91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3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97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3388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00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4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06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340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4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15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3421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4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27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3418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30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4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36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3442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34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48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3439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51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34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57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3460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4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66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472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34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78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3469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81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34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8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3493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34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99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3490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02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35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08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3514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35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0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3511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23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35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9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17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UNFINISHED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Unresolved experience keeps its hold on the present.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2859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MAY INCLUDE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37165"/>
            <a:ext cx="106680" cy="106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64054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Grief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33" y="2637165"/>
            <a:ext cx="106680" cy="106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77610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Anger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89" y="2637165"/>
            <a:ext cx="106680" cy="106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91165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Guilt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44" y="2637165"/>
            <a:ext cx="106680" cy="106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4721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Resentment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00" y="2637165"/>
            <a:ext cx="106680" cy="106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18276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Unmet needs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43589"/>
            <a:ext cx="121920" cy="121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38120" y="3169912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Can remain psychologically active in the present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11969"/>
            <a:ext cx="121920" cy="121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38120" y="4338292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interfere with healthy contact</a:t>
            </a:r>
          </a:p>
        </p:txBody>
      </p:sp>
      <p:pic>
        <p:nvPicPr>
          <p:cNvPr id="24" name="Picture 2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80349"/>
            <a:ext cx="121920" cy="121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38120" y="5506673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Therapy promotes awareness and processing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53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5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3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54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5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4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55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5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5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56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5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6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55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57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5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7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58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5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8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589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5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95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3601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36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07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3598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10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36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16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3622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36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28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3619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31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36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37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3643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36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49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3640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52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3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58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3664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36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70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3661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73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36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79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3685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36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91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3682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94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36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00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3706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37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12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3703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715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37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2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3727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7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3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3724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736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37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42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748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37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54" dur="420"/>
                            <p:tgtEl>
                              <p:spTgt spid="24"/>
                            </p:tgtEl>
                          </p:cBhvr>
                        </p:animEffect>
                        <p:animScale>
                          <p:cBhvr>
                            <p:cTn id="3745" dur="520" fill="hold"/>
                            <p:tgtEl>
                              <p:spTgt spid="2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757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37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63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18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00"/>
              </a:lnSpc>
              <a:buNone/>
            </a:pPr>
            <a:r>
              <a:rPr sz="5050" b="1" i="0">
                <a:solidFill>
                  <a:srgbClr val="4595C2"/>
                </a:solidFill>
                <a:latin typeface="Raleway"/>
              </a:rPr>
              <a:t>PERSONAL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00516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Owning your choices, without blame.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18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Recognising one's own choices and responses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80831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20715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agency and ownership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01991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12831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authentic decision making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123150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04947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Uses language that reflects personal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78" y="5577826"/>
            <a:ext cx="51297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39"/>
              </a:lnSpc>
              <a:buNone/>
            </a:pPr>
            <a:r>
              <a:rPr sz="1050" b="1" i="0" spc="132">
                <a:solidFill>
                  <a:srgbClr val="4595C2"/>
                </a:solidFill>
                <a:latin typeface="Poppins"/>
              </a:rPr>
              <a:t>RESPONSIBILITY IS OWNERSHIP  NOT BLAME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864" y="2240274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LANGUAGE IN PRACTICE</a:t>
            </a:r>
          </a:p>
        </p:txBody>
      </p:sp>
      <p:pic>
        <p:nvPicPr>
          <p:cNvPr id="19" name="Picture 18" descr="mark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864" y="2560314"/>
            <a:ext cx="137160" cy="1371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44" y="2529834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40"/>
              </a:lnSpc>
              <a:buNone/>
            </a:pPr>
            <a:r>
              <a:rPr sz="1750" b="0" i="0">
                <a:solidFill>
                  <a:srgbClr val="5F7E97"/>
                </a:solidFill>
                <a:latin typeface="Raleway"/>
              </a:rPr>
              <a:t>“You make me angry.”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44" y="2929006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8FA9BC"/>
                </a:solidFill>
                <a:latin typeface="Poppins"/>
              </a:rPr>
              <a:t>blames the other person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3371727"/>
            <a:ext cx="137160" cy="1371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37944" y="3341247"/>
            <a:ext cx="45079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40"/>
              </a:lnSpc>
              <a:buNone/>
            </a:pPr>
            <a:r>
              <a:rPr sz="1750" b="0" i="0">
                <a:solidFill>
                  <a:srgbClr val="33506B"/>
                </a:solidFill>
                <a:latin typeface="Raleway"/>
              </a:rPr>
              <a:t>“I notice that I become angry when…”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44" y="3740420"/>
            <a:ext cx="45079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8FA9BC"/>
                </a:solidFill>
                <a:latin typeface="Poppins"/>
              </a:rPr>
              <a:t>owns the experience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6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7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7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77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7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8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78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9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79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7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0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79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80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8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1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81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8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2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826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8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32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823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35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38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41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847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8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53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844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5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8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62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86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38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7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87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8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8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87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8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8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9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88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9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39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0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907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39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13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919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9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2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91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928" presetID="10" presetClass="entr" presetSubtype="0" fill="hold" grpId="0" nodeType="afterEffect">
                      <p:stCondLst>
                        <p:cond delay="860"/>
                      </p:stCondLst>
                      <p:childTnLst>
                        <p:set>
                          <p:cBhvr>
                            <p:cTn id="39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34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393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9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4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949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39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55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3946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958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39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64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3967" presetID="10" presetClass="entr" presetSubtype="0" fill="hold" grpId="0" nodeType="afterEffect">
                      <p:stCondLst>
                        <p:cond delay="1130"/>
                      </p:stCondLst>
                      <p:childTnLst>
                        <p:set>
                          <p:cBhvr>
                            <p:cTn id="39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73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976" presetID="10" presetClass="entr" presetSubtype="0" fill="hold" grpId="0" nodeType="afterEffect">
                      <p:stCondLst>
                        <p:cond delay="1210"/>
                      </p:stCondLst>
                      <p:childTnLst>
                        <p:set>
                          <p:cBhvr>
                            <p:cTn id="39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82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19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ROLE OF THE GESTALT COUNSELLOR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companion in the client's present experience.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19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Facilitates awareness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33230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35955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present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506790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43311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Observes verbal and non verbal behaviour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80349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50667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Uses the therapeutic relationship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9671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authentic expression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433230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35955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Explores interruptions in contact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506790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443311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responsibility and choice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8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9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9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99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9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0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00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0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0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01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0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2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01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02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0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03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0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04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0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5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04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5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0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6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06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0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7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06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7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0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8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08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0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9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08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9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0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0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10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1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1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10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1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1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129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41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3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12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38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41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4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150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41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56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147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59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41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65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171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41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7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16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80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41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86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20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GESTALT THERAPEUTIC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85496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Nine experiments that turn talking into experiencing.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20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47485"/>
            <a:ext cx="114300" cy="114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88743" y="266999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Empty chair technique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2747485"/>
            <a:ext cx="114300" cy="114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70134" y="266999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Two chair dialogue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2747485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51525" y="266999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Exaggeration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22596"/>
            <a:ext cx="114300" cy="114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88743" y="394510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Staying with the feeling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4022596"/>
            <a:ext cx="114300" cy="1143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70134" y="394510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Role play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4022596"/>
            <a:ext cx="114300" cy="114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51525" y="394510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Body awareness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297707"/>
            <a:ext cx="114300" cy="1143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88743" y="5220220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“I” statements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5297707"/>
            <a:ext cx="114300" cy="114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670134" y="5220220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Dream work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5297707"/>
            <a:ext cx="114300" cy="1143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51525" y="5220220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Here and now questioning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18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1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95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198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2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04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20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2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13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219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2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25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216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28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2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34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237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2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3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24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2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55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246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58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2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64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270" presetID="10" presetClass="entr" presetSubtype="0" fill="hold" grpId="0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42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76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267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79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42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85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291" presetID="10" presetClass="entr" presetSubtype="0" fill="hold" grpId="0" nodeType="afterEffect">
                      <p:stCondLst>
                        <p:cond delay="630"/>
                      </p:stCondLst>
                      <p:childTnLst>
                        <p:set>
                          <p:cBhvr>
                            <p:cTn id="42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97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288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00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3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06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312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3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18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309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21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43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27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333" presetID="10" presetClass="entr" presetSubtype="0" fill="hold" grpId="0" nodeType="afterEffect">
                      <p:stCondLst>
                        <p:cond delay="810"/>
                      </p:stCondLst>
                      <p:childTnLst>
                        <p:set>
                          <p:cBhvr>
                            <p:cTn id="43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39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330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42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43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48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354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3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60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351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63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3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69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375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43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81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372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84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43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90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4396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43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02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4393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05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44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11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417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44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23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4414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26" presetID="10" presetClass="entr" presetSubtype="0" fill="hold" grpId="0" nodeType="afterEffect">
                      <p:stCondLst>
                        <p:cond delay="1240"/>
                      </p:stCondLst>
                      <p:childTnLst>
                        <p:set>
                          <p:cBhvr>
                            <p:cTn id="44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32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21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EMPTY CHAIR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Speaking to the person who is not in the room.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21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client imagines another person in the empty chair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66383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2792706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Speaks directly to the imagined person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73094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299418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Brings unresolved experience into present awareness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879806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3806129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Facilitates expression of unfinished emotions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386518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8120" y="4312841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open new awareness and perspectives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82" y="2133595"/>
            <a:ext cx="155447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009"/>
              </a:lnSpc>
              <a:buNone/>
            </a:pPr>
            <a:r>
              <a:rPr sz="7200" b="1" i="0">
                <a:solidFill>
                  <a:srgbClr val="4595C2"/>
                </a:solidFill>
                <a:latin typeface="Raleway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21" y="3069961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70"/>
              </a:lnSpc>
              <a:buNone/>
            </a:pPr>
            <a:r>
              <a:rPr sz="1900" b="0" i="0">
                <a:solidFill>
                  <a:srgbClr val="33506B"/>
                </a:solidFill>
                <a:latin typeface="Raleway"/>
              </a:rPr>
              <a:t>Imagine your father is sitting in that chair. What would you want him to hear from you?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21" y="4370994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EXAMPLE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78" y="485643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 SETUP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8" y="5100273"/>
            <a:ext cx="226953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4192" y="5100273"/>
            <a:ext cx="226953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Imagined person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43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4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4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44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4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45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4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46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4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7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46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47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4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8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48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4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8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49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4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0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49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0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5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1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51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5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2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51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2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5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3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53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5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4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53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4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5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5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55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5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6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55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6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5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7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579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5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8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57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88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5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94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4597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6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03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609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6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15" dur="620"/>
                            <p:tgtEl>
                              <p:spTgt spid="20"/>
                            </p:tgtEl>
                          </p:cBhvr>
                        </p:animEffect>
                        <p:anim calcmode="lin" valueType="num">
                          <p:cBhvr additive="base">
                            <p:cTn id="4606" dur="52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618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46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24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4627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46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3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463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46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42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4645" presetID="10" presetClass="entr" presetSubtype="0" fill="hold" grpId="0" nodeType="afterEffect">
                      <p:stCondLst>
                        <p:cond delay="1540"/>
                      </p:stCondLst>
                      <p:childTnLst>
                        <p:set>
                          <p:cBhvr>
                            <p:cTn id="46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51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22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OTHER EXPERIENTIAL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each experiment is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22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34262"/>
            <a:ext cx="114300" cy="114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3432" y="2356775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Two chair dialogue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434262"/>
            <a:ext cx="114300" cy="114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47418" y="2356775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opposing parts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93460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13432" y="3015973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Exaggeration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093460"/>
            <a:ext cx="114300" cy="114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47418" y="3015973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Increase awareness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52659"/>
            <a:ext cx="114300" cy="1143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3432" y="3675172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Staying with the feeling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52659"/>
            <a:ext cx="114300" cy="114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47418" y="3675172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emerging emotions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11857"/>
            <a:ext cx="114300" cy="1143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13432" y="4334370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Body awareness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411857"/>
            <a:ext cx="114300" cy="114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47418" y="4334370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Notice physical experience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071055"/>
            <a:ext cx="114300" cy="1143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13432" y="4993569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“I” statements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071055"/>
            <a:ext cx="114300" cy="1143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47418" y="4993569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Own personal experience</a:t>
            </a:r>
          </a:p>
        </p:txBody>
      </p:sp>
      <p:pic>
        <p:nvPicPr>
          <p:cNvPr id="29" name="Picture 2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30254"/>
            <a:ext cx="114300" cy="1143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13432" y="5652767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Dream work</a:t>
            </a:r>
          </a:p>
        </p:txBody>
      </p:sp>
      <p:pic>
        <p:nvPicPr>
          <p:cNvPr id="31" name="Picture 3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730254"/>
            <a:ext cx="114300" cy="1143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47418" y="5652767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present meaning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65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6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66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6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67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6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7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68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6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9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68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69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6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9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70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7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0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71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7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20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711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26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7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3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72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35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7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41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747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47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5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74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5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7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6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76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7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7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76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77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47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8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789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47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9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78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98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8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04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810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8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16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807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19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8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2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831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48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3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82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40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8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46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852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8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58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4849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61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48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67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4873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48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79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4870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82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8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88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894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8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00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4891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03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49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09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4915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49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21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4912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24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9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30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4936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9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42" dur="420"/>
                            <p:tgtEl>
                              <p:spTgt spid="31"/>
                            </p:tgtEl>
                          </p:cBhvr>
                        </p:animEffect>
                        <p:animScale>
                          <p:cBhvr>
                            <p:cTn id="4933" dur="520" fill="hold"/>
                            <p:tgtEl>
                              <p:spTgt spid="3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45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49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51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  <p:par>
                    <p:cTn id="4954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9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60" dur="52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23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370"/>
              </a:lnSpc>
              <a:buNone/>
            </a:pPr>
            <a:r>
              <a:rPr sz="4450" b="1" i="0">
                <a:solidFill>
                  <a:srgbClr val="4595C2"/>
                </a:solidFill>
                <a:latin typeface="Raleway"/>
              </a:rPr>
              <a:t>APPLICATION IN COUNSELLING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94972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Gestalt therapy can be applied to the following areas.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23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28426"/>
            <a:ext cx="114300" cy="114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88743" y="2350939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Grief and loss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2428426"/>
            <a:ext cx="114300" cy="114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13131" y="2350939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Relationship difficulties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18048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88743" y="3040561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Anxiety and emotional distress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3118048"/>
            <a:ext cx="114300" cy="114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13131" y="3040561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Unresolved anger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807670"/>
            <a:ext cx="114300" cy="1143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88743" y="3730183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Identity concerns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3807670"/>
            <a:ext cx="114300" cy="114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13131" y="3730183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Emotional expression difficulties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97292"/>
            <a:ext cx="114300" cy="1143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88743" y="4419805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Personal growth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4497292"/>
            <a:ext cx="114300" cy="114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13131" y="4419805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Unresolved interpersonal experiences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529230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THERAPEUTIC MOVEMENT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478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Awareness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27702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Contact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2926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Responsibility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8150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3374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Growth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96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9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69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97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78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98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87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993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9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99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990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002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0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08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01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0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17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02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0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29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020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32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50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38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044" presetID="10" presetClass="entr" presetSubtype="0" fill="hold" grpId="0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50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50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041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53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50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59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065" presetID="10" presetClass="entr" presetSubtype="0" fill="hold" grpId="0" nodeType="afterEffect">
                      <p:stCondLst>
                        <p:cond delay="630"/>
                      </p:stCondLst>
                      <p:childTnLst>
                        <p:set>
                          <p:cBhvr>
                            <p:cTn id="50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71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5062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7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0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80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5086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50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92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5083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95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50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01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5107" presetID="10" presetClass="entr" presetSubtype="0" fill="hold" grpId="0" nodeType="afterEffect">
                      <p:stCondLst>
                        <p:cond delay="810"/>
                      </p:stCondLst>
                      <p:childTnLst>
                        <p:set>
                          <p:cBhvr>
                            <p:cTn id="51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13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5104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16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51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22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5128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1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34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5125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37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51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3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5149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51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55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5146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58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51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64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5170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51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76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5167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79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51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85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5188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5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94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5197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52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03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5206" presetID="10" presetClass="entr" presetSubtype="0" fill="hold" grpId="0" nodeType="afterEffect">
                      <p:stCondLst>
                        <p:cond delay="1540"/>
                      </p:stCondLst>
                      <p:childTnLst>
                        <p:set>
                          <p:cBhvr>
                            <p:cTn id="52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12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5215" presetID="10" presetClass="entr" presetSubtype="0" fill="hold" grpId="0" nodeType="afterEffect">
                      <p:stCondLst>
                        <p:cond delay="1680"/>
                      </p:stCondLst>
                      <p:childTnLst>
                        <p:set>
                          <p:cBhvr>
                            <p:cTn id="52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21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5224" presetID="10" presetClass="entr" presetSubtype="0" fill="hold" grpId="0" nodeType="afterEffect">
                      <p:stCondLst>
                        <p:cond delay="1820"/>
                      </p:stCondLst>
                      <p:childTnLst>
                        <p:set>
                          <p:cBhvr>
                            <p:cTn id="52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30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5233" presetID="10" presetClass="entr" presetSubtype="0" fill="hold" grpId="0" nodeType="afterEffect">
                      <p:stCondLst>
                        <p:cond delay="1960"/>
                      </p:stCondLst>
                      <p:childTnLst>
                        <p:set>
                          <p:cBhvr>
                            <p:cTn id="52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39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24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STRENGTHS OF GESTALT THERAPY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this approach does particularly well.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24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self awareness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84030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41035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lived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08390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53471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agency and responsibility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32749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659072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Integrates mind, emotion and body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9671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Considers person and environment interaction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829243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755567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active client participation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298816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522513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Supports experiential emotional processing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24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2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4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25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2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5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26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2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6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27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2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7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26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28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2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8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29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2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9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30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3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08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299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11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53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17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323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53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29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320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32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53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38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344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53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50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5341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53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53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59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5365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53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71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5362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74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53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80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5386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53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92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5383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95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53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01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5407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54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13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5404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416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54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2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5428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54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34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5425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437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54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4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25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00"/>
              </a:lnSpc>
              <a:buNone/>
            </a:pPr>
            <a:r>
              <a:rPr sz="5050" b="1" i="0">
                <a:solidFill>
                  <a:srgbClr val="4595C2"/>
                </a:solidFill>
                <a:latin typeface="Raleway"/>
              </a:rPr>
              <a:t>LIMITATIONS AND CRITICISMS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00516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Honest considerations for careful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25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Some techniques may feel intense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63793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290116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Requires skilled and sensitive application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367914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294238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challenge clients who prefer highly structured approaches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56549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582872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Experiential techniques can be misused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9671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Not every intervention suits every client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829243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755567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Cultural context must be considered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298816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5225139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Ethical boundaries are essential</a:t>
            </a:r>
          </a:p>
        </p:txBody>
      </p:sp>
    </p:spTree>
  </p:cSld>
  <p:transition spd="slow" advOnClk="1" advTm="0">
    <p:wipe dir="l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4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4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5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45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4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6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46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4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7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47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4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8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47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48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4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9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49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4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0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50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5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12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503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15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55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21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527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55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33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524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36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55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4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548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55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54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5545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57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55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6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5569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55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7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556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78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55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84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5590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5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96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5587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9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56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0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5611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56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17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5608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620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56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26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5632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56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38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5629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641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56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47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26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THE STORY OF AMINA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32 year old administrative officer overwhelmed by workload.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184" y="2285994"/>
            <a:ext cx="155447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440"/>
              </a:lnSpc>
              <a:buNone/>
            </a:pPr>
            <a:r>
              <a:rPr sz="6600" b="1" i="0">
                <a:solidFill>
                  <a:srgbClr val="4595C2"/>
                </a:solidFill>
                <a:latin typeface="Raleway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383" y="3134906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30"/>
              </a:lnSpc>
              <a:buNone/>
            </a:pPr>
            <a:r>
              <a:rPr sz="1750" b="0" i="0">
                <a:solidFill>
                  <a:srgbClr val="33506B"/>
                </a:solidFill>
                <a:latin typeface="Raleway"/>
              </a:rPr>
              <a:t>A good employee should never disappoint the people who depend on 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383" y="4358134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AMINA'S OWN 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383" y="4556253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89"/>
              </a:lnSpc>
              <a:buNone/>
            </a:pPr>
            <a:r>
              <a:rPr sz="1100" b="0" i="0">
                <a:solidFill>
                  <a:srgbClr val="5F7E97"/>
                </a:solidFill>
                <a:latin typeface="Poppins"/>
              </a:rPr>
              <a:t>Supervisor frequently assigns additional duties, she usually accepts even when she has insufficient time.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46334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228599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Amina, 32, administrative officer seeks counselling for feeling overwhelmed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59524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299918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Supervisor frequently assigns additional duties, she accepts even when time is insufficient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72714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8120" y="371237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Fears that refusing will make her appear irresponsible or uncooperative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85904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38120" y="442556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Reports frequent muscle tension, difficulty sleeping and frustration rarely expressed openly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199093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38120" y="5138753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When discussing anger she laughs and quickly changes the subject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912283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38120" y="5851943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Criticises herself for feeling tired, believes she should be able to manage everything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50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6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56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65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6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65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668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6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74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680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6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86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677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689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6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95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698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7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04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710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7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16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5707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719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57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25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572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7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34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5740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7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4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573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749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7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5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5761" presetID="22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7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67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5758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773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7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79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5770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782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57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88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5794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57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00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5791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803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58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09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5812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58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1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5821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8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27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833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8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39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5830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842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58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48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5854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58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60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5851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863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58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69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27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GESTALT FORMULATION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Reading Amina's experience as an interconnected whole.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2859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THROUGH THE GESTALT LENS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555248"/>
            <a:ext cx="121920" cy="121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8120" y="249935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Awareness and here and now: bodily tension, anxiety, anger and self critical thoughts when anticipating disappointing others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24290"/>
            <a:ext cx="121920" cy="12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38120" y="3868396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Introjection: belief that a good employee must never disappoint, an internalised rule not fully examined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044383"/>
            <a:ext cx="121920" cy="121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38120" y="4988488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Retroflection: directs frustration inward as self criticism rather than exploring workload concerns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555248"/>
            <a:ext cx="121920" cy="1219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72107" y="249935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Deflection: laughter and rapid subject changes when discussing anger, difficulty staying with emotion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924290"/>
            <a:ext cx="121920" cy="121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72107" y="3868396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Organismic self regulation: fatigue and tension signal needs for rest and manageable demands not being met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044383"/>
            <a:ext cx="121920" cy="121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72107" y="4988488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Field theory: workplace expectations, power differences, job security and organisational culture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78" y="5730226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Amina's difficulty cannot be understood solely as an individual problem, the field matters as much as the person.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87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8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7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88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8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8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89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8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9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90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9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0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89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91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9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1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92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9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2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929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9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35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5941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9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47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5938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50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9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56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5962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9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68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5959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71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59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77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5983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59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89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5980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9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59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01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5992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004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0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10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013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60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19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6025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60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31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6022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034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60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40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6046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60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52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6043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055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60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6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6064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0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70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28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GOALS, INTERVENTIONS AND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12823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From awareness to deliberate choice, with attention to workplace realities.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65873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THERAPEUTIC GOALS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23543"/>
            <a:ext cx="121920" cy="121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8120" y="28720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Help Amina recognise emotional and bodily responses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11733"/>
            <a:ext cx="121920" cy="12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38120" y="326028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Examine the rule that she must never disappoint others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99923"/>
            <a:ext cx="121920" cy="121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38120" y="364847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Identify realistic choices for responding to workplace demands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65" y="265873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INTERVENTIONS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923543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8720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Body awareness: “What happens in your body when you imagine telling your supervisor you cannot take another assignment?”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91849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74040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Explore belief: “What does responsibility mean to you?”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180039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412859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Two chair exercise if willing: part demanding constant performance versus part needing rest and fairness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808287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72107" y="4756838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Practical planning: prioritise tasks, clarify deadlines, discuss capacity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541983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EXPECTED OUTCOMES</a:t>
            </a:r>
          </a:p>
        </p:txBody>
      </p:sp>
      <p:pic>
        <p:nvPicPr>
          <p:cNvPr id="26" name="Picture 2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54162"/>
            <a:ext cx="121920" cy="1219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38120" y="5602713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Greater ability to recognise needs and evaluate internalised expectations</a:t>
            </a:r>
          </a:p>
        </p:txBody>
      </p:sp>
      <p:pic>
        <p:nvPicPr>
          <p:cNvPr id="28" name="Picture 2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6030008"/>
            <a:ext cx="121920" cy="1219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138120" y="5978559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Deliberate decisions based on responsibilities, limits and workplace conditions</a:t>
            </a:r>
          </a:p>
        </p:txBody>
      </p:sp>
      <p:pic>
        <p:nvPicPr>
          <p:cNvPr id="30" name="Picture 2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6405854"/>
            <a:ext cx="121920" cy="1219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38120" y="6354405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Shows how Gestalt integrates awareness, contact patterns, self regulation and field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07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0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79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608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0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88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609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0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97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6103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61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09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6100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112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61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18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612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1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27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6130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61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36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6142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61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48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6139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151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61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57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6163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61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69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6160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172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61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78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6181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61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87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6193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61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99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6190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0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62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1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620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14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2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20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223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62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29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6235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62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41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6232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44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62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50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6256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62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62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6253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65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62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71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6277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62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83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6274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8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2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92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6295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62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01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6307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63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13" dur="420"/>
                            <p:tgtEl>
                              <p:spTgt spid="26"/>
                            </p:tgtEl>
                          </p:cBhvr>
                        </p:animEffect>
                        <p:animScale>
                          <p:cBhvr>
                            <p:cTn id="6304" dur="520" fill="hold"/>
                            <p:tgtEl>
                              <p:spTgt spid="2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316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63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22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6328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63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34" dur="420"/>
                            <p:tgtEl>
                              <p:spTgt spid="28"/>
                            </p:tgtEl>
                          </p:cBhvr>
                        </p:animEffect>
                        <p:animScale>
                          <p:cBhvr>
                            <p:cTn id="6325" dur="520" fill="hold"/>
                            <p:tgtEl>
                              <p:spTgt spid="2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337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63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43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6349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63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55" dur="420"/>
                            <p:tgtEl>
                              <p:spTgt spid="30"/>
                            </p:tgtEl>
                          </p:cBhvr>
                        </p:animEffect>
                        <p:animScale>
                          <p:cBhvr>
                            <p:cTn id="6346" dur="520" fill="hold"/>
                            <p:tgtEl>
                              <p:spTgt spid="3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358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63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64" dur="520"/>
                            <p:tgtEl>
                              <p:spTgt spid="3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29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CRITICAL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the theory contributes and what it asks of the therapist.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63427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CONTRIBUTIONS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65" y="2363427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CONSIDERATIONS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87292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2622506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Holistic understanding of human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47006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382220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Strong emphasis on awareness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06720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141935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Integrates body, emotion and cognition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66435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8120" y="4901649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Recognises person and environment interaction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26149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38120" y="566136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Promotes agency and authentic choice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687292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2622506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Cultural adaptation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447006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72107" y="338222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Client readiness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206720"/>
            <a:ext cx="121920" cy="121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72107" y="4141935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Therapist competence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966435"/>
            <a:ext cx="121920" cy="121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72107" y="490164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Appropriate use of experiential techniques</a:t>
            </a:r>
          </a:p>
        </p:txBody>
      </p:sp>
      <p:pic>
        <p:nvPicPr>
          <p:cNvPr id="29" name="Picture 2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726149"/>
            <a:ext cx="121920" cy="121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2107" y="566136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Balance between present and past experience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6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3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7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637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3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8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638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3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9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639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64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0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639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40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64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1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641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4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2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642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4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30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6436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64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4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643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45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64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5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6457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64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6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645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66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64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7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6475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64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81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648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64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93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6484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9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64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02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650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65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14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6505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52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65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26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6517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52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5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3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6538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5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44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6550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65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56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6547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56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65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68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6559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571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65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77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6580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65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86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6592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65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98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6589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01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66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07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6613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66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19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6610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22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66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28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6634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6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40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6631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43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66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49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CFE9F8"/>
                </a:solidFill>
                <a:latin typeface="Raleway"/>
              </a:rPr>
              <a:t>30</a:t>
            </a:r>
            <a:r>
              <a:rPr sz="1050" b="1" i="0" spc="156">
                <a:solidFill>
                  <a:srgbClr val="D8EBF7"/>
                </a:solidFill>
                <a:latin typeface="Poppins"/>
              </a:rPr>
              <a:t>    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FFFFFF"/>
                </a:solidFill>
                <a:latin typeface="Raleway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D8EBF7"/>
                </a:solidFill>
                <a:latin typeface="Poppins"/>
              </a:rPr>
              <a:t>Greater awareness creates greater possibilities for choice and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B7D6E9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B7D6E9"/>
                </a:solidFill>
                <a:latin typeface="Poppins"/>
              </a:rPr>
              <a:t>30</a:t>
            </a:r>
          </a:p>
        </p:txBody>
      </p:sp>
      <p:pic>
        <p:nvPicPr>
          <p:cNvPr id="9" name="Picture 8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70840"/>
            <a:ext cx="114300" cy="114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03957" y="2325465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FFFFFF"/>
                </a:solidFill>
                <a:latin typeface="Raleway"/>
              </a:rPr>
              <a:t>AWARENESS</a:t>
            </a:r>
          </a:p>
        </p:txBody>
      </p:sp>
      <p:pic>
        <p:nvPicPr>
          <p:cNvPr id="11" name="Picture 10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12161"/>
            <a:ext cx="114300" cy="114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03957" y="3166786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FFFFFF"/>
                </a:solidFill>
                <a:latin typeface="Raleway"/>
              </a:rPr>
              <a:t>HERE AND NOW</a:t>
            </a:r>
          </a:p>
        </p:txBody>
      </p:sp>
      <p:pic>
        <p:nvPicPr>
          <p:cNvPr id="13" name="Picture 12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53481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3957" y="4008106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FFFFFF"/>
                </a:solidFill>
                <a:latin typeface="Raleway"/>
              </a:rPr>
              <a:t>CONTACT</a:t>
            </a:r>
          </a:p>
        </p:txBody>
      </p:sp>
      <p:pic>
        <p:nvPicPr>
          <p:cNvPr id="15" name="Picture 14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94802"/>
            <a:ext cx="114300" cy="114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03957" y="4849427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FFFFFF"/>
                </a:solidFill>
                <a:latin typeface="Raleway"/>
              </a:rPr>
              <a:t>RESPONSIBILITY AND CHOICE</a:t>
            </a:r>
          </a:p>
        </p:txBody>
      </p:sp>
      <p:pic>
        <p:nvPicPr>
          <p:cNvPr id="17" name="Picture 16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63217"/>
            <a:ext cx="152400" cy="15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03957" y="5498316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00"/>
              </a:lnSpc>
              <a:buNone/>
            </a:pPr>
            <a:r>
              <a:rPr sz="2450" b="1" i="0">
                <a:solidFill>
                  <a:srgbClr val="FFFFFF"/>
                </a:solidFill>
                <a:latin typeface="Raleway"/>
              </a:rPr>
              <a:t>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61" y="4731555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  <a:buNone/>
            </a:pPr>
            <a:r>
              <a:rPr sz="1650" b="0" i="0">
                <a:solidFill>
                  <a:srgbClr val="FFFFFF"/>
                </a:solidFill>
                <a:latin typeface="Raleway"/>
              </a:rPr>
              <a:t>Therapeutic change begins with noticing what is happening now.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5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5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666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6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6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667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6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7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668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66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8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667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69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66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9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670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7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0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671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7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18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6709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724" presetID="22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67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30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6721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736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67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4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673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748" presetID="22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67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54" dur="620"/>
                            <p:tgtEl>
                              <p:spTgt spid="12"/>
                            </p:tgtEl>
                          </p:cBhvr>
                        </p:animEffect>
                        <p:anim calcmode="lin" valueType="num">
                          <p:cBhvr additive="base">
                            <p:cTn id="6745" dur="520" fill="hold"/>
                            <p:tgtEl>
                              <p:spTgt spid="1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760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67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66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6757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772" presetID="22" presetClass="entr" presetSubtype="0" fill="hold" grpId="0" nodeType="afterEffect">
                      <p:stCondLst>
                        <p:cond delay="840"/>
                      </p:stCondLst>
                      <p:childTnLst>
                        <p:set>
                          <p:cBhvr>
                            <p:cTn id="67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78" dur="620"/>
                            <p:tgtEl>
                              <p:spTgt spid="14"/>
                            </p:tgtEl>
                          </p:cBhvr>
                        </p:animEffect>
                        <p:anim calcmode="lin" valueType="num">
                          <p:cBhvr additive="base">
                            <p:cTn id="6769" dur="520" fill="hold"/>
                            <p:tgtEl>
                              <p:spTgt spid="14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784" presetID="10" presetClass="entr" presetSubtype="0" fill="hold" grpId="0" nodeType="afterEffect">
                      <p:stCondLst>
                        <p:cond delay="930"/>
                      </p:stCondLst>
                      <p:childTnLst>
                        <p:set>
                          <p:cBhvr>
                            <p:cTn id="6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9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678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796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67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02" dur="620"/>
                            <p:tgtEl>
                              <p:spTgt spid="16"/>
                            </p:tgtEl>
                          </p:cBhvr>
                        </p:animEffect>
                        <p:anim calcmode="lin" valueType="num">
                          <p:cBhvr additive="base">
                            <p:cTn id="6793" dur="520" fill="hold"/>
                            <p:tgtEl>
                              <p:spTgt spid="1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808" presetID="10" presetClass="entr" presetSubtype="0" fill="hold" grpId="0" nodeType="afterEffect">
                      <p:stCondLst>
                        <p:cond delay="1090"/>
                      </p:stCondLst>
                      <p:childTnLst>
                        <p:set>
                          <p:cBhvr>
                            <p:cTn id="68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14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6805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820" presetID="22" presetClass="entr" presetSubtype="0" fill="hold" grpId="0" nodeType="afterEffect">
                      <p:stCondLst>
                        <p:cond delay="1160"/>
                      </p:stCondLst>
                      <p:childTnLst>
                        <p:set>
                          <p:cBhvr>
                            <p:cTn id="68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26" dur="620"/>
                            <p:tgtEl>
                              <p:spTgt spid="18"/>
                            </p:tgtEl>
                          </p:cBhvr>
                        </p:animEffect>
                        <p:anim calcmode="lin" valueType="num">
                          <p:cBhvr additive="base">
                            <p:cTn id="6817" dur="52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832" presetID="22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68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38" dur="620"/>
                            <p:tgtEl>
                              <p:spTgt spid="19"/>
                            </p:tgtEl>
                          </p:cBhvr>
                        </p:animEffect>
                        <p:anim calcmode="lin" valueType="num">
                          <p:cBhvr additive="base">
                            <p:cTn id="6829" dur="52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31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31</a:t>
            </a:r>
          </a:p>
        </p:txBody>
      </p:sp>
      <p:pic>
        <p:nvPicPr>
          <p:cNvPr id="8" name="Picture 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272674"/>
            <a:ext cx="99060" cy="990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4054" y="2209794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Brownell, P. (2010). Gestalt therapy: A guide to contemporary practice. Springer.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90637"/>
            <a:ext cx="99060" cy="990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64054" y="2827758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Corey, G. (2024). Theory and practice of counseling and psychotherapy (11th ed.). Cengage.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08600"/>
            <a:ext cx="99060" cy="990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4054" y="3445721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Joyce, P., and Sills, C. (2014). Skills in Gestalt counselling and psychotherapy (3rd ed.). SAGE.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26564"/>
            <a:ext cx="99060" cy="990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64054" y="4063685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Perls, F. S., Hefferline, R. F., and Goodman, P. (1951). Gestalt therapy: Excitement and growth in the human personality. Julian Press.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84585"/>
            <a:ext cx="99060" cy="990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64054" y="4921706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Woldt, A. L., and Toman, S. M. (2005). Gestalt therapy: History, theory, and practice. SAGE.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02548"/>
            <a:ext cx="99060" cy="990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64054" y="5539669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Yontef, G., and Fuhr, R. (2005). Gestalt therapy theory of change. In Woldt and Toman (Eds.), Gestalt therapy: History, theory, and practice (pp. 81 to 100). SAGE.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4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8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4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685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8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5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685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8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65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687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68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7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686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883" presetID="10" presetClass="entr" presetSubtype="0" fill="hold" grpId="0" nodeType="afterEffect">
                      <p:stCondLst>
                        <p:cond delay="400"/>
                      </p:stCondLst>
                      <p:childTnLst>
                        <p:set>
                          <p:cBhvr>
                            <p:cTn id="68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89" dur="420"/>
                            <p:tgtEl>
                              <p:spTgt spid="8"/>
                            </p:tgtEl>
                          </p:cBhvr>
                        </p:animEffect>
                        <p:animScale>
                          <p:cBhvr>
                            <p:cTn id="6880" dur="520" fill="hold"/>
                            <p:tgtEl>
                              <p:spTgt spid="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89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8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9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6901" presetID="10" presetClass="entr" presetSubtype="0" fill="hold" grpId="0" nodeType="afterEffect">
                      <p:stCondLst>
                        <p:cond delay="470"/>
                      </p:stCondLst>
                      <p:childTnLst>
                        <p:set>
                          <p:cBhvr>
                            <p:cTn id="69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0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6913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69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19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6910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922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69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28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6934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69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40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6931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943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69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49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6955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69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61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6952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964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69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70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976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69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82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6973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985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9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91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6997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70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003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6994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7006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70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012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