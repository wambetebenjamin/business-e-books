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70" cy="6857983" type="screen4x3"/>
  <p:notesSz cx="6858000" cy="9144000"/>
  <p:embeddedFontLst>
    <p:embeddedFont>
      <p:font typeface="Poppins" charset="1" panose="00000500000000000000"/>
      <p:regular r:id="rIdFont1a"/>
      <p:bold r:id="rIdFont1b"/>
    </p:embeddedFont>
    <p:embeddedFont>
      <p:font typeface="Raleway" charset="1" panose="00000000000000000000"/>
      <p:regular r:id="rIdFont2a"/>
      <p:bold r:id="rIdFont2b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Font1a" Type="http://schemas.openxmlformats.org/officeDocument/2006/relationships/font" Target="fonts/font17.fntdata"/><Relationship Id="rIdFont1b" Type="http://schemas.openxmlformats.org/officeDocument/2006/relationships/font" Target="fonts/font19.fntdata"/><Relationship Id="rIdFont2a" Type="http://schemas.openxmlformats.org/officeDocument/2006/relationships/font" Target="fonts/font18.fntdata"/><Relationship Id="rIdFont2b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png"/><Relationship Id="rId4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pn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59435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16">
                <a:solidFill>
                  <a:srgbClr val="CFE9F8"/>
                </a:solidFill>
                <a:latin typeface="Poppin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905826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02698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791009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80">
                <a:solidFill>
                  <a:srgbClr val="CFE9F8"/>
                </a:solidFill>
                <a:latin typeface="Raleway"/>
              </a:rPr>
              <a:t>AND ITS APPLICATION TO COUNSELLING</a:t>
            </a:r>
          </a:p>
        </p:txBody>
      </p:sp>
      <p:pic>
        <p:nvPicPr>
          <p:cNvPr id="8" name="Picture 7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4395"/>
            <a:ext cx="137160" cy="137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352975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B7D6E9"/>
                </a:solidFill>
                <a:latin typeface="Poppins"/>
              </a:rPr>
              <a:t>PRESENTED BY</a:t>
            </a:r>
          </a:p>
        </p:txBody>
      </p:sp>
      <p:pic>
        <p:nvPicPr>
          <p:cNvPr id="10" name="Picture 9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57774"/>
            <a:ext cx="114300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61967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64253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MACP/35996/0/26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47334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90923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93209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MACP/35785/4/26</a:t>
            </a:r>
          </a:p>
        </p:txBody>
      </p:sp>
      <p:pic>
        <p:nvPicPr>
          <p:cNvPr id="16" name="Picture 15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36893"/>
            <a:ext cx="114300" cy="114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19879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221653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42339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20825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47400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89839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16414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 spc="180">
                <a:solidFill>
                  <a:srgbClr val="B7D6E9"/>
                </a:solidFill>
                <a:latin typeface="Poppins"/>
              </a:rPr>
              <a:t>AWARENESS    PRESENCE    CONTACT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68562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285994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Emphasizes awareness, present experience and contact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6194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3432" y="3353626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382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421258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personal responsibility, choice and authentic living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71458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3432" y="5488890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the client's experience in the here and now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14184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36061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Emerged during the 1940s and 1950s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54475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176353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6983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INFLUENCED BY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14601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014601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12047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4014601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60039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Existential philosophy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3252"/>
            <a:ext cx="106680" cy="106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4054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40325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2047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491761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78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8049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131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4580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therapy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4300"/>
            <a:ext cx="1188717" cy="1188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35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5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5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founder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4782492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2834300"/>
            <a:ext cx="1188717" cy="11887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0226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0226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0226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contributor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4782492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94823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2834300"/>
            <a:ext cx="1188717" cy="118871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1617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1617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17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Co author of the 1951 text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4782492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76214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Shaped the theoretical formulation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are best understood as whole persons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891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1551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Human experience is influenced by the environment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0322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62955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 is central to psychological growth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Experience unfolds in the present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have capacity for choice and self regulation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04621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97253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functioning involves meaningful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44823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37455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Psychological difficulties may involve interruptions in awareness or contact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5714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NOTICING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8626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Thoughts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88626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Feelings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88626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Bodily sensations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88626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Behaviour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88626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316485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PROCESS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02061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342393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5291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4374795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4214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271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Change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45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FOCUS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67287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593611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the client's present experience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0125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4406448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233453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PAST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667287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507" y="2593611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Past experiences are explored through their current impact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448012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4507" y="4406448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therapeutic relationship offers present moment awareness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4827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5702"/>
            <a:ext cx="93629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direct experience rather than excessive intellectual analysis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438394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48995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00"/>
              </a:lnSpc>
              <a:buNone/>
            </a:pPr>
            <a:r>
              <a:rPr sz="1200" b="1" i="0" spc="144">
                <a:solidFill>
                  <a:srgbClr val="33506B"/>
                </a:solidFill>
                <a:latin typeface="Poppin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70331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80"/>
              </a:lnSpc>
              <a:buNone/>
            </a:pPr>
            <a:r>
              <a:rPr sz="1250" b="0" i="0">
                <a:solidFill>
                  <a:srgbClr val="5F7E97"/>
                </a:solidFill>
                <a:latin typeface="Ralew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513586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30"/>
              </a:lnSpc>
              <a:buNone/>
            </a:pPr>
            <a:r>
              <a:rPr sz="1050" b="1" i="0" spc="180">
                <a:solidFill>
                  <a:srgbClr val="5F7E97"/>
                </a:solidFill>
                <a:latin typeface="Poppin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225551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810439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397873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952798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The surrounding context and experiences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36752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14908" y="4311632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Needs and concerns move between figure and ground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013557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14908" y="4957663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The figure changes as circumstances change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4106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14908" y="5354744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reveals what matters most right now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3241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5873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8196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451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contact boundary is the point at which the two meet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0398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93030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contact addresses needs while keeping a sense of self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3976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6608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involves engaging, responding and withdrawing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555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52018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Environment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BOUNDARY DISTURBANCES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How awareness, contact and the self environment connection become restricted.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0780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Patterns through which awareness or contact becomes restricted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0644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04165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Also described as interruptions or resistances to contact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6210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79731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May develop as coping and serve a protective function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078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Not diagnoses or permanent personality characteristics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0644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04165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Significance depends on context, flexibility and whether they restrict choice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62101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9731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Five patterns are most commonly discussed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460509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FIVE PATTERNS FROM PAGE 10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2134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8743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Introjection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4921342"/>
            <a:ext cx="106680" cy="1066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17734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Projection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461" y="4921342"/>
            <a:ext cx="106680" cy="106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46726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Retroflection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1861"/>
            <a:ext cx="106680" cy="106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743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Deflection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5271861"/>
            <a:ext cx="106680" cy="1066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17734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Confluence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478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2416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2354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Meaningful contact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4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07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095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0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09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11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2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11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13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13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15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15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179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17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2251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2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7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2248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60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2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6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2272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8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2269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81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2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7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93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22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9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2290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02" presetID="10" presetClass="entr" presetSubtype="0" fill="hold" grpId="0" nodeType="afterEffect">
                      <p:stCondLst>
                        <p:cond delay="1670"/>
                      </p:stCondLst>
                      <p:childTnLst>
                        <p:set>
                          <p:cBhvr>
                            <p:cTn id="2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8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2311" presetID="10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2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7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2320" presetID="10" presetClass="entr" presetSubtype="0" fill="hold" grpId="0" nodeType="afterEffect">
                      <p:stCondLst>
                        <p:cond delay="1940"/>
                      </p:stCondLst>
                      <p:childTnLst>
                        <p:set>
                          <p:cBhvr>
                            <p:cTn id="23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6" dur="520"/>
                            <p:tgtEl>
                              <p:spTgt spid="33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208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Accepting beliefs without examining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Taking in rules, beliefs, values or expectations from others without adequately examining whether they fit own experience or circumstances. An external expectation becomes an unquestioned internal rule.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2328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6739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child taught that a good child must always obey continues to follow family decisions even with legitimate concerns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67642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1174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“A responsible person must never say no to the supervisor”, accepts every duty even when exhausted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23286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67391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struggles to recognise own needs, guilt or anxiety when considering an alternative response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869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627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“Where did you learn that rule?” “Does it apply in every situation?” “What happens when you consider your own needs?”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DISTINCTION: Accepting an external rule without sufficient examination. Illustrative statement: “I must never disappoint anyone.”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3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35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36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3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36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7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3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38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40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4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41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4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42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43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43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4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455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45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67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46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49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Attributing one's own experience to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Attributing feelings, intentions or characteristics to someone else without adequately recognising own possible contribution. Finding it difficult to acknowledge a feeling within and instead perceiving it as belonging to another.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person jealous of a friend's success repeatedly claims the friend is jealous of them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715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012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feels angry with a colleague but says “My colleague hates me and is always looking for a fight” without clear evidence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responds to assumptions rather than checking what is actually happening, risking misunderstanding or conflict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061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5020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feelings arise in you as you describe this?” “What have you observed directly, and what are you assuming?”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every perception is inaccurate. Others may genuinely behave in harmful ways. Illustrative: “Everyone here is hostile towards me.”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5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5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5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5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8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60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61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6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63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71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83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6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8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92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6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RETROFLECTION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Turning an outward response inward.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Directing towards self feelings, actions or energy that might otherwise be expressed towards another person or into the environment.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Feels angry after unfair treatment but repeatedly criticises self for being weak instead of expressing concern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610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35020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Worker frustrated by unreasonable workload does not communicate, says “I am weak and should manage everything” and becomes self critical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inhibits direct expression, creates internal tension, turns understandable frustration into self blame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57155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1012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would you want to say if you felt safe?” “What happens inside when you hold back?”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all restraint is unhealthy. Withholding can be necessary for safety or professional judgement. Illustrative: “I am angry, so I must be a terrible person.”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1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72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4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73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4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5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6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7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3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776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7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8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7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9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8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8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1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80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8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8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82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39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8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3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8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69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8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6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DEFLECTION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Avoiding direct contact with an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20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454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Reducing intensity or directness of contact through distraction, humour, vague language, changing the subject or other avoidance.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3259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7670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Whenever a difficult family issue arises, makes jokes or quickly introduces another topic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5275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968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begins discussing death of a close relative but immediately jokes and changes subject whenever grief is approached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3259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7670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difficulty remaining with painful feelings long enough to understand or communicate them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65275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5968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 gently: “I noticed you laughed as you mentioned the loss, what are you experiencing right now?”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5133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how direct contact is diluted, often through distraction. Illustrative: joking whenever painful feelings arise.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9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8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0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1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2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4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53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962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98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9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6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9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9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8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989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0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1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5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2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34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43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0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55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05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64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073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9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CONFLUENCE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Difficulty distinguishing self from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 distinction between own feelings, needs, beliefs or preferences and those of another becomes unclear. Agreement or togetherness feels necessary for maintaining the relationship.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46593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59069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Consistently agrees with friends about activities because expressing a different preference feels threatening to friendship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4433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8844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Woman agrees with partner on major decisions even when privately disagreeing, says “Whatever makes him happy is what I want”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64659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5906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loses sight of personal needs, experiences resentment, struggles to make independent decisions while appearing harmonious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74433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68844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“If your partner's preference were not part of the decision, what would you want?”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a blurred self other distinction, not simply a rule or avoided topic. Illustrative: “Whatever you want is what I want.”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8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1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0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2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3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3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1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148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15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17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17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18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19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2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19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1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2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2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2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241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2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3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COMPARISON AND CLINICAL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exploratory frameworks to flexible responding.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COMPARISON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34973"/>
            <a:ext cx="99060" cy="990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872094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Accepting an external rule without examining it, “I must never disappoint anyone”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7910"/>
            <a:ext cx="99060" cy="990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4054" y="3525031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Projection: Attributing own possible feelings to another, “Everyone here is hostile towards me”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40847"/>
            <a:ext cx="99060" cy="99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4177967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Directing inward what might be expressed outward, “I am angry so I must be terrible”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34973"/>
            <a:ext cx="99060" cy="990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8041" y="2872094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Avoiding direct engagement, joking whenever painful feelings arise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587910"/>
            <a:ext cx="99060" cy="990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98041" y="3525031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Confluence: Losing clarity about own needs, “Whatever you want is what I want”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40847"/>
            <a:ext cx="99060" cy="990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8041" y="4177967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Overlap is common, patterns are best used as exploratory frameworks not fixed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714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CLINICAL SIGNIFICANCE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4069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08480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Helps counsellor develop questions that increase awareness collaboratively, not to impose labels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62467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38120" y="550657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Requires attention to environment: fear of retaliation, need for safety and timing before exploring loss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84237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8120" y="592834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Aim is to recognise patterns and develop more flexible ways of responding, not to eliminate every interruption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6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27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28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29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29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30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31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32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3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3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33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3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334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52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358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4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355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37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37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9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7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388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0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6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40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4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4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41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3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44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43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5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46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47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4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7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46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8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4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49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0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35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0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51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23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35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MAY INCLUDE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37165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Grief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37165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Anger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37165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Guilt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37165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Resentment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37165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Unmet needs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43589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8120" y="316991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Can remain psychologically active in the present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969"/>
            <a:ext cx="121920" cy="121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8120" y="433829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interfere with healthy contact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8120" y="55066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Therapy promotes awareness and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5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5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5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5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58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601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59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622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3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61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64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64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66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0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661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73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685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36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68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6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70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7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3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724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3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74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54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3745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57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7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18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Recognising one's own choices and responses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0831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0715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agency and ownership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199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12831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decision making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2315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0494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39"/>
              </a:lnSpc>
              <a:buNone/>
            </a:pPr>
            <a:r>
              <a:rPr sz="1050" b="1" i="0" spc="132">
                <a:solidFill>
                  <a:srgbClr val="4595C2"/>
                </a:solidFill>
                <a:latin typeface="Poppin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224027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2560314"/>
            <a:ext cx="137160" cy="137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44" y="252983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5F7E97"/>
                </a:solidFill>
                <a:latin typeface="Ralew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44" y="2929006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blames the other person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371727"/>
            <a:ext cx="137160" cy="1371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44" y="3341247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44" y="3740420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owns the experience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6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7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8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9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0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9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6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8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7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907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9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91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28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949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94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5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32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595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67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4331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Observes verbal and non verbal behaviour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0667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the therapeutic relationship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expression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3323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3595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Explores interruptions in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506790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43311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responsibility and choice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8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9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00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0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01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0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0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02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0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03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0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04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04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5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6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0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6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7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0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0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8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0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1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1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10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1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12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1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12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3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1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1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5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41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47485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Empty chair technique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747485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0134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747485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51525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22596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743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4022596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70134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Role play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4022596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51525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9770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529770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70134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5297707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1525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Here and now questioning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8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9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20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3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219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2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5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216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28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34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237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3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4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5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246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58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6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270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42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6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67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2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5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91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42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7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88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0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3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12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3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8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09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21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33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43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3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35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35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63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3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9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375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3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1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372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4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43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396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43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0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39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41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3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414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26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21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client imagines another person in the empty chair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6638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792706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Speaks directly to the imagined person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7309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299418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Brings unresolved experience into present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79806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3806129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expression of unfinished emotions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86518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312841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2133595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009"/>
              </a:lnSpc>
              <a:buNone/>
            </a:pPr>
            <a:r>
              <a:rPr sz="72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3069961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70"/>
              </a:lnSpc>
              <a:buNone/>
            </a:pPr>
            <a:r>
              <a:rPr sz="1900" b="0" i="0">
                <a:solidFill>
                  <a:srgbClr val="33506B"/>
                </a:solidFill>
                <a:latin typeface="Ralew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437099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564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Imagined person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43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46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4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46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47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48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49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0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5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51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2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5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53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4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55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5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5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6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5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57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57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8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4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459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6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609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6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15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4606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18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6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62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46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34262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356775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434262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7418" y="2356775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opposing parts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93460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3015973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093460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7418" y="3015973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Increase awareness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52659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3432" y="3675172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52659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47418" y="3675172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emerging emotions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85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3432" y="4334370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185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47418" y="4334370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Notice physical experience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71055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13432" y="4993569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71055"/>
            <a:ext cx="114300" cy="114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47418" y="4993569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Own personal experience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0254"/>
            <a:ext cx="114300" cy="1143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13432" y="5652767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31" name="Picture 3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30254"/>
            <a:ext cx="114300" cy="114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47418" y="5652767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present meaning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5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6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6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68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68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9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6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7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7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71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7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3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74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7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7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7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76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7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7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77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7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789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7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7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9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8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81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8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8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1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8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8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8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852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8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8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61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87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4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8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8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8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8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89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89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9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0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93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2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4933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45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9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954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9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0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370"/>
              </a:lnSpc>
              <a:buNone/>
            </a:pPr>
            <a:r>
              <a:rPr sz="4450" b="1" i="0">
                <a:solidFill>
                  <a:srgbClr val="4595C2"/>
                </a:solidFill>
                <a:latin typeface="Ralew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94972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28426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Grief and loss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428426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3131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 difficulties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18048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8743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Anxiety and emotional distress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118048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13131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anger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07670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88743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Identity concerns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807670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13131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Emotional expression difficulties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7292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Personal growth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497292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13131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29230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7702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926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150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3374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Growth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6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9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7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99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9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99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0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0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1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2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9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020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32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044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5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0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041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53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5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065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50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1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062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0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08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0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08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95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5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107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51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10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1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5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12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34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125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3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149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51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5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14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58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5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170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51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6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167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79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5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518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5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5197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5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03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5206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52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1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5215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52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21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5224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52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0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5233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52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24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self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840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410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lived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083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5347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agency and responsibility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Integrates mind, emotion and body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Considers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active client participation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Supports experiential emotional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4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2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4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25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5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26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6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27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7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26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28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8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9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9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0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29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11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17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323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3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9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320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32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3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3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344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3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34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53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3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365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3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7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36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74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3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8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386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92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383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9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5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0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40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54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1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40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1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54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2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42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54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3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42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37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54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Some techniques may feel intense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37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011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Requires skilled and sensitive application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6791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2942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challenge clients who prefer highly structured approaches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65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8287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Experiential techniques can be misused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Not every intervention suits every client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Cultural context must be considered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Ethical boundaries are essential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4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4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4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4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4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4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4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4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50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1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50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1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2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2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2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36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4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548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5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54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57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6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569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7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56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78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8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59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96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587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9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0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61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1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60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2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2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63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5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38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629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4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5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4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AMINA'S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32 year old administrative officer overwhelmed by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184" y="2285994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40"/>
              </a:lnSpc>
              <a:buNone/>
            </a:pPr>
            <a:r>
              <a:rPr sz="66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83" y="3134906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3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A good employee should never disappoint the people who depend on 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383" y="4358134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AMINA'S OWN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383" y="4556253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89"/>
              </a:lnSpc>
              <a:buNone/>
            </a:pPr>
            <a:r>
              <a:rPr sz="1100" b="0" i="0">
                <a:solidFill>
                  <a:srgbClr val="5F7E97"/>
                </a:solidFill>
                <a:latin typeface="Poppins"/>
              </a:rPr>
              <a:t>Supervisor frequently assigns additional duties, she usually accepts even when she has insufficient time.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4633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Amina, 32, administrative officer seeks counselling for feeling overwhelmed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5952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299918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Supervisor frequently assigns additional duties, she accepts even when time is insufficient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72714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37123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Fears that refusing will make her appear irresponsible or uncooperative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59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442556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Reports frequent muscle tension, difficulty sleeping and frustration rarely expressed openly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99093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513875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When discussing anger she laughs and quickly changes the subject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12283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85194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Criticises herself for feeling tired, believes she should be able to manage everything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5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6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6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66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7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68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8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67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68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9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69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7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0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71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1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70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19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2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72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34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74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7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49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761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6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575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77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7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77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8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8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79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79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0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81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8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1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8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2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833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83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42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8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4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85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8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85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63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8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9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GESTALT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Reading Amina's experience as an interconnected whole.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THROUGH THE GESTALT LENS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55248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499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and here and now: bodily tension, anxiety, anger and self critical thoughts when anticipating disappointing others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24290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86839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belief that a good employee must never disappoint, an internalised rule not fully examined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4438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4988488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directs frustration inward as self criticism rather than exploring workload concerns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555248"/>
            <a:ext cx="121920" cy="121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72107" y="24993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laughter and rapid subject changes when discussing anger, difficulty staying with emotion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924290"/>
            <a:ext cx="121920" cy="121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2107" y="386839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Organismic self regulation: fatigue and tension signal needs for rest and manageable demands not being met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44383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72107" y="498848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Field theory: workplace expectations, power differences, job security and organisational culture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573022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Amina's difficulty cannot be understood solely as an individual problem, the field matters as much as the person.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7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8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7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8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8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89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9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90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9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0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89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91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9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1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92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9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2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92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9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3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941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9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4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93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5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9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96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6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95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7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98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9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8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98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9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9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0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99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0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0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01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02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3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02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3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04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0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5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04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5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6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06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GOALS, INTERVENTIONS AND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awareness to deliberate choice, with attention to workplace realities.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GOALS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23543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8720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 Amina recognise emotional and bodily responses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1733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26028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Examine the rule that she must never disappoint others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9992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364847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Identify realistic choices for responding to workplace demands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65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INTERVENTIONS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2354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8720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Body awareness: “What happens in your body when you imagine telling your supervisor you cannot take another assignment?”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18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4040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Explore belief: “What does responsibility mean to you?”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800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12859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Two chair exercise if willing: part demanding constant performance versus part needing rest and fairness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80828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47568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Practical planning: prioritise tasks, clarify deadlines, discuss capacity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4198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EXPECTED OUTCOMES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4162"/>
            <a:ext cx="121920" cy="121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38120" y="5602713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Greater ability to recognise needs and evaluate internalised expectations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030008"/>
            <a:ext cx="121920" cy="121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38120" y="5978559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Deliberate decisions based on responsibilities, limits and workplace conditions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405854"/>
            <a:ext cx="121920" cy="1219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38120" y="6354405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Shows how Gestalt integrates awareness, contact patterns, self regulation and field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7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08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8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9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10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0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10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11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1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12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2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13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3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14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1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4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613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5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1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5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16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616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7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7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18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1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8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19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1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9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619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0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62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1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20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1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2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22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2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23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2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2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4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2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25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62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253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6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71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27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6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83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274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8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92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6295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62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0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30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13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6304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16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2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632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34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6325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37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43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634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3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55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6346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58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6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64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6342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2363427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CONSIDERATIONS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7292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62250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understanding of human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4700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38222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Strong emphasis on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672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4193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Integrates body, emotion and cognition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6643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90164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Recognises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261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136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Promotes agency and authentic choice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687292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262250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Cultural adaptation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47006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338222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Client readiness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06720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2107" y="414193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Therapist competence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66435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72107" y="490164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Appropriate use of experiential techniques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26149"/>
            <a:ext cx="121920" cy="121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2107" y="566136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Balance between present and past experience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3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3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3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3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4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4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4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30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43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4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4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5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645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4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45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6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4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7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6475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8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64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9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48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0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5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5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2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51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53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4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55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5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6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6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55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7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7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58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6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59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5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98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6589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0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07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661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6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1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661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2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28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663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6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0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6631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43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CFE9F8"/>
                </a:solidFill>
                <a:latin typeface="Raleway"/>
              </a:rPr>
              <a:t>30</a:t>
            </a:r>
            <a:r>
              <a:rPr sz="1050" b="1" i="0" spc="156">
                <a:solidFill>
                  <a:srgbClr val="D8EBF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FFFFFF"/>
                </a:solidFill>
                <a:latin typeface="Ralew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D8EBF7"/>
                </a:solidFill>
                <a:latin typeface="Poppins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B7D6E9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B7D6E9"/>
                </a:solidFill>
                <a:latin typeface="Poppins"/>
              </a:rPr>
              <a:t>30</a:t>
            </a:r>
          </a:p>
        </p:txBody>
      </p:sp>
      <p:pic>
        <p:nvPicPr>
          <p:cNvPr id="9" name="Picture 8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70840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2325465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AWARENESS</a:t>
            </a:r>
          </a:p>
        </p:txBody>
      </p:sp>
      <p:pic>
        <p:nvPicPr>
          <p:cNvPr id="11" name="Picture 10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2161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316678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HERE AND NOW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3481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400810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CONTACT</a:t>
            </a:r>
          </a:p>
        </p:txBody>
      </p:sp>
      <p:pic>
        <p:nvPicPr>
          <p:cNvPr id="15" name="Picture 14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94802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4849427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RESPONSIBILITY AND CHOICE</a:t>
            </a:r>
          </a:p>
        </p:txBody>
      </p:sp>
      <p:pic>
        <p:nvPicPr>
          <p:cNvPr id="17" name="Picture 16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63217"/>
            <a:ext cx="152400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549831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buNone/>
            </a:pPr>
            <a:r>
              <a:rPr sz="2450" b="1" i="0">
                <a:solidFill>
                  <a:srgbClr val="FFFFFF"/>
                </a:solidFill>
                <a:latin typeface="Ralew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4731555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buNone/>
            </a:pPr>
            <a:r>
              <a:rPr sz="1650" b="0" i="0">
                <a:solidFill>
                  <a:srgbClr val="FFFFFF"/>
                </a:solidFill>
                <a:latin typeface="Raleway"/>
              </a:rPr>
              <a:t>Therapeutic change begins with noticing what is happening now.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5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5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66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6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67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68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8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67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69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9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70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0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71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1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670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24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6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30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6721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36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6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7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48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6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54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6745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6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7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6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75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72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6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78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6769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84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6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78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9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02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6793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08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68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8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0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68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26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6817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32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8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38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6829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31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4054" y="2209794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Brownell, P. (2010). Gestalt therapy: A guide to contemporary practice. Springer.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4054" y="2827758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Corey, G. (2024). Theory and practice of counseling and psychotherapy (11th ed.). Cengage.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4054" y="3445721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Joyce, P., and Sills, C. (2014). Skills in Gestalt counselling and psychotherapy (3rd ed.). SAGE.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4054" y="4063685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Perls, F. S., Hefferline, R. F., and Goodman, P. (1951). Gestalt therapy: Excitement and growth in the human personality. Julian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054" y="4921706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Woldt, A. L., and Toman, S. M. (2005). Gestalt therapy: History, theory, and practice. SAGE.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4054" y="5539669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4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8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4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8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5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8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87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7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86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901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6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922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943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964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9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985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9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70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70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1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