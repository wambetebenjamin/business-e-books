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We are Group 4, and our presentation covers Gestalt Therapy as an experiential approach to counselling and psychotherapy. Gestalt is a German word commonly translated as 'form', 'pattern' or 'organised whole'. That single word carries the whole theory: the approach views a person as an integrated whole whose thoughts, emotions, bodily sensations, behaviour and relationships are interconnected. Our discussion follows the structure of our submitted paper: historical development, philosophical foundations, core assumptions, the major concepts, contact boundary disturbances, goals and techniques, a case application, and finally an evaluation of strengths and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map for the next few minutes. Nine movements. We begin with what Gestalt Therapy actually is, then its origins in the mid-twentieth century and its four philosophical foundations. From there we move into the six core assumptions and the major concepts of the theory. The longest and most practically important section is the sixth: the five contact boundary disturbances, because these are the patterns you will actually recognise in the consulting room. We then cover goals, the counsellor's role and the techniques, apply everything to a case, and close with an honest evaluation of where the approach is strong and where it is limited.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Gestalt Therapy is a humanistic and experiential approach emphasising awareness, present-moment experience, personal responsibility, and the relationship between an individual and their environment. Rather than concentrating exclusively on past experiences or attempting to eliminate symptoms, it helps clients become more aware of how they experience and respond to situations in the present. Past experiences remain important — particularly when their emotional effects continue to influence present relationships and behaviour — but the entry point is the here and now. The relevance to counselling is concrete: clients come with unresolved emotions, unexamined beliefs, avoidance and trouble expressing needs. The counsellor's task is to explore those patterns without imposing interpretations or blaming the client for their difficulties.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Gestalt Therapy emerged through the integration of several intellectual traditions and a growing interest in understanding human experience as an active, relational process. Fritz Perls contributed the emphasis on awareness, present experience and personal responsibility. Laura Perls shaped its theoretical and clinical development, particularly through her attention to embodied experience, contact and the therapeutic relationship — a contribution historically under-credited. Paul Goodman contributed the theoretical formulation and its philosophical and social dimensions. Although Gestalt Therapy shares principles with other humanistic approaches, it has a distinctive emphasis on how people organise experience, make contact with their environment, and become aware of habitual ways of responding. Contemporary practice still emphasises awareness, dialogue and relational contact rather than a fixed set of techniques.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philosophical traditions underpin the whole approach, and each one changes what a counsellor does in the room. Phenomenology means we attend to what the client experiences, how they interpret it, and what happens as they describe it — this is how we separate direct observation from assumption. Existential philosophy foregrounds choice and responsibility, but our paper is careful here: responsibility does not mean the individual controls every circumstance, and the counsellor helps clients find realistic areas of choice without blaming them for conditions beyond their control. Holism insists that we do not treat thoughts, feelings, sensations and behaviour as unrelated parts. Field theory insists the person cannot be understood apart from their environment — this is what stops us locating the entire problem inside the individual.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assumptions are interconnected, and together they shape how a Gestalt counsellor understands a client. Because people are integrated wholes, we consider overall experience rather than verbal description alone. Because awareness supports change, our primary intervention is not advice but noticing. Because the present is central, we ask how the past is alive in the room today. Organismic self-regulation is the assumption that people naturally orient towards their needs — difficulties arise when awareness is restricted, needs are repeatedly ignored, or contact with the environment becomes limited. The final assumption is the one that most needs careful handling: personal responsibility supports choice, but it must never be used to disregard genuine external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Awareness is the central concept of the whole approach — every other concept serves it. The question we ask is not a content question but a process question. Instead of 'tell me more about your parent', we ask 'what are you noticing in yourself as you talk about this?' That shifts the client from recounting events to exploring immediate experience. The reason this matters is practical: deliberate change becomes far more difficult when a person does not recognise the pattern influencing their behaviour. And there is an important discipline for the counsellor here — we facilitate awareness without assuming we already know what the client's experience means.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and ground is borrowed from Gestalt psychology and it is a genuinely useful clinical tool. The figure is what has captured attention; the ground is everything else in the field. In the example, the examination failure is the figure, but exhaustion, family expectations, financial pressure and fear of disappointing others form the ground. Exploring that ground often changes the meaning of the anxiety completely — it may not be an examination problem at all. The key clinical move is noticing that the figure is not fixed: as needs and circumstances shift, so does what steps forward. This also explains why two clients in the same situation can experience it very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is the concept that makes Gestalt relational rather than purely intrapsychic. Healthy contact means engaging fully with what is needed while still knowing where you end and the other begins. The contact boundary is where that negotiation happens — and it is psychological, not physical. The family example is the clearest illustration: valuing your family's opinion is healthy contact; consistently suppressing your own needs to avoid disagreement, until you can no longer tell your wishes from theirs, is a boundary difficulty. In session we look at how the client makes contact, how they withdraw, how they express themselves, and which habitual patterns keep interrupting the process. Those interruptions are what the next section names.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concepts belong together. Unfinished business is about the past that has not been closed — grief, anger, guilt, resentment, disappointment or regret that continues to shape present experience. The adult criticised repeatedly by a parent who now feels inadequate at any supervisor feedback is the classic presentation. Note carefully what our paper says the aim is NOT: we are not trying to change the past, force forgiveness, or push the client towards reconciliation. The aim is understanding the continuing impact and developing greater freedom of response. Organismic self-regulation is the complementary idea — that people naturally orient towards their needs, and symptoms like exhaustion are signals worth reading. But we must hold the limit honestly: awareness alone does not resolve every problem, and material circumstances constrain what is possible.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cycle of experience gives us a map for tracking a need from first signal to completion. The worked example makes it concrete: an employee notices exhaustion, acknowledges the need for rest, considers options, communicates the need, takes the break, returns to work, and attention then shifts elsewhere. The clinical value is diagnostic: it lets you locate exactly where the process is breaking down. A client may recognise the need clearly but cannot mobilise because of fear. Another may act compulsively without ever having understood the need. Be careful, though — our paper is explicit that this is not a rigid sequence, and different Gestalt writers describe the stages somewhat differently. Use it as an exploratory framework, not a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 responsibility is the concept most easily misused in Gestalt Therapy, so handle it with care. It means recognising your own feelings, actions, needs and available choices — identifying where agency can actually be exercised. The language shift shows the clinical move: 'everyone makes me stay late' locates the cause entirely outside; 'I find it difficult to refuse because I fear being judged' identifies an internal response that can be worked with. Crucially, that does not deny the workplace conditions — the two are explored together. The aim is to expand awareness and choice while acknowledging genuine limitations, unequal power relationships and external pressures. Never use responsibility to suggest a client caused their own difficulty.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practically important section of our paper. Contact boundary disturbances are the patterns through which awareness, contact, or the relationship between self and environment becomes restricted. Gestalt literature also calls them interruptions to contact or resistances to contact, and terminology varies between authors — so do not be confused if a text names them differently. Two cautions before we go through each one. First, these are not diagnoses and not permanent personality traits. They often develop as coping strategies for difficult relationships and can be genuinely protective. Second, their significance depends entirely on context and flexibility — the question is whether the pattern repeatedly restricts the person's awareness or available choices. For the next five slides we use a consistent structure: definition, everyday example, counselling example, effect on contact, and the counsellor's approach.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Introjection is swallowing a rule whole. The person has taken in an external expectation and it now operates as an unquestioned internal law. The everyday example and the counselling example are the same pattern at different scales. The clinical work is not to attack the belief — that would just create resistance — but to help the client examine where it came from and whether it actually fits their circumstances. Notice the counsellor's questions: they invite examination rather than rejection. The effect on contact is that external expectations crowd out the person's own needs from awareness altogether, and guilt appears the moment an alternative is even considered.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Projection is disowning a feeling by placing it outside. The important safeguard in our paper is the last line on this slide: we must NOT assume the client's perception is inaccurate. Other people genuinely do behave in harmful or hostile ways, and a counsellor who reflexively treats every perception as projection will invalidate a client who is actually being mistreated. The clinical move is therefore investigative rather than corrective — separate what was directly observed from what is being assumed, and gently ask whether any part of the feeling is difficult for the client to own. If evidence of actual hostile behaviour emerges, we work with that reality instead.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Retroflection is doing to yourself what you wanted to do to someone else. The anger that cannot be safely expressed outward turns inward and becomes self-criticism. The worker who says 'I am weak, I should manage everything' is retroflecting perfectly legitimate frustration about an unreasonable workload. The therapeutic questions move in two directions: first into the withheld expression — what would you say if you felt safe? — and then towards a realistic, safe way of actually communicating it. Hold the caveat carefully: not all restraint is unhealthy. Sometimes withholding a response is necessary for physical safety, professional judgement, or effective communication, and we should not pathologise that.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Deflection is the pattern you are most likely to notice behaviourally in a session: the joke at exactly the wrong moment, the sudden topic change, the vague abstraction, the intellectualising. In the example, the laughter arrives precisely as the loss is named. Two disciplines apply. First, further exploration is needed before concluding anything — laughter may be deflection, or it may be something else. Second, the aim is to increase awareness gently, not to force disclosure and not to strip away a coping strategy before the client is ready. This person may be protecting themselves from emotional overwhelm and may need time and safety before going near the grief.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Confluence is the blurring of the boundary between self and other. It is easy to mistake for a pleasant temperament — this client is agreeable, cooperative, easy to live with. The clinical question is whether she can locate her own preference at all when the other person's is removed from the frame. The hidden cost is resentment and the loss of independent decision-making; the relationship looks harmonious while significant differences never surface. The last counsellor question is the crucial one, because it names the client's underlying fear: can you stay connected to someone AND hold a different opinion? If the answer is no, that is where the work is. Distinguish this from introjection — confluence is a blurred self/other boundary, not the acceptance of a particular rule.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worth having in front of you in supervision. The five patterns are distinguishable, but they overlap constantly — one employee can introject a rule, retroflect the resulting anger as self-criticism, and deflect the frustration with jokes, all in the same week. That is exactly why we use them as exploratory frameworks rather than fixed labels. Clinically, the counsellor observes patterns collaboratively and explores the function they serve; we do not simply instruct the client to stop a behaviour. And the environmental point is non-negotiable: an employee may have a genuine reason to fear retaliation for refusing extra work, so encouraging assertiveness without weighing that risk would be inadequate practice. The goal is never to remove every interruption to contact — it is to widen awareness and the client's capacity to choose.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goal is awareness — everything else follows from it. The counsellor's method is distinctive: we do not immediately give advice, and we do not explain clients to themselves. Instead we track words, tone of voice, posture, facial expression, pauses and emotional response, because incongruence between channel and content is where the material is. The 'I am fine' example is the model intervention — we name the observed discrepancy and invite exploration without claiming to know what it means. Then the ethical boundary, which is not optional: the counsellor must stay sensitive to culture, readiness, trauma history and personal boundaries, and the client retains an absolute right to decline any exercise. Experiential interventions are introduced collaboratively and used only when appropriate. Our role is to facilitate exploration, not to control the client's experience.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techniques, each with a specific purpose. Awareness exercises are the foundation — everything else builds on the capacity to notice. The empty chair brings an absent person, relationship or part of the self into the present; be clear with clients about its limits, because it does not establish what the absent person would actually have said. The two-chair dialogue works on internal conflict — there is research on experiential two-chair interventions for particular forms of internal conflict and unfinished business, though findings should not be generalised to every client or problem. Staying with a feeling requires the client's freedom to slow down or stop. Body awareness and exaggeration must be used collaboratively — never to force an interpretation or assume a bodily response has one universal meaning. And language work: note the safeguard at the bottom of this slide. Distinguishing feeling from another person's action does not make that person's behaviour harmless, and it does not make a client responsible for being mistreated.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apply the theory. Amina is a 32-year-old administrative officer who comes in feeling overwhelmed by her workload. Her supervisor frequently assigns additional duties and she usually accepts, even without sufficient time, because she fears refusing will make her look irresponsible. Her organising belief is on screen: 'a good employee should never disappoint the people who depend on her.' Note what a Gestalt formulation does here — we do not reduce this to poor time management. We read it as an interconnected whole. There is a probable introjected rule, retroflection of frustration into self-criticism, and possible deflection around anger — though we hold that tentatively, because laughter does not automatically mean avoidance. Organismic self-regulation tells us her fatigue is a signal, not a weakness. And field theory insists we look outward too: workplace power, job security, organisational culture and the real consequences of refusing. Her difficulty cannot be understood solely as an individual problem.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interventions follow the formulation. We start with body awareness, because it is the least intrusive entry point and it connects her thinking to her physical response. Then we examine the rule — and notice the care taken: we are not telling Amina that responsibility is unimportant. We ask what responsibility means to her and whether a responsible employee can acknowledge an excessive workload. Two-chair work comes only if she is willing and sufficiently prepared, paced to her readiness. Finally, practical planning: asking her supervisor to prioritise tasks, clarify deadlines, discuss capacity — and that planning must weigh workplace realities and the real risks of speaking up. Read the expected outcome carefully, because it corrects a common misreading of Gestalt Therapy: success is not refusing everything. It is choosing deliberately instead of reacting from fear or guilt.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is this approach strong? Its holistic frame means we never treat a presenting symptom in isolation. Its emphasis on awareness converts automatic patterns into visible ones — and visibility is the precondition for choice. Its experiential techniques let emotion be worked with directly instead of only talked about, which matters enormously for clients who can intellectualise fluently but cannot feel. It builds agency while still acknowledging environmental limits. And its field perspective is a genuine ethical safeguard: it discourages us from reducing a complex difficulty to an individual's weakness. Together these explain why Gestalt principles continue to influence contemporary practice well beyond formal Gestalt training.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should be as rigorous about the weaknesses as about the strengths — that is what the evaluation section of our paper is for. First, intensity: some techniques can evoke overwhelming emotion, and using them without preparation, consent and attention to readiness is unsafe. This is why counsellor training matters. Second, the present-focus can be misread as dismissing history; we must not let important historical and contextual factors slip. Third — and this is the one we flagged earlier — responsibility can be misapplied into blame if we ignore trauma, inequality and power. Fourth, fit: not every client wants experiential work, and some do better with structured or cognitive approaches. Finally, the evidence base is uneven. Research on one technique does not establish that all Gestalt methods work for every client or problem. Claims about effectiveness should rest on relevant research, not on the appeal of the theory.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with an evaluation. Gestalt Therapy's real contribution is not the popular idea of 'living in the moment'. It is the demonstration of how we organise our experience of the world, and how our established responses then constrain our choices. The five contact boundary disturbances are genuinely valuable — but only when held tentatively, as exploratory frameworks, with attention to the client's own understanding of their behaviour. And the approach needs company: ethical practice, proper assessment, cultural sensitivity and attention to practical circumstances. Increased awareness alone may not remove every difficulty — some clients also need concrete problem-solving, additional support, or interventions drawn from other evidence-informed approaches. Our conclusion is this: Gestalt Therapy seeks to help clients become more aware of themselves and their relationships so they can respond to life's challenges with greater understanding, flexibility and choice — and its value depends as much on the counsellor's skill and ethics as on the concepts themselves. Thank you. We welcome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sources cited in our submitted paper, reproduced in APA 7th edition. Note that every in-slide citation in this presentation is drawn from this list and nothing else. If you are asked which source supports a particular claim: the 1951 Perls, Hefferline and Goodman text is the foundational work for the core concepts and contact theory; Joyce and Sills (2014) is our principal source for counselling skill and technique; Woldt and Toman (2005) and Brownell (2010) cover history, theory and contemporary practice; Wheeler and Axelsson (2015) covers current Gestalt therapy; and Wagner-Moore (2004) is the source for the state of the research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92608" cy="685800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68680" y="1188720"/>
            <a:ext cx="1371600" cy="41148"/>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731520"/>
            <a:ext cx="9144000" cy="274320"/>
          </a:xfrm>
          <a:prstGeom prst="rect">
            <a:avLst/>
          </a:prstGeom>
          <a:noFill/>
        </p:spPr>
        <p:txBody>
          <a:bodyPr wrap="square" lIns="0" rIns="0" tIns="0" bIns="0" anchor="t">
            <a:spAutoFit/>
          </a:bodyPr>
          <a:lstStyle/>
          <a:p>
            <a:pPr algn="l">
              <a:lnSpc>
                <a:spcPct val="100000"/>
              </a:lnSpc>
              <a:spcAft>
                <a:spcPts val="400"/>
              </a:spcAft>
            </a:pPr>
            <a:r>
              <a:rPr sz="1250" b="1" i="0">
                <a:solidFill>
                  <a:srgbClr val="E8B286"/>
                </a:solidFill>
                <a:latin typeface="Calibri Light"/>
              </a:rPr>
              <a:t>GROUP 4 PRESENTATION   ·   MCP504</a:t>
            </a:r>
          </a:p>
        </p:txBody>
      </p:sp>
      <p:sp>
        <p:nvSpPr>
          <p:cNvPr id="6" name="TextBox 5"/>
          <p:cNvSpPr txBox="1"/>
          <p:nvPr/>
        </p:nvSpPr>
        <p:spPr>
          <a:xfrm>
            <a:off x="868680" y="1417320"/>
            <a:ext cx="10424160" cy="1828800"/>
          </a:xfrm>
          <a:prstGeom prst="rect">
            <a:avLst/>
          </a:prstGeom>
          <a:noFill/>
        </p:spPr>
        <p:txBody>
          <a:bodyPr wrap="square" lIns="0" rIns="0" tIns="0" bIns="0" anchor="t">
            <a:spAutoFit/>
          </a:bodyPr>
          <a:lstStyle/>
          <a:p>
            <a:pPr algn="l">
              <a:lnSpc>
                <a:spcPct val="92000"/>
              </a:lnSpc>
              <a:spcAft>
                <a:spcPts val="400"/>
              </a:spcAft>
            </a:pPr>
            <a:r>
              <a:rPr sz="5400" b="1" i="0">
                <a:solidFill>
                  <a:srgbClr val="FFFFFF"/>
                </a:solidFill>
                <a:latin typeface="Calibri Light"/>
              </a:rPr>
              <a:t>Gestalt Therapy</a:t>
            </a:r>
          </a:p>
          <a:p>
            <a:pPr algn="l">
              <a:lnSpc>
                <a:spcPct val="100000"/>
              </a:lnSpc>
              <a:spcBef>
                <a:spcPts val="600"/>
              </a:spcBef>
              <a:spcAft>
                <a:spcPts val="400"/>
              </a:spcAft>
            </a:pPr>
            <a:r>
              <a:rPr sz="2000" b="0" i="0">
                <a:solidFill>
                  <a:srgbClr val="A8C4CE"/>
                </a:solidFill>
                <a:latin typeface="Calibri Light"/>
              </a:rPr>
              <a:t>An Experiential Approach to Counselling and Psychotherapy</a:t>
            </a:r>
          </a:p>
        </p:txBody>
      </p:sp>
      <p:sp>
        <p:nvSpPr>
          <p:cNvPr id="7" name="Rectangle 6"/>
          <p:cNvSpPr/>
          <p:nvPr/>
        </p:nvSpPr>
        <p:spPr>
          <a:xfrm>
            <a:off x="868680" y="3703320"/>
            <a:ext cx="10424160" cy="14630"/>
          </a:xfrm>
          <a:prstGeom prst="rect">
            <a:avLst/>
          </a:prstGeom>
          <a:solidFill>
            <a:srgbClr val="3C6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3913632"/>
            <a:ext cx="6035040" cy="2103120"/>
          </a:xfrm>
          <a:prstGeom prst="rect">
            <a:avLst/>
          </a:prstGeom>
          <a:noFill/>
        </p:spPr>
        <p:txBody>
          <a:bodyPr wrap="square" lIns="0" rIns="0" tIns="0" bIns="0" anchor="t">
            <a:spAutoFit/>
          </a:bodyPr>
          <a:lstStyle/>
          <a:p>
            <a:pPr algn="l">
              <a:lnSpc>
                <a:spcPct val="100000"/>
              </a:lnSpc>
              <a:spcAft>
                <a:spcPts val="100"/>
              </a:spcAft>
            </a:pPr>
            <a:r>
              <a:rPr sz="1050" b="1" i="0">
                <a:solidFill>
                  <a:srgbClr val="C9762F"/>
                </a:solidFill>
                <a:latin typeface="Calibri Light"/>
              </a:rPr>
              <a:t>PRESENTED BY  ·  GROUP 4</a:t>
            </a:r>
          </a:p>
          <a:p>
            <a:pPr algn="l">
              <a:lnSpc>
                <a:spcPct val="100000"/>
              </a:lnSpc>
              <a:spcBef>
                <a:spcPts val="800"/>
              </a:spcBef>
              <a:spcAft>
                <a:spcPts val="100"/>
              </a:spcAft>
            </a:pPr>
            <a:r>
              <a:rPr sz="1500" b="1" i="0">
                <a:solidFill>
                  <a:srgbClr val="FFFFFF"/>
                </a:solidFill>
                <a:latin typeface="Calibri"/>
              </a:rPr>
              <a:t>Josephine Biwott</a:t>
            </a:r>
          </a:p>
          <a:p>
            <a:pPr algn="l">
              <a:lnSpc>
                <a:spcPct val="100000"/>
              </a:lnSpc>
              <a:spcAft>
                <a:spcPts val="100"/>
              </a:spcAft>
            </a:pPr>
            <a:r>
              <a:rPr sz="1150" b="0" i="0">
                <a:solidFill>
                  <a:srgbClr val="9FB8C2"/>
                </a:solidFill>
                <a:latin typeface="Calibri"/>
              </a:rPr>
              <a:t>MACP/35996/0/26</a:t>
            </a:r>
          </a:p>
          <a:p>
            <a:pPr algn="l">
              <a:lnSpc>
                <a:spcPct val="100000"/>
              </a:lnSpc>
              <a:spcBef>
                <a:spcPts val="1000"/>
              </a:spcBef>
              <a:spcAft>
                <a:spcPts val="100"/>
              </a:spcAft>
            </a:pPr>
            <a:r>
              <a:rPr sz="1500" b="1" i="0">
                <a:solidFill>
                  <a:srgbClr val="FFFFFF"/>
                </a:solidFill>
                <a:latin typeface="Calibri"/>
              </a:rPr>
              <a:t>Cynthia Cherono</a:t>
            </a:r>
          </a:p>
          <a:p>
            <a:pPr algn="l">
              <a:lnSpc>
                <a:spcPct val="100000"/>
              </a:lnSpc>
              <a:spcAft>
                <a:spcPts val="100"/>
              </a:spcAft>
            </a:pPr>
            <a:r>
              <a:rPr sz="1150" b="0" i="0">
                <a:solidFill>
                  <a:srgbClr val="9FB8C2"/>
                </a:solidFill>
                <a:latin typeface="Calibri"/>
              </a:rPr>
              <a:t>MACP/35785/4/26</a:t>
            </a:r>
          </a:p>
          <a:p>
            <a:pPr algn="l">
              <a:lnSpc>
                <a:spcPct val="100000"/>
              </a:lnSpc>
              <a:spcBef>
                <a:spcPts val="1000"/>
              </a:spcBef>
              <a:spcAft>
                <a:spcPts val="100"/>
              </a:spcAft>
            </a:pPr>
            <a:r>
              <a:rPr sz="1500" b="1" i="0">
                <a:solidFill>
                  <a:srgbClr val="FFFFFF"/>
                </a:solidFill>
                <a:latin typeface="Calibri"/>
              </a:rPr>
              <a:t>Yvonne Juliet Awuor</a:t>
            </a:r>
          </a:p>
          <a:p>
            <a:pPr algn="l">
              <a:lnSpc>
                <a:spcPct val="100000"/>
              </a:lnSpc>
              <a:spcAft>
                <a:spcPts val="100"/>
              </a:spcAft>
            </a:pPr>
            <a:r>
              <a:rPr sz="1150" b="0" i="0">
                <a:solidFill>
                  <a:srgbClr val="9FB8C2"/>
                </a:solidFill>
                <a:latin typeface="Calibri"/>
              </a:rPr>
              <a:t>MALD/36547/4/26</a:t>
            </a:r>
          </a:p>
        </p:txBody>
      </p:sp>
      <p:sp>
        <p:nvSpPr>
          <p:cNvPr id="9" name="TextBox 8"/>
          <p:cNvSpPr txBox="1"/>
          <p:nvPr/>
        </p:nvSpPr>
        <p:spPr>
          <a:xfrm>
            <a:off x="7223760" y="3913632"/>
            <a:ext cx="4023360" cy="2103120"/>
          </a:xfrm>
          <a:prstGeom prst="rect">
            <a:avLst/>
          </a:prstGeom>
          <a:noFill/>
        </p:spPr>
        <p:txBody>
          <a:bodyPr wrap="square" lIns="0" rIns="0" tIns="0" bIns="0" anchor="t">
            <a:spAutoFit/>
          </a:bodyPr>
          <a:lstStyle/>
          <a:p>
            <a:pPr algn="l">
              <a:lnSpc>
                <a:spcPct val="100000"/>
              </a:lnSpc>
              <a:spcAft>
                <a:spcPts val="100"/>
              </a:spcAft>
            </a:pPr>
            <a:r>
              <a:rPr sz="1050" b="1" i="0">
                <a:solidFill>
                  <a:srgbClr val="C9762F"/>
                </a:solidFill>
                <a:latin typeface="Calibri Light"/>
              </a:rPr>
              <a:t>COURSE</a:t>
            </a:r>
          </a:p>
          <a:p>
            <a:pPr algn="l">
              <a:lnSpc>
                <a:spcPct val="100000"/>
              </a:lnSpc>
              <a:spcBef>
                <a:spcPts val="400"/>
              </a:spcBef>
              <a:spcAft>
                <a:spcPts val="100"/>
              </a:spcAft>
            </a:pPr>
            <a:r>
              <a:rPr sz="1250" b="0" i="0">
                <a:solidFill>
                  <a:srgbClr val="FFFFFF"/>
                </a:solidFill>
                <a:latin typeface="Calibri"/>
              </a:rPr>
              <a:t>MCP504 · Theories of Counselling and Psychotherapy</a:t>
            </a:r>
          </a:p>
          <a:p>
            <a:pPr algn="l">
              <a:lnSpc>
                <a:spcPct val="100000"/>
              </a:lnSpc>
              <a:spcBef>
                <a:spcPts val="1200"/>
              </a:spcBef>
              <a:spcAft>
                <a:spcPts val="100"/>
              </a:spcAft>
            </a:pPr>
            <a:r>
              <a:rPr sz="1050" b="1" i="0">
                <a:solidFill>
                  <a:srgbClr val="C9762F"/>
                </a:solidFill>
                <a:latin typeface="Calibri Light"/>
              </a:rPr>
              <a:t>INSTITUTION</a:t>
            </a:r>
          </a:p>
          <a:p>
            <a:pPr algn="l">
              <a:lnSpc>
                <a:spcPct val="100000"/>
              </a:lnSpc>
              <a:spcBef>
                <a:spcPts val="400"/>
              </a:spcBef>
              <a:spcAft>
                <a:spcPts val="100"/>
              </a:spcAft>
            </a:pPr>
            <a:r>
              <a:rPr sz="1250" b="0" i="0">
                <a:solidFill>
                  <a:srgbClr val="FFFFFF"/>
                </a:solidFill>
                <a:latin typeface="Calibri"/>
              </a:rPr>
              <a:t>Pan African Christian University</a:t>
            </a:r>
          </a:p>
          <a:p>
            <a:pPr algn="l">
              <a:lnSpc>
                <a:spcPct val="100000"/>
              </a:lnSpc>
              <a:spcBef>
                <a:spcPts val="1200"/>
              </a:spcBef>
              <a:spcAft>
                <a:spcPts val="100"/>
              </a:spcAft>
            </a:pPr>
            <a:r>
              <a:rPr sz="1050" b="1" i="0">
                <a:solidFill>
                  <a:srgbClr val="C9762F"/>
                </a:solidFill>
                <a:latin typeface="Calibri Light"/>
              </a:rPr>
              <a:t>LECTURER</a:t>
            </a:r>
          </a:p>
          <a:p>
            <a:pPr algn="l">
              <a:lnSpc>
                <a:spcPct val="100000"/>
              </a:lnSpc>
              <a:spcBef>
                <a:spcPts val="400"/>
              </a:spcBef>
              <a:spcAft>
                <a:spcPts val="100"/>
              </a:spcAft>
            </a:pPr>
            <a:r>
              <a:rPr sz="1250" b="0" i="0">
                <a:solidFill>
                  <a:srgbClr val="FFFFFF"/>
                </a:solidFill>
                <a:latin typeface="Calibri"/>
              </a:rPr>
              <a:t>Dr. Lucy Gachenia</a:t>
            </a:r>
          </a:p>
        </p:txBody>
      </p:sp>
      <p:sp>
        <p:nvSpPr>
          <p:cNvPr id="10" name="TextBox 9"/>
          <p:cNvSpPr txBox="1"/>
          <p:nvPr/>
        </p:nvSpPr>
        <p:spPr>
          <a:xfrm>
            <a:off x="868680" y="6172200"/>
            <a:ext cx="10424160" cy="274320"/>
          </a:xfrm>
          <a:prstGeom prst="rect">
            <a:avLst/>
          </a:prstGeom>
          <a:noFill/>
        </p:spPr>
        <p:txBody>
          <a:bodyPr wrap="square" lIns="0" rIns="0" tIns="0" bIns="0" anchor="t">
            <a:spAutoFit/>
          </a:bodyPr>
          <a:lstStyle/>
          <a:p>
            <a:pPr algn="l">
              <a:lnSpc>
                <a:spcPct val="100000"/>
              </a:lnSpc>
              <a:spcAft>
                <a:spcPts val="400"/>
              </a:spcAft>
            </a:pPr>
            <a:r>
              <a:rPr sz="1050" b="0" i="1">
                <a:solidFill>
                  <a:srgbClr val="8FACB8"/>
                </a:solidFill>
                <a:latin typeface="Calibri"/>
              </a:rPr>
              <a:t>Based on the group paper “Gestalt Therapy: An Experiential Approach to Counselling and Psychotherapy”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OVERVIEW</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What This Presentation Covers</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02</a:t>
            </a:r>
          </a:p>
        </p:txBody>
      </p:sp>
      <p:sp>
        <p:nvSpPr>
          <p:cNvPr id="11" name="Rectangle 10"/>
          <p:cNvSpPr/>
          <p:nvPr/>
        </p:nvSpPr>
        <p:spPr>
          <a:xfrm>
            <a:off x="658368" y="1783080"/>
            <a:ext cx="3472586" cy="1298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1783080"/>
            <a:ext cx="3472586"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 y="1984248"/>
            <a:ext cx="3033674" cy="932688"/>
          </a:xfrm>
          <a:prstGeom prst="rect">
            <a:avLst/>
          </a:prstGeom>
          <a:noFill/>
        </p:spPr>
        <p:txBody>
          <a:bodyPr wrap="square" lIns="0" rIns="0" tIns="0" bIns="0" anchor="t">
            <a:spAutoFit/>
          </a:bodyPr>
          <a:lstStyle/>
          <a:p>
            <a:pPr algn="l">
              <a:lnSpc>
                <a:spcPct val="100000"/>
              </a:lnSpc>
              <a:spcAft>
                <a:spcPts val="0"/>
              </a:spcAft>
            </a:pPr>
            <a:r>
              <a:rPr sz="1300" b="1" i="0">
                <a:solidFill>
                  <a:srgbClr val="C9762F"/>
                </a:solidFill>
                <a:latin typeface="Calibri Light"/>
              </a:rPr>
              <a:t>01</a:t>
            </a:r>
          </a:p>
          <a:p>
            <a:pPr algn="l">
              <a:lnSpc>
                <a:spcPct val="100000"/>
              </a:lnSpc>
              <a:spcBef>
                <a:spcPts val="200"/>
              </a:spcBef>
              <a:spcAft>
                <a:spcPts val="0"/>
              </a:spcAft>
            </a:pPr>
            <a:r>
              <a:rPr sz="1450" b="1" i="0">
                <a:solidFill>
                  <a:srgbClr val="1B3A4B"/>
                </a:solidFill>
                <a:latin typeface="Calibri"/>
              </a:rPr>
              <a:t>Introduction</a:t>
            </a:r>
          </a:p>
          <a:p>
            <a:pPr algn="l">
              <a:lnSpc>
                <a:spcPct val="105000"/>
              </a:lnSpc>
              <a:spcBef>
                <a:spcPts val="300"/>
              </a:spcBef>
              <a:spcAft>
                <a:spcPts val="0"/>
              </a:spcAft>
            </a:pPr>
            <a:r>
              <a:rPr sz="1050" b="0" i="0">
                <a:solidFill>
                  <a:srgbClr val="5F7078"/>
                </a:solidFill>
                <a:latin typeface="Calibri"/>
              </a:rPr>
              <a:t>What Gestalt Therapy is and why it matters to counselling</a:t>
            </a:r>
          </a:p>
        </p:txBody>
      </p:sp>
      <p:sp>
        <p:nvSpPr>
          <p:cNvPr id="14" name="Rectangle 13"/>
          <p:cNvSpPr/>
          <p:nvPr/>
        </p:nvSpPr>
        <p:spPr>
          <a:xfrm>
            <a:off x="4359554" y="1783080"/>
            <a:ext cx="3472586" cy="1298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59554" y="1783080"/>
            <a:ext cx="3472586"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9010" y="1984248"/>
            <a:ext cx="3033674" cy="932688"/>
          </a:xfrm>
          <a:prstGeom prst="rect">
            <a:avLst/>
          </a:prstGeom>
          <a:noFill/>
        </p:spPr>
        <p:txBody>
          <a:bodyPr wrap="square" lIns="0" rIns="0" tIns="0" bIns="0" anchor="t">
            <a:spAutoFit/>
          </a:bodyPr>
          <a:lstStyle/>
          <a:p>
            <a:pPr algn="l">
              <a:lnSpc>
                <a:spcPct val="100000"/>
              </a:lnSpc>
              <a:spcAft>
                <a:spcPts val="0"/>
              </a:spcAft>
            </a:pPr>
            <a:r>
              <a:rPr sz="1300" b="1" i="0">
                <a:solidFill>
                  <a:srgbClr val="C9762F"/>
                </a:solidFill>
                <a:latin typeface="Calibri Light"/>
              </a:rPr>
              <a:t>02</a:t>
            </a:r>
          </a:p>
          <a:p>
            <a:pPr algn="l">
              <a:lnSpc>
                <a:spcPct val="100000"/>
              </a:lnSpc>
              <a:spcBef>
                <a:spcPts val="200"/>
              </a:spcBef>
              <a:spcAft>
                <a:spcPts val="0"/>
              </a:spcAft>
            </a:pPr>
            <a:r>
              <a:rPr sz="1450" b="1" i="0">
                <a:solidFill>
                  <a:srgbClr val="1B3A4B"/>
                </a:solidFill>
                <a:latin typeface="Calibri"/>
              </a:rPr>
              <a:t>Origins</a:t>
            </a:r>
          </a:p>
          <a:p>
            <a:pPr algn="l">
              <a:lnSpc>
                <a:spcPct val="105000"/>
              </a:lnSpc>
              <a:spcBef>
                <a:spcPts val="300"/>
              </a:spcBef>
              <a:spcAft>
                <a:spcPts val="0"/>
              </a:spcAft>
            </a:pPr>
            <a:r>
              <a:rPr sz="1050" b="0" i="0">
                <a:solidFill>
                  <a:srgbClr val="5F7078"/>
                </a:solidFill>
                <a:latin typeface="Calibri"/>
              </a:rPr>
              <a:t>Historical development and the three major contributors</a:t>
            </a:r>
          </a:p>
        </p:txBody>
      </p:sp>
      <p:sp>
        <p:nvSpPr>
          <p:cNvPr id="17" name="Rectangle 16"/>
          <p:cNvSpPr/>
          <p:nvPr/>
        </p:nvSpPr>
        <p:spPr>
          <a:xfrm>
            <a:off x="8060740" y="1783080"/>
            <a:ext cx="3472586" cy="1298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60740" y="1783080"/>
            <a:ext cx="3472586"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80196" y="1984248"/>
            <a:ext cx="3033674" cy="932688"/>
          </a:xfrm>
          <a:prstGeom prst="rect">
            <a:avLst/>
          </a:prstGeom>
          <a:noFill/>
        </p:spPr>
        <p:txBody>
          <a:bodyPr wrap="square" lIns="0" rIns="0" tIns="0" bIns="0" anchor="t">
            <a:spAutoFit/>
          </a:bodyPr>
          <a:lstStyle/>
          <a:p>
            <a:pPr algn="l">
              <a:lnSpc>
                <a:spcPct val="100000"/>
              </a:lnSpc>
              <a:spcAft>
                <a:spcPts val="0"/>
              </a:spcAft>
            </a:pPr>
            <a:r>
              <a:rPr sz="1300" b="1" i="0">
                <a:solidFill>
                  <a:srgbClr val="C9762F"/>
                </a:solidFill>
                <a:latin typeface="Calibri Light"/>
              </a:rPr>
              <a:t>03</a:t>
            </a:r>
          </a:p>
          <a:p>
            <a:pPr algn="l">
              <a:lnSpc>
                <a:spcPct val="100000"/>
              </a:lnSpc>
              <a:spcBef>
                <a:spcPts val="200"/>
              </a:spcBef>
              <a:spcAft>
                <a:spcPts val="0"/>
              </a:spcAft>
            </a:pPr>
            <a:r>
              <a:rPr sz="1450" b="1" i="0">
                <a:solidFill>
                  <a:srgbClr val="1B3A4B"/>
                </a:solidFill>
                <a:latin typeface="Calibri"/>
              </a:rPr>
              <a:t>Foundations</a:t>
            </a:r>
          </a:p>
          <a:p>
            <a:pPr algn="l">
              <a:lnSpc>
                <a:spcPct val="105000"/>
              </a:lnSpc>
              <a:spcBef>
                <a:spcPts val="300"/>
              </a:spcBef>
              <a:spcAft>
                <a:spcPts val="0"/>
              </a:spcAft>
            </a:pPr>
            <a:r>
              <a:rPr sz="1050" b="0" i="0">
                <a:solidFill>
                  <a:srgbClr val="5F7078"/>
                </a:solidFill>
                <a:latin typeface="Calibri"/>
              </a:rPr>
              <a:t>Phenomenology · existentialism · holism · field theory</a:t>
            </a:r>
          </a:p>
        </p:txBody>
      </p:sp>
      <p:sp>
        <p:nvSpPr>
          <p:cNvPr id="20" name="Rectangle 19"/>
          <p:cNvSpPr/>
          <p:nvPr/>
        </p:nvSpPr>
        <p:spPr>
          <a:xfrm>
            <a:off x="658368" y="3246120"/>
            <a:ext cx="3472586" cy="1298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58368" y="3246120"/>
            <a:ext cx="3472586"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77824" y="3447288"/>
            <a:ext cx="3033674" cy="932688"/>
          </a:xfrm>
          <a:prstGeom prst="rect">
            <a:avLst/>
          </a:prstGeom>
          <a:noFill/>
        </p:spPr>
        <p:txBody>
          <a:bodyPr wrap="square" lIns="0" rIns="0" tIns="0" bIns="0" anchor="t">
            <a:spAutoFit/>
          </a:bodyPr>
          <a:lstStyle/>
          <a:p>
            <a:pPr algn="l">
              <a:lnSpc>
                <a:spcPct val="100000"/>
              </a:lnSpc>
              <a:spcAft>
                <a:spcPts val="0"/>
              </a:spcAft>
            </a:pPr>
            <a:r>
              <a:rPr sz="1300" b="1" i="0">
                <a:solidFill>
                  <a:srgbClr val="C9762F"/>
                </a:solidFill>
                <a:latin typeface="Calibri Light"/>
              </a:rPr>
              <a:t>04</a:t>
            </a:r>
          </a:p>
          <a:p>
            <a:pPr algn="l">
              <a:lnSpc>
                <a:spcPct val="100000"/>
              </a:lnSpc>
              <a:spcBef>
                <a:spcPts val="200"/>
              </a:spcBef>
              <a:spcAft>
                <a:spcPts val="0"/>
              </a:spcAft>
            </a:pPr>
            <a:r>
              <a:rPr sz="1450" b="1" i="0">
                <a:solidFill>
                  <a:srgbClr val="1B3A4B"/>
                </a:solidFill>
                <a:latin typeface="Calibri"/>
              </a:rPr>
              <a:t>Core assumptions</a:t>
            </a:r>
          </a:p>
          <a:p>
            <a:pPr algn="l">
              <a:lnSpc>
                <a:spcPct val="105000"/>
              </a:lnSpc>
              <a:spcBef>
                <a:spcPts val="300"/>
              </a:spcBef>
              <a:spcAft>
                <a:spcPts val="0"/>
              </a:spcAft>
            </a:pPr>
            <a:r>
              <a:rPr sz="1050" b="0" i="0">
                <a:solidFill>
                  <a:srgbClr val="5F7078"/>
                </a:solidFill>
                <a:latin typeface="Calibri"/>
              </a:rPr>
              <a:t>The six assumptions that shape practice</a:t>
            </a:r>
          </a:p>
        </p:txBody>
      </p:sp>
      <p:sp>
        <p:nvSpPr>
          <p:cNvPr id="23" name="Rectangle 22"/>
          <p:cNvSpPr/>
          <p:nvPr/>
        </p:nvSpPr>
        <p:spPr>
          <a:xfrm>
            <a:off x="4359554" y="3246120"/>
            <a:ext cx="3472586" cy="1298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359554" y="3246120"/>
            <a:ext cx="3472586"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79010" y="3447288"/>
            <a:ext cx="3033674" cy="932688"/>
          </a:xfrm>
          <a:prstGeom prst="rect">
            <a:avLst/>
          </a:prstGeom>
          <a:noFill/>
        </p:spPr>
        <p:txBody>
          <a:bodyPr wrap="square" lIns="0" rIns="0" tIns="0" bIns="0" anchor="t">
            <a:spAutoFit/>
          </a:bodyPr>
          <a:lstStyle/>
          <a:p>
            <a:pPr algn="l">
              <a:lnSpc>
                <a:spcPct val="100000"/>
              </a:lnSpc>
              <a:spcAft>
                <a:spcPts val="0"/>
              </a:spcAft>
            </a:pPr>
            <a:r>
              <a:rPr sz="1300" b="1" i="0">
                <a:solidFill>
                  <a:srgbClr val="C9762F"/>
                </a:solidFill>
                <a:latin typeface="Calibri Light"/>
              </a:rPr>
              <a:t>05</a:t>
            </a:r>
          </a:p>
          <a:p>
            <a:pPr algn="l">
              <a:lnSpc>
                <a:spcPct val="100000"/>
              </a:lnSpc>
              <a:spcBef>
                <a:spcPts val="200"/>
              </a:spcBef>
              <a:spcAft>
                <a:spcPts val="0"/>
              </a:spcAft>
            </a:pPr>
            <a:r>
              <a:rPr sz="1450" b="1" i="0">
                <a:solidFill>
                  <a:srgbClr val="1B3A4B"/>
                </a:solidFill>
                <a:latin typeface="Calibri"/>
              </a:rPr>
              <a:t>Major concepts</a:t>
            </a:r>
          </a:p>
          <a:p>
            <a:pPr algn="l">
              <a:lnSpc>
                <a:spcPct val="105000"/>
              </a:lnSpc>
              <a:spcBef>
                <a:spcPts val="300"/>
              </a:spcBef>
              <a:spcAft>
                <a:spcPts val="0"/>
              </a:spcAft>
            </a:pPr>
            <a:r>
              <a:rPr sz="1050" b="0" i="0">
                <a:solidFill>
                  <a:srgbClr val="5F7078"/>
                </a:solidFill>
                <a:latin typeface="Calibri"/>
              </a:rPr>
              <a:t>Awareness, figure/ground, contact, unfinished business, self-regulation, the cycle of experience</a:t>
            </a:r>
          </a:p>
        </p:txBody>
      </p:sp>
      <p:sp>
        <p:nvSpPr>
          <p:cNvPr id="26" name="Rectangle 25"/>
          <p:cNvSpPr/>
          <p:nvPr/>
        </p:nvSpPr>
        <p:spPr>
          <a:xfrm>
            <a:off x="8060740" y="3246120"/>
            <a:ext cx="3472586" cy="1298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60740" y="3246120"/>
            <a:ext cx="3472586" cy="457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80196" y="3447288"/>
            <a:ext cx="3033674" cy="932688"/>
          </a:xfrm>
          <a:prstGeom prst="rect">
            <a:avLst/>
          </a:prstGeom>
          <a:noFill/>
        </p:spPr>
        <p:txBody>
          <a:bodyPr wrap="square" lIns="0" rIns="0" tIns="0" bIns="0" anchor="t">
            <a:spAutoFit/>
          </a:bodyPr>
          <a:lstStyle/>
          <a:p>
            <a:pPr algn="l">
              <a:lnSpc>
                <a:spcPct val="100000"/>
              </a:lnSpc>
              <a:spcAft>
                <a:spcPts val="0"/>
              </a:spcAft>
            </a:pPr>
            <a:r>
              <a:rPr sz="1300" b="1" i="0">
                <a:solidFill>
                  <a:srgbClr val="C9762F"/>
                </a:solidFill>
                <a:latin typeface="Calibri Light"/>
              </a:rPr>
              <a:t>06</a:t>
            </a:r>
          </a:p>
          <a:p>
            <a:pPr algn="l">
              <a:lnSpc>
                <a:spcPct val="100000"/>
              </a:lnSpc>
              <a:spcBef>
                <a:spcPts val="200"/>
              </a:spcBef>
              <a:spcAft>
                <a:spcPts val="0"/>
              </a:spcAft>
            </a:pPr>
            <a:r>
              <a:rPr sz="1450" b="1" i="0">
                <a:solidFill>
                  <a:srgbClr val="1B3A4B"/>
                </a:solidFill>
                <a:latin typeface="Calibri"/>
              </a:rPr>
              <a:t>Boundary disturbances</a:t>
            </a:r>
          </a:p>
          <a:p>
            <a:pPr algn="l">
              <a:lnSpc>
                <a:spcPct val="105000"/>
              </a:lnSpc>
              <a:spcBef>
                <a:spcPts val="300"/>
              </a:spcBef>
              <a:spcAft>
                <a:spcPts val="0"/>
              </a:spcAft>
            </a:pPr>
            <a:r>
              <a:rPr sz="1050" b="0" i="0">
                <a:solidFill>
                  <a:srgbClr val="5F7078"/>
                </a:solidFill>
                <a:latin typeface="Calibri"/>
              </a:rPr>
              <a:t>Introjection · projection · retroflection · deflection · confluence</a:t>
            </a:r>
          </a:p>
        </p:txBody>
      </p:sp>
      <p:sp>
        <p:nvSpPr>
          <p:cNvPr id="29" name="Rectangle 28"/>
          <p:cNvSpPr/>
          <p:nvPr/>
        </p:nvSpPr>
        <p:spPr>
          <a:xfrm>
            <a:off x="658368" y="4709159"/>
            <a:ext cx="3472586" cy="1298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58368" y="4709159"/>
            <a:ext cx="3472586"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77824" y="4910327"/>
            <a:ext cx="3033674" cy="932688"/>
          </a:xfrm>
          <a:prstGeom prst="rect">
            <a:avLst/>
          </a:prstGeom>
          <a:noFill/>
        </p:spPr>
        <p:txBody>
          <a:bodyPr wrap="square" lIns="0" rIns="0" tIns="0" bIns="0" anchor="t">
            <a:spAutoFit/>
          </a:bodyPr>
          <a:lstStyle/>
          <a:p>
            <a:pPr algn="l">
              <a:lnSpc>
                <a:spcPct val="100000"/>
              </a:lnSpc>
              <a:spcAft>
                <a:spcPts val="0"/>
              </a:spcAft>
            </a:pPr>
            <a:r>
              <a:rPr sz="1300" b="1" i="0">
                <a:solidFill>
                  <a:srgbClr val="C9762F"/>
                </a:solidFill>
                <a:latin typeface="Calibri Light"/>
              </a:rPr>
              <a:t>07</a:t>
            </a:r>
          </a:p>
          <a:p>
            <a:pPr algn="l">
              <a:lnSpc>
                <a:spcPct val="100000"/>
              </a:lnSpc>
              <a:spcBef>
                <a:spcPts val="200"/>
              </a:spcBef>
              <a:spcAft>
                <a:spcPts val="0"/>
              </a:spcAft>
            </a:pPr>
            <a:r>
              <a:rPr sz="1450" b="1" i="0">
                <a:solidFill>
                  <a:srgbClr val="1B3A4B"/>
                </a:solidFill>
                <a:latin typeface="Calibri"/>
              </a:rPr>
              <a:t>Practice</a:t>
            </a:r>
          </a:p>
          <a:p>
            <a:pPr algn="l">
              <a:lnSpc>
                <a:spcPct val="105000"/>
              </a:lnSpc>
              <a:spcBef>
                <a:spcPts val="300"/>
              </a:spcBef>
              <a:spcAft>
                <a:spcPts val="0"/>
              </a:spcAft>
            </a:pPr>
            <a:r>
              <a:rPr sz="1050" b="0" i="0">
                <a:solidFill>
                  <a:srgbClr val="5F7078"/>
                </a:solidFill>
                <a:latin typeface="Calibri"/>
              </a:rPr>
              <a:t>Goals, the counsellor's role and the therapeutic techniques</a:t>
            </a:r>
          </a:p>
        </p:txBody>
      </p:sp>
      <p:sp>
        <p:nvSpPr>
          <p:cNvPr id="32" name="Rectangle 31"/>
          <p:cNvSpPr/>
          <p:nvPr/>
        </p:nvSpPr>
        <p:spPr>
          <a:xfrm>
            <a:off x="4359554" y="4709159"/>
            <a:ext cx="3472586" cy="1298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359554" y="4709159"/>
            <a:ext cx="3472586"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579010" y="4910327"/>
            <a:ext cx="3033674" cy="932688"/>
          </a:xfrm>
          <a:prstGeom prst="rect">
            <a:avLst/>
          </a:prstGeom>
          <a:noFill/>
        </p:spPr>
        <p:txBody>
          <a:bodyPr wrap="square" lIns="0" rIns="0" tIns="0" bIns="0" anchor="t">
            <a:spAutoFit/>
          </a:bodyPr>
          <a:lstStyle/>
          <a:p>
            <a:pPr algn="l">
              <a:lnSpc>
                <a:spcPct val="100000"/>
              </a:lnSpc>
              <a:spcAft>
                <a:spcPts val="0"/>
              </a:spcAft>
            </a:pPr>
            <a:r>
              <a:rPr sz="1300" b="1" i="0">
                <a:solidFill>
                  <a:srgbClr val="C9762F"/>
                </a:solidFill>
                <a:latin typeface="Calibri Light"/>
              </a:rPr>
              <a:t>08</a:t>
            </a:r>
          </a:p>
          <a:p>
            <a:pPr algn="l">
              <a:lnSpc>
                <a:spcPct val="100000"/>
              </a:lnSpc>
              <a:spcBef>
                <a:spcPts val="200"/>
              </a:spcBef>
              <a:spcAft>
                <a:spcPts val="0"/>
              </a:spcAft>
            </a:pPr>
            <a:r>
              <a:rPr sz="1450" b="1" i="0">
                <a:solidFill>
                  <a:srgbClr val="1B3A4B"/>
                </a:solidFill>
                <a:latin typeface="Calibri"/>
              </a:rPr>
              <a:t>Case application</a:t>
            </a:r>
          </a:p>
          <a:p>
            <a:pPr algn="l">
              <a:lnSpc>
                <a:spcPct val="105000"/>
              </a:lnSpc>
              <a:spcBef>
                <a:spcPts val="300"/>
              </a:spcBef>
              <a:spcAft>
                <a:spcPts val="0"/>
              </a:spcAft>
            </a:pPr>
            <a:r>
              <a:rPr sz="1050" b="0" i="0">
                <a:solidFill>
                  <a:srgbClr val="5F7078"/>
                </a:solidFill>
                <a:latin typeface="Calibri"/>
              </a:rPr>
              <a:t>Amina — a 32-year-old administrative officer</a:t>
            </a:r>
          </a:p>
        </p:txBody>
      </p:sp>
      <p:sp>
        <p:nvSpPr>
          <p:cNvPr id="35" name="Rectangle 34"/>
          <p:cNvSpPr/>
          <p:nvPr/>
        </p:nvSpPr>
        <p:spPr>
          <a:xfrm>
            <a:off x="8060740" y="4709159"/>
            <a:ext cx="3472586" cy="1298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8060740" y="4709159"/>
            <a:ext cx="3472586"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80196" y="4910327"/>
            <a:ext cx="3033674" cy="932688"/>
          </a:xfrm>
          <a:prstGeom prst="rect">
            <a:avLst/>
          </a:prstGeom>
          <a:noFill/>
        </p:spPr>
        <p:txBody>
          <a:bodyPr wrap="square" lIns="0" rIns="0" tIns="0" bIns="0" anchor="t">
            <a:spAutoFit/>
          </a:bodyPr>
          <a:lstStyle/>
          <a:p>
            <a:pPr algn="l">
              <a:lnSpc>
                <a:spcPct val="100000"/>
              </a:lnSpc>
              <a:spcAft>
                <a:spcPts val="0"/>
              </a:spcAft>
            </a:pPr>
            <a:r>
              <a:rPr sz="1300" b="1" i="0">
                <a:solidFill>
                  <a:srgbClr val="C9762F"/>
                </a:solidFill>
                <a:latin typeface="Calibri Light"/>
              </a:rPr>
              <a:t>09</a:t>
            </a:r>
          </a:p>
          <a:p>
            <a:pPr algn="l">
              <a:lnSpc>
                <a:spcPct val="100000"/>
              </a:lnSpc>
              <a:spcBef>
                <a:spcPts val="200"/>
              </a:spcBef>
              <a:spcAft>
                <a:spcPts val="0"/>
              </a:spcAft>
            </a:pPr>
            <a:r>
              <a:rPr sz="1450" b="1" i="0">
                <a:solidFill>
                  <a:srgbClr val="1B3A4B"/>
                </a:solidFill>
                <a:latin typeface="Calibri"/>
              </a:rPr>
              <a:t>Evaluation</a:t>
            </a:r>
          </a:p>
          <a:p>
            <a:pPr algn="l">
              <a:lnSpc>
                <a:spcPct val="105000"/>
              </a:lnSpc>
              <a:spcBef>
                <a:spcPts val="300"/>
              </a:spcBef>
              <a:spcAft>
                <a:spcPts val="0"/>
              </a:spcAft>
            </a:pPr>
            <a:r>
              <a:rPr sz="1050" b="0" i="0">
                <a:solidFill>
                  <a:srgbClr val="5F7078"/>
                </a:solidFill>
                <a:latin typeface="Calibri"/>
              </a:rPr>
              <a:t>Strengths, limitations and critical evaluation</a:t>
            </a:r>
          </a:p>
        </p:txBody>
      </p:sp>
      <p:sp>
        <p:nvSpPr>
          <p:cNvPr id="38" name="TextBox 37"/>
          <p:cNvSpPr txBox="1"/>
          <p:nvPr/>
        </p:nvSpPr>
        <p:spPr>
          <a:xfrm>
            <a:off x="658368" y="6035040"/>
            <a:ext cx="10874959" cy="274320"/>
          </a:xfrm>
          <a:prstGeom prst="rect">
            <a:avLst/>
          </a:prstGeom>
          <a:noFill/>
        </p:spPr>
        <p:txBody>
          <a:bodyPr wrap="square" lIns="0" rIns="0" tIns="0" bIns="0" anchor="t">
            <a:spAutoFit/>
          </a:bodyPr>
          <a:lstStyle/>
          <a:p>
            <a:pPr algn="ctr">
              <a:lnSpc>
                <a:spcPct val="100000"/>
              </a:lnSpc>
              <a:spcAft>
                <a:spcPts val="400"/>
              </a:spcAft>
            </a:pPr>
            <a:r>
              <a:rPr sz="1250" b="1" i="1">
                <a:solidFill>
                  <a:srgbClr val="2E7D8F"/>
                </a:solidFill>
                <a:latin typeface="Calibri"/>
              </a:rPr>
              <a:t>One thread runs through all nine: awareness is the condition for choice.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1</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Introduction: What Is Gestalt Therapy?</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1609344"/>
            <a:ext cx="10874959" cy="365760"/>
          </a:xfrm>
          <a:prstGeom prst="rect">
            <a:avLst/>
          </a:prstGeom>
          <a:noFill/>
        </p:spPr>
        <p:txBody>
          <a:bodyPr wrap="square" lIns="0" rIns="0" tIns="0" bIns="0" anchor="t">
            <a:spAutoFit/>
          </a:bodyPr>
          <a:lstStyle/>
          <a:p>
            <a:pPr algn="l">
              <a:lnSpc>
                <a:spcPct val="105000"/>
              </a:lnSpc>
              <a:spcAft>
                <a:spcPts val="400"/>
              </a:spcAft>
            </a:pPr>
            <a:r>
              <a:rPr sz="1350" b="0" i="1">
                <a:solidFill>
                  <a:srgbClr val="5F7078"/>
                </a:solidFill>
                <a:latin typeface="Calibri"/>
              </a:rPr>
              <a:t>A humanistic, experiential approach built on the meaning of one German word.</a:t>
            </a:r>
          </a:p>
        </p:txBody>
      </p:sp>
      <p:sp>
        <p:nvSpPr>
          <p:cNvPr id="9" name="Rectangle 8"/>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1" name="TextBox 10"/>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03</a:t>
            </a:r>
          </a:p>
        </p:txBody>
      </p:sp>
      <p:sp>
        <p:nvSpPr>
          <p:cNvPr id="12" name="TextBox 11"/>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(Perls et al., 1951; Woldt &amp; Toman, 2005)</a:t>
            </a:r>
          </a:p>
        </p:txBody>
      </p:sp>
      <p:sp>
        <p:nvSpPr>
          <p:cNvPr id="13" name="Rectangle 12"/>
          <p:cNvSpPr/>
          <p:nvPr/>
        </p:nvSpPr>
        <p:spPr>
          <a:xfrm>
            <a:off x="658368" y="2103120"/>
            <a:ext cx="5138928" cy="1874519"/>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58368" y="2103120"/>
            <a:ext cx="41148" cy="1874519"/>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6112" y="2276856"/>
            <a:ext cx="4681728"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THE MEANING OF “GESTALT”</a:t>
            </a:r>
          </a:p>
        </p:txBody>
      </p:sp>
      <p:sp>
        <p:nvSpPr>
          <p:cNvPr id="16" name="TextBox 15"/>
          <p:cNvSpPr txBox="1"/>
          <p:nvPr/>
        </p:nvSpPr>
        <p:spPr>
          <a:xfrm>
            <a:off x="896112" y="2587752"/>
            <a:ext cx="4663440" cy="1243583"/>
          </a:xfrm>
          <a:prstGeom prst="rect">
            <a:avLst/>
          </a:prstGeom>
          <a:noFill/>
        </p:spPr>
        <p:txBody>
          <a:bodyPr wrap="square" lIns="0" rIns="0" tIns="0" bIns="0" anchor="t">
            <a:spAutoFit/>
          </a:bodyPr>
          <a:lstStyle/>
          <a:p>
            <a:pPr algn="l">
              <a:lnSpc>
                <a:spcPct val="105000"/>
              </a:lnSpc>
              <a:spcAft>
                <a:spcPts val="500"/>
              </a:spcAft>
            </a:pPr>
            <a:r>
              <a:rPr sz="1250" b="0">
                <a:solidFill>
                  <a:srgbClr val="C9762F"/>
                </a:solidFill>
                <a:latin typeface="Calibri"/>
              </a:rPr>
              <a:t>–   </a:t>
            </a:r>
            <a:r>
              <a:rPr sz="1250" b="0" i="0">
                <a:solidFill>
                  <a:srgbClr val="1B3A4B"/>
                </a:solidFill>
                <a:latin typeface="Calibri"/>
              </a:rPr>
              <a:t>German for “form”, “pattern” or “organised whole”</a:t>
            </a:r>
          </a:p>
          <a:p>
            <a:pPr algn="l">
              <a:lnSpc>
                <a:spcPct val="105000"/>
              </a:lnSpc>
              <a:spcAft>
                <a:spcPts val="500"/>
              </a:spcAft>
            </a:pPr>
            <a:r>
              <a:rPr sz="1250" b="0">
                <a:solidFill>
                  <a:srgbClr val="C9762F"/>
                </a:solidFill>
                <a:latin typeface="Calibri"/>
              </a:rPr>
              <a:t>–   </a:t>
            </a:r>
            <a:r>
              <a:rPr sz="1250" b="0" i="0">
                <a:solidFill>
                  <a:srgbClr val="1B3A4B"/>
                </a:solidFill>
                <a:latin typeface="Calibri"/>
              </a:rPr>
              <a:t>A person is an integrated whole — thoughts, emotions, bodily sensations, behaviour and relationships are interconnected</a:t>
            </a:r>
          </a:p>
          <a:p>
            <a:pPr algn="l">
              <a:lnSpc>
                <a:spcPct val="105000"/>
              </a:lnSpc>
              <a:spcAft>
                <a:spcPts val="500"/>
              </a:spcAft>
            </a:pPr>
            <a:r>
              <a:rPr sz="1250" b="0">
                <a:solidFill>
                  <a:srgbClr val="C9762F"/>
                </a:solidFill>
                <a:latin typeface="Calibri"/>
              </a:rPr>
              <a:t>–   </a:t>
            </a:r>
            <a:r>
              <a:rPr sz="1250" b="0" i="0">
                <a:solidFill>
                  <a:srgbClr val="1B3A4B"/>
                </a:solidFill>
                <a:latin typeface="Calibri"/>
              </a:rPr>
              <a:t>Not a collection of isolated psychological functions</a:t>
            </a:r>
          </a:p>
        </p:txBody>
      </p:sp>
      <p:sp>
        <p:nvSpPr>
          <p:cNvPr id="17" name="Rectangle 16"/>
          <p:cNvSpPr/>
          <p:nvPr/>
        </p:nvSpPr>
        <p:spPr>
          <a:xfrm>
            <a:off x="5980176" y="2103120"/>
            <a:ext cx="5553151" cy="1874519"/>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980176" y="2103120"/>
            <a:ext cx="41148"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217920" y="2276856"/>
            <a:ext cx="50959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WHAT IT DOES INSTEAD</a:t>
            </a:r>
          </a:p>
        </p:txBody>
      </p:sp>
      <p:sp>
        <p:nvSpPr>
          <p:cNvPr id="20" name="TextBox 19"/>
          <p:cNvSpPr txBox="1"/>
          <p:nvPr/>
        </p:nvSpPr>
        <p:spPr>
          <a:xfrm>
            <a:off x="6217920" y="2587752"/>
            <a:ext cx="5077663" cy="1243583"/>
          </a:xfrm>
          <a:prstGeom prst="rect">
            <a:avLst/>
          </a:prstGeom>
          <a:noFill/>
        </p:spPr>
        <p:txBody>
          <a:bodyPr wrap="square" lIns="0" rIns="0" tIns="0" bIns="0" anchor="t">
            <a:spAutoFit/>
          </a:bodyPr>
          <a:lstStyle/>
          <a:p>
            <a:pPr algn="l">
              <a:lnSpc>
                <a:spcPct val="105000"/>
              </a:lnSpc>
              <a:spcAft>
                <a:spcPts val="500"/>
              </a:spcAft>
            </a:pPr>
            <a:r>
              <a:rPr sz="1250" b="0">
                <a:solidFill>
                  <a:srgbClr val="C9762F"/>
                </a:solidFill>
                <a:latin typeface="Calibri"/>
              </a:rPr>
              <a:t>–   </a:t>
            </a:r>
            <a:r>
              <a:rPr sz="1250" b="0" i="0">
                <a:solidFill>
                  <a:srgbClr val="1B3A4B"/>
                </a:solidFill>
                <a:latin typeface="Calibri"/>
              </a:rPr>
              <a:t>Does not concentrate exclusively on the past</a:t>
            </a:r>
          </a:p>
          <a:p>
            <a:pPr algn="l">
              <a:lnSpc>
                <a:spcPct val="105000"/>
              </a:lnSpc>
              <a:spcAft>
                <a:spcPts val="500"/>
              </a:spcAft>
            </a:pPr>
            <a:r>
              <a:rPr sz="1250" b="0">
                <a:solidFill>
                  <a:srgbClr val="C9762F"/>
                </a:solidFill>
                <a:latin typeface="Calibri"/>
              </a:rPr>
              <a:t>–   </a:t>
            </a:r>
            <a:r>
              <a:rPr sz="1250" b="0" i="0">
                <a:solidFill>
                  <a:srgbClr val="1B3A4B"/>
                </a:solidFill>
                <a:latin typeface="Calibri"/>
              </a:rPr>
              <a:t>Does not try simply to eliminate symptoms</a:t>
            </a:r>
          </a:p>
          <a:p>
            <a:pPr algn="l">
              <a:lnSpc>
                <a:spcPct val="105000"/>
              </a:lnSpc>
              <a:spcAft>
                <a:spcPts val="500"/>
              </a:spcAft>
            </a:pPr>
            <a:r>
              <a:rPr sz="1250" b="0">
                <a:solidFill>
                  <a:srgbClr val="C9762F"/>
                </a:solidFill>
                <a:latin typeface="Calibri"/>
              </a:rPr>
              <a:t>–   </a:t>
            </a:r>
            <a:r>
              <a:rPr sz="1250" b="0" i="0">
                <a:solidFill>
                  <a:srgbClr val="1B3A4B"/>
                </a:solidFill>
                <a:latin typeface="Calibri"/>
              </a:rPr>
              <a:t>Helps clients notice how they experience and respond in the present</a:t>
            </a:r>
          </a:p>
        </p:txBody>
      </p:sp>
      <p:sp>
        <p:nvSpPr>
          <p:cNvPr id="21" name="Rectangle 20"/>
          <p:cNvSpPr/>
          <p:nvPr/>
        </p:nvSpPr>
        <p:spPr>
          <a:xfrm>
            <a:off x="658368" y="4160520"/>
            <a:ext cx="10874959" cy="169164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58368" y="4160520"/>
            <a:ext cx="45720" cy="169164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8407" y="4370832"/>
            <a:ext cx="10234879" cy="1325880"/>
          </a:xfrm>
          <a:prstGeom prst="rect">
            <a:avLst/>
          </a:prstGeom>
          <a:noFill/>
        </p:spPr>
        <p:txBody>
          <a:bodyPr wrap="square" lIns="0" rIns="0" tIns="0" bIns="0" anchor="t">
            <a:spAutoFit/>
          </a:bodyPr>
          <a:lstStyle/>
          <a:p>
            <a:pPr algn="l">
              <a:lnSpc>
                <a:spcPct val="100000"/>
              </a:lnSpc>
              <a:spcAft>
                <a:spcPts val="0"/>
              </a:spcAft>
            </a:pPr>
            <a:r>
              <a:rPr sz="1050" b="1" i="0">
                <a:solidFill>
                  <a:srgbClr val="C9762F"/>
                </a:solidFill>
                <a:latin typeface="Calibri Light"/>
              </a:rPr>
              <a:t>WHY IT MATTERS TO COUNSELLING</a:t>
            </a:r>
          </a:p>
          <a:p>
            <a:pPr algn="l">
              <a:lnSpc>
                <a:spcPct val="112000"/>
              </a:lnSpc>
              <a:spcBef>
                <a:spcPts val="800"/>
              </a:spcBef>
              <a:spcAft>
                <a:spcPts val="0"/>
              </a:spcAft>
            </a:pPr>
            <a:r>
              <a:rPr sz="1350" b="0" i="0">
                <a:solidFill>
                  <a:srgbClr val="FFFFFF"/>
                </a:solidFill>
                <a:latin typeface="Calibri"/>
              </a:rPr>
              <a:t>Clients often present with unresolved emotions, unexamined beliefs, avoidance and difficulty expressing their needs. Gestalt Therapy proposes that increased awareness helps a person recognise their needs, understand their emotional responses, identify restrictive patterns and make more deliberate choices — reached through a collaborative relationship in which the counsellor explores rather than interprets or blames.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2</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Historical Development and Major Contributors</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04</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(Woldt &amp; Toman, 2005)</a:t>
            </a:r>
          </a:p>
        </p:txBody>
      </p:sp>
      <p:sp>
        <p:nvSpPr>
          <p:cNvPr id="12" name="TextBox 11"/>
          <p:cNvSpPr txBox="1"/>
          <p:nvPr/>
        </p:nvSpPr>
        <p:spPr>
          <a:xfrm>
            <a:off x="658368" y="1737360"/>
            <a:ext cx="10874959" cy="548640"/>
          </a:xfrm>
          <a:prstGeom prst="rect">
            <a:avLst/>
          </a:prstGeom>
          <a:noFill/>
        </p:spPr>
        <p:txBody>
          <a:bodyPr wrap="square" lIns="0" rIns="0" tIns="0" bIns="0" anchor="t">
            <a:spAutoFit/>
          </a:bodyPr>
          <a:lstStyle/>
          <a:p>
            <a:pPr algn="l">
              <a:lnSpc>
                <a:spcPct val="112000"/>
              </a:lnSpc>
              <a:spcAft>
                <a:spcPts val="400"/>
              </a:spcAft>
            </a:pPr>
            <a:r>
              <a:rPr sz="1350" b="0" i="0">
                <a:solidFill>
                  <a:srgbClr val="1B3A4B"/>
                </a:solidFill>
                <a:latin typeface="Calibri"/>
              </a:rPr>
              <a:t>Gestalt Therapy developed during the mid-twentieth century. Its foundational text, Gestalt Therapy: Excitement and Growth in the Human Personality, was published in 1951 by Perls, Hefferline and Goodman.</a:t>
            </a:r>
          </a:p>
        </p:txBody>
      </p:sp>
      <p:sp>
        <p:nvSpPr>
          <p:cNvPr id="13" name="Rectangle 12"/>
          <p:cNvSpPr/>
          <p:nvPr/>
        </p:nvSpPr>
        <p:spPr>
          <a:xfrm>
            <a:off x="658368" y="2468880"/>
            <a:ext cx="3472586" cy="178308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58368" y="2468880"/>
            <a:ext cx="3472586" cy="457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77824" y="2670048"/>
            <a:ext cx="3033674" cy="1463040"/>
          </a:xfrm>
          <a:prstGeom prst="rect">
            <a:avLst/>
          </a:prstGeom>
          <a:noFill/>
        </p:spPr>
        <p:txBody>
          <a:bodyPr wrap="square" lIns="0" rIns="0" tIns="0" bIns="0" anchor="t">
            <a:spAutoFit/>
          </a:bodyPr>
          <a:lstStyle/>
          <a:p>
            <a:pPr algn="l">
              <a:lnSpc>
                <a:spcPct val="100000"/>
              </a:lnSpc>
              <a:spcAft>
                <a:spcPts val="0"/>
              </a:spcAft>
            </a:pPr>
            <a:r>
              <a:rPr sz="1600" b="1" i="0">
                <a:solidFill>
                  <a:srgbClr val="1B3A4B"/>
                </a:solidFill>
                <a:latin typeface="Calibri Light"/>
              </a:rPr>
              <a:t>Fritz Perls</a:t>
            </a:r>
          </a:p>
          <a:p>
            <a:pPr algn="l">
              <a:lnSpc>
                <a:spcPct val="100000"/>
              </a:lnSpc>
              <a:spcBef>
                <a:spcPts val="100"/>
              </a:spcBef>
              <a:spcAft>
                <a:spcPts val="0"/>
              </a:spcAft>
            </a:pPr>
            <a:r>
              <a:rPr sz="1050" b="1" i="0">
                <a:solidFill>
                  <a:srgbClr val="2E7D8F"/>
                </a:solidFill>
                <a:latin typeface="Calibri"/>
              </a:rPr>
              <a:t>1893–1970   ·   Co-founder</a:t>
            </a:r>
          </a:p>
          <a:p>
            <a:pPr algn="l">
              <a:lnSpc>
                <a:spcPct val="110000"/>
              </a:lnSpc>
              <a:spcBef>
                <a:spcPts val="600"/>
              </a:spcBef>
              <a:spcAft>
                <a:spcPts val="0"/>
              </a:spcAft>
            </a:pPr>
            <a:r>
              <a:rPr sz="1150" b="0" i="0">
                <a:solidFill>
                  <a:srgbClr val="5F7078"/>
                </a:solidFill>
                <a:latin typeface="Calibri"/>
              </a:rPr>
              <a:t>Emphasis on awareness, present experience and personal responsibility.</a:t>
            </a:r>
          </a:p>
        </p:txBody>
      </p:sp>
      <p:sp>
        <p:nvSpPr>
          <p:cNvPr id="16" name="Rectangle 15"/>
          <p:cNvSpPr/>
          <p:nvPr/>
        </p:nvSpPr>
        <p:spPr>
          <a:xfrm>
            <a:off x="4359554" y="2468880"/>
            <a:ext cx="3472586" cy="178308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59554" y="2468880"/>
            <a:ext cx="3472586" cy="457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79010" y="2670048"/>
            <a:ext cx="3033674" cy="1463040"/>
          </a:xfrm>
          <a:prstGeom prst="rect">
            <a:avLst/>
          </a:prstGeom>
          <a:noFill/>
        </p:spPr>
        <p:txBody>
          <a:bodyPr wrap="square" lIns="0" rIns="0" tIns="0" bIns="0" anchor="t">
            <a:spAutoFit/>
          </a:bodyPr>
          <a:lstStyle/>
          <a:p>
            <a:pPr algn="l">
              <a:lnSpc>
                <a:spcPct val="100000"/>
              </a:lnSpc>
              <a:spcAft>
                <a:spcPts val="0"/>
              </a:spcAft>
            </a:pPr>
            <a:r>
              <a:rPr sz="1600" b="1" i="0">
                <a:solidFill>
                  <a:srgbClr val="1B3A4B"/>
                </a:solidFill>
                <a:latin typeface="Calibri Light"/>
              </a:rPr>
              <a:t>Laura Perls</a:t>
            </a:r>
          </a:p>
          <a:p>
            <a:pPr algn="l">
              <a:lnSpc>
                <a:spcPct val="100000"/>
              </a:lnSpc>
              <a:spcBef>
                <a:spcPts val="100"/>
              </a:spcBef>
              <a:spcAft>
                <a:spcPts val="0"/>
              </a:spcAft>
            </a:pPr>
            <a:r>
              <a:rPr sz="1050" b="1" i="0">
                <a:solidFill>
                  <a:srgbClr val="2E7D8F"/>
                </a:solidFill>
                <a:latin typeface="Calibri"/>
              </a:rPr>
              <a:t>1905–1990   ·   Co-founder</a:t>
            </a:r>
          </a:p>
          <a:p>
            <a:pPr algn="l">
              <a:lnSpc>
                <a:spcPct val="110000"/>
              </a:lnSpc>
              <a:spcBef>
                <a:spcPts val="600"/>
              </a:spcBef>
              <a:spcAft>
                <a:spcPts val="0"/>
              </a:spcAft>
            </a:pPr>
            <a:r>
              <a:rPr sz="1150" b="0" i="0">
                <a:solidFill>
                  <a:srgbClr val="5F7078"/>
                </a:solidFill>
                <a:latin typeface="Calibri"/>
              </a:rPr>
              <a:t>Theoretical and clinical development; attention to embodied experience, contact and the therapeutic relationship.</a:t>
            </a:r>
          </a:p>
        </p:txBody>
      </p:sp>
      <p:sp>
        <p:nvSpPr>
          <p:cNvPr id="19" name="Rectangle 18"/>
          <p:cNvSpPr/>
          <p:nvPr/>
        </p:nvSpPr>
        <p:spPr>
          <a:xfrm>
            <a:off x="8060740" y="2468880"/>
            <a:ext cx="3472586" cy="178308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060740" y="2468880"/>
            <a:ext cx="3472586" cy="457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80196" y="2670048"/>
            <a:ext cx="3033674" cy="1463040"/>
          </a:xfrm>
          <a:prstGeom prst="rect">
            <a:avLst/>
          </a:prstGeom>
          <a:noFill/>
        </p:spPr>
        <p:txBody>
          <a:bodyPr wrap="square" lIns="0" rIns="0" tIns="0" bIns="0" anchor="t">
            <a:spAutoFit/>
          </a:bodyPr>
          <a:lstStyle/>
          <a:p>
            <a:pPr algn="l">
              <a:lnSpc>
                <a:spcPct val="100000"/>
              </a:lnSpc>
              <a:spcAft>
                <a:spcPts val="0"/>
              </a:spcAft>
            </a:pPr>
            <a:r>
              <a:rPr sz="1600" b="1" i="0">
                <a:solidFill>
                  <a:srgbClr val="1B3A4B"/>
                </a:solidFill>
                <a:latin typeface="Calibri Light"/>
              </a:rPr>
              <a:t>Paul Goodman</a:t>
            </a:r>
          </a:p>
          <a:p>
            <a:pPr algn="l">
              <a:lnSpc>
                <a:spcPct val="100000"/>
              </a:lnSpc>
              <a:spcBef>
                <a:spcPts val="100"/>
              </a:spcBef>
              <a:spcAft>
                <a:spcPts val="0"/>
              </a:spcAft>
            </a:pPr>
            <a:r>
              <a:rPr sz="1050" b="1" i="0">
                <a:solidFill>
                  <a:srgbClr val="2E7D8F"/>
                </a:solidFill>
                <a:latin typeface="Calibri"/>
              </a:rPr>
              <a:t>1911–1972   ·   Co-author of the 1951 text</a:t>
            </a:r>
          </a:p>
          <a:p>
            <a:pPr algn="l">
              <a:lnSpc>
                <a:spcPct val="110000"/>
              </a:lnSpc>
              <a:spcBef>
                <a:spcPts val="600"/>
              </a:spcBef>
              <a:spcAft>
                <a:spcPts val="0"/>
              </a:spcAft>
            </a:pPr>
            <a:r>
              <a:rPr sz="1150" b="0" i="0">
                <a:solidFill>
                  <a:srgbClr val="5F7078"/>
                </a:solidFill>
                <a:latin typeface="Calibri"/>
              </a:rPr>
              <a:t>Theoretical formulation of the approach and its philosophical and social dimensions.</a:t>
            </a:r>
          </a:p>
        </p:txBody>
      </p:sp>
      <p:sp>
        <p:nvSpPr>
          <p:cNvPr id="22" name="Rectangle 21"/>
          <p:cNvSpPr/>
          <p:nvPr/>
        </p:nvSpPr>
        <p:spPr>
          <a:xfrm>
            <a:off x="658368" y="4389120"/>
            <a:ext cx="10874959" cy="148132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58368" y="4389120"/>
            <a:ext cx="41148" cy="1481328"/>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6112" y="4562856"/>
            <a:ext cx="10417759"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FOUR INTELLECTUAL TRADITIONS SHAPED THE APPROACH</a:t>
            </a:r>
          </a:p>
        </p:txBody>
      </p:sp>
      <p:sp>
        <p:nvSpPr>
          <p:cNvPr id="25" name="TextBox 24"/>
          <p:cNvSpPr txBox="1"/>
          <p:nvPr/>
        </p:nvSpPr>
        <p:spPr>
          <a:xfrm>
            <a:off x="896112" y="4873752"/>
            <a:ext cx="10399471" cy="850391"/>
          </a:xfrm>
          <a:prstGeom prst="rect">
            <a:avLst/>
          </a:prstGeom>
          <a:noFill/>
        </p:spPr>
        <p:txBody>
          <a:bodyPr wrap="square" lIns="0" rIns="0" tIns="0" bIns="0" anchor="t">
            <a:spAutoFit/>
          </a:bodyPr>
          <a:lstStyle/>
          <a:p>
            <a:pPr algn="l">
              <a:lnSpc>
                <a:spcPct val="105000"/>
              </a:lnSpc>
              <a:spcAft>
                <a:spcPts val="500"/>
              </a:spcAft>
            </a:pPr>
            <a:r>
              <a:rPr sz="900" b="0">
                <a:solidFill>
                  <a:srgbClr val="C9762F"/>
                </a:solidFill>
                <a:latin typeface="Calibri"/>
              </a:rPr>
              <a:t>→   </a:t>
            </a:r>
            <a:r>
              <a:rPr sz="900" b="0" i="0">
                <a:solidFill>
                  <a:srgbClr val="1B3A4B"/>
                </a:solidFill>
                <a:latin typeface="Calibri"/>
              </a:rPr>
              <a:t>Gestalt psychology — understanding people as integrated wholes</a:t>
            </a:r>
          </a:p>
          <a:p>
            <a:pPr algn="l">
              <a:lnSpc>
                <a:spcPct val="105000"/>
              </a:lnSpc>
              <a:spcAft>
                <a:spcPts val="500"/>
              </a:spcAft>
            </a:pPr>
            <a:r>
              <a:rPr sz="900" b="0">
                <a:solidFill>
                  <a:srgbClr val="C9762F"/>
                </a:solidFill>
                <a:latin typeface="Calibri"/>
              </a:rPr>
              <a:t>→   </a:t>
            </a:r>
            <a:r>
              <a:rPr sz="900" b="0" i="0">
                <a:solidFill>
                  <a:srgbClr val="1B3A4B"/>
                </a:solidFill>
                <a:latin typeface="Calibri"/>
              </a:rPr>
              <a:t>Phenomenology — exploring immediate, subjective experience</a:t>
            </a:r>
          </a:p>
          <a:p>
            <a:pPr algn="l">
              <a:lnSpc>
                <a:spcPct val="105000"/>
              </a:lnSpc>
              <a:spcAft>
                <a:spcPts val="500"/>
              </a:spcAft>
            </a:pPr>
            <a:r>
              <a:rPr sz="900" b="0">
                <a:solidFill>
                  <a:srgbClr val="C9762F"/>
                </a:solidFill>
                <a:latin typeface="Calibri"/>
              </a:rPr>
              <a:t>→   </a:t>
            </a:r>
            <a:r>
              <a:rPr sz="900" b="0" i="0">
                <a:solidFill>
                  <a:srgbClr val="1B3A4B"/>
                </a:solidFill>
                <a:latin typeface="Calibri"/>
              </a:rPr>
              <a:t>Existential philosophy — choice, responsibility, freedom and meaning</a:t>
            </a:r>
          </a:p>
          <a:p>
            <a:pPr algn="l">
              <a:lnSpc>
                <a:spcPct val="105000"/>
              </a:lnSpc>
              <a:spcAft>
                <a:spcPts val="500"/>
              </a:spcAft>
            </a:pPr>
            <a:r>
              <a:rPr sz="900" b="0">
                <a:solidFill>
                  <a:srgbClr val="C9762F"/>
                </a:solidFill>
                <a:latin typeface="Calibri"/>
              </a:rPr>
              <a:t>→   </a:t>
            </a:r>
            <a:r>
              <a:rPr sz="900" b="0" i="0">
                <a:solidFill>
                  <a:srgbClr val="1B3A4B"/>
                </a:solidFill>
                <a:latin typeface="Calibri"/>
              </a:rPr>
              <a:t>Field theory — the influence of the person's environment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3</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Philosophical Foundations</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05</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(Brownell, 2010; Joyce &amp; Sills, 2014)</a:t>
            </a:r>
          </a:p>
        </p:txBody>
      </p:sp>
      <p:sp>
        <p:nvSpPr>
          <p:cNvPr id="12" name="Rectangle 11"/>
          <p:cNvSpPr/>
          <p:nvPr/>
        </p:nvSpPr>
        <p:spPr>
          <a:xfrm>
            <a:off x="658368" y="1783080"/>
            <a:ext cx="5309463" cy="197510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1783080"/>
            <a:ext cx="45720" cy="1975104"/>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1965960"/>
            <a:ext cx="4797399" cy="1609344"/>
          </a:xfrm>
          <a:prstGeom prst="rect">
            <a:avLst/>
          </a:prstGeom>
          <a:noFill/>
        </p:spPr>
        <p:txBody>
          <a:bodyPr wrap="square" lIns="0" rIns="0" tIns="0" bIns="0" anchor="t">
            <a:spAutoFit/>
          </a:bodyPr>
          <a:lstStyle/>
          <a:p>
            <a:pPr algn="l">
              <a:lnSpc>
                <a:spcPct val="100000"/>
              </a:lnSpc>
              <a:spcAft>
                <a:spcPts val="0"/>
              </a:spcAft>
            </a:pPr>
            <a:r>
              <a:rPr sz="1450" b="1" i="0">
                <a:solidFill>
                  <a:srgbClr val="1B3A4B"/>
                </a:solidFill>
                <a:latin typeface="Calibri Light"/>
              </a:rPr>
              <a:t>3.1  Phenomenology</a:t>
            </a:r>
          </a:p>
          <a:p>
            <a:pPr algn="l">
              <a:lnSpc>
                <a:spcPct val="110000"/>
              </a:lnSpc>
              <a:spcBef>
                <a:spcPts val="500"/>
              </a:spcBef>
              <a:spcAft>
                <a:spcPts val="0"/>
              </a:spcAft>
            </a:pPr>
            <a:r>
              <a:rPr sz="1150" b="0" i="0">
                <a:solidFill>
                  <a:srgbClr val="5F7078"/>
                </a:solidFill>
                <a:latin typeface="Calibri"/>
              </a:rPr>
              <a:t>Understand experience as the individual perceives it. The counsellor seeks the client's subjective world before imposing an explanation.</a:t>
            </a:r>
          </a:p>
          <a:p>
            <a:pPr algn="l">
              <a:lnSpc>
                <a:spcPct val="110000"/>
              </a:lnSpc>
              <a:spcBef>
                <a:spcPts val="500"/>
              </a:spcBef>
              <a:spcAft>
                <a:spcPts val="0"/>
              </a:spcAft>
            </a:pPr>
            <a:r>
              <a:rPr sz="1100" b="0" i="1">
                <a:solidFill>
                  <a:srgbClr val="2E7D8F"/>
                </a:solidFill>
                <a:latin typeface="Calibri"/>
              </a:rPr>
              <a:t>“A colleague disrespects me.” → what actually occurred, how it was interpreted, what emotion arose, what was noticed in the body.</a:t>
            </a:r>
          </a:p>
        </p:txBody>
      </p:sp>
      <p:sp>
        <p:nvSpPr>
          <p:cNvPr id="15" name="Rectangle 14"/>
          <p:cNvSpPr/>
          <p:nvPr/>
        </p:nvSpPr>
        <p:spPr>
          <a:xfrm>
            <a:off x="6223863" y="1783080"/>
            <a:ext cx="5309463" cy="197510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23863" y="1783080"/>
            <a:ext cx="45720" cy="1975104"/>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79895" y="1965960"/>
            <a:ext cx="4797399" cy="1609344"/>
          </a:xfrm>
          <a:prstGeom prst="rect">
            <a:avLst/>
          </a:prstGeom>
          <a:noFill/>
        </p:spPr>
        <p:txBody>
          <a:bodyPr wrap="square" lIns="0" rIns="0" tIns="0" bIns="0" anchor="t">
            <a:spAutoFit/>
          </a:bodyPr>
          <a:lstStyle/>
          <a:p>
            <a:pPr algn="l">
              <a:lnSpc>
                <a:spcPct val="100000"/>
              </a:lnSpc>
              <a:spcAft>
                <a:spcPts val="0"/>
              </a:spcAft>
            </a:pPr>
            <a:r>
              <a:rPr sz="1450" b="1" i="0">
                <a:solidFill>
                  <a:srgbClr val="1B3A4B"/>
                </a:solidFill>
                <a:latin typeface="Calibri Light"/>
              </a:rPr>
              <a:t>3.2  Existential philosophy</a:t>
            </a:r>
          </a:p>
          <a:p>
            <a:pPr algn="l">
              <a:lnSpc>
                <a:spcPct val="110000"/>
              </a:lnSpc>
              <a:spcBef>
                <a:spcPts val="500"/>
              </a:spcBef>
              <a:spcAft>
                <a:spcPts val="0"/>
              </a:spcAft>
            </a:pPr>
            <a:r>
              <a:rPr sz="1150" b="0" i="0">
                <a:solidFill>
                  <a:srgbClr val="5F7078"/>
                </a:solidFill>
                <a:latin typeface="Calibri"/>
              </a:rPr>
              <a:t>Choice, responsibility, freedom and the search for meaning. Clients are helped to see their own participation in their experience.</a:t>
            </a:r>
          </a:p>
          <a:p>
            <a:pPr algn="l">
              <a:lnSpc>
                <a:spcPct val="110000"/>
              </a:lnSpc>
              <a:spcBef>
                <a:spcPts val="500"/>
              </a:spcBef>
              <a:spcAft>
                <a:spcPts val="0"/>
              </a:spcAft>
            </a:pPr>
            <a:r>
              <a:rPr sz="1100" b="0" i="1">
                <a:solidFill>
                  <a:srgbClr val="2E7D8F"/>
                </a:solidFill>
                <a:latin typeface="Calibri"/>
              </a:rPr>
              <a:t>Responsibility is not control. Social expectations, economic hardship, discrimination and unequal power genuinely restrict options.</a:t>
            </a:r>
          </a:p>
        </p:txBody>
      </p:sp>
      <p:sp>
        <p:nvSpPr>
          <p:cNvPr id="18" name="Rectangle 17"/>
          <p:cNvSpPr/>
          <p:nvPr/>
        </p:nvSpPr>
        <p:spPr>
          <a:xfrm>
            <a:off x="658368" y="3959352"/>
            <a:ext cx="5309463" cy="197510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58368" y="3959352"/>
            <a:ext cx="45720" cy="1975104"/>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4400" y="4142232"/>
            <a:ext cx="4797399" cy="1609344"/>
          </a:xfrm>
          <a:prstGeom prst="rect">
            <a:avLst/>
          </a:prstGeom>
          <a:noFill/>
        </p:spPr>
        <p:txBody>
          <a:bodyPr wrap="square" lIns="0" rIns="0" tIns="0" bIns="0" anchor="t">
            <a:spAutoFit/>
          </a:bodyPr>
          <a:lstStyle/>
          <a:p>
            <a:pPr algn="l">
              <a:lnSpc>
                <a:spcPct val="100000"/>
              </a:lnSpc>
              <a:spcAft>
                <a:spcPts val="0"/>
              </a:spcAft>
            </a:pPr>
            <a:r>
              <a:rPr sz="1450" b="1" i="0">
                <a:solidFill>
                  <a:srgbClr val="1B3A4B"/>
                </a:solidFill>
                <a:latin typeface="Calibri Light"/>
              </a:rPr>
              <a:t>3.3  Holism</a:t>
            </a:r>
          </a:p>
          <a:p>
            <a:pPr algn="l">
              <a:lnSpc>
                <a:spcPct val="110000"/>
              </a:lnSpc>
              <a:spcBef>
                <a:spcPts val="500"/>
              </a:spcBef>
              <a:spcAft>
                <a:spcPts val="0"/>
              </a:spcAft>
            </a:pPr>
            <a:r>
              <a:rPr sz="1150" b="0" i="0">
                <a:solidFill>
                  <a:srgbClr val="5F7078"/>
                </a:solidFill>
                <a:latin typeface="Calibri"/>
              </a:rPr>
              <a:t>A person is an integrated whole, not unrelated parts. Thought, emotion, sensation, behaviour and relationship influence one another.</a:t>
            </a:r>
          </a:p>
          <a:p>
            <a:pPr algn="l">
              <a:lnSpc>
                <a:spcPct val="110000"/>
              </a:lnSpc>
              <a:spcBef>
                <a:spcPts val="500"/>
              </a:spcBef>
              <a:spcAft>
                <a:spcPts val="0"/>
              </a:spcAft>
            </a:pPr>
            <a:r>
              <a:rPr sz="1100" b="0" i="1">
                <a:solidFill>
                  <a:srgbClr val="2E7D8F"/>
                </a:solidFill>
                <a:latin typeface="Calibri"/>
              </a:rPr>
              <a:t>Anxiety at work appears together as racing thoughts, muscle tension, fear of criticism and difficulty speaking up.</a:t>
            </a:r>
          </a:p>
        </p:txBody>
      </p:sp>
      <p:sp>
        <p:nvSpPr>
          <p:cNvPr id="21" name="Rectangle 20"/>
          <p:cNvSpPr/>
          <p:nvPr/>
        </p:nvSpPr>
        <p:spPr>
          <a:xfrm>
            <a:off x="6223863" y="3959352"/>
            <a:ext cx="5309463" cy="197510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23863" y="3959352"/>
            <a:ext cx="45720" cy="1975104"/>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79895" y="4142232"/>
            <a:ext cx="4797399" cy="1609344"/>
          </a:xfrm>
          <a:prstGeom prst="rect">
            <a:avLst/>
          </a:prstGeom>
          <a:noFill/>
        </p:spPr>
        <p:txBody>
          <a:bodyPr wrap="square" lIns="0" rIns="0" tIns="0" bIns="0" anchor="t">
            <a:spAutoFit/>
          </a:bodyPr>
          <a:lstStyle/>
          <a:p>
            <a:pPr algn="l">
              <a:lnSpc>
                <a:spcPct val="100000"/>
              </a:lnSpc>
              <a:spcAft>
                <a:spcPts val="0"/>
              </a:spcAft>
            </a:pPr>
            <a:r>
              <a:rPr sz="1450" b="1" i="0">
                <a:solidFill>
                  <a:srgbClr val="1B3A4B"/>
                </a:solidFill>
                <a:latin typeface="Calibri Light"/>
              </a:rPr>
              <a:t>3.4  Field theory</a:t>
            </a:r>
          </a:p>
          <a:p>
            <a:pPr algn="l">
              <a:lnSpc>
                <a:spcPct val="110000"/>
              </a:lnSpc>
              <a:spcBef>
                <a:spcPts val="500"/>
              </a:spcBef>
              <a:spcAft>
                <a:spcPts val="0"/>
              </a:spcAft>
            </a:pPr>
            <a:r>
              <a:rPr sz="1150" b="0" i="0">
                <a:solidFill>
                  <a:srgbClr val="5F7078"/>
                </a:solidFill>
                <a:latin typeface="Calibri"/>
              </a:rPr>
              <a:t>Experience cannot be fully understood apart from the environment — relationships, culture, workplace conditions, economic circumstances.</a:t>
            </a:r>
          </a:p>
          <a:p>
            <a:pPr algn="l">
              <a:lnSpc>
                <a:spcPct val="110000"/>
              </a:lnSpc>
              <a:spcBef>
                <a:spcPts val="500"/>
              </a:spcBef>
              <a:spcAft>
                <a:spcPts val="0"/>
              </a:spcAft>
            </a:pPr>
            <a:r>
              <a:rPr sz="1100" b="0" i="1">
                <a:solidFill>
                  <a:srgbClr val="2E7D8F"/>
                </a:solidFill>
                <a:latin typeface="Calibri"/>
              </a:rPr>
              <a:t>An employee who cannot refuse extra duties is shaped by internal beliefs AND workplace power, financial dependence and job insecurity.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4</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Six Core Assumptions</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06</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(Brownell, 2010; Perls et al., 1951)</a:t>
            </a:r>
          </a:p>
        </p:txBody>
      </p:sp>
      <p:sp>
        <p:nvSpPr>
          <p:cNvPr id="12" name="Rectangle 11"/>
          <p:cNvSpPr/>
          <p:nvPr/>
        </p:nvSpPr>
        <p:spPr>
          <a:xfrm>
            <a:off x="658368" y="1783080"/>
            <a:ext cx="5309463" cy="1316736"/>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1783080"/>
            <a:ext cx="45720" cy="1316736"/>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1965960"/>
            <a:ext cx="4797399" cy="987552"/>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01</a:t>
            </a:r>
          </a:p>
          <a:p>
            <a:pPr algn="l">
              <a:lnSpc>
                <a:spcPct val="100000"/>
              </a:lnSpc>
              <a:spcBef>
                <a:spcPts val="100"/>
              </a:spcBef>
              <a:spcAft>
                <a:spcPts val="0"/>
              </a:spcAft>
            </a:pPr>
            <a:r>
              <a:rPr sz="1400" b="1" i="0">
                <a:solidFill>
                  <a:srgbClr val="1B3A4B"/>
                </a:solidFill>
                <a:latin typeface="Calibri"/>
              </a:rPr>
              <a:t>People are integrated wholes</a:t>
            </a:r>
          </a:p>
          <a:p>
            <a:pPr algn="l">
              <a:lnSpc>
                <a:spcPct val="108000"/>
              </a:lnSpc>
              <a:spcBef>
                <a:spcPts val="300"/>
              </a:spcBef>
              <a:spcAft>
                <a:spcPts val="0"/>
              </a:spcAft>
            </a:pPr>
            <a:r>
              <a:rPr sz="1150" b="0" i="0">
                <a:solidFill>
                  <a:srgbClr val="5F7078"/>
                </a:solidFill>
                <a:latin typeface="Calibri"/>
              </a:rPr>
              <a:t>Thoughts, feelings, bodily sensations, actions and relationships influence one another.</a:t>
            </a:r>
          </a:p>
        </p:txBody>
      </p:sp>
      <p:sp>
        <p:nvSpPr>
          <p:cNvPr id="15" name="Rectangle 14"/>
          <p:cNvSpPr/>
          <p:nvPr/>
        </p:nvSpPr>
        <p:spPr>
          <a:xfrm>
            <a:off x="6223863" y="1783080"/>
            <a:ext cx="5309463" cy="1316736"/>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23863" y="1783080"/>
            <a:ext cx="45720" cy="1316736"/>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79895" y="1965960"/>
            <a:ext cx="4797399" cy="987552"/>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02</a:t>
            </a:r>
          </a:p>
          <a:p>
            <a:pPr algn="l">
              <a:lnSpc>
                <a:spcPct val="100000"/>
              </a:lnSpc>
              <a:spcBef>
                <a:spcPts val="100"/>
              </a:spcBef>
              <a:spcAft>
                <a:spcPts val="0"/>
              </a:spcAft>
            </a:pPr>
            <a:r>
              <a:rPr sz="1400" b="1" i="0">
                <a:solidFill>
                  <a:srgbClr val="1B3A4B"/>
                </a:solidFill>
                <a:latin typeface="Calibri"/>
              </a:rPr>
              <a:t>Awareness supports change</a:t>
            </a:r>
          </a:p>
          <a:p>
            <a:pPr algn="l">
              <a:lnSpc>
                <a:spcPct val="108000"/>
              </a:lnSpc>
              <a:spcBef>
                <a:spcPts val="300"/>
              </a:spcBef>
              <a:spcAft>
                <a:spcPts val="0"/>
              </a:spcAft>
            </a:pPr>
            <a:r>
              <a:rPr sz="1150" b="0" i="0">
                <a:solidFill>
                  <a:srgbClr val="5F7078"/>
                </a:solidFill>
                <a:latin typeface="Calibri"/>
              </a:rPr>
              <a:t>Unhelpful patterns repeat unnoticed; noticing them opens alternative choices.</a:t>
            </a:r>
          </a:p>
        </p:txBody>
      </p:sp>
      <p:sp>
        <p:nvSpPr>
          <p:cNvPr id="18" name="Rectangle 17"/>
          <p:cNvSpPr/>
          <p:nvPr/>
        </p:nvSpPr>
        <p:spPr>
          <a:xfrm>
            <a:off x="658368" y="3246120"/>
            <a:ext cx="5309463" cy="1316736"/>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58368" y="3246120"/>
            <a:ext cx="45720" cy="1316736"/>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4400" y="3429000"/>
            <a:ext cx="4797399" cy="987552"/>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03</a:t>
            </a:r>
          </a:p>
          <a:p>
            <a:pPr algn="l">
              <a:lnSpc>
                <a:spcPct val="100000"/>
              </a:lnSpc>
              <a:spcBef>
                <a:spcPts val="100"/>
              </a:spcBef>
              <a:spcAft>
                <a:spcPts val="0"/>
              </a:spcAft>
            </a:pPr>
            <a:r>
              <a:rPr sz="1400" b="1" i="0">
                <a:solidFill>
                  <a:srgbClr val="1B3A4B"/>
                </a:solidFill>
                <a:latin typeface="Calibri"/>
              </a:rPr>
              <a:t>The present moment is central</a:t>
            </a:r>
          </a:p>
          <a:p>
            <a:pPr algn="l">
              <a:lnSpc>
                <a:spcPct val="108000"/>
              </a:lnSpc>
              <a:spcBef>
                <a:spcPts val="300"/>
              </a:spcBef>
              <a:spcAft>
                <a:spcPts val="0"/>
              </a:spcAft>
            </a:pPr>
            <a:r>
              <a:rPr sz="1150" b="0" i="0">
                <a:solidFill>
                  <a:srgbClr val="5F7078"/>
                </a:solidFill>
                <a:latin typeface="Calibri"/>
              </a:rPr>
              <a:t>The past is examined through how it continues to shape current feeling and behaviour.</a:t>
            </a:r>
          </a:p>
        </p:txBody>
      </p:sp>
      <p:sp>
        <p:nvSpPr>
          <p:cNvPr id="21" name="Rectangle 20"/>
          <p:cNvSpPr/>
          <p:nvPr/>
        </p:nvSpPr>
        <p:spPr>
          <a:xfrm>
            <a:off x="6223863" y="3246120"/>
            <a:ext cx="5309463" cy="1316736"/>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23863" y="3246120"/>
            <a:ext cx="45720" cy="1316736"/>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79895" y="3429000"/>
            <a:ext cx="4797399" cy="987552"/>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04</a:t>
            </a:r>
          </a:p>
          <a:p>
            <a:pPr algn="l">
              <a:lnSpc>
                <a:spcPct val="100000"/>
              </a:lnSpc>
              <a:spcBef>
                <a:spcPts val="100"/>
              </a:spcBef>
              <a:spcAft>
                <a:spcPts val="0"/>
              </a:spcAft>
            </a:pPr>
            <a:r>
              <a:rPr sz="1400" b="1" i="0">
                <a:solidFill>
                  <a:srgbClr val="1B3A4B"/>
                </a:solidFill>
                <a:latin typeface="Calibri"/>
              </a:rPr>
              <a:t>Capacity for organismic self-regulation</a:t>
            </a:r>
          </a:p>
          <a:p>
            <a:pPr algn="l">
              <a:lnSpc>
                <a:spcPct val="108000"/>
              </a:lnSpc>
              <a:spcBef>
                <a:spcPts val="300"/>
              </a:spcBef>
              <a:spcAft>
                <a:spcPts val="0"/>
              </a:spcAft>
            </a:pPr>
            <a:r>
              <a:rPr sz="1150" b="0" i="0">
                <a:solidFill>
                  <a:srgbClr val="5F7078"/>
                </a:solidFill>
                <a:latin typeface="Calibri"/>
              </a:rPr>
              <a:t>People continually respond to changing needs; difficulty arises when awareness or contact is restricted.</a:t>
            </a:r>
          </a:p>
        </p:txBody>
      </p:sp>
      <p:sp>
        <p:nvSpPr>
          <p:cNvPr id="24" name="Rectangle 23"/>
          <p:cNvSpPr/>
          <p:nvPr/>
        </p:nvSpPr>
        <p:spPr>
          <a:xfrm>
            <a:off x="658368" y="4709159"/>
            <a:ext cx="5309463" cy="1316736"/>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58368" y="4709159"/>
            <a:ext cx="45720" cy="1316736"/>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4892040"/>
            <a:ext cx="4797399" cy="987552"/>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05</a:t>
            </a:r>
          </a:p>
          <a:p>
            <a:pPr algn="l">
              <a:lnSpc>
                <a:spcPct val="100000"/>
              </a:lnSpc>
              <a:spcBef>
                <a:spcPts val="100"/>
              </a:spcBef>
              <a:spcAft>
                <a:spcPts val="0"/>
              </a:spcAft>
            </a:pPr>
            <a:r>
              <a:rPr sz="1400" b="1" i="0">
                <a:solidFill>
                  <a:srgbClr val="1B3A4B"/>
                </a:solidFill>
                <a:latin typeface="Calibri"/>
              </a:rPr>
              <a:t>Shaped by the person–environment</a:t>
            </a:r>
          </a:p>
          <a:p>
            <a:pPr algn="l">
              <a:lnSpc>
                <a:spcPct val="108000"/>
              </a:lnSpc>
              <a:spcBef>
                <a:spcPts val="300"/>
              </a:spcBef>
              <a:spcAft>
                <a:spcPts val="0"/>
              </a:spcAft>
            </a:pPr>
            <a:r>
              <a:rPr sz="1150" b="0" i="0">
                <a:solidFill>
                  <a:srgbClr val="5F7078"/>
                </a:solidFill>
                <a:latin typeface="Calibri"/>
              </a:rPr>
              <a:t>Human experience is shaped by family, culture, work, social expectations and available resources.</a:t>
            </a:r>
          </a:p>
        </p:txBody>
      </p:sp>
      <p:sp>
        <p:nvSpPr>
          <p:cNvPr id="27" name="Rectangle 26"/>
          <p:cNvSpPr/>
          <p:nvPr/>
        </p:nvSpPr>
        <p:spPr>
          <a:xfrm>
            <a:off x="6223863" y="4709159"/>
            <a:ext cx="5309463" cy="1316736"/>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23863" y="4709159"/>
            <a:ext cx="45720" cy="1316736"/>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79895" y="4892040"/>
            <a:ext cx="4797399" cy="987552"/>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06</a:t>
            </a:r>
          </a:p>
          <a:p>
            <a:pPr algn="l">
              <a:lnSpc>
                <a:spcPct val="100000"/>
              </a:lnSpc>
              <a:spcBef>
                <a:spcPts val="100"/>
              </a:spcBef>
              <a:spcAft>
                <a:spcPts val="0"/>
              </a:spcAft>
            </a:pPr>
            <a:r>
              <a:rPr sz="1400" b="1" i="0">
                <a:solidFill>
                  <a:srgbClr val="1B3A4B"/>
                </a:solidFill>
                <a:latin typeface="Calibri"/>
              </a:rPr>
              <a:t>Personal responsibility supports choice</a:t>
            </a:r>
          </a:p>
          <a:p>
            <a:pPr algn="l">
              <a:lnSpc>
                <a:spcPct val="108000"/>
              </a:lnSpc>
              <a:spcBef>
                <a:spcPts val="300"/>
              </a:spcBef>
              <a:spcAft>
                <a:spcPts val="0"/>
              </a:spcAft>
            </a:pPr>
            <a:r>
              <a:rPr sz="1150" b="0" i="0">
                <a:solidFill>
                  <a:srgbClr val="5F7078"/>
                </a:solidFill>
                <a:latin typeface="Calibri"/>
              </a:rPr>
              <a:t>Applied sensitively — responsibility must never be confused with blame.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5.1</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Awareness and the Here-and-Now</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07</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(Joyce &amp; Sills, 2014)</a:t>
            </a:r>
          </a:p>
        </p:txBody>
      </p:sp>
      <p:sp>
        <p:nvSpPr>
          <p:cNvPr id="12" name="Rectangle 11"/>
          <p:cNvSpPr/>
          <p:nvPr/>
        </p:nvSpPr>
        <p:spPr>
          <a:xfrm>
            <a:off x="658368" y="1783080"/>
            <a:ext cx="5138928" cy="1874519"/>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1783080"/>
            <a:ext cx="41148" cy="1874519"/>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2" y="1956816"/>
            <a:ext cx="4681728"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AWARENESS IS NOTICING</a:t>
            </a:r>
          </a:p>
        </p:txBody>
      </p:sp>
      <p:sp>
        <p:nvSpPr>
          <p:cNvPr id="15" name="TextBox 14"/>
          <p:cNvSpPr txBox="1"/>
          <p:nvPr/>
        </p:nvSpPr>
        <p:spPr>
          <a:xfrm>
            <a:off x="896112" y="2267712"/>
            <a:ext cx="4663440" cy="1243584"/>
          </a:xfrm>
          <a:prstGeom prst="rect">
            <a:avLst/>
          </a:prstGeom>
          <a:noFill/>
        </p:spPr>
        <p:txBody>
          <a:bodyPr wrap="square" lIns="0" rIns="0" tIns="0" bIns="0" anchor="t">
            <a:spAutoFit/>
          </a:bodyPr>
          <a:lstStyle/>
          <a:p>
            <a:pPr algn="l">
              <a:lnSpc>
                <a:spcPct val="105000"/>
              </a:lnSpc>
              <a:spcAft>
                <a:spcPts val="500"/>
              </a:spcAft>
            </a:pPr>
            <a:r>
              <a:rPr sz="1200" b="0">
                <a:solidFill>
                  <a:srgbClr val="C9762F"/>
                </a:solidFill>
                <a:latin typeface="Calibri"/>
              </a:rPr>
              <a:t>–   </a:t>
            </a:r>
            <a:r>
              <a:rPr sz="1200" b="0" i="0">
                <a:solidFill>
                  <a:srgbClr val="1B3A4B"/>
                </a:solidFill>
                <a:latin typeface="Calibri"/>
              </a:rPr>
              <a:t>Thoughts and emotions</a:t>
            </a:r>
          </a:p>
          <a:p>
            <a:pPr algn="l">
              <a:lnSpc>
                <a:spcPct val="105000"/>
              </a:lnSpc>
              <a:spcAft>
                <a:spcPts val="500"/>
              </a:spcAft>
            </a:pPr>
            <a:r>
              <a:rPr sz="1200" b="0">
                <a:solidFill>
                  <a:srgbClr val="C9762F"/>
                </a:solidFill>
                <a:latin typeface="Calibri"/>
              </a:rPr>
              <a:t>–   </a:t>
            </a:r>
            <a:r>
              <a:rPr sz="1200" b="0" i="0">
                <a:solidFill>
                  <a:srgbClr val="1B3A4B"/>
                </a:solidFill>
                <a:latin typeface="Calibri"/>
              </a:rPr>
              <a:t>Bodily sensations and actions</a:t>
            </a:r>
          </a:p>
          <a:p>
            <a:pPr algn="l">
              <a:lnSpc>
                <a:spcPct val="105000"/>
              </a:lnSpc>
              <a:spcAft>
                <a:spcPts val="500"/>
              </a:spcAft>
            </a:pPr>
            <a:r>
              <a:rPr sz="1200" b="0">
                <a:solidFill>
                  <a:srgbClr val="C9762F"/>
                </a:solidFill>
                <a:latin typeface="Calibri"/>
              </a:rPr>
              <a:t>–   </a:t>
            </a:r>
            <a:r>
              <a:rPr sz="1200" b="0" i="0">
                <a:solidFill>
                  <a:srgbClr val="1B3A4B"/>
                </a:solidFill>
                <a:latin typeface="Calibri"/>
              </a:rPr>
              <a:t>Needs and immediate surroundings</a:t>
            </a:r>
          </a:p>
          <a:p>
            <a:pPr algn="l">
              <a:lnSpc>
                <a:spcPct val="105000"/>
              </a:lnSpc>
              <a:spcAft>
                <a:spcPts val="500"/>
              </a:spcAft>
            </a:pPr>
            <a:r>
              <a:rPr sz="1200" b="0">
                <a:solidFill>
                  <a:srgbClr val="C9762F"/>
                </a:solidFill>
                <a:latin typeface="Calibri"/>
              </a:rPr>
              <a:t>–   </a:t>
            </a:r>
            <a:r>
              <a:rPr sz="1200" b="0" i="0">
                <a:solidFill>
                  <a:srgbClr val="1B3A4B"/>
                </a:solidFill>
                <a:latin typeface="Calibri"/>
              </a:rPr>
              <a:t>…rather than responding automatically or avoiding discomfort</a:t>
            </a:r>
          </a:p>
        </p:txBody>
      </p:sp>
      <p:sp>
        <p:nvSpPr>
          <p:cNvPr id="16" name="Rectangle 15"/>
          <p:cNvSpPr/>
          <p:nvPr/>
        </p:nvSpPr>
        <p:spPr>
          <a:xfrm>
            <a:off x="5980176" y="1783080"/>
            <a:ext cx="5553151" cy="1874519"/>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980176" y="1783080"/>
            <a:ext cx="41148"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0" y="1956816"/>
            <a:ext cx="50959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THE HERE-AND-NOW PRINCIPLE</a:t>
            </a:r>
          </a:p>
        </p:txBody>
      </p:sp>
      <p:sp>
        <p:nvSpPr>
          <p:cNvPr id="19" name="TextBox 18"/>
          <p:cNvSpPr txBox="1"/>
          <p:nvPr/>
        </p:nvSpPr>
        <p:spPr>
          <a:xfrm>
            <a:off x="6217920" y="2267712"/>
            <a:ext cx="5077663" cy="1243584"/>
          </a:xfrm>
          <a:prstGeom prst="rect">
            <a:avLst/>
          </a:prstGeom>
          <a:noFill/>
        </p:spPr>
        <p:txBody>
          <a:bodyPr wrap="square" lIns="0" rIns="0" tIns="0" bIns="0" anchor="t">
            <a:spAutoFit/>
          </a:bodyPr>
          <a:lstStyle/>
          <a:p>
            <a:pPr algn="l">
              <a:lnSpc>
                <a:spcPct val="105000"/>
              </a:lnSpc>
              <a:spcAft>
                <a:spcPts val="500"/>
              </a:spcAft>
            </a:pPr>
            <a:r>
              <a:rPr sz="1250" b="0">
                <a:solidFill>
                  <a:srgbClr val="C9762F"/>
                </a:solidFill>
                <a:latin typeface="Calibri"/>
              </a:rPr>
              <a:t>–   </a:t>
            </a:r>
            <a:r>
              <a:rPr sz="1250" b="0" i="0">
                <a:solidFill>
                  <a:srgbClr val="1B3A4B"/>
                </a:solidFill>
                <a:latin typeface="Calibri"/>
              </a:rPr>
              <a:t>Attention to what the client experiences during the session</a:t>
            </a:r>
          </a:p>
          <a:p>
            <a:pPr algn="l">
              <a:lnSpc>
                <a:spcPct val="105000"/>
              </a:lnSpc>
              <a:spcAft>
                <a:spcPts val="500"/>
              </a:spcAft>
            </a:pPr>
            <a:r>
              <a:rPr sz="1250" b="0">
                <a:solidFill>
                  <a:srgbClr val="C9762F"/>
                </a:solidFill>
                <a:latin typeface="Calibri"/>
              </a:rPr>
              <a:t>–   </a:t>
            </a:r>
            <a:r>
              <a:rPr sz="1250" b="0" i="0">
                <a:solidFill>
                  <a:srgbClr val="1B3A4B"/>
                </a:solidFill>
                <a:latin typeface="Calibri"/>
              </a:rPr>
              <a:t>The past is not ignored</a:t>
            </a:r>
          </a:p>
          <a:p>
            <a:pPr algn="l">
              <a:lnSpc>
                <a:spcPct val="105000"/>
              </a:lnSpc>
              <a:spcAft>
                <a:spcPts val="500"/>
              </a:spcAft>
            </a:pPr>
            <a:r>
              <a:rPr sz="1250" b="0">
                <a:solidFill>
                  <a:srgbClr val="C9762F"/>
                </a:solidFill>
                <a:latin typeface="Calibri"/>
              </a:rPr>
              <a:t>–   </a:t>
            </a:r>
            <a:r>
              <a:rPr sz="1250" b="0" i="0">
                <a:solidFill>
                  <a:srgbClr val="1B3A4B"/>
                </a:solidFill>
                <a:latin typeface="Calibri"/>
              </a:rPr>
              <a:t>The past is explored through how it is expressed in the present</a:t>
            </a:r>
          </a:p>
        </p:txBody>
      </p:sp>
      <p:sp>
        <p:nvSpPr>
          <p:cNvPr id="20" name="Rectangle 19"/>
          <p:cNvSpPr/>
          <p:nvPr/>
        </p:nvSpPr>
        <p:spPr>
          <a:xfrm>
            <a:off x="658368" y="3840480"/>
            <a:ext cx="10874959" cy="123444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8407" y="4023360"/>
            <a:ext cx="10234879" cy="914400"/>
          </a:xfrm>
          <a:prstGeom prst="rect">
            <a:avLst/>
          </a:prstGeom>
          <a:noFill/>
        </p:spPr>
        <p:txBody>
          <a:bodyPr wrap="square" lIns="0" rIns="0" tIns="0" bIns="0" anchor="t">
            <a:spAutoFit/>
          </a:bodyPr>
          <a:lstStyle/>
          <a:p>
            <a:pPr algn="l">
              <a:lnSpc>
                <a:spcPct val="100000"/>
              </a:lnSpc>
              <a:spcAft>
                <a:spcPts val="0"/>
              </a:spcAft>
            </a:pPr>
            <a:r>
              <a:rPr sz="1050" b="1" i="0">
                <a:solidFill>
                  <a:srgbClr val="C9762F"/>
                </a:solidFill>
                <a:latin typeface="Calibri Light"/>
              </a:rPr>
              <a:t>IN THE ROOM</a:t>
            </a:r>
          </a:p>
          <a:p>
            <a:pPr algn="l">
              <a:lnSpc>
                <a:spcPct val="112000"/>
              </a:lnSpc>
              <a:spcBef>
                <a:spcPts val="700"/>
              </a:spcBef>
              <a:spcAft>
                <a:spcPts val="0"/>
              </a:spcAft>
            </a:pPr>
            <a:r>
              <a:rPr sz="1350" b="0" i="0">
                <a:solidFill>
                  <a:srgbClr val="FFFFFF"/>
                </a:solidFill>
                <a:latin typeface="Calibri"/>
              </a:rPr>
              <a:t>A client discussing conflict with a parent begins speaking quietly, clenching their hands, looking away.  The counsellor asks:  “What are you noticing in yourself as you talk about this?”</a:t>
            </a:r>
          </a:p>
        </p:txBody>
      </p:sp>
      <p:sp>
        <p:nvSpPr>
          <p:cNvPr id="22" name="TextBox 21"/>
          <p:cNvSpPr txBox="1"/>
          <p:nvPr/>
        </p:nvSpPr>
        <p:spPr>
          <a:xfrm>
            <a:off x="658368" y="5285232"/>
            <a:ext cx="10874959" cy="548640"/>
          </a:xfrm>
          <a:prstGeom prst="rect">
            <a:avLst/>
          </a:prstGeom>
          <a:noFill/>
        </p:spPr>
        <p:txBody>
          <a:bodyPr wrap="square" lIns="0" rIns="0" tIns="0" bIns="0" anchor="t">
            <a:spAutoFit/>
          </a:bodyPr>
          <a:lstStyle/>
          <a:p>
            <a:pPr algn="l">
              <a:lnSpc>
                <a:spcPct val="112000"/>
              </a:lnSpc>
              <a:spcAft>
                <a:spcPts val="400"/>
              </a:spcAft>
            </a:pPr>
            <a:r>
              <a:rPr sz="1250" b="0" i="1">
                <a:solidFill>
                  <a:srgbClr val="2E7D8F"/>
                </a:solidFill>
                <a:latin typeface="Calibri"/>
              </a:rPr>
              <a:t>Why it matters: deliberate change becomes difficult when a person does not recognise the patterns influencing their behaviour. The counsellor facilitates awareness without assuming they know its meaning.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5.2</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Figure and Ground</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08</a:t>
            </a:r>
          </a:p>
        </p:txBody>
      </p:sp>
      <p:sp>
        <p:nvSpPr>
          <p:cNvPr id="11" name="TextBox 10"/>
          <p:cNvSpPr txBox="1"/>
          <p:nvPr/>
        </p:nvSpPr>
        <p:spPr>
          <a:xfrm>
            <a:off x="658368" y="1737360"/>
            <a:ext cx="10874959" cy="457200"/>
          </a:xfrm>
          <a:prstGeom prst="rect">
            <a:avLst/>
          </a:prstGeom>
          <a:noFill/>
        </p:spPr>
        <p:txBody>
          <a:bodyPr wrap="square" lIns="0" rIns="0" tIns="0" bIns="0" anchor="t">
            <a:spAutoFit/>
          </a:bodyPr>
          <a:lstStyle/>
          <a:p>
            <a:pPr algn="l">
              <a:lnSpc>
                <a:spcPct val="112000"/>
              </a:lnSpc>
              <a:spcAft>
                <a:spcPts val="400"/>
              </a:spcAft>
            </a:pPr>
            <a:r>
              <a:rPr sz="1350" b="0" i="0">
                <a:solidFill>
                  <a:srgbClr val="1B3A4B"/>
                </a:solidFill>
                <a:latin typeface="Calibri"/>
              </a:rPr>
              <a:t>One aspect of experience becomes prominent against a broader background of other experiences and circumstances.</a:t>
            </a:r>
          </a:p>
        </p:txBody>
      </p:sp>
      <p:sp>
        <p:nvSpPr>
          <p:cNvPr id="12" name="Rectangle 11"/>
          <p:cNvSpPr/>
          <p:nvPr/>
        </p:nvSpPr>
        <p:spPr>
          <a:xfrm>
            <a:off x="658368" y="2331720"/>
            <a:ext cx="5138928" cy="169164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0976" y="2542032"/>
            <a:ext cx="4572000" cy="1325880"/>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FIGURE</a:t>
            </a:r>
          </a:p>
          <a:p>
            <a:pPr algn="l">
              <a:lnSpc>
                <a:spcPct val="100000"/>
              </a:lnSpc>
              <a:spcBef>
                <a:spcPts val="400"/>
              </a:spcBef>
              <a:spcAft>
                <a:spcPts val="0"/>
              </a:spcAft>
            </a:pPr>
            <a:r>
              <a:rPr sz="1400" b="1" i="0">
                <a:solidFill>
                  <a:srgbClr val="FFFFFF"/>
                </a:solidFill>
                <a:latin typeface="Calibri"/>
              </a:rPr>
              <a:t>What attracts attention at this particular moment</a:t>
            </a:r>
          </a:p>
          <a:p>
            <a:pPr algn="l">
              <a:lnSpc>
                <a:spcPct val="110000"/>
              </a:lnSpc>
              <a:spcBef>
                <a:spcPts val="800"/>
              </a:spcBef>
              <a:spcAft>
                <a:spcPts val="0"/>
              </a:spcAft>
            </a:pPr>
            <a:r>
              <a:rPr sz="1150" b="0" i="1">
                <a:solidFill>
                  <a:srgbClr val="A8C4CE"/>
                </a:solidFill>
                <a:latin typeface="Calibri"/>
              </a:rPr>
              <a:t>A student fixated on the possibility of failing an examination.</a:t>
            </a:r>
          </a:p>
        </p:txBody>
      </p:sp>
      <p:sp>
        <p:nvSpPr>
          <p:cNvPr id="14" name="Rectangle 13"/>
          <p:cNvSpPr/>
          <p:nvPr/>
        </p:nvSpPr>
        <p:spPr>
          <a:xfrm>
            <a:off x="5980176" y="2331720"/>
            <a:ext cx="5553151" cy="16916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72783" y="2542032"/>
            <a:ext cx="4986223" cy="1325880"/>
          </a:xfrm>
          <a:prstGeom prst="rect">
            <a:avLst/>
          </a:prstGeom>
          <a:noFill/>
        </p:spPr>
        <p:txBody>
          <a:bodyPr wrap="square" lIns="0" rIns="0" tIns="0" bIns="0" anchor="t">
            <a:spAutoFit/>
          </a:bodyPr>
          <a:lstStyle/>
          <a:p>
            <a:pPr algn="l">
              <a:lnSpc>
                <a:spcPct val="100000"/>
              </a:lnSpc>
              <a:spcAft>
                <a:spcPts val="0"/>
              </a:spcAft>
            </a:pPr>
            <a:r>
              <a:rPr sz="1200" b="1" i="0">
                <a:solidFill>
                  <a:srgbClr val="2E7D8F"/>
                </a:solidFill>
                <a:latin typeface="Calibri Light"/>
              </a:rPr>
              <a:t>GROUND</a:t>
            </a:r>
          </a:p>
          <a:p>
            <a:pPr algn="l">
              <a:lnSpc>
                <a:spcPct val="100000"/>
              </a:lnSpc>
              <a:spcBef>
                <a:spcPts val="400"/>
              </a:spcBef>
              <a:spcAft>
                <a:spcPts val="0"/>
              </a:spcAft>
            </a:pPr>
            <a:r>
              <a:rPr sz="1400" b="1" i="0">
                <a:solidFill>
                  <a:srgbClr val="1B3A4B"/>
                </a:solidFill>
                <a:latin typeface="Calibri"/>
              </a:rPr>
              <a:t>The surrounding experiences and circumstances</a:t>
            </a:r>
          </a:p>
          <a:p>
            <a:pPr algn="l">
              <a:lnSpc>
                <a:spcPct val="110000"/>
              </a:lnSpc>
              <a:spcBef>
                <a:spcPts val="800"/>
              </a:spcBef>
              <a:spcAft>
                <a:spcPts val="0"/>
              </a:spcAft>
            </a:pPr>
            <a:r>
              <a:rPr sz="1150" b="0" i="1">
                <a:solidFill>
                  <a:srgbClr val="5F7078"/>
                </a:solidFill>
                <a:latin typeface="Calibri"/>
              </a:rPr>
              <a:t>Exhaustion · family expectations · financial concerns · fear of disappointing others.</a:t>
            </a:r>
          </a:p>
        </p:txBody>
      </p:sp>
      <p:sp>
        <p:nvSpPr>
          <p:cNvPr id="16" name="Rectangle 15"/>
          <p:cNvSpPr/>
          <p:nvPr/>
        </p:nvSpPr>
        <p:spPr>
          <a:xfrm>
            <a:off x="658368" y="4160520"/>
            <a:ext cx="10874959" cy="19842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58368" y="4160520"/>
            <a:ext cx="41148" cy="1984248"/>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6112" y="4334256"/>
            <a:ext cx="10417759"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WHAT FOLLOWS FROM THIS</a:t>
            </a:r>
          </a:p>
        </p:txBody>
      </p:sp>
      <p:sp>
        <p:nvSpPr>
          <p:cNvPr id="19" name="TextBox 18"/>
          <p:cNvSpPr txBox="1"/>
          <p:nvPr/>
        </p:nvSpPr>
        <p:spPr>
          <a:xfrm>
            <a:off x="896112" y="4645152"/>
            <a:ext cx="10399471" cy="1353311"/>
          </a:xfrm>
          <a:prstGeom prst="rect">
            <a:avLst/>
          </a:prstGeom>
          <a:noFill/>
        </p:spPr>
        <p:txBody>
          <a:bodyPr wrap="square" lIns="0" rIns="0" tIns="0" bIns="0" anchor="t">
            <a:spAutoFit/>
          </a:bodyPr>
          <a:lstStyle/>
          <a:p>
            <a:pPr algn="l">
              <a:lnSpc>
                <a:spcPct val="105000"/>
              </a:lnSpc>
              <a:spcAft>
                <a:spcPts val="500"/>
              </a:spcAft>
            </a:pPr>
            <a:r>
              <a:rPr sz="1200" b="0">
                <a:solidFill>
                  <a:srgbClr val="C9762F"/>
                </a:solidFill>
                <a:latin typeface="Calibri"/>
              </a:rPr>
              <a:t>–   </a:t>
            </a:r>
            <a:r>
              <a:rPr sz="1200" b="0" i="0">
                <a:solidFill>
                  <a:srgbClr val="1B3A4B"/>
                </a:solidFill>
                <a:latin typeface="Calibri"/>
              </a:rPr>
              <a:t>What becomes the figure changes as needs and circumstances change</a:t>
            </a:r>
          </a:p>
          <a:p>
            <a:pPr algn="l">
              <a:lnSpc>
                <a:spcPct val="105000"/>
              </a:lnSpc>
              <a:spcAft>
                <a:spcPts val="500"/>
              </a:spcAft>
            </a:pPr>
            <a:r>
              <a:rPr sz="1200" b="0">
                <a:solidFill>
                  <a:srgbClr val="C9762F"/>
                </a:solidFill>
                <a:latin typeface="Calibri"/>
              </a:rPr>
              <a:t>–   </a:t>
            </a:r>
            <a:r>
              <a:rPr sz="1200" b="0" i="0">
                <a:solidFill>
                  <a:srgbClr val="1B3A4B"/>
                </a:solidFill>
                <a:latin typeface="Calibri"/>
              </a:rPr>
              <a:t>Exploring the ground may reveal the broader meaning of the anxiety</a:t>
            </a:r>
          </a:p>
          <a:p>
            <a:pPr algn="l">
              <a:lnSpc>
                <a:spcPct val="105000"/>
              </a:lnSpc>
              <a:spcAft>
                <a:spcPts val="500"/>
              </a:spcAft>
            </a:pPr>
            <a:r>
              <a:rPr sz="1200" b="0">
                <a:solidFill>
                  <a:srgbClr val="C9762F"/>
                </a:solidFill>
                <a:latin typeface="Calibri"/>
              </a:rPr>
              <a:t>–   </a:t>
            </a:r>
            <a:r>
              <a:rPr sz="1200" b="0" i="0">
                <a:solidFill>
                  <a:srgbClr val="1B3A4B"/>
                </a:solidFill>
                <a:latin typeface="Calibri"/>
              </a:rPr>
              <a:t>Explains why the same situation is experienced differently by different people</a:t>
            </a:r>
          </a:p>
          <a:p>
            <a:pPr algn="l">
              <a:lnSpc>
                <a:spcPct val="105000"/>
              </a:lnSpc>
              <a:spcAft>
                <a:spcPts val="500"/>
              </a:spcAft>
            </a:pPr>
            <a:r>
              <a:rPr sz="1200" b="0">
                <a:solidFill>
                  <a:srgbClr val="C9762F"/>
                </a:solidFill>
                <a:latin typeface="Calibri"/>
              </a:rPr>
              <a:t>–   </a:t>
            </a:r>
            <a:r>
              <a:rPr sz="1200" b="0" i="0">
                <a:solidFill>
                  <a:srgbClr val="1B3A4B"/>
                </a:solidFill>
                <a:latin typeface="Calibri"/>
              </a:rPr>
              <a:t>In session, the therapist asks what feels most pressing — and what remains unnoticed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5.3</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Contact and Contact Boundaries</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09</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(Perls et al., 1951)</a:t>
            </a:r>
          </a:p>
        </p:txBody>
      </p:sp>
      <p:sp>
        <p:nvSpPr>
          <p:cNvPr id="12" name="Rectangle 11"/>
          <p:cNvSpPr/>
          <p:nvPr/>
        </p:nvSpPr>
        <p:spPr>
          <a:xfrm>
            <a:off x="658368" y="1783080"/>
            <a:ext cx="5138928" cy="233172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1783080"/>
            <a:ext cx="41148" cy="2331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2" y="1956816"/>
            <a:ext cx="4681728"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CONTACT</a:t>
            </a:r>
          </a:p>
        </p:txBody>
      </p:sp>
      <p:sp>
        <p:nvSpPr>
          <p:cNvPr id="15" name="TextBox 14"/>
          <p:cNvSpPr txBox="1"/>
          <p:nvPr/>
        </p:nvSpPr>
        <p:spPr>
          <a:xfrm>
            <a:off x="896112" y="2267712"/>
            <a:ext cx="4663440" cy="1700784"/>
          </a:xfrm>
          <a:prstGeom prst="rect">
            <a:avLst/>
          </a:prstGeom>
          <a:noFill/>
        </p:spPr>
        <p:txBody>
          <a:bodyPr wrap="square" lIns="0" rIns="0" tIns="0" bIns="0" anchor="t">
            <a:spAutoFit/>
          </a:bodyPr>
          <a:lstStyle/>
          <a:p>
            <a:pPr algn="l">
              <a:lnSpc>
                <a:spcPct val="105000"/>
              </a:lnSpc>
              <a:spcAft>
                <a:spcPts val="500"/>
              </a:spcAft>
            </a:pPr>
            <a:r>
              <a:rPr sz="1250" b="0">
                <a:solidFill>
                  <a:srgbClr val="C9762F"/>
                </a:solidFill>
                <a:latin typeface="Calibri"/>
              </a:rPr>
              <a:t>–   </a:t>
            </a:r>
            <a:r>
              <a:rPr sz="1250" b="0" i="0">
                <a:solidFill>
                  <a:srgbClr val="1B3A4B"/>
                </a:solidFill>
                <a:latin typeface="Calibri"/>
              </a:rPr>
              <a:t>The process of engaging with oneself, others and the environment</a:t>
            </a:r>
          </a:p>
          <a:p>
            <a:pPr algn="l">
              <a:lnSpc>
                <a:spcPct val="105000"/>
              </a:lnSpc>
              <a:spcAft>
                <a:spcPts val="500"/>
              </a:spcAft>
            </a:pPr>
            <a:r>
              <a:rPr sz="1250" b="0">
                <a:solidFill>
                  <a:srgbClr val="C9762F"/>
                </a:solidFill>
                <a:latin typeface="Calibri"/>
              </a:rPr>
              <a:t>–   </a:t>
            </a:r>
            <a:r>
              <a:rPr sz="1250" b="0" i="0">
                <a:solidFill>
                  <a:srgbClr val="1B3A4B"/>
                </a:solidFill>
                <a:latin typeface="Calibri"/>
              </a:rPr>
              <a:t>Recognising and responding to experience</a:t>
            </a:r>
          </a:p>
          <a:p>
            <a:pPr algn="l">
              <a:lnSpc>
                <a:spcPct val="105000"/>
              </a:lnSpc>
              <a:spcAft>
                <a:spcPts val="500"/>
              </a:spcAft>
            </a:pPr>
            <a:r>
              <a:rPr sz="1250" b="0">
                <a:solidFill>
                  <a:srgbClr val="C9762F"/>
                </a:solidFill>
                <a:latin typeface="Calibri"/>
              </a:rPr>
              <a:t>–   </a:t>
            </a:r>
            <a:r>
              <a:rPr sz="1250" b="0" i="0">
                <a:solidFill>
                  <a:srgbClr val="1B3A4B"/>
                </a:solidFill>
                <a:latin typeface="Calibri"/>
              </a:rPr>
              <a:t>…while remaining aware of the distinction between self and world</a:t>
            </a:r>
          </a:p>
          <a:p>
            <a:pPr algn="l">
              <a:lnSpc>
                <a:spcPct val="105000"/>
              </a:lnSpc>
              <a:spcAft>
                <a:spcPts val="500"/>
              </a:spcAft>
            </a:pPr>
            <a:r>
              <a:rPr sz="1250" b="0">
                <a:solidFill>
                  <a:srgbClr val="C9762F"/>
                </a:solidFill>
                <a:latin typeface="Calibri"/>
              </a:rPr>
              <a:t>–   </a:t>
            </a:r>
            <a:r>
              <a:rPr sz="1250" b="0" i="0">
                <a:solidFill>
                  <a:srgbClr val="1B3A4B"/>
                </a:solidFill>
                <a:latin typeface="Calibri"/>
              </a:rPr>
              <a:t>Involves engaging, responding and withdrawing</a:t>
            </a:r>
          </a:p>
        </p:txBody>
      </p:sp>
      <p:sp>
        <p:nvSpPr>
          <p:cNvPr id="16" name="Rectangle 15"/>
          <p:cNvSpPr/>
          <p:nvPr/>
        </p:nvSpPr>
        <p:spPr>
          <a:xfrm>
            <a:off x="5980176" y="1783080"/>
            <a:ext cx="5553151" cy="233172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980176" y="1783080"/>
            <a:ext cx="41148" cy="23317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0" y="1956816"/>
            <a:ext cx="50959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CONTACT BOUNDARIES</a:t>
            </a:r>
          </a:p>
        </p:txBody>
      </p:sp>
      <p:sp>
        <p:nvSpPr>
          <p:cNvPr id="19" name="TextBox 18"/>
          <p:cNvSpPr txBox="1"/>
          <p:nvPr/>
        </p:nvSpPr>
        <p:spPr>
          <a:xfrm>
            <a:off x="6217920" y="2267712"/>
            <a:ext cx="5077663" cy="1700784"/>
          </a:xfrm>
          <a:prstGeom prst="rect">
            <a:avLst/>
          </a:prstGeom>
          <a:noFill/>
        </p:spPr>
        <p:txBody>
          <a:bodyPr wrap="square" lIns="0" rIns="0" tIns="0" bIns="0" anchor="t">
            <a:spAutoFit/>
          </a:bodyPr>
          <a:lstStyle/>
          <a:p>
            <a:pPr algn="l">
              <a:lnSpc>
                <a:spcPct val="105000"/>
              </a:lnSpc>
              <a:spcAft>
                <a:spcPts val="500"/>
              </a:spcAft>
            </a:pPr>
            <a:r>
              <a:rPr sz="1250" b="0">
                <a:solidFill>
                  <a:srgbClr val="C9762F"/>
                </a:solidFill>
                <a:latin typeface="Calibri"/>
              </a:rPr>
              <a:t>–   </a:t>
            </a:r>
            <a:r>
              <a:rPr sz="1250" b="0" i="0">
                <a:solidFill>
                  <a:srgbClr val="1B3A4B"/>
                </a:solidFill>
                <a:latin typeface="Calibri"/>
              </a:rPr>
              <a:t>The points at which self and environment are experienced and negotiated</a:t>
            </a:r>
          </a:p>
          <a:p>
            <a:pPr algn="l">
              <a:lnSpc>
                <a:spcPct val="105000"/>
              </a:lnSpc>
              <a:spcAft>
                <a:spcPts val="500"/>
              </a:spcAft>
            </a:pPr>
            <a:r>
              <a:rPr sz="1250" b="0">
                <a:solidFill>
                  <a:srgbClr val="C9762F"/>
                </a:solidFill>
                <a:latin typeface="Calibri"/>
              </a:rPr>
              <a:t>–   </a:t>
            </a:r>
            <a:r>
              <a:rPr sz="1250" b="0" i="0">
                <a:solidFill>
                  <a:srgbClr val="1B3A4B"/>
                </a:solidFill>
                <a:latin typeface="Calibri"/>
              </a:rPr>
              <a:t>Not simply physical barriers</a:t>
            </a:r>
          </a:p>
          <a:p>
            <a:pPr algn="l">
              <a:lnSpc>
                <a:spcPct val="105000"/>
              </a:lnSpc>
              <a:spcAft>
                <a:spcPts val="500"/>
              </a:spcAft>
            </a:pPr>
            <a:r>
              <a:rPr sz="1250" b="0">
                <a:solidFill>
                  <a:srgbClr val="C9762F"/>
                </a:solidFill>
                <a:latin typeface="Calibri"/>
              </a:rPr>
              <a:t>–   </a:t>
            </a:r>
            <a:r>
              <a:rPr sz="1250" b="0" i="0">
                <a:solidFill>
                  <a:srgbClr val="1B3A4B"/>
                </a:solidFill>
                <a:latin typeface="Calibri"/>
              </a:rPr>
              <a:t>How people distinguish their own feelings, needs, beliefs and responsibilities from those of others</a:t>
            </a:r>
          </a:p>
        </p:txBody>
      </p:sp>
      <p:sp>
        <p:nvSpPr>
          <p:cNvPr id="20" name="Rectangle 19"/>
          <p:cNvSpPr/>
          <p:nvPr/>
        </p:nvSpPr>
        <p:spPr>
          <a:xfrm>
            <a:off x="658368" y="4315968"/>
            <a:ext cx="10874959" cy="56692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8368" y="4315968"/>
            <a:ext cx="10874959" cy="566928"/>
          </a:xfrm>
          <a:prstGeom prst="rect">
            <a:avLst/>
          </a:prstGeom>
          <a:noFill/>
        </p:spPr>
        <p:txBody>
          <a:bodyPr wrap="square" lIns="0" rIns="0" tIns="0" bIns="0" anchor="ctr">
            <a:spAutoFit/>
          </a:bodyPr>
          <a:lstStyle/>
          <a:p>
            <a:pPr algn="ctr">
              <a:lnSpc>
                <a:spcPct val="100000"/>
              </a:lnSpc>
              <a:spcAft>
                <a:spcPts val="0"/>
              </a:spcAft>
            </a:pPr>
            <a:r>
              <a:rPr sz="1400" b="1" i="0">
                <a:solidFill>
                  <a:srgbClr val="2E7D8F"/>
                </a:solidFill>
                <a:latin typeface="Calibri Light"/>
              </a:rPr>
              <a:t>SELF   ↔   CONTACT BOUNDARY   ↔   ENVIRONMENT</a:t>
            </a:r>
          </a:p>
        </p:txBody>
      </p:sp>
      <p:sp>
        <p:nvSpPr>
          <p:cNvPr id="22" name="TextBox 21"/>
          <p:cNvSpPr txBox="1"/>
          <p:nvPr/>
        </p:nvSpPr>
        <p:spPr>
          <a:xfrm>
            <a:off x="658368" y="5074920"/>
            <a:ext cx="10874959" cy="822960"/>
          </a:xfrm>
          <a:prstGeom prst="rect">
            <a:avLst/>
          </a:prstGeom>
          <a:noFill/>
        </p:spPr>
        <p:txBody>
          <a:bodyPr wrap="square" lIns="0" rIns="0" tIns="0" bIns="0" anchor="t">
            <a:spAutoFit/>
          </a:bodyPr>
          <a:lstStyle/>
          <a:p>
            <a:pPr algn="l">
              <a:lnSpc>
                <a:spcPct val="112000"/>
              </a:lnSpc>
              <a:spcAft>
                <a:spcPts val="400"/>
              </a:spcAft>
            </a:pPr>
            <a:r>
              <a:rPr sz="1200" b="0" i="0">
                <a:solidFill>
                  <a:srgbClr val="5F7078"/>
                </a:solidFill>
                <a:latin typeface="Calibri"/>
              </a:rPr>
              <a:t>Example: a person may value their family's opinions while recognising their own preferences and their right to decide. Difficulty arises when they consistently suppress their needs to avoid disagreement, or can no longer separate their own wishes from others' expectations. Gestalt Therapy examines how clients make contact, withdraw, express themselves — and the habitual patterns that interrupt contact.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SECTIONS 5.4 &amp; 5.5</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Unfinished Business and Organismic Self-Regulation</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10</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(Joyce &amp; Sills, 2014)</a:t>
            </a:r>
          </a:p>
        </p:txBody>
      </p:sp>
      <p:sp>
        <p:nvSpPr>
          <p:cNvPr id="12" name="Rectangle 11"/>
          <p:cNvSpPr/>
          <p:nvPr/>
        </p:nvSpPr>
        <p:spPr>
          <a:xfrm>
            <a:off x="658368" y="1783080"/>
            <a:ext cx="5138928" cy="370332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1783080"/>
            <a:ext cx="41148" cy="37033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2" y="1956816"/>
            <a:ext cx="4681728"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5.4  UNFINISHED BUSINESS</a:t>
            </a:r>
          </a:p>
        </p:txBody>
      </p:sp>
      <p:sp>
        <p:nvSpPr>
          <p:cNvPr id="15" name="TextBox 14"/>
          <p:cNvSpPr txBox="1"/>
          <p:nvPr/>
        </p:nvSpPr>
        <p:spPr>
          <a:xfrm>
            <a:off x="896112" y="2267712"/>
            <a:ext cx="4663440" cy="3072384"/>
          </a:xfrm>
          <a:prstGeom prst="rect">
            <a:avLst/>
          </a:prstGeom>
          <a:noFill/>
        </p:spPr>
        <p:txBody>
          <a:bodyPr wrap="square" lIns="0" rIns="0" tIns="0" bIns="0" anchor="t">
            <a:spAutoFit/>
          </a:bodyPr>
          <a:lstStyle/>
          <a:p>
            <a:pPr algn="l">
              <a:lnSpc>
                <a:spcPct val="105000"/>
              </a:lnSpc>
              <a:spcAft>
                <a:spcPts val="500"/>
              </a:spcAft>
            </a:pPr>
            <a:r>
              <a:rPr sz="1250" b="0">
                <a:solidFill>
                  <a:srgbClr val="C9762F"/>
                </a:solidFill>
                <a:latin typeface="Calibri"/>
              </a:rPr>
              <a:t>–   </a:t>
            </a:r>
            <a:r>
              <a:rPr sz="1250" b="0" i="0">
                <a:solidFill>
                  <a:srgbClr val="1B3A4B"/>
                </a:solidFill>
                <a:latin typeface="Calibri"/>
              </a:rPr>
              <a:t>Unresolved emotional experience that stays active in the present: grief, anger, guilt, resentment, disappointment, regret</a:t>
            </a:r>
          </a:p>
          <a:p>
            <a:pPr algn="l">
              <a:lnSpc>
                <a:spcPct val="105000"/>
              </a:lnSpc>
              <a:spcAft>
                <a:spcPts val="500"/>
              </a:spcAft>
            </a:pPr>
            <a:r>
              <a:rPr sz="1250" b="0">
                <a:solidFill>
                  <a:srgbClr val="C9762F"/>
                </a:solidFill>
                <a:latin typeface="Calibri"/>
              </a:rPr>
              <a:t>–   </a:t>
            </a:r>
            <a:r>
              <a:rPr sz="1250" b="0" i="0">
                <a:solidFill>
                  <a:srgbClr val="1B3A4B"/>
                </a:solidFill>
                <a:latin typeface="Calibri"/>
              </a:rPr>
              <a:t>Example — repeated criticism from a parent leaves an adult feeling inadequate whenever a supervisor offers feedback</a:t>
            </a:r>
          </a:p>
          <a:p>
            <a:pPr algn="l">
              <a:lnSpc>
                <a:spcPct val="105000"/>
              </a:lnSpc>
              <a:spcAft>
                <a:spcPts val="500"/>
              </a:spcAft>
            </a:pPr>
            <a:r>
              <a:rPr sz="1250" b="0">
                <a:solidFill>
                  <a:srgbClr val="C9762F"/>
                </a:solidFill>
                <a:latin typeface="Calibri"/>
              </a:rPr>
              <a:t>–   </a:t>
            </a:r>
            <a:r>
              <a:rPr sz="1250" b="0" i="0">
                <a:solidFill>
                  <a:srgbClr val="1B3A4B"/>
                </a:solidFill>
                <a:latin typeface="Calibri"/>
              </a:rPr>
              <a:t>The original events are past; their emotional effects are not</a:t>
            </a:r>
          </a:p>
          <a:p>
            <a:pPr algn="l">
              <a:lnSpc>
                <a:spcPct val="105000"/>
              </a:lnSpc>
              <a:spcAft>
                <a:spcPts val="500"/>
              </a:spcAft>
            </a:pPr>
            <a:r>
              <a:rPr sz="1250" b="0">
                <a:solidFill>
                  <a:srgbClr val="C9762F"/>
                </a:solidFill>
                <a:latin typeface="Calibri"/>
              </a:rPr>
              <a:t>–   </a:t>
            </a:r>
            <a:r>
              <a:rPr sz="1250" b="0" i="0">
                <a:solidFill>
                  <a:srgbClr val="1B3A4B"/>
                </a:solidFill>
                <a:latin typeface="Calibri"/>
              </a:rPr>
              <a:t>The aim is not to change the past, force forgiveness or require reconciliation</a:t>
            </a:r>
          </a:p>
          <a:p>
            <a:pPr algn="l">
              <a:lnSpc>
                <a:spcPct val="105000"/>
              </a:lnSpc>
              <a:spcAft>
                <a:spcPts val="500"/>
              </a:spcAft>
            </a:pPr>
            <a:r>
              <a:rPr sz="1250" b="0">
                <a:solidFill>
                  <a:srgbClr val="C9762F"/>
                </a:solidFill>
                <a:latin typeface="Calibri"/>
              </a:rPr>
              <a:t>–   </a:t>
            </a:r>
            <a:r>
              <a:rPr sz="1250" b="0" i="0">
                <a:solidFill>
                  <a:srgbClr val="1B3A4B"/>
                </a:solidFill>
                <a:latin typeface="Calibri"/>
              </a:rPr>
              <a:t>The aim is to understand the continuing impact and gain freedom in responding</a:t>
            </a:r>
          </a:p>
        </p:txBody>
      </p:sp>
      <p:sp>
        <p:nvSpPr>
          <p:cNvPr id="16" name="Rectangle 15"/>
          <p:cNvSpPr/>
          <p:nvPr/>
        </p:nvSpPr>
        <p:spPr>
          <a:xfrm>
            <a:off x="5980176" y="1783080"/>
            <a:ext cx="5553151" cy="370332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980176" y="1783080"/>
            <a:ext cx="41148" cy="37033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0" y="1956816"/>
            <a:ext cx="50959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5.5  ORGANISMIC SELF-REGULATION</a:t>
            </a:r>
          </a:p>
        </p:txBody>
      </p:sp>
      <p:sp>
        <p:nvSpPr>
          <p:cNvPr id="19" name="TextBox 18"/>
          <p:cNvSpPr txBox="1"/>
          <p:nvPr/>
        </p:nvSpPr>
        <p:spPr>
          <a:xfrm>
            <a:off x="6217920" y="2267712"/>
            <a:ext cx="5077663" cy="3072384"/>
          </a:xfrm>
          <a:prstGeom prst="rect">
            <a:avLst/>
          </a:prstGeom>
          <a:noFill/>
        </p:spPr>
        <p:txBody>
          <a:bodyPr wrap="square" lIns="0" rIns="0" tIns="0" bIns="0" anchor="t">
            <a:spAutoFit/>
          </a:bodyPr>
          <a:lstStyle/>
          <a:p>
            <a:pPr algn="l">
              <a:lnSpc>
                <a:spcPct val="105000"/>
              </a:lnSpc>
              <a:spcAft>
                <a:spcPts val="500"/>
              </a:spcAft>
            </a:pPr>
            <a:r>
              <a:rPr sz="1250" b="0">
                <a:solidFill>
                  <a:srgbClr val="C9762F"/>
                </a:solidFill>
                <a:latin typeface="Calibri"/>
              </a:rPr>
              <a:t>–   </a:t>
            </a:r>
            <a:r>
              <a:rPr sz="1250" b="0" i="0">
                <a:solidFill>
                  <a:srgbClr val="1B3A4B"/>
                </a:solidFill>
                <a:latin typeface="Calibri"/>
              </a:rPr>
              <a:t>How people become aware of needs and respond to changing internal and external conditions</a:t>
            </a:r>
          </a:p>
          <a:p>
            <a:pPr algn="l">
              <a:lnSpc>
                <a:spcPct val="105000"/>
              </a:lnSpc>
              <a:spcAft>
                <a:spcPts val="500"/>
              </a:spcAft>
            </a:pPr>
            <a:r>
              <a:rPr sz="1250" b="0">
                <a:solidFill>
                  <a:srgbClr val="C9762F"/>
                </a:solidFill>
                <a:latin typeface="Calibri"/>
              </a:rPr>
              <a:t>–   </a:t>
            </a:r>
            <a:r>
              <a:rPr sz="1250" b="0" i="0">
                <a:solidFill>
                  <a:srgbClr val="1B3A4B"/>
                </a:solidFill>
                <a:latin typeface="Calibri"/>
              </a:rPr>
              <a:t>Needs include rest, safety, connection, emotional expression, autonomy and achievement</a:t>
            </a:r>
          </a:p>
          <a:p>
            <a:pPr algn="l">
              <a:lnSpc>
                <a:spcPct val="105000"/>
              </a:lnSpc>
              <a:spcAft>
                <a:spcPts val="500"/>
              </a:spcAft>
            </a:pPr>
            <a:r>
              <a:rPr sz="1250" b="0">
                <a:solidFill>
                  <a:srgbClr val="C9762F"/>
                </a:solidFill>
                <a:latin typeface="Calibri"/>
              </a:rPr>
              <a:t>–   </a:t>
            </a:r>
            <a:r>
              <a:rPr sz="1250" b="0" i="0">
                <a:solidFill>
                  <a:srgbClr val="1B3A4B"/>
                </a:solidFill>
                <a:latin typeface="Calibri"/>
              </a:rPr>
              <a:t>Example — continual work without rest produces exhaustion and irritability; fatigue read as a signal can reset priorities and boundaries</a:t>
            </a:r>
          </a:p>
          <a:p>
            <a:pPr algn="l">
              <a:lnSpc>
                <a:spcPct val="105000"/>
              </a:lnSpc>
              <a:spcAft>
                <a:spcPts val="500"/>
              </a:spcAft>
            </a:pPr>
            <a:r>
              <a:rPr sz="1250" b="0">
                <a:solidFill>
                  <a:srgbClr val="C9762F"/>
                </a:solidFill>
                <a:latin typeface="Calibri"/>
              </a:rPr>
              <a:t>–   </a:t>
            </a:r>
            <a:r>
              <a:rPr sz="1250" b="0" i="0">
                <a:solidFill>
                  <a:srgbClr val="1B3A4B"/>
                </a:solidFill>
                <a:latin typeface="Calibri"/>
              </a:rPr>
              <a:t>Limits: needs cannot always be met independently, and awareness alone does not resolve every problem</a:t>
            </a:r>
          </a:p>
          <a:p>
            <a:pPr algn="l">
              <a:lnSpc>
                <a:spcPct val="105000"/>
              </a:lnSpc>
              <a:spcAft>
                <a:spcPts val="500"/>
              </a:spcAft>
            </a:pPr>
            <a:r>
              <a:rPr sz="1250" b="0">
                <a:solidFill>
                  <a:srgbClr val="C9762F"/>
                </a:solidFill>
                <a:latin typeface="Calibri"/>
              </a:rPr>
              <a:t>–   </a:t>
            </a:r>
            <a:r>
              <a:rPr sz="1250" b="0" i="0">
                <a:solidFill>
                  <a:srgbClr val="1B3A4B"/>
                </a:solidFill>
                <a:latin typeface="Calibri"/>
              </a:rPr>
              <a:t>Relationships, responsibilities, culture and material circumstances shape what is possible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5.6</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The Cycle of Experience</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1609344"/>
            <a:ext cx="10874959" cy="365760"/>
          </a:xfrm>
          <a:prstGeom prst="rect">
            <a:avLst/>
          </a:prstGeom>
          <a:noFill/>
        </p:spPr>
        <p:txBody>
          <a:bodyPr wrap="square" lIns="0" rIns="0" tIns="0" bIns="0" anchor="t">
            <a:spAutoFit/>
          </a:bodyPr>
          <a:lstStyle/>
          <a:p>
            <a:pPr algn="l">
              <a:lnSpc>
                <a:spcPct val="105000"/>
              </a:lnSpc>
              <a:spcAft>
                <a:spcPts val="400"/>
              </a:spcAft>
            </a:pPr>
            <a:r>
              <a:rPr sz="1350" b="0" i="1">
                <a:solidFill>
                  <a:srgbClr val="5F7078"/>
                </a:solidFill>
                <a:latin typeface="Calibri"/>
              </a:rPr>
              <a:t>A framework for tracing how a need moves from initial signal to satisfaction and withdrawal.</a:t>
            </a:r>
          </a:p>
        </p:txBody>
      </p:sp>
      <p:sp>
        <p:nvSpPr>
          <p:cNvPr id="9" name="Rectangle 8"/>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1" name="TextBox 10"/>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11</a:t>
            </a:r>
          </a:p>
        </p:txBody>
      </p:sp>
      <p:sp>
        <p:nvSpPr>
          <p:cNvPr id="12" name="TextBox 11"/>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(Woldt &amp; Toman, 2005)</a:t>
            </a:r>
          </a:p>
        </p:txBody>
      </p:sp>
      <p:sp>
        <p:nvSpPr>
          <p:cNvPr id="13" name="Rounded Rectangle 12"/>
          <p:cNvSpPr/>
          <p:nvPr/>
        </p:nvSpPr>
        <p:spPr>
          <a:xfrm>
            <a:off x="658368" y="2148840"/>
            <a:ext cx="1459513" cy="1874519"/>
          </a:xfrm>
          <a:prstGeom prst="roundRect">
            <a:avLst>
              <a:gd name="adj" fmla="val 8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2331720"/>
            <a:ext cx="1276633" cy="1554480"/>
          </a:xfrm>
          <a:prstGeom prst="rect">
            <a:avLst/>
          </a:prstGeom>
          <a:noFill/>
        </p:spPr>
        <p:txBody>
          <a:bodyPr wrap="square" lIns="0" rIns="0" tIns="0" bIns="0" anchor="t">
            <a:spAutoFit/>
          </a:bodyPr>
          <a:lstStyle/>
          <a:p>
            <a:pPr algn="ctr">
              <a:lnSpc>
                <a:spcPct val="100000"/>
              </a:lnSpc>
              <a:spcAft>
                <a:spcPts val="0"/>
              </a:spcAft>
            </a:pPr>
            <a:r>
              <a:rPr sz="1300" b="1" i="0">
                <a:solidFill>
                  <a:srgbClr val="C9762F"/>
                </a:solidFill>
                <a:latin typeface="Calibri Light"/>
              </a:rPr>
              <a:t>01</a:t>
            </a:r>
          </a:p>
          <a:p>
            <a:pPr algn="ctr">
              <a:lnSpc>
                <a:spcPct val="95000"/>
              </a:lnSpc>
              <a:spcBef>
                <a:spcPts val="400"/>
              </a:spcBef>
              <a:spcAft>
                <a:spcPts val="0"/>
              </a:spcAft>
            </a:pPr>
            <a:r>
              <a:rPr sz="1300" b="1" i="0">
                <a:solidFill>
                  <a:srgbClr val="FFFFFF"/>
                </a:solidFill>
                <a:latin typeface="Calibri"/>
              </a:rPr>
              <a:t>Sensation</a:t>
            </a:r>
          </a:p>
          <a:p>
            <a:pPr algn="ctr">
              <a:lnSpc>
                <a:spcPct val="105000"/>
              </a:lnSpc>
              <a:spcBef>
                <a:spcPts val="500"/>
              </a:spcBef>
              <a:spcAft>
                <a:spcPts val="0"/>
              </a:spcAft>
            </a:pPr>
            <a:r>
              <a:rPr sz="950" b="0" i="0">
                <a:solidFill>
                  <a:srgbClr val="A8C4CE"/>
                </a:solidFill>
                <a:latin typeface="Calibri"/>
              </a:rPr>
              <a:t>an internal or external signal</a:t>
            </a:r>
          </a:p>
        </p:txBody>
      </p:sp>
      <p:sp>
        <p:nvSpPr>
          <p:cNvPr id="15" name="TextBox 14"/>
          <p:cNvSpPr txBox="1"/>
          <p:nvPr/>
        </p:nvSpPr>
        <p:spPr>
          <a:xfrm>
            <a:off x="2099593" y="2880360"/>
            <a:ext cx="146304" cy="274320"/>
          </a:xfrm>
          <a:prstGeom prst="rect">
            <a:avLst/>
          </a:prstGeom>
          <a:noFill/>
        </p:spPr>
        <p:txBody>
          <a:bodyPr wrap="square" lIns="0" rIns="0" tIns="0" bIns="0" anchor="t">
            <a:spAutoFit/>
          </a:bodyPr>
          <a:lstStyle/>
          <a:p>
            <a:pPr algn="ctr">
              <a:lnSpc>
                <a:spcPct val="100000"/>
              </a:lnSpc>
              <a:spcAft>
                <a:spcPts val="0"/>
              </a:spcAft>
            </a:pPr>
            <a:r>
              <a:rPr sz="1600" b="1" i="0">
                <a:solidFill>
                  <a:srgbClr val="C9762F"/>
                </a:solidFill>
                <a:latin typeface="Calibri"/>
              </a:rPr>
              <a:t>›</a:t>
            </a:r>
          </a:p>
        </p:txBody>
      </p:sp>
      <p:sp>
        <p:nvSpPr>
          <p:cNvPr id="16" name="Rounded Rectangle 15"/>
          <p:cNvSpPr/>
          <p:nvPr/>
        </p:nvSpPr>
        <p:spPr>
          <a:xfrm>
            <a:off x="2227609" y="2148840"/>
            <a:ext cx="1459513" cy="1874519"/>
          </a:xfrm>
          <a:prstGeom prst="roundRect">
            <a:avLst>
              <a:gd name="adj" fmla="val 8000"/>
            </a:avLst>
          </a:prstGeom>
          <a:solidFill>
            <a:srgbClr val="244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19049" y="2331720"/>
            <a:ext cx="1276633" cy="1554480"/>
          </a:xfrm>
          <a:prstGeom prst="rect">
            <a:avLst/>
          </a:prstGeom>
          <a:noFill/>
        </p:spPr>
        <p:txBody>
          <a:bodyPr wrap="square" lIns="0" rIns="0" tIns="0" bIns="0" anchor="t">
            <a:spAutoFit/>
          </a:bodyPr>
          <a:lstStyle/>
          <a:p>
            <a:pPr algn="ctr">
              <a:lnSpc>
                <a:spcPct val="100000"/>
              </a:lnSpc>
              <a:spcAft>
                <a:spcPts val="0"/>
              </a:spcAft>
            </a:pPr>
            <a:r>
              <a:rPr sz="1300" b="1" i="0">
                <a:solidFill>
                  <a:srgbClr val="C9762F"/>
                </a:solidFill>
                <a:latin typeface="Calibri Light"/>
              </a:rPr>
              <a:t>02</a:t>
            </a:r>
          </a:p>
          <a:p>
            <a:pPr algn="ctr">
              <a:lnSpc>
                <a:spcPct val="95000"/>
              </a:lnSpc>
              <a:spcBef>
                <a:spcPts val="400"/>
              </a:spcBef>
              <a:spcAft>
                <a:spcPts val="0"/>
              </a:spcAft>
            </a:pPr>
            <a:r>
              <a:rPr sz="1300" b="1" i="0">
                <a:solidFill>
                  <a:srgbClr val="FFFFFF"/>
                </a:solidFill>
                <a:latin typeface="Calibri"/>
              </a:rPr>
              <a:t>Awareness</a:t>
            </a:r>
          </a:p>
          <a:p>
            <a:pPr algn="ctr">
              <a:lnSpc>
                <a:spcPct val="105000"/>
              </a:lnSpc>
              <a:spcBef>
                <a:spcPts val="500"/>
              </a:spcBef>
              <a:spcAft>
                <a:spcPts val="0"/>
              </a:spcAft>
            </a:pPr>
            <a:r>
              <a:rPr sz="950" b="0" i="0">
                <a:solidFill>
                  <a:srgbClr val="A8C4CE"/>
                </a:solidFill>
                <a:latin typeface="Calibri"/>
              </a:rPr>
              <a:t>recognising what it may mean</a:t>
            </a:r>
          </a:p>
        </p:txBody>
      </p:sp>
      <p:sp>
        <p:nvSpPr>
          <p:cNvPr id="18" name="TextBox 17"/>
          <p:cNvSpPr txBox="1"/>
          <p:nvPr/>
        </p:nvSpPr>
        <p:spPr>
          <a:xfrm>
            <a:off x="3668834" y="2880360"/>
            <a:ext cx="146304" cy="274320"/>
          </a:xfrm>
          <a:prstGeom prst="rect">
            <a:avLst/>
          </a:prstGeom>
          <a:noFill/>
        </p:spPr>
        <p:txBody>
          <a:bodyPr wrap="square" lIns="0" rIns="0" tIns="0" bIns="0" anchor="t">
            <a:spAutoFit/>
          </a:bodyPr>
          <a:lstStyle/>
          <a:p>
            <a:pPr algn="ctr">
              <a:lnSpc>
                <a:spcPct val="100000"/>
              </a:lnSpc>
              <a:spcAft>
                <a:spcPts val="0"/>
              </a:spcAft>
            </a:pPr>
            <a:r>
              <a:rPr sz="1600" b="1" i="0">
                <a:solidFill>
                  <a:srgbClr val="C9762F"/>
                </a:solidFill>
                <a:latin typeface="Calibri"/>
              </a:rPr>
              <a:t>›</a:t>
            </a:r>
          </a:p>
        </p:txBody>
      </p:sp>
      <p:sp>
        <p:nvSpPr>
          <p:cNvPr id="19" name="Rounded Rectangle 18"/>
          <p:cNvSpPr/>
          <p:nvPr/>
        </p:nvSpPr>
        <p:spPr>
          <a:xfrm>
            <a:off x="3796850" y="2148840"/>
            <a:ext cx="1459513" cy="1874519"/>
          </a:xfrm>
          <a:prstGeom prst="roundRect">
            <a:avLst>
              <a:gd name="adj" fmla="val 8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888290" y="2331720"/>
            <a:ext cx="1276633" cy="1554480"/>
          </a:xfrm>
          <a:prstGeom prst="rect">
            <a:avLst/>
          </a:prstGeom>
          <a:noFill/>
        </p:spPr>
        <p:txBody>
          <a:bodyPr wrap="square" lIns="0" rIns="0" tIns="0" bIns="0" anchor="t">
            <a:spAutoFit/>
          </a:bodyPr>
          <a:lstStyle/>
          <a:p>
            <a:pPr algn="ctr">
              <a:lnSpc>
                <a:spcPct val="100000"/>
              </a:lnSpc>
              <a:spcAft>
                <a:spcPts val="0"/>
              </a:spcAft>
            </a:pPr>
            <a:r>
              <a:rPr sz="1300" b="1" i="0">
                <a:solidFill>
                  <a:srgbClr val="C9762F"/>
                </a:solidFill>
                <a:latin typeface="Calibri Light"/>
              </a:rPr>
              <a:t>03</a:t>
            </a:r>
          </a:p>
          <a:p>
            <a:pPr algn="ctr">
              <a:lnSpc>
                <a:spcPct val="95000"/>
              </a:lnSpc>
              <a:spcBef>
                <a:spcPts val="400"/>
              </a:spcBef>
              <a:spcAft>
                <a:spcPts val="0"/>
              </a:spcAft>
            </a:pPr>
            <a:r>
              <a:rPr sz="1300" b="1" i="0">
                <a:solidFill>
                  <a:srgbClr val="FFFFFF"/>
                </a:solidFill>
                <a:latin typeface="Calibri"/>
              </a:rPr>
              <a:t>Mobilisation</a:t>
            </a:r>
          </a:p>
          <a:p>
            <a:pPr algn="ctr">
              <a:lnSpc>
                <a:spcPct val="105000"/>
              </a:lnSpc>
              <a:spcBef>
                <a:spcPts val="500"/>
              </a:spcBef>
              <a:spcAft>
                <a:spcPts val="0"/>
              </a:spcAft>
            </a:pPr>
            <a:r>
              <a:rPr sz="950" b="0" i="0">
                <a:solidFill>
                  <a:srgbClr val="A8C4CE"/>
                </a:solidFill>
                <a:latin typeface="Calibri"/>
              </a:rPr>
              <a:t>energy and intention develop</a:t>
            </a:r>
          </a:p>
        </p:txBody>
      </p:sp>
      <p:sp>
        <p:nvSpPr>
          <p:cNvPr id="21" name="TextBox 20"/>
          <p:cNvSpPr txBox="1"/>
          <p:nvPr/>
        </p:nvSpPr>
        <p:spPr>
          <a:xfrm>
            <a:off x="5238075" y="2880360"/>
            <a:ext cx="146304" cy="274320"/>
          </a:xfrm>
          <a:prstGeom prst="rect">
            <a:avLst/>
          </a:prstGeom>
          <a:noFill/>
        </p:spPr>
        <p:txBody>
          <a:bodyPr wrap="square" lIns="0" rIns="0" tIns="0" bIns="0" anchor="t">
            <a:spAutoFit/>
          </a:bodyPr>
          <a:lstStyle/>
          <a:p>
            <a:pPr algn="ctr">
              <a:lnSpc>
                <a:spcPct val="100000"/>
              </a:lnSpc>
              <a:spcAft>
                <a:spcPts val="0"/>
              </a:spcAft>
            </a:pPr>
            <a:r>
              <a:rPr sz="1600" b="1" i="0">
                <a:solidFill>
                  <a:srgbClr val="C9762F"/>
                </a:solidFill>
                <a:latin typeface="Calibri"/>
              </a:rPr>
              <a:t>›</a:t>
            </a:r>
          </a:p>
        </p:txBody>
      </p:sp>
      <p:sp>
        <p:nvSpPr>
          <p:cNvPr id="22" name="Rounded Rectangle 21"/>
          <p:cNvSpPr/>
          <p:nvPr/>
        </p:nvSpPr>
        <p:spPr>
          <a:xfrm>
            <a:off x="5366091" y="2148840"/>
            <a:ext cx="1459513" cy="1874519"/>
          </a:xfrm>
          <a:prstGeom prst="roundRect">
            <a:avLst>
              <a:gd name="adj" fmla="val 8000"/>
            </a:avLst>
          </a:prstGeom>
          <a:solidFill>
            <a:srgbClr val="244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57531" y="2331720"/>
            <a:ext cx="1276633" cy="1554480"/>
          </a:xfrm>
          <a:prstGeom prst="rect">
            <a:avLst/>
          </a:prstGeom>
          <a:noFill/>
        </p:spPr>
        <p:txBody>
          <a:bodyPr wrap="square" lIns="0" rIns="0" tIns="0" bIns="0" anchor="t">
            <a:spAutoFit/>
          </a:bodyPr>
          <a:lstStyle/>
          <a:p>
            <a:pPr algn="ctr">
              <a:lnSpc>
                <a:spcPct val="100000"/>
              </a:lnSpc>
              <a:spcAft>
                <a:spcPts val="0"/>
              </a:spcAft>
            </a:pPr>
            <a:r>
              <a:rPr sz="1300" b="1" i="0">
                <a:solidFill>
                  <a:srgbClr val="C9762F"/>
                </a:solidFill>
                <a:latin typeface="Calibri Light"/>
              </a:rPr>
              <a:t>04</a:t>
            </a:r>
          </a:p>
          <a:p>
            <a:pPr algn="ctr">
              <a:lnSpc>
                <a:spcPct val="95000"/>
              </a:lnSpc>
              <a:spcBef>
                <a:spcPts val="400"/>
              </a:spcBef>
              <a:spcAft>
                <a:spcPts val="0"/>
              </a:spcAft>
            </a:pPr>
            <a:r>
              <a:rPr sz="1300" b="1" i="0">
                <a:solidFill>
                  <a:srgbClr val="FFFFFF"/>
                </a:solidFill>
                <a:latin typeface="Calibri"/>
              </a:rPr>
              <a:t>Action</a:t>
            </a:r>
          </a:p>
          <a:p>
            <a:pPr algn="ctr">
              <a:lnSpc>
                <a:spcPct val="105000"/>
              </a:lnSpc>
              <a:spcBef>
                <a:spcPts val="500"/>
              </a:spcBef>
              <a:spcAft>
                <a:spcPts val="0"/>
              </a:spcAft>
            </a:pPr>
            <a:r>
              <a:rPr sz="950" b="0" i="0">
                <a:solidFill>
                  <a:srgbClr val="A8C4CE"/>
                </a:solidFill>
                <a:latin typeface="Calibri"/>
              </a:rPr>
              <a:t>steps are taken to respond</a:t>
            </a:r>
          </a:p>
        </p:txBody>
      </p:sp>
      <p:sp>
        <p:nvSpPr>
          <p:cNvPr id="24" name="TextBox 23"/>
          <p:cNvSpPr txBox="1"/>
          <p:nvPr/>
        </p:nvSpPr>
        <p:spPr>
          <a:xfrm>
            <a:off x="6807316" y="2880360"/>
            <a:ext cx="146304" cy="274320"/>
          </a:xfrm>
          <a:prstGeom prst="rect">
            <a:avLst/>
          </a:prstGeom>
          <a:noFill/>
        </p:spPr>
        <p:txBody>
          <a:bodyPr wrap="square" lIns="0" rIns="0" tIns="0" bIns="0" anchor="t">
            <a:spAutoFit/>
          </a:bodyPr>
          <a:lstStyle/>
          <a:p>
            <a:pPr algn="ctr">
              <a:lnSpc>
                <a:spcPct val="100000"/>
              </a:lnSpc>
              <a:spcAft>
                <a:spcPts val="0"/>
              </a:spcAft>
            </a:pPr>
            <a:r>
              <a:rPr sz="1600" b="1" i="0">
                <a:solidFill>
                  <a:srgbClr val="C9762F"/>
                </a:solidFill>
                <a:latin typeface="Calibri"/>
              </a:rPr>
              <a:t>›</a:t>
            </a:r>
          </a:p>
        </p:txBody>
      </p:sp>
      <p:sp>
        <p:nvSpPr>
          <p:cNvPr id="25" name="Rounded Rectangle 24"/>
          <p:cNvSpPr/>
          <p:nvPr/>
        </p:nvSpPr>
        <p:spPr>
          <a:xfrm>
            <a:off x="6935332" y="2148840"/>
            <a:ext cx="1459513" cy="1874519"/>
          </a:xfrm>
          <a:prstGeom prst="roundRect">
            <a:avLst>
              <a:gd name="adj" fmla="val 8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26772" y="2331720"/>
            <a:ext cx="1276633" cy="1554480"/>
          </a:xfrm>
          <a:prstGeom prst="rect">
            <a:avLst/>
          </a:prstGeom>
          <a:noFill/>
        </p:spPr>
        <p:txBody>
          <a:bodyPr wrap="square" lIns="0" rIns="0" tIns="0" bIns="0" anchor="t">
            <a:spAutoFit/>
          </a:bodyPr>
          <a:lstStyle/>
          <a:p>
            <a:pPr algn="ctr">
              <a:lnSpc>
                <a:spcPct val="100000"/>
              </a:lnSpc>
              <a:spcAft>
                <a:spcPts val="0"/>
              </a:spcAft>
            </a:pPr>
            <a:r>
              <a:rPr sz="1300" b="1" i="0">
                <a:solidFill>
                  <a:srgbClr val="C9762F"/>
                </a:solidFill>
                <a:latin typeface="Calibri Light"/>
              </a:rPr>
              <a:t>05</a:t>
            </a:r>
          </a:p>
          <a:p>
            <a:pPr algn="ctr">
              <a:lnSpc>
                <a:spcPct val="95000"/>
              </a:lnSpc>
              <a:spcBef>
                <a:spcPts val="400"/>
              </a:spcBef>
              <a:spcAft>
                <a:spcPts val="0"/>
              </a:spcAft>
            </a:pPr>
            <a:r>
              <a:rPr sz="1300" b="1" i="0">
                <a:solidFill>
                  <a:srgbClr val="FFFFFF"/>
                </a:solidFill>
                <a:latin typeface="Calibri"/>
              </a:rPr>
              <a:t>Contact</a:t>
            </a:r>
          </a:p>
          <a:p>
            <a:pPr algn="ctr">
              <a:lnSpc>
                <a:spcPct val="105000"/>
              </a:lnSpc>
              <a:spcBef>
                <a:spcPts val="500"/>
              </a:spcBef>
              <a:spcAft>
                <a:spcPts val="0"/>
              </a:spcAft>
            </a:pPr>
            <a:r>
              <a:rPr sz="950" b="0" i="0">
                <a:solidFill>
                  <a:srgbClr val="A8C4CE"/>
                </a:solidFill>
                <a:latin typeface="Calibri"/>
              </a:rPr>
              <a:t>engaging with what is needed</a:t>
            </a:r>
          </a:p>
        </p:txBody>
      </p:sp>
      <p:sp>
        <p:nvSpPr>
          <p:cNvPr id="27" name="TextBox 26"/>
          <p:cNvSpPr txBox="1"/>
          <p:nvPr/>
        </p:nvSpPr>
        <p:spPr>
          <a:xfrm>
            <a:off x="8376557" y="2880360"/>
            <a:ext cx="146304" cy="274320"/>
          </a:xfrm>
          <a:prstGeom prst="rect">
            <a:avLst/>
          </a:prstGeom>
          <a:noFill/>
        </p:spPr>
        <p:txBody>
          <a:bodyPr wrap="square" lIns="0" rIns="0" tIns="0" bIns="0" anchor="t">
            <a:spAutoFit/>
          </a:bodyPr>
          <a:lstStyle/>
          <a:p>
            <a:pPr algn="ctr">
              <a:lnSpc>
                <a:spcPct val="100000"/>
              </a:lnSpc>
              <a:spcAft>
                <a:spcPts val="0"/>
              </a:spcAft>
            </a:pPr>
            <a:r>
              <a:rPr sz="1600" b="1" i="0">
                <a:solidFill>
                  <a:srgbClr val="C9762F"/>
                </a:solidFill>
                <a:latin typeface="Calibri"/>
              </a:rPr>
              <a:t>›</a:t>
            </a:r>
          </a:p>
        </p:txBody>
      </p:sp>
      <p:sp>
        <p:nvSpPr>
          <p:cNvPr id="28" name="Rounded Rectangle 27"/>
          <p:cNvSpPr/>
          <p:nvPr/>
        </p:nvSpPr>
        <p:spPr>
          <a:xfrm>
            <a:off x="8504573" y="2148840"/>
            <a:ext cx="1459513" cy="1874519"/>
          </a:xfrm>
          <a:prstGeom prst="roundRect">
            <a:avLst>
              <a:gd name="adj" fmla="val 8000"/>
            </a:avLst>
          </a:prstGeom>
          <a:solidFill>
            <a:srgbClr val="244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596013" y="2331720"/>
            <a:ext cx="1276633" cy="1554480"/>
          </a:xfrm>
          <a:prstGeom prst="rect">
            <a:avLst/>
          </a:prstGeom>
          <a:noFill/>
        </p:spPr>
        <p:txBody>
          <a:bodyPr wrap="square" lIns="0" rIns="0" tIns="0" bIns="0" anchor="t">
            <a:spAutoFit/>
          </a:bodyPr>
          <a:lstStyle/>
          <a:p>
            <a:pPr algn="ctr">
              <a:lnSpc>
                <a:spcPct val="100000"/>
              </a:lnSpc>
              <a:spcAft>
                <a:spcPts val="0"/>
              </a:spcAft>
            </a:pPr>
            <a:r>
              <a:rPr sz="1300" b="1" i="0">
                <a:solidFill>
                  <a:srgbClr val="C9762F"/>
                </a:solidFill>
                <a:latin typeface="Calibri Light"/>
              </a:rPr>
              <a:t>06</a:t>
            </a:r>
          </a:p>
          <a:p>
            <a:pPr algn="ctr">
              <a:lnSpc>
                <a:spcPct val="95000"/>
              </a:lnSpc>
              <a:spcBef>
                <a:spcPts val="400"/>
              </a:spcBef>
              <a:spcAft>
                <a:spcPts val="0"/>
              </a:spcAft>
            </a:pPr>
            <a:r>
              <a:rPr sz="1300" b="1" i="0">
                <a:solidFill>
                  <a:srgbClr val="FFFFFF"/>
                </a:solidFill>
                <a:latin typeface="Calibri"/>
              </a:rPr>
              <a:t>Satisfaction</a:t>
            </a:r>
          </a:p>
          <a:p>
            <a:pPr algn="ctr">
              <a:lnSpc>
                <a:spcPct val="105000"/>
              </a:lnSpc>
              <a:spcBef>
                <a:spcPts val="500"/>
              </a:spcBef>
              <a:spcAft>
                <a:spcPts val="0"/>
              </a:spcAft>
            </a:pPr>
            <a:r>
              <a:rPr sz="950" b="0" i="0">
                <a:solidFill>
                  <a:srgbClr val="A8C4CE"/>
                </a:solidFill>
                <a:latin typeface="Calibri"/>
              </a:rPr>
              <a:t>the need is met, at least partly</a:t>
            </a:r>
          </a:p>
        </p:txBody>
      </p:sp>
      <p:sp>
        <p:nvSpPr>
          <p:cNvPr id="30" name="TextBox 29"/>
          <p:cNvSpPr txBox="1"/>
          <p:nvPr/>
        </p:nvSpPr>
        <p:spPr>
          <a:xfrm>
            <a:off x="9945798" y="2880360"/>
            <a:ext cx="146304" cy="274320"/>
          </a:xfrm>
          <a:prstGeom prst="rect">
            <a:avLst/>
          </a:prstGeom>
          <a:noFill/>
        </p:spPr>
        <p:txBody>
          <a:bodyPr wrap="square" lIns="0" rIns="0" tIns="0" bIns="0" anchor="t">
            <a:spAutoFit/>
          </a:bodyPr>
          <a:lstStyle/>
          <a:p>
            <a:pPr algn="ctr">
              <a:lnSpc>
                <a:spcPct val="100000"/>
              </a:lnSpc>
              <a:spcAft>
                <a:spcPts val="0"/>
              </a:spcAft>
            </a:pPr>
            <a:r>
              <a:rPr sz="1600" b="1" i="0">
                <a:solidFill>
                  <a:srgbClr val="C9762F"/>
                </a:solidFill>
                <a:latin typeface="Calibri"/>
              </a:rPr>
              <a:t>›</a:t>
            </a:r>
          </a:p>
        </p:txBody>
      </p:sp>
      <p:sp>
        <p:nvSpPr>
          <p:cNvPr id="31" name="Rounded Rectangle 30"/>
          <p:cNvSpPr/>
          <p:nvPr/>
        </p:nvSpPr>
        <p:spPr>
          <a:xfrm>
            <a:off x="10073814" y="2148840"/>
            <a:ext cx="1459513" cy="1874519"/>
          </a:xfrm>
          <a:prstGeom prst="roundRect">
            <a:avLst>
              <a:gd name="adj" fmla="val 8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165254" y="2331720"/>
            <a:ext cx="1276633" cy="1554480"/>
          </a:xfrm>
          <a:prstGeom prst="rect">
            <a:avLst/>
          </a:prstGeom>
          <a:noFill/>
        </p:spPr>
        <p:txBody>
          <a:bodyPr wrap="square" lIns="0" rIns="0" tIns="0" bIns="0" anchor="t">
            <a:spAutoFit/>
          </a:bodyPr>
          <a:lstStyle/>
          <a:p>
            <a:pPr algn="ctr">
              <a:lnSpc>
                <a:spcPct val="100000"/>
              </a:lnSpc>
              <a:spcAft>
                <a:spcPts val="0"/>
              </a:spcAft>
            </a:pPr>
            <a:r>
              <a:rPr sz="1300" b="1" i="0">
                <a:solidFill>
                  <a:srgbClr val="C9762F"/>
                </a:solidFill>
                <a:latin typeface="Calibri Light"/>
              </a:rPr>
              <a:t>07</a:t>
            </a:r>
          </a:p>
          <a:p>
            <a:pPr algn="ctr">
              <a:lnSpc>
                <a:spcPct val="95000"/>
              </a:lnSpc>
              <a:spcBef>
                <a:spcPts val="400"/>
              </a:spcBef>
              <a:spcAft>
                <a:spcPts val="0"/>
              </a:spcAft>
            </a:pPr>
            <a:r>
              <a:rPr sz="1300" b="1" i="0">
                <a:solidFill>
                  <a:srgbClr val="FFFFFF"/>
                </a:solidFill>
                <a:latin typeface="Calibri"/>
              </a:rPr>
              <a:t>Withdrawal</a:t>
            </a:r>
          </a:p>
          <a:p>
            <a:pPr algn="ctr">
              <a:lnSpc>
                <a:spcPct val="105000"/>
              </a:lnSpc>
              <a:spcBef>
                <a:spcPts val="500"/>
              </a:spcBef>
              <a:spcAft>
                <a:spcPts val="0"/>
              </a:spcAft>
            </a:pPr>
            <a:r>
              <a:rPr sz="950" b="0" i="0">
                <a:solidFill>
                  <a:srgbClr val="A8C4CE"/>
                </a:solidFill>
                <a:latin typeface="Calibri"/>
              </a:rPr>
              <a:t>attention shifts to other needs</a:t>
            </a:r>
          </a:p>
        </p:txBody>
      </p:sp>
      <p:sp>
        <p:nvSpPr>
          <p:cNvPr id="33" name="Rectangle 32"/>
          <p:cNvSpPr/>
          <p:nvPr/>
        </p:nvSpPr>
        <p:spPr>
          <a:xfrm>
            <a:off x="658368" y="4224528"/>
            <a:ext cx="10874959" cy="160020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58368" y="4224528"/>
            <a:ext cx="41148" cy="160020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96112" y="4398264"/>
            <a:ext cx="10417759"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HOW TO USE IT — AND HOW NOT TO</a:t>
            </a:r>
          </a:p>
        </p:txBody>
      </p:sp>
      <p:sp>
        <p:nvSpPr>
          <p:cNvPr id="36" name="TextBox 35"/>
          <p:cNvSpPr txBox="1"/>
          <p:nvPr/>
        </p:nvSpPr>
        <p:spPr>
          <a:xfrm>
            <a:off x="896112" y="4709160"/>
            <a:ext cx="10399471" cy="969263"/>
          </a:xfrm>
          <a:prstGeom prst="rect">
            <a:avLst/>
          </a:prstGeom>
          <a:noFill/>
        </p:spPr>
        <p:txBody>
          <a:bodyPr wrap="square" lIns="0" rIns="0" tIns="0" bIns="0" anchor="t">
            <a:spAutoFit/>
          </a:bodyPr>
          <a:lstStyle/>
          <a:p>
            <a:pPr algn="l">
              <a:lnSpc>
                <a:spcPct val="105000"/>
              </a:lnSpc>
              <a:spcAft>
                <a:spcPts val="500"/>
              </a:spcAft>
            </a:pPr>
            <a:r>
              <a:rPr sz="1200" b="0">
                <a:solidFill>
                  <a:srgbClr val="C9762F"/>
                </a:solidFill>
                <a:latin typeface="Calibri"/>
              </a:rPr>
              <a:t>–   </a:t>
            </a:r>
            <a:r>
              <a:rPr sz="1200" b="0" i="0">
                <a:solidFill>
                  <a:srgbClr val="1B3A4B"/>
                </a:solidFill>
                <a:latin typeface="Calibri"/>
              </a:rPr>
              <a:t>Worked example: an employee notices exhaustion → acknowledges the need for rest → considers options → asks for a break → takes it → returns to work</a:t>
            </a:r>
          </a:p>
          <a:p>
            <a:pPr algn="l">
              <a:lnSpc>
                <a:spcPct val="105000"/>
              </a:lnSpc>
              <a:spcAft>
                <a:spcPts val="500"/>
              </a:spcAft>
            </a:pPr>
            <a:r>
              <a:rPr sz="1200" b="0">
                <a:solidFill>
                  <a:srgbClr val="C9762F"/>
                </a:solidFill>
                <a:latin typeface="Calibri"/>
              </a:rPr>
              <a:t>–   </a:t>
            </a:r>
            <a:r>
              <a:rPr sz="1200" b="0" i="0">
                <a:solidFill>
                  <a:srgbClr val="1B3A4B"/>
                </a:solidFill>
                <a:latin typeface="Calibri"/>
              </a:rPr>
              <a:t>It is not a rigid sequence every person follows identically; writers describe the stages differently</a:t>
            </a:r>
          </a:p>
          <a:p>
            <a:pPr algn="l">
              <a:lnSpc>
                <a:spcPct val="105000"/>
              </a:lnSpc>
              <a:spcAft>
                <a:spcPts val="500"/>
              </a:spcAft>
            </a:pPr>
            <a:r>
              <a:rPr sz="1200" b="0">
                <a:solidFill>
                  <a:srgbClr val="C9762F"/>
                </a:solidFill>
                <a:latin typeface="Calibri"/>
              </a:rPr>
              <a:t>–   </a:t>
            </a:r>
            <a:r>
              <a:rPr sz="1200" b="0" i="0">
                <a:solidFill>
                  <a:srgbClr val="1B3A4B"/>
                </a:solidFill>
                <a:latin typeface="Calibri"/>
              </a:rPr>
              <a:t>It is a way of locating where difficulty arises — e.g. recognising a need but avoiding action through fear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5.7</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Personal Responsibility and Choice</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12</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(Brownell, 2010)</a:t>
            </a:r>
          </a:p>
        </p:txBody>
      </p:sp>
      <p:sp>
        <p:nvSpPr>
          <p:cNvPr id="12" name="Rectangle 11"/>
          <p:cNvSpPr/>
          <p:nvPr/>
        </p:nvSpPr>
        <p:spPr>
          <a:xfrm>
            <a:off x="658368" y="1783080"/>
            <a:ext cx="5138928" cy="1856232"/>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1783080"/>
            <a:ext cx="41148" cy="1856232"/>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2" y="1956816"/>
            <a:ext cx="4681728"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WHAT IT INVOLVES</a:t>
            </a:r>
          </a:p>
        </p:txBody>
      </p:sp>
      <p:sp>
        <p:nvSpPr>
          <p:cNvPr id="15" name="TextBox 14"/>
          <p:cNvSpPr txBox="1"/>
          <p:nvPr/>
        </p:nvSpPr>
        <p:spPr>
          <a:xfrm>
            <a:off x="896112" y="2267712"/>
            <a:ext cx="4663440" cy="1225296"/>
          </a:xfrm>
          <a:prstGeom prst="rect">
            <a:avLst/>
          </a:prstGeom>
          <a:noFill/>
        </p:spPr>
        <p:txBody>
          <a:bodyPr wrap="square" lIns="0" rIns="0" tIns="0" bIns="0" anchor="t">
            <a:spAutoFit/>
          </a:bodyPr>
          <a:lstStyle/>
          <a:p>
            <a:pPr algn="l">
              <a:lnSpc>
                <a:spcPct val="105000"/>
              </a:lnSpc>
              <a:spcAft>
                <a:spcPts val="500"/>
              </a:spcAft>
            </a:pPr>
            <a:r>
              <a:rPr sz="1200" b="0">
                <a:solidFill>
                  <a:srgbClr val="C9762F"/>
                </a:solidFill>
                <a:latin typeface="Calibri"/>
              </a:rPr>
              <a:t>–   </a:t>
            </a:r>
            <a:r>
              <a:rPr sz="1200" b="0" i="0">
                <a:solidFill>
                  <a:srgbClr val="1B3A4B"/>
                </a:solidFill>
                <a:latin typeface="Calibri"/>
              </a:rPr>
              <a:t>Recognising one's feelings, actions, needs and available choices</a:t>
            </a:r>
          </a:p>
          <a:p>
            <a:pPr algn="l">
              <a:lnSpc>
                <a:spcPct val="105000"/>
              </a:lnSpc>
              <a:spcAft>
                <a:spcPts val="500"/>
              </a:spcAft>
            </a:pPr>
            <a:r>
              <a:rPr sz="1200" b="0">
                <a:solidFill>
                  <a:srgbClr val="C9762F"/>
                </a:solidFill>
                <a:latin typeface="Calibri"/>
              </a:rPr>
              <a:t>–   </a:t>
            </a:r>
            <a:r>
              <a:rPr sz="1200" b="0" i="0">
                <a:solidFill>
                  <a:srgbClr val="1B3A4B"/>
                </a:solidFill>
                <a:latin typeface="Calibri"/>
              </a:rPr>
              <a:t>Identifying where agency can actually be exercised</a:t>
            </a:r>
          </a:p>
          <a:p>
            <a:pPr algn="l">
              <a:lnSpc>
                <a:spcPct val="105000"/>
              </a:lnSpc>
              <a:spcAft>
                <a:spcPts val="500"/>
              </a:spcAft>
            </a:pPr>
            <a:r>
              <a:rPr sz="1200" b="0">
                <a:solidFill>
                  <a:srgbClr val="C9762F"/>
                </a:solidFill>
                <a:latin typeface="Calibri"/>
              </a:rPr>
              <a:t>–   </a:t>
            </a:r>
            <a:r>
              <a:rPr sz="1200" b="0" i="0">
                <a:solidFill>
                  <a:srgbClr val="1B3A4B"/>
                </a:solidFill>
                <a:latin typeface="Calibri"/>
              </a:rPr>
              <a:t>Moving away from a sense of being entirely powerless</a:t>
            </a:r>
          </a:p>
        </p:txBody>
      </p:sp>
      <p:sp>
        <p:nvSpPr>
          <p:cNvPr id="16" name="Rectangle 15"/>
          <p:cNvSpPr/>
          <p:nvPr/>
        </p:nvSpPr>
        <p:spPr>
          <a:xfrm>
            <a:off x="5980176" y="1783080"/>
            <a:ext cx="5553151" cy="169164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72783" y="1993392"/>
            <a:ext cx="4986223" cy="1325880"/>
          </a:xfrm>
          <a:prstGeom prst="rect">
            <a:avLst/>
          </a:prstGeom>
          <a:noFill/>
        </p:spPr>
        <p:txBody>
          <a:bodyPr wrap="square" lIns="0" rIns="0" tIns="0" bIns="0" anchor="t">
            <a:spAutoFit/>
          </a:bodyPr>
          <a:lstStyle/>
          <a:p>
            <a:pPr algn="l">
              <a:lnSpc>
                <a:spcPct val="100000"/>
              </a:lnSpc>
              <a:spcAft>
                <a:spcPts val="0"/>
              </a:spcAft>
            </a:pPr>
            <a:r>
              <a:rPr sz="1300" b="1" i="0">
                <a:solidFill>
                  <a:srgbClr val="C9762F"/>
                </a:solidFill>
                <a:latin typeface="Calibri Light"/>
              </a:rPr>
              <a:t>RESPONSIBILITY  ≠  BLAME</a:t>
            </a:r>
          </a:p>
          <a:p>
            <a:pPr algn="l">
              <a:lnSpc>
                <a:spcPct val="112000"/>
              </a:lnSpc>
              <a:spcBef>
                <a:spcPts val="600"/>
              </a:spcBef>
              <a:spcAft>
                <a:spcPts val="0"/>
              </a:spcAft>
            </a:pPr>
            <a:r>
              <a:rPr sz="1250" b="0" i="0">
                <a:solidFill>
                  <a:srgbClr val="FFFFFF"/>
                </a:solidFill>
                <a:latin typeface="Calibri"/>
              </a:rPr>
              <a:t>Responsibility must never suggest that clients cause every difficulty they experience.</a:t>
            </a:r>
          </a:p>
        </p:txBody>
      </p:sp>
      <p:sp>
        <p:nvSpPr>
          <p:cNvPr id="18" name="Rectangle 17"/>
          <p:cNvSpPr/>
          <p:nvPr/>
        </p:nvSpPr>
        <p:spPr>
          <a:xfrm>
            <a:off x="658368" y="3703320"/>
            <a:ext cx="5138928" cy="105156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58368" y="3703320"/>
            <a:ext cx="45720" cy="1051560"/>
          </a:xfrm>
          <a:prstGeom prst="rect">
            <a:avLst/>
          </a:prstGeom>
          <a:solidFill>
            <a:srgbClr val="B0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4400" y="3886200"/>
            <a:ext cx="4663440" cy="731520"/>
          </a:xfrm>
          <a:prstGeom prst="rect">
            <a:avLst/>
          </a:prstGeom>
          <a:noFill/>
        </p:spPr>
        <p:txBody>
          <a:bodyPr wrap="square" lIns="0" rIns="0" tIns="0" bIns="0" anchor="t">
            <a:spAutoFit/>
          </a:bodyPr>
          <a:lstStyle/>
          <a:p>
            <a:pPr algn="l">
              <a:lnSpc>
                <a:spcPct val="100000"/>
              </a:lnSpc>
              <a:spcAft>
                <a:spcPts val="0"/>
              </a:spcAft>
            </a:pPr>
            <a:r>
              <a:rPr sz="1000" b="1" i="0">
                <a:solidFill>
                  <a:srgbClr val="B04A3A"/>
                </a:solidFill>
                <a:latin typeface="Calibri Light"/>
              </a:rPr>
              <a:t>BEFORE</a:t>
            </a:r>
          </a:p>
          <a:p>
            <a:pPr algn="l">
              <a:lnSpc>
                <a:spcPct val="100000"/>
              </a:lnSpc>
              <a:spcBef>
                <a:spcPts val="400"/>
              </a:spcBef>
              <a:spcAft>
                <a:spcPts val="0"/>
              </a:spcAft>
            </a:pPr>
            <a:r>
              <a:rPr sz="1300" b="0" i="1">
                <a:solidFill>
                  <a:srgbClr val="1B3A4B"/>
                </a:solidFill>
                <a:latin typeface="Calibri"/>
              </a:rPr>
              <a:t>“Everyone makes me stay late at work.”</a:t>
            </a:r>
          </a:p>
        </p:txBody>
      </p:sp>
      <p:sp>
        <p:nvSpPr>
          <p:cNvPr id="21" name="Rectangle 20"/>
          <p:cNvSpPr/>
          <p:nvPr/>
        </p:nvSpPr>
        <p:spPr>
          <a:xfrm>
            <a:off x="5980176" y="3703320"/>
            <a:ext cx="5553151" cy="105156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980176" y="3703320"/>
            <a:ext cx="45720" cy="105156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36207" y="3886200"/>
            <a:ext cx="5041087" cy="731520"/>
          </a:xfrm>
          <a:prstGeom prst="rect">
            <a:avLst/>
          </a:prstGeom>
          <a:noFill/>
        </p:spPr>
        <p:txBody>
          <a:bodyPr wrap="square" lIns="0" rIns="0" tIns="0" bIns="0" anchor="t">
            <a:spAutoFit/>
          </a:bodyPr>
          <a:lstStyle/>
          <a:p>
            <a:pPr algn="l">
              <a:lnSpc>
                <a:spcPct val="100000"/>
              </a:lnSpc>
              <a:spcAft>
                <a:spcPts val="0"/>
              </a:spcAft>
            </a:pPr>
            <a:r>
              <a:rPr sz="1000" b="1" i="0">
                <a:solidFill>
                  <a:srgbClr val="2E7D8F"/>
                </a:solidFill>
                <a:latin typeface="Calibri Light"/>
              </a:rPr>
              <a:t>AFTER</a:t>
            </a:r>
          </a:p>
          <a:p>
            <a:pPr algn="l">
              <a:lnSpc>
                <a:spcPct val="100000"/>
              </a:lnSpc>
              <a:spcBef>
                <a:spcPts val="400"/>
              </a:spcBef>
              <a:spcAft>
                <a:spcPts val="0"/>
              </a:spcAft>
            </a:pPr>
            <a:r>
              <a:rPr sz="1300" b="0" i="1">
                <a:solidFill>
                  <a:srgbClr val="1B3A4B"/>
                </a:solidFill>
                <a:latin typeface="Calibri"/>
              </a:rPr>
              <a:t>“I find it difficult to refuse extra work because I fear being judged.”</a:t>
            </a:r>
          </a:p>
        </p:txBody>
      </p:sp>
      <p:sp>
        <p:nvSpPr>
          <p:cNvPr id="24" name="TextBox 23"/>
          <p:cNvSpPr txBox="1"/>
          <p:nvPr/>
        </p:nvSpPr>
        <p:spPr>
          <a:xfrm>
            <a:off x="658368" y="4983480"/>
            <a:ext cx="10874959" cy="914400"/>
          </a:xfrm>
          <a:prstGeom prst="rect">
            <a:avLst/>
          </a:prstGeom>
          <a:noFill/>
        </p:spPr>
        <p:txBody>
          <a:bodyPr wrap="square" lIns="0" rIns="0" tIns="0" bIns="0" anchor="t">
            <a:spAutoFit/>
          </a:bodyPr>
          <a:lstStyle/>
          <a:p>
            <a:pPr algn="l">
              <a:lnSpc>
                <a:spcPct val="112000"/>
              </a:lnSpc>
              <a:spcAft>
                <a:spcPts val="400"/>
              </a:spcAft>
            </a:pPr>
            <a:r>
              <a:rPr sz="1250" b="0" i="0">
                <a:solidFill>
                  <a:srgbClr val="5F7078"/>
                </a:solidFill>
                <a:latin typeface="Calibri"/>
              </a:rPr>
              <a:t>The second statement identifies an internal response that can be explored alongside the actual workplace conditions. The aim is to expand awareness and choice while acknowledging genuine limitations, unequal power relationships and external pressures.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6</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Contact Boundary Disturbances</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1609344"/>
            <a:ext cx="10874959" cy="365760"/>
          </a:xfrm>
          <a:prstGeom prst="rect">
            <a:avLst/>
          </a:prstGeom>
          <a:noFill/>
        </p:spPr>
        <p:txBody>
          <a:bodyPr wrap="square" lIns="0" rIns="0" tIns="0" bIns="0" anchor="t">
            <a:spAutoFit/>
          </a:bodyPr>
          <a:lstStyle/>
          <a:p>
            <a:pPr algn="l">
              <a:lnSpc>
                <a:spcPct val="105000"/>
              </a:lnSpc>
              <a:spcAft>
                <a:spcPts val="400"/>
              </a:spcAft>
            </a:pPr>
            <a:r>
              <a:rPr sz="1350" b="0" i="1">
                <a:solidFill>
                  <a:srgbClr val="5F7078"/>
                </a:solidFill>
                <a:latin typeface="Calibri"/>
              </a:rPr>
              <a:t>Also described as interruptions to contact, or resistances to contact.</a:t>
            </a:r>
          </a:p>
        </p:txBody>
      </p:sp>
      <p:sp>
        <p:nvSpPr>
          <p:cNvPr id="9" name="Rectangle 8"/>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1" name="TextBox 10"/>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13</a:t>
            </a:r>
          </a:p>
        </p:txBody>
      </p:sp>
      <p:sp>
        <p:nvSpPr>
          <p:cNvPr id="12" name="TextBox 11"/>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(Perls et al., 1951; Woldt &amp; Toman, 2005)</a:t>
            </a:r>
          </a:p>
        </p:txBody>
      </p:sp>
      <p:sp>
        <p:nvSpPr>
          <p:cNvPr id="13" name="Rounded Rectangle 12"/>
          <p:cNvSpPr/>
          <p:nvPr/>
        </p:nvSpPr>
        <p:spPr>
          <a:xfrm>
            <a:off x="658368" y="2212848"/>
            <a:ext cx="2083551" cy="1325880"/>
          </a:xfrm>
          <a:prstGeom prst="roundRect">
            <a:avLst>
              <a:gd name="adj" fmla="val 6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8096" y="2340864"/>
            <a:ext cx="1864095" cy="1069848"/>
          </a:xfrm>
          <a:prstGeom prst="rect">
            <a:avLst/>
          </a:prstGeom>
          <a:noFill/>
        </p:spPr>
        <p:txBody>
          <a:bodyPr wrap="square" lIns="0" rIns="0" tIns="0" bIns="0" anchor="ctr">
            <a:spAutoFit/>
          </a:bodyPr>
          <a:lstStyle/>
          <a:p>
            <a:pPr algn="ctr">
              <a:lnSpc>
                <a:spcPct val="100000"/>
              </a:lnSpc>
              <a:spcAft>
                <a:spcPts val="200"/>
              </a:spcAft>
            </a:pPr>
            <a:r>
              <a:rPr sz="1500" b="1" i="0">
                <a:solidFill>
                  <a:srgbClr val="C9762F"/>
                </a:solidFill>
                <a:latin typeface="Calibri Light"/>
              </a:rPr>
              <a:t>01</a:t>
            </a:r>
          </a:p>
          <a:p>
            <a:pPr algn="ctr">
              <a:lnSpc>
                <a:spcPct val="95000"/>
              </a:lnSpc>
              <a:spcAft>
                <a:spcPts val="200"/>
              </a:spcAft>
            </a:pPr>
            <a:r>
              <a:rPr sz="1250" b="1" i="0">
                <a:solidFill>
                  <a:srgbClr val="FFFFFF"/>
                </a:solidFill>
                <a:latin typeface="Calibri"/>
              </a:rPr>
              <a:t>Introjection</a:t>
            </a:r>
          </a:p>
          <a:p>
            <a:pPr algn="ctr">
              <a:lnSpc>
                <a:spcPct val="100000"/>
              </a:lnSpc>
              <a:spcBef>
                <a:spcPts val="300"/>
              </a:spcBef>
              <a:spcAft>
                <a:spcPts val="200"/>
              </a:spcAft>
            </a:pPr>
            <a:r>
              <a:rPr sz="1000" b="0" i="0">
                <a:solidFill>
                  <a:srgbClr val="C9D6DB"/>
                </a:solidFill>
                <a:latin typeface="Calibri"/>
              </a:rPr>
              <a:t>Accepting an external rule without examining it</a:t>
            </a:r>
          </a:p>
        </p:txBody>
      </p:sp>
      <p:sp>
        <p:nvSpPr>
          <p:cNvPr id="15" name="Rounded Rectangle 14"/>
          <p:cNvSpPr/>
          <p:nvPr/>
        </p:nvSpPr>
        <p:spPr>
          <a:xfrm>
            <a:off x="2856219" y="2212848"/>
            <a:ext cx="2083551" cy="1325880"/>
          </a:xfrm>
          <a:prstGeom prst="roundRect">
            <a:avLst>
              <a:gd name="adj" fmla="val 6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65947" y="2340864"/>
            <a:ext cx="1864095" cy="1069848"/>
          </a:xfrm>
          <a:prstGeom prst="rect">
            <a:avLst/>
          </a:prstGeom>
          <a:noFill/>
        </p:spPr>
        <p:txBody>
          <a:bodyPr wrap="square" lIns="0" rIns="0" tIns="0" bIns="0" anchor="ctr">
            <a:spAutoFit/>
          </a:bodyPr>
          <a:lstStyle/>
          <a:p>
            <a:pPr algn="ctr">
              <a:lnSpc>
                <a:spcPct val="100000"/>
              </a:lnSpc>
              <a:spcAft>
                <a:spcPts val="200"/>
              </a:spcAft>
            </a:pPr>
            <a:r>
              <a:rPr sz="1500" b="1" i="0">
                <a:solidFill>
                  <a:srgbClr val="C9762F"/>
                </a:solidFill>
                <a:latin typeface="Calibri Light"/>
              </a:rPr>
              <a:t>02</a:t>
            </a:r>
          </a:p>
          <a:p>
            <a:pPr algn="ctr">
              <a:lnSpc>
                <a:spcPct val="95000"/>
              </a:lnSpc>
              <a:spcAft>
                <a:spcPts val="200"/>
              </a:spcAft>
            </a:pPr>
            <a:r>
              <a:rPr sz="1250" b="1" i="0">
                <a:solidFill>
                  <a:srgbClr val="FFFFFF"/>
                </a:solidFill>
                <a:latin typeface="Calibri"/>
              </a:rPr>
              <a:t>Projection</a:t>
            </a:r>
          </a:p>
          <a:p>
            <a:pPr algn="ctr">
              <a:lnSpc>
                <a:spcPct val="100000"/>
              </a:lnSpc>
              <a:spcBef>
                <a:spcPts val="300"/>
              </a:spcBef>
              <a:spcAft>
                <a:spcPts val="200"/>
              </a:spcAft>
            </a:pPr>
            <a:r>
              <a:rPr sz="1000" b="0" i="0">
                <a:solidFill>
                  <a:srgbClr val="C9D6DB"/>
                </a:solidFill>
                <a:latin typeface="Calibri"/>
              </a:rPr>
              <a:t>Attributing one's own experience to another</a:t>
            </a:r>
          </a:p>
        </p:txBody>
      </p:sp>
      <p:sp>
        <p:nvSpPr>
          <p:cNvPr id="17" name="Rounded Rectangle 16"/>
          <p:cNvSpPr/>
          <p:nvPr/>
        </p:nvSpPr>
        <p:spPr>
          <a:xfrm>
            <a:off x="5054071" y="2212848"/>
            <a:ext cx="2083551" cy="1325880"/>
          </a:xfrm>
          <a:prstGeom prst="roundRect">
            <a:avLst>
              <a:gd name="adj" fmla="val 6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63799" y="2340864"/>
            <a:ext cx="1864095" cy="1069848"/>
          </a:xfrm>
          <a:prstGeom prst="rect">
            <a:avLst/>
          </a:prstGeom>
          <a:noFill/>
        </p:spPr>
        <p:txBody>
          <a:bodyPr wrap="square" lIns="0" rIns="0" tIns="0" bIns="0" anchor="ctr">
            <a:spAutoFit/>
          </a:bodyPr>
          <a:lstStyle/>
          <a:p>
            <a:pPr algn="ctr">
              <a:lnSpc>
                <a:spcPct val="100000"/>
              </a:lnSpc>
              <a:spcAft>
                <a:spcPts val="200"/>
              </a:spcAft>
            </a:pPr>
            <a:r>
              <a:rPr sz="1500" b="1" i="0">
                <a:solidFill>
                  <a:srgbClr val="C9762F"/>
                </a:solidFill>
                <a:latin typeface="Calibri Light"/>
              </a:rPr>
              <a:t>03</a:t>
            </a:r>
          </a:p>
          <a:p>
            <a:pPr algn="ctr">
              <a:lnSpc>
                <a:spcPct val="95000"/>
              </a:lnSpc>
              <a:spcAft>
                <a:spcPts val="200"/>
              </a:spcAft>
            </a:pPr>
            <a:r>
              <a:rPr sz="1250" b="1" i="0">
                <a:solidFill>
                  <a:srgbClr val="FFFFFF"/>
                </a:solidFill>
                <a:latin typeface="Calibri"/>
              </a:rPr>
              <a:t>Retroflection</a:t>
            </a:r>
          </a:p>
          <a:p>
            <a:pPr algn="ctr">
              <a:lnSpc>
                <a:spcPct val="100000"/>
              </a:lnSpc>
              <a:spcBef>
                <a:spcPts val="300"/>
              </a:spcBef>
              <a:spcAft>
                <a:spcPts val="200"/>
              </a:spcAft>
            </a:pPr>
            <a:r>
              <a:rPr sz="1000" b="0" i="0">
                <a:solidFill>
                  <a:srgbClr val="C9D6DB"/>
                </a:solidFill>
                <a:latin typeface="Calibri"/>
              </a:rPr>
              <a:t>Turning an outward response inward</a:t>
            </a:r>
          </a:p>
        </p:txBody>
      </p:sp>
      <p:sp>
        <p:nvSpPr>
          <p:cNvPr id="19" name="Rounded Rectangle 18"/>
          <p:cNvSpPr/>
          <p:nvPr/>
        </p:nvSpPr>
        <p:spPr>
          <a:xfrm>
            <a:off x="7251923" y="2212848"/>
            <a:ext cx="2083551" cy="1325880"/>
          </a:xfrm>
          <a:prstGeom prst="roundRect">
            <a:avLst>
              <a:gd name="adj" fmla="val 6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61651" y="2340864"/>
            <a:ext cx="1864095" cy="1069848"/>
          </a:xfrm>
          <a:prstGeom prst="rect">
            <a:avLst/>
          </a:prstGeom>
          <a:noFill/>
        </p:spPr>
        <p:txBody>
          <a:bodyPr wrap="square" lIns="0" rIns="0" tIns="0" bIns="0" anchor="ctr">
            <a:spAutoFit/>
          </a:bodyPr>
          <a:lstStyle/>
          <a:p>
            <a:pPr algn="ctr">
              <a:lnSpc>
                <a:spcPct val="100000"/>
              </a:lnSpc>
              <a:spcAft>
                <a:spcPts val="200"/>
              </a:spcAft>
            </a:pPr>
            <a:r>
              <a:rPr sz="1500" b="1" i="0">
                <a:solidFill>
                  <a:srgbClr val="C9762F"/>
                </a:solidFill>
                <a:latin typeface="Calibri Light"/>
              </a:rPr>
              <a:t>04</a:t>
            </a:r>
          </a:p>
          <a:p>
            <a:pPr algn="ctr">
              <a:lnSpc>
                <a:spcPct val="95000"/>
              </a:lnSpc>
              <a:spcAft>
                <a:spcPts val="200"/>
              </a:spcAft>
            </a:pPr>
            <a:r>
              <a:rPr sz="1250" b="1" i="0">
                <a:solidFill>
                  <a:srgbClr val="FFFFFF"/>
                </a:solidFill>
                <a:latin typeface="Calibri"/>
              </a:rPr>
              <a:t>Deflection</a:t>
            </a:r>
          </a:p>
          <a:p>
            <a:pPr algn="ctr">
              <a:lnSpc>
                <a:spcPct val="100000"/>
              </a:lnSpc>
              <a:spcBef>
                <a:spcPts val="300"/>
              </a:spcBef>
              <a:spcAft>
                <a:spcPts val="200"/>
              </a:spcAft>
            </a:pPr>
            <a:r>
              <a:rPr sz="1000" b="0" i="0">
                <a:solidFill>
                  <a:srgbClr val="C9D6DB"/>
                </a:solidFill>
                <a:latin typeface="Calibri"/>
              </a:rPr>
              <a:t>Avoiding direct contact with an experience</a:t>
            </a:r>
          </a:p>
        </p:txBody>
      </p:sp>
      <p:sp>
        <p:nvSpPr>
          <p:cNvPr id="21" name="Rounded Rectangle 20"/>
          <p:cNvSpPr/>
          <p:nvPr/>
        </p:nvSpPr>
        <p:spPr>
          <a:xfrm>
            <a:off x="9449775" y="2212848"/>
            <a:ext cx="2083551" cy="1325880"/>
          </a:xfrm>
          <a:prstGeom prst="roundRect">
            <a:avLst>
              <a:gd name="adj" fmla="val 6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59503" y="2340864"/>
            <a:ext cx="1864095" cy="1069848"/>
          </a:xfrm>
          <a:prstGeom prst="rect">
            <a:avLst/>
          </a:prstGeom>
          <a:noFill/>
        </p:spPr>
        <p:txBody>
          <a:bodyPr wrap="square" lIns="0" rIns="0" tIns="0" bIns="0" anchor="ctr">
            <a:spAutoFit/>
          </a:bodyPr>
          <a:lstStyle/>
          <a:p>
            <a:pPr algn="ctr">
              <a:lnSpc>
                <a:spcPct val="100000"/>
              </a:lnSpc>
              <a:spcAft>
                <a:spcPts val="200"/>
              </a:spcAft>
            </a:pPr>
            <a:r>
              <a:rPr sz="1500" b="1" i="0">
                <a:solidFill>
                  <a:srgbClr val="C9762F"/>
                </a:solidFill>
                <a:latin typeface="Calibri Light"/>
              </a:rPr>
              <a:t>05</a:t>
            </a:r>
          </a:p>
          <a:p>
            <a:pPr algn="ctr">
              <a:lnSpc>
                <a:spcPct val="95000"/>
              </a:lnSpc>
              <a:spcAft>
                <a:spcPts val="200"/>
              </a:spcAft>
            </a:pPr>
            <a:r>
              <a:rPr sz="1250" b="1" i="0">
                <a:solidFill>
                  <a:srgbClr val="FFFFFF"/>
                </a:solidFill>
                <a:latin typeface="Calibri"/>
              </a:rPr>
              <a:t>Confluence</a:t>
            </a:r>
          </a:p>
          <a:p>
            <a:pPr algn="ctr">
              <a:lnSpc>
                <a:spcPct val="100000"/>
              </a:lnSpc>
              <a:spcBef>
                <a:spcPts val="300"/>
              </a:spcBef>
              <a:spcAft>
                <a:spcPts val="200"/>
              </a:spcAft>
            </a:pPr>
            <a:r>
              <a:rPr sz="1000" b="0" i="0">
                <a:solidFill>
                  <a:srgbClr val="C9D6DB"/>
                </a:solidFill>
                <a:latin typeface="Calibri"/>
              </a:rPr>
              <a:t>Difficulty distinguishing self from others</a:t>
            </a:r>
          </a:p>
        </p:txBody>
      </p:sp>
      <p:sp>
        <p:nvSpPr>
          <p:cNvPr id="23" name="Rectangle 22"/>
          <p:cNvSpPr/>
          <p:nvPr/>
        </p:nvSpPr>
        <p:spPr>
          <a:xfrm>
            <a:off x="658368" y="3703320"/>
            <a:ext cx="5138928" cy="2441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3703320"/>
            <a:ext cx="41148" cy="2441448"/>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3877056"/>
            <a:ext cx="4681728"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HOW THESE SHOULD BE HELD</a:t>
            </a:r>
          </a:p>
        </p:txBody>
      </p:sp>
      <p:sp>
        <p:nvSpPr>
          <p:cNvPr id="26" name="TextBox 25"/>
          <p:cNvSpPr txBox="1"/>
          <p:nvPr/>
        </p:nvSpPr>
        <p:spPr>
          <a:xfrm>
            <a:off x="896112" y="4187952"/>
            <a:ext cx="4663440" cy="1810511"/>
          </a:xfrm>
          <a:prstGeom prst="rect">
            <a:avLst/>
          </a:prstGeom>
          <a:noFill/>
        </p:spPr>
        <p:txBody>
          <a:bodyPr wrap="square" lIns="0" rIns="0" tIns="0" bIns="0" anchor="t">
            <a:spAutoFit/>
          </a:bodyPr>
          <a:lstStyle/>
          <a:p>
            <a:pPr algn="l">
              <a:lnSpc>
                <a:spcPct val="105000"/>
              </a:lnSpc>
              <a:spcAft>
                <a:spcPts val="500"/>
              </a:spcAft>
            </a:pPr>
            <a:r>
              <a:rPr sz="1250" b="0">
                <a:solidFill>
                  <a:srgbClr val="C9762F"/>
                </a:solidFill>
                <a:latin typeface="Calibri"/>
              </a:rPr>
              <a:t>–   </a:t>
            </a:r>
            <a:r>
              <a:rPr sz="1250" b="0" i="0">
                <a:solidFill>
                  <a:srgbClr val="1B3A4B"/>
                </a:solidFill>
                <a:latin typeface="Calibri"/>
              </a:rPr>
              <a:t>They are not diagnoses or permanent personality characteristics</a:t>
            </a:r>
          </a:p>
          <a:p>
            <a:pPr algn="l">
              <a:lnSpc>
                <a:spcPct val="105000"/>
              </a:lnSpc>
              <a:spcAft>
                <a:spcPts val="500"/>
              </a:spcAft>
            </a:pPr>
            <a:r>
              <a:rPr sz="1250" b="0">
                <a:solidFill>
                  <a:srgbClr val="C9762F"/>
                </a:solidFill>
                <a:latin typeface="Calibri"/>
              </a:rPr>
              <a:t>–   </a:t>
            </a:r>
            <a:r>
              <a:rPr sz="1250" b="0" i="0">
                <a:solidFill>
                  <a:srgbClr val="1B3A4B"/>
                </a:solidFill>
                <a:latin typeface="Calibri"/>
              </a:rPr>
              <a:t>They may develop as ways of coping with difficult relationships</a:t>
            </a:r>
          </a:p>
          <a:p>
            <a:pPr algn="l">
              <a:lnSpc>
                <a:spcPct val="105000"/>
              </a:lnSpc>
              <a:spcAft>
                <a:spcPts val="500"/>
              </a:spcAft>
            </a:pPr>
            <a:r>
              <a:rPr sz="1250" b="0">
                <a:solidFill>
                  <a:srgbClr val="C9762F"/>
                </a:solidFill>
                <a:latin typeface="Calibri"/>
              </a:rPr>
              <a:t>–   </a:t>
            </a:r>
            <a:r>
              <a:rPr sz="1250" b="0" i="0">
                <a:solidFill>
                  <a:srgbClr val="1B3A4B"/>
                </a:solidFill>
                <a:latin typeface="Calibri"/>
              </a:rPr>
              <a:t>They can serve a genuine protective function</a:t>
            </a:r>
          </a:p>
          <a:p>
            <a:pPr algn="l">
              <a:lnSpc>
                <a:spcPct val="105000"/>
              </a:lnSpc>
              <a:spcAft>
                <a:spcPts val="500"/>
              </a:spcAft>
            </a:pPr>
            <a:r>
              <a:rPr sz="1250" b="0">
                <a:solidFill>
                  <a:srgbClr val="C9762F"/>
                </a:solidFill>
                <a:latin typeface="Calibri"/>
              </a:rPr>
              <a:t>–   </a:t>
            </a:r>
            <a:r>
              <a:rPr sz="1250" b="0" i="0">
                <a:solidFill>
                  <a:srgbClr val="1B3A4B"/>
                </a:solidFill>
                <a:latin typeface="Calibri"/>
              </a:rPr>
              <a:t>Significance depends on context, flexibility, and whether they repeatedly restrict awareness or choice</a:t>
            </a:r>
          </a:p>
        </p:txBody>
      </p:sp>
      <p:sp>
        <p:nvSpPr>
          <p:cNvPr id="27" name="Rectangle 26"/>
          <p:cNvSpPr/>
          <p:nvPr/>
        </p:nvSpPr>
        <p:spPr>
          <a:xfrm>
            <a:off x="5980176" y="3703320"/>
            <a:ext cx="5553151" cy="24414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980176" y="3703320"/>
            <a:ext cx="41148" cy="2441448"/>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217920" y="3877056"/>
            <a:ext cx="50959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WHY THEY MATTER CLINICALLY</a:t>
            </a:r>
          </a:p>
        </p:txBody>
      </p:sp>
      <p:sp>
        <p:nvSpPr>
          <p:cNvPr id="30" name="TextBox 29"/>
          <p:cNvSpPr txBox="1"/>
          <p:nvPr/>
        </p:nvSpPr>
        <p:spPr>
          <a:xfrm>
            <a:off x="6217920" y="4187952"/>
            <a:ext cx="5077663" cy="1810511"/>
          </a:xfrm>
          <a:prstGeom prst="rect">
            <a:avLst/>
          </a:prstGeom>
          <a:noFill/>
        </p:spPr>
        <p:txBody>
          <a:bodyPr wrap="square" lIns="0" rIns="0" tIns="0" bIns="0" anchor="t">
            <a:spAutoFit/>
          </a:bodyPr>
          <a:lstStyle/>
          <a:p>
            <a:pPr algn="l">
              <a:lnSpc>
                <a:spcPct val="105000"/>
              </a:lnSpc>
              <a:spcAft>
                <a:spcPts val="500"/>
              </a:spcAft>
            </a:pPr>
            <a:r>
              <a:rPr sz="1250" b="0">
                <a:solidFill>
                  <a:srgbClr val="C9762F"/>
                </a:solidFill>
                <a:latin typeface="Calibri"/>
              </a:rPr>
              <a:t>–   </a:t>
            </a:r>
            <a:r>
              <a:rPr sz="1250" b="0" i="0">
                <a:solidFill>
                  <a:srgbClr val="1B3A4B"/>
                </a:solidFill>
                <a:latin typeface="Calibri"/>
              </a:rPr>
              <a:t>They tell us where awareness, contact, or the self–environment relationship is restricted</a:t>
            </a:r>
          </a:p>
          <a:p>
            <a:pPr algn="l">
              <a:lnSpc>
                <a:spcPct val="105000"/>
              </a:lnSpc>
              <a:spcAft>
                <a:spcPts val="500"/>
              </a:spcAft>
            </a:pPr>
            <a:r>
              <a:rPr sz="1250" b="0">
                <a:solidFill>
                  <a:srgbClr val="C9762F"/>
                </a:solidFill>
                <a:latin typeface="Calibri"/>
              </a:rPr>
              <a:t>–   </a:t>
            </a:r>
            <a:r>
              <a:rPr sz="1250" b="0" i="0">
                <a:solidFill>
                  <a:srgbClr val="1B3A4B"/>
                </a:solidFill>
                <a:latin typeface="Calibri"/>
              </a:rPr>
              <a:t>They generate questions and interventions rather than labels</a:t>
            </a:r>
          </a:p>
          <a:p>
            <a:pPr algn="l">
              <a:lnSpc>
                <a:spcPct val="105000"/>
              </a:lnSpc>
              <a:spcAft>
                <a:spcPts val="500"/>
              </a:spcAft>
            </a:pPr>
            <a:r>
              <a:rPr sz="1250" b="0">
                <a:solidFill>
                  <a:srgbClr val="C9762F"/>
                </a:solidFill>
                <a:latin typeface="Calibri"/>
              </a:rPr>
              <a:t>–   </a:t>
            </a:r>
            <a:r>
              <a:rPr sz="1250" b="0" i="0">
                <a:solidFill>
                  <a:srgbClr val="1B3A4B"/>
                </a:solidFill>
                <a:latin typeface="Calibri"/>
              </a:rPr>
              <a:t>They can overlap in one client at one time</a:t>
            </a:r>
          </a:p>
          <a:p>
            <a:pPr algn="l">
              <a:lnSpc>
                <a:spcPct val="105000"/>
              </a:lnSpc>
              <a:spcAft>
                <a:spcPts val="500"/>
              </a:spcAft>
            </a:pPr>
            <a:r>
              <a:rPr sz="1250" b="0">
                <a:solidFill>
                  <a:srgbClr val="C9762F"/>
                </a:solidFill>
                <a:latin typeface="Calibri"/>
              </a:rPr>
              <a:t>–   </a:t>
            </a:r>
            <a:r>
              <a:rPr sz="1250" b="0" i="0">
                <a:solidFill>
                  <a:srgbClr val="1B3A4B"/>
                </a:solidFill>
                <a:latin typeface="Calibri"/>
              </a:rPr>
              <a:t>Best used as exploratory frameworks, never fixed labels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6.1</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Introjection</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14</a:t>
            </a:r>
          </a:p>
        </p:txBody>
      </p:sp>
      <p:sp>
        <p:nvSpPr>
          <p:cNvPr id="11" name="TextBox 10"/>
          <p:cNvSpPr txBox="1"/>
          <p:nvPr/>
        </p:nvSpPr>
        <p:spPr>
          <a:xfrm>
            <a:off x="658368" y="1719072"/>
            <a:ext cx="10874959" cy="274320"/>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ACCEPTING BELIEFS WITHOUT EXAMINING THEM</a:t>
            </a:r>
          </a:p>
        </p:txBody>
      </p:sp>
      <p:sp>
        <p:nvSpPr>
          <p:cNvPr id="12" name="Rectangle 11"/>
          <p:cNvSpPr/>
          <p:nvPr/>
        </p:nvSpPr>
        <p:spPr>
          <a:xfrm>
            <a:off x="658368" y="2048256"/>
            <a:ext cx="10874959" cy="8412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2048256"/>
            <a:ext cx="45720" cy="841248"/>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194560"/>
            <a:ext cx="10362895" cy="621792"/>
          </a:xfrm>
          <a:prstGeom prst="rect">
            <a:avLst/>
          </a:prstGeom>
          <a:noFill/>
        </p:spPr>
        <p:txBody>
          <a:bodyPr wrap="square" lIns="0" rIns="0" tIns="0" bIns="0" anchor="t">
            <a:spAutoFit/>
          </a:bodyPr>
          <a:lstStyle/>
          <a:p>
            <a:pPr algn="l">
              <a:lnSpc>
                <a:spcPct val="100000"/>
              </a:lnSpc>
              <a:spcAft>
                <a:spcPts val="0"/>
              </a:spcAft>
            </a:pPr>
            <a:r>
              <a:rPr sz="950" b="1" i="0">
                <a:solidFill>
                  <a:srgbClr val="2E7D8F"/>
                </a:solidFill>
                <a:latin typeface="Calibri Light"/>
              </a:rPr>
              <a:t>DEFINITION</a:t>
            </a:r>
          </a:p>
          <a:p>
            <a:pPr algn="l">
              <a:lnSpc>
                <a:spcPct val="110000"/>
              </a:lnSpc>
              <a:spcBef>
                <a:spcPts val="300"/>
              </a:spcBef>
              <a:spcAft>
                <a:spcPts val="0"/>
              </a:spcAft>
            </a:pPr>
            <a:r>
              <a:rPr sz="1250" b="0" i="0">
                <a:solidFill>
                  <a:srgbClr val="1B3A4B"/>
                </a:solidFill>
                <a:latin typeface="Calibri"/>
              </a:rPr>
              <a:t>Taking in rules, beliefs, values or expectations from others without adequately examining whether they fit one's own experience. An external expectation becomes an unquestioned internal rule.</a:t>
            </a:r>
          </a:p>
        </p:txBody>
      </p:sp>
      <p:sp>
        <p:nvSpPr>
          <p:cNvPr id="15" name="Rectangle 14"/>
          <p:cNvSpPr/>
          <p:nvPr/>
        </p:nvSpPr>
        <p:spPr>
          <a:xfrm>
            <a:off x="658368" y="3035808"/>
            <a:ext cx="5327751" cy="133502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8368" y="3035808"/>
            <a:ext cx="41148" cy="1335024"/>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 y="3209544"/>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EVERYDAY EXAMPLE</a:t>
            </a:r>
          </a:p>
        </p:txBody>
      </p:sp>
      <p:sp>
        <p:nvSpPr>
          <p:cNvPr id="18" name="TextBox 17"/>
          <p:cNvSpPr txBox="1"/>
          <p:nvPr/>
        </p:nvSpPr>
        <p:spPr>
          <a:xfrm>
            <a:off x="896112" y="3520439"/>
            <a:ext cx="4852263" cy="704088"/>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A person grows up hearing that a good child must always obey their parents, and as an adult follows family decisions even with legitimate concerns, because disagreement feels like disrespect.</a:t>
            </a:r>
          </a:p>
        </p:txBody>
      </p:sp>
      <p:sp>
        <p:nvSpPr>
          <p:cNvPr id="19" name="Rectangle 18"/>
          <p:cNvSpPr/>
          <p:nvPr/>
        </p:nvSpPr>
        <p:spPr>
          <a:xfrm>
            <a:off x="6205575" y="3035808"/>
            <a:ext cx="5327751" cy="133502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05575" y="3035808"/>
            <a:ext cx="41148" cy="1335024"/>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3319" y="3209544"/>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IN COUNSELLING</a:t>
            </a:r>
          </a:p>
        </p:txBody>
      </p:sp>
      <p:sp>
        <p:nvSpPr>
          <p:cNvPr id="22" name="TextBox 21"/>
          <p:cNvSpPr txBox="1"/>
          <p:nvPr/>
        </p:nvSpPr>
        <p:spPr>
          <a:xfrm>
            <a:off x="6443319" y="3520439"/>
            <a:ext cx="4852263" cy="704088"/>
          </a:xfrm>
          <a:prstGeom prst="rect">
            <a:avLst/>
          </a:prstGeom>
          <a:noFill/>
        </p:spPr>
        <p:txBody>
          <a:bodyPr wrap="square" lIns="0" rIns="0" tIns="0" bIns="0" anchor="t">
            <a:spAutoFit/>
          </a:bodyPr>
          <a:lstStyle/>
          <a:p>
            <a:pPr algn="l">
              <a:lnSpc>
                <a:spcPct val="105000"/>
              </a:lnSpc>
              <a:spcAft>
                <a:spcPts val="500"/>
              </a:spcAft>
            </a:pPr>
            <a:r>
              <a:rPr sz="1050" b="0">
                <a:solidFill>
                  <a:srgbClr val="C9762F"/>
                </a:solidFill>
                <a:latin typeface="Calibri"/>
              </a:rPr>
              <a:t>–   </a:t>
            </a:r>
            <a:r>
              <a:rPr sz="1050" b="0" i="0">
                <a:solidFill>
                  <a:srgbClr val="1B3A4B"/>
                </a:solidFill>
                <a:latin typeface="Calibri"/>
              </a:rPr>
              <a:t>An employee believes “a responsible person must never say no to the supervisor” and accepts every additional duty even when exhausted — the belief is followed automatically, never examined against workload, health or fairness.</a:t>
            </a:r>
          </a:p>
        </p:txBody>
      </p:sp>
      <p:sp>
        <p:nvSpPr>
          <p:cNvPr id="23" name="Rectangle 22"/>
          <p:cNvSpPr/>
          <p:nvPr/>
        </p:nvSpPr>
        <p:spPr>
          <a:xfrm>
            <a:off x="658368" y="4443984"/>
            <a:ext cx="5327751" cy="145389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4443984"/>
            <a:ext cx="41148" cy="1453895"/>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4617720"/>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POSSIBLE EFFECT ON CONTACT</a:t>
            </a:r>
          </a:p>
        </p:txBody>
      </p:sp>
      <p:sp>
        <p:nvSpPr>
          <p:cNvPr id="26" name="TextBox 25"/>
          <p:cNvSpPr txBox="1"/>
          <p:nvPr/>
        </p:nvSpPr>
        <p:spPr>
          <a:xfrm>
            <a:off x="896112" y="4928616"/>
            <a:ext cx="4852263" cy="822959"/>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External expectations dominate awareness, so the person struggles to recognise their own needs, and may feel guilt or anxiety when considering an alternative.</a:t>
            </a:r>
          </a:p>
        </p:txBody>
      </p:sp>
      <p:sp>
        <p:nvSpPr>
          <p:cNvPr id="27" name="Rectangle 26"/>
          <p:cNvSpPr/>
          <p:nvPr/>
        </p:nvSpPr>
        <p:spPr>
          <a:xfrm>
            <a:off x="6205575" y="4443984"/>
            <a:ext cx="5327751" cy="145389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4443984"/>
            <a:ext cx="41148" cy="1453895"/>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43319" y="4617720"/>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THE COUNSELLOR'S APPROACH</a:t>
            </a:r>
          </a:p>
        </p:txBody>
      </p:sp>
      <p:sp>
        <p:nvSpPr>
          <p:cNvPr id="30" name="TextBox 29"/>
          <p:cNvSpPr txBox="1"/>
          <p:nvPr/>
        </p:nvSpPr>
        <p:spPr>
          <a:xfrm>
            <a:off x="6443319" y="4928616"/>
            <a:ext cx="4852263" cy="822959"/>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“Where did you learn that a responsible person must never say no?” · “Does this rule apply in every situation?” · “What happens when you consider your own needs?” — examine the belief rather than simply reject it.</a:t>
            </a:r>
          </a:p>
        </p:txBody>
      </p:sp>
      <p:sp>
        <p:nvSpPr>
          <p:cNvPr id="31" name="Rectangle 30"/>
          <p:cNvSpPr/>
          <p:nvPr/>
        </p:nvSpPr>
        <p:spPr>
          <a:xfrm>
            <a:off x="658368" y="5971032"/>
            <a:ext cx="10874959" cy="256032"/>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77824" y="5971032"/>
            <a:ext cx="10436047" cy="256032"/>
          </a:xfrm>
          <a:prstGeom prst="rect">
            <a:avLst/>
          </a:prstGeom>
          <a:noFill/>
        </p:spPr>
        <p:txBody>
          <a:bodyPr wrap="square" lIns="0" rIns="0" tIns="0" bIns="0" anchor="ctr">
            <a:spAutoFit/>
          </a:bodyPr>
          <a:lstStyle/>
          <a:p>
            <a:pPr algn="l">
              <a:lnSpc>
                <a:spcPct val="100000"/>
              </a:lnSpc>
              <a:spcAft>
                <a:spcPts val="0"/>
              </a:spcAft>
            </a:pPr>
            <a:r>
              <a:rPr sz="900" b="1" i="0">
                <a:solidFill>
                  <a:srgbClr val="C9762F"/>
                </a:solidFill>
                <a:latin typeface="Calibri Light"/>
              </a:rPr>
              <a:t>KEY DISTINCTION   </a:t>
            </a:r>
            <a:r>
              <a:rPr sz="1050" b="0" i="1">
                <a:solidFill>
                  <a:srgbClr val="FFFFFF"/>
                </a:solidFill>
                <a:latin typeface="Calibri"/>
              </a:rPr>
              <a:t>Introjection concerns accepting an external belief or rule without sufficient examination.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6.2</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Projection</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15</a:t>
            </a:r>
          </a:p>
        </p:txBody>
      </p:sp>
      <p:sp>
        <p:nvSpPr>
          <p:cNvPr id="11" name="TextBox 10"/>
          <p:cNvSpPr txBox="1"/>
          <p:nvPr/>
        </p:nvSpPr>
        <p:spPr>
          <a:xfrm>
            <a:off x="658368" y="1719072"/>
            <a:ext cx="10874959" cy="274320"/>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ATTRIBUTING ONE'S OWN EXPERIENCE TO OTHERS</a:t>
            </a:r>
          </a:p>
        </p:txBody>
      </p:sp>
      <p:sp>
        <p:nvSpPr>
          <p:cNvPr id="12" name="Rectangle 11"/>
          <p:cNvSpPr/>
          <p:nvPr/>
        </p:nvSpPr>
        <p:spPr>
          <a:xfrm>
            <a:off x="658368" y="2048256"/>
            <a:ext cx="10874959" cy="8412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2048256"/>
            <a:ext cx="45720" cy="841248"/>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194560"/>
            <a:ext cx="10362895" cy="621792"/>
          </a:xfrm>
          <a:prstGeom prst="rect">
            <a:avLst/>
          </a:prstGeom>
          <a:noFill/>
        </p:spPr>
        <p:txBody>
          <a:bodyPr wrap="square" lIns="0" rIns="0" tIns="0" bIns="0" anchor="t">
            <a:spAutoFit/>
          </a:bodyPr>
          <a:lstStyle/>
          <a:p>
            <a:pPr algn="l">
              <a:lnSpc>
                <a:spcPct val="100000"/>
              </a:lnSpc>
              <a:spcAft>
                <a:spcPts val="0"/>
              </a:spcAft>
            </a:pPr>
            <a:r>
              <a:rPr sz="950" b="1" i="0">
                <a:solidFill>
                  <a:srgbClr val="2E7D8F"/>
                </a:solidFill>
                <a:latin typeface="Calibri Light"/>
              </a:rPr>
              <a:t>DEFINITION</a:t>
            </a:r>
          </a:p>
          <a:p>
            <a:pPr algn="l">
              <a:lnSpc>
                <a:spcPct val="110000"/>
              </a:lnSpc>
              <a:spcBef>
                <a:spcPts val="300"/>
              </a:spcBef>
              <a:spcAft>
                <a:spcPts val="0"/>
              </a:spcAft>
            </a:pPr>
            <a:r>
              <a:rPr sz="1250" b="0" i="0">
                <a:solidFill>
                  <a:srgbClr val="1B3A4B"/>
                </a:solidFill>
                <a:latin typeface="Calibri"/>
              </a:rPr>
              <a:t>Attributing feelings, intentions or characteristics to someone else without adequately recognising one's own possible contribution. A feeling that is difficult to acknowledge in oneself is perceived as belonging to another.</a:t>
            </a:r>
          </a:p>
        </p:txBody>
      </p:sp>
      <p:sp>
        <p:nvSpPr>
          <p:cNvPr id="15" name="Rectangle 14"/>
          <p:cNvSpPr/>
          <p:nvPr/>
        </p:nvSpPr>
        <p:spPr>
          <a:xfrm>
            <a:off x="658368" y="3035808"/>
            <a:ext cx="5327751" cy="133502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8368" y="3035808"/>
            <a:ext cx="41148" cy="1335024"/>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 y="3209544"/>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EVERYDAY EXAMPLE</a:t>
            </a:r>
          </a:p>
        </p:txBody>
      </p:sp>
      <p:sp>
        <p:nvSpPr>
          <p:cNvPr id="18" name="TextBox 17"/>
          <p:cNvSpPr txBox="1"/>
          <p:nvPr/>
        </p:nvSpPr>
        <p:spPr>
          <a:xfrm>
            <a:off x="896112" y="3520439"/>
            <a:ext cx="4852263" cy="704088"/>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A person who feels jealous of a friend's success repeatedly claims that the friend is jealous of them — unaware of, or uncomfortable acknowledging, their own feeling.</a:t>
            </a:r>
          </a:p>
        </p:txBody>
      </p:sp>
      <p:sp>
        <p:nvSpPr>
          <p:cNvPr id="19" name="Rectangle 18"/>
          <p:cNvSpPr/>
          <p:nvPr/>
        </p:nvSpPr>
        <p:spPr>
          <a:xfrm>
            <a:off x="6205575" y="3035808"/>
            <a:ext cx="5327751" cy="133502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05575" y="3035808"/>
            <a:ext cx="41148" cy="1335024"/>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3319" y="3209544"/>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IN COUNSELLING</a:t>
            </a:r>
          </a:p>
        </p:txBody>
      </p:sp>
      <p:sp>
        <p:nvSpPr>
          <p:cNvPr id="22" name="TextBox 21"/>
          <p:cNvSpPr txBox="1"/>
          <p:nvPr/>
        </p:nvSpPr>
        <p:spPr>
          <a:xfrm>
            <a:off x="6443319" y="3520439"/>
            <a:ext cx="4852263" cy="704088"/>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A client feels anger towards a colleague but cannot acknowledge it, saying repeatedly “my colleague hates me and is always looking for a fight”, although the available evidence is unclear.</a:t>
            </a:r>
          </a:p>
        </p:txBody>
      </p:sp>
      <p:sp>
        <p:nvSpPr>
          <p:cNvPr id="23" name="Rectangle 22"/>
          <p:cNvSpPr/>
          <p:nvPr/>
        </p:nvSpPr>
        <p:spPr>
          <a:xfrm>
            <a:off x="658368" y="4443984"/>
            <a:ext cx="5327751" cy="145389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4443984"/>
            <a:ext cx="41148" cy="1453895"/>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4617720"/>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POSSIBLE EFFECT ON CONTACT</a:t>
            </a:r>
          </a:p>
        </p:txBody>
      </p:sp>
      <p:sp>
        <p:nvSpPr>
          <p:cNvPr id="26" name="TextBox 25"/>
          <p:cNvSpPr txBox="1"/>
          <p:nvPr/>
        </p:nvSpPr>
        <p:spPr>
          <a:xfrm>
            <a:off x="896112" y="4928616"/>
            <a:ext cx="4852263" cy="822959"/>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The client responds to assumptions about another person rather than checking what is actually happening, which can produce misunderstanding, defensiveness or escalating conflict.</a:t>
            </a:r>
          </a:p>
        </p:txBody>
      </p:sp>
      <p:sp>
        <p:nvSpPr>
          <p:cNvPr id="27" name="Rectangle 26"/>
          <p:cNvSpPr/>
          <p:nvPr/>
        </p:nvSpPr>
        <p:spPr>
          <a:xfrm>
            <a:off x="6205575" y="4443984"/>
            <a:ext cx="5327751" cy="145389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4443984"/>
            <a:ext cx="41148" cy="1453895"/>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43319" y="4617720"/>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THE COUNSELLOR'S APPROACH</a:t>
            </a:r>
          </a:p>
        </p:txBody>
      </p:sp>
      <p:sp>
        <p:nvSpPr>
          <p:cNvPr id="30" name="TextBox 29"/>
          <p:cNvSpPr txBox="1"/>
          <p:nvPr/>
        </p:nvSpPr>
        <p:spPr>
          <a:xfrm>
            <a:off x="6443319" y="4928616"/>
            <a:ext cx="4852263" cy="822959"/>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“What feelings arise in you when you describe your colleague?” · “What have you observed directly, and what are you assuming?” · “Is there anything about your own feelings that is difficult to acknowledge?”</a:t>
            </a:r>
          </a:p>
        </p:txBody>
      </p:sp>
      <p:sp>
        <p:nvSpPr>
          <p:cNvPr id="31" name="Rectangle 30"/>
          <p:cNvSpPr/>
          <p:nvPr/>
        </p:nvSpPr>
        <p:spPr>
          <a:xfrm>
            <a:off x="658368" y="5971032"/>
            <a:ext cx="10874959" cy="256032"/>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77824" y="5971032"/>
            <a:ext cx="10436047" cy="256032"/>
          </a:xfrm>
          <a:prstGeom prst="rect">
            <a:avLst/>
          </a:prstGeom>
          <a:noFill/>
        </p:spPr>
        <p:txBody>
          <a:bodyPr wrap="square" lIns="0" rIns="0" tIns="0" bIns="0" anchor="ctr">
            <a:spAutoFit/>
          </a:bodyPr>
          <a:lstStyle/>
          <a:p>
            <a:pPr algn="l">
              <a:lnSpc>
                <a:spcPct val="100000"/>
              </a:lnSpc>
              <a:spcAft>
                <a:spcPts val="0"/>
              </a:spcAft>
            </a:pPr>
            <a:r>
              <a:rPr sz="900" b="1" i="0">
                <a:solidFill>
                  <a:srgbClr val="C9762F"/>
                </a:solidFill>
                <a:latin typeface="Calibri Light"/>
              </a:rPr>
              <a:t>KEY DISTINCTION   </a:t>
            </a:r>
            <a:r>
              <a:rPr sz="1000" b="0" i="1">
                <a:solidFill>
                  <a:srgbClr val="FFFFFF"/>
                </a:solidFill>
                <a:latin typeface="Calibri"/>
              </a:rPr>
              <a:t>Projection attributes one's own possible feelings to another — but the counsellor must not assume the client's perception is inaccurate.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6.3</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Retroflection</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16</a:t>
            </a:r>
          </a:p>
        </p:txBody>
      </p:sp>
      <p:sp>
        <p:nvSpPr>
          <p:cNvPr id="11" name="TextBox 10"/>
          <p:cNvSpPr txBox="1"/>
          <p:nvPr/>
        </p:nvSpPr>
        <p:spPr>
          <a:xfrm>
            <a:off x="658368" y="1719072"/>
            <a:ext cx="10874959" cy="274320"/>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TURNING AN OUTWARD RESPONSE INWARD</a:t>
            </a:r>
          </a:p>
        </p:txBody>
      </p:sp>
      <p:sp>
        <p:nvSpPr>
          <p:cNvPr id="12" name="Rectangle 11"/>
          <p:cNvSpPr/>
          <p:nvPr/>
        </p:nvSpPr>
        <p:spPr>
          <a:xfrm>
            <a:off x="658368" y="2048256"/>
            <a:ext cx="10874959" cy="8412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2048256"/>
            <a:ext cx="45720" cy="841248"/>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194560"/>
            <a:ext cx="10362895" cy="621792"/>
          </a:xfrm>
          <a:prstGeom prst="rect">
            <a:avLst/>
          </a:prstGeom>
          <a:noFill/>
        </p:spPr>
        <p:txBody>
          <a:bodyPr wrap="square" lIns="0" rIns="0" tIns="0" bIns="0" anchor="t">
            <a:spAutoFit/>
          </a:bodyPr>
          <a:lstStyle/>
          <a:p>
            <a:pPr algn="l">
              <a:lnSpc>
                <a:spcPct val="100000"/>
              </a:lnSpc>
              <a:spcAft>
                <a:spcPts val="0"/>
              </a:spcAft>
            </a:pPr>
            <a:r>
              <a:rPr sz="950" b="1" i="0">
                <a:solidFill>
                  <a:srgbClr val="2E7D8F"/>
                </a:solidFill>
                <a:latin typeface="Calibri Light"/>
              </a:rPr>
              <a:t>DEFINITION</a:t>
            </a:r>
          </a:p>
          <a:p>
            <a:pPr algn="l">
              <a:lnSpc>
                <a:spcPct val="110000"/>
              </a:lnSpc>
              <a:spcBef>
                <a:spcPts val="300"/>
              </a:spcBef>
              <a:spcAft>
                <a:spcPts val="0"/>
              </a:spcAft>
            </a:pPr>
            <a:r>
              <a:rPr sz="1250" b="0" i="0">
                <a:solidFill>
                  <a:srgbClr val="1B3A4B"/>
                </a:solidFill>
                <a:latin typeface="Calibri"/>
              </a:rPr>
              <a:t>Directing towards oneself feelings, actions or energy that might otherwise be expressed towards another person or directed into the environment.</a:t>
            </a:r>
          </a:p>
        </p:txBody>
      </p:sp>
      <p:sp>
        <p:nvSpPr>
          <p:cNvPr id="15" name="Rectangle 14"/>
          <p:cNvSpPr/>
          <p:nvPr/>
        </p:nvSpPr>
        <p:spPr>
          <a:xfrm>
            <a:off x="658368" y="3035808"/>
            <a:ext cx="5327751" cy="133502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8368" y="3035808"/>
            <a:ext cx="41148" cy="1335024"/>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 y="3209544"/>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EVERYDAY EXAMPLE</a:t>
            </a:r>
          </a:p>
        </p:txBody>
      </p:sp>
      <p:sp>
        <p:nvSpPr>
          <p:cNvPr id="18" name="TextBox 17"/>
          <p:cNvSpPr txBox="1"/>
          <p:nvPr/>
        </p:nvSpPr>
        <p:spPr>
          <a:xfrm>
            <a:off x="896112" y="3520439"/>
            <a:ext cx="4852263" cy="704088"/>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A person treated unfairly feels anger but expresses nothing; instead they repeatedly criticise themselves for being weak or for allowing it to happen.</a:t>
            </a:r>
          </a:p>
        </p:txBody>
      </p:sp>
      <p:sp>
        <p:nvSpPr>
          <p:cNvPr id="19" name="Rectangle 18"/>
          <p:cNvSpPr/>
          <p:nvPr/>
        </p:nvSpPr>
        <p:spPr>
          <a:xfrm>
            <a:off x="6205575" y="3035808"/>
            <a:ext cx="5327751" cy="133502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05575" y="3035808"/>
            <a:ext cx="41148" cy="1335024"/>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3319" y="3209544"/>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IN COUNSELLING</a:t>
            </a:r>
          </a:p>
        </p:txBody>
      </p:sp>
      <p:sp>
        <p:nvSpPr>
          <p:cNvPr id="22" name="TextBox 21"/>
          <p:cNvSpPr txBox="1"/>
          <p:nvPr/>
        </p:nvSpPr>
        <p:spPr>
          <a:xfrm>
            <a:off x="6443319" y="3520439"/>
            <a:ext cx="4852263" cy="704088"/>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A worker given an unreasonable workload by a supervisor does not raise the concern for fear of consequences, and says “I am weak — I should be able to manage everything”, becoming increasingly self-critical.</a:t>
            </a:r>
          </a:p>
        </p:txBody>
      </p:sp>
      <p:sp>
        <p:nvSpPr>
          <p:cNvPr id="23" name="Rectangle 22"/>
          <p:cNvSpPr/>
          <p:nvPr/>
        </p:nvSpPr>
        <p:spPr>
          <a:xfrm>
            <a:off x="658368" y="4443984"/>
            <a:ext cx="5327751" cy="145389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4443984"/>
            <a:ext cx="41148" cy="1453895"/>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4617720"/>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POSSIBLE EFFECT ON CONTACT</a:t>
            </a:r>
          </a:p>
        </p:txBody>
      </p:sp>
      <p:sp>
        <p:nvSpPr>
          <p:cNvPr id="26" name="TextBox 25"/>
          <p:cNvSpPr txBox="1"/>
          <p:nvPr/>
        </p:nvSpPr>
        <p:spPr>
          <a:xfrm>
            <a:off x="896112" y="4928616"/>
            <a:ext cx="4852263" cy="822959"/>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Direct expression is inhibited, internal tension builds, understandable frustration turns into self-blame, and the original concern stays unresolved.</a:t>
            </a:r>
          </a:p>
        </p:txBody>
      </p:sp>
      <p:sp>
        <p:nvSpPr>
          <p:cNvPr id="27" name="Rectangle 26"/>
          <p:cNvSpPr/>
          <p:nvPr/>
        </p:nvSpPr>
        <p:spPr>
          <a:xfrm>
            <a:off x="6205575" y="4443984"/>
            <a:ext cx="5327751" cy="145389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4443984"/>
            <a:ext cx="41148" cy="1453895"/>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43319" y="4617720"/>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THE COUNSELLOR'S APPROACH</a:t>
            </a:r>
          </a:p>
        </p:txBody>
      </p:sp>
      <p:sp>
        <p:nvSpPr>
          <p:cNvPr id="30" name="TextBox 29"/>
          <p:cNvSpPr txBox="1"/>
          <p:nvPr/>
        </p:nvSpPr>
        <p:spPr>
          <a:xfrm>
            <a:off x="6443319" y="4928616"/>
            <a:ext cx="4852263" cy="822959"/>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“What would you want to say to your supervisor if you felt safe to express yourself?” · “What happens inside you when you hold back?” · “How could you communicate this in a way appropriate to your circumstances?”</a:t>
            </a:r>
          </a:p>
        </p:txBody>
      </p:sp>
      <p:sp>
        <p:nvSpPr>
          <p:cNvPr id="31" name="Rectangle 30"/>
          <p:cNvSpPr/>
          <p:nvPr/>
        </p:nvSpPr>
        <p:spPr>
          <a:xfrm>
            <a:off x="658368" y="5971032"/>
            <a:ext cx="10874959" cy="256032"/>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77824" y="5971032"/>
            <a:ext cx="10436047" cy="256032"/>
          </a:xfrm>
          <a:prstGeom prst="rect">
            <a:avLst/>
          </a:prstGeom>
          <a:noFill/>
        </p:spPr>
        <p:txBody>
          <a:bodyPr wrap="square" lIns="0" rIns="0" tIns="0" bIns="0" anchor="ctr">
            <a:spAutoFit/>
          </a:bodyPr>
          <a:lstStyle/>
          <a:p>
            <a:pPr algn="l">
              <a:lnSpc>
                <a:spcPct val="100000"/>
              </a:lnSpc>
              <a:spcAft>
                <a:spcPts val="0"/>
              </a:spcAft>
            </a:pPr>
            <a:r>
              <a:rPr sz="900" b="1" i="0">
                <a:solidFill>
                  <a:srgbClr val="C9762F"/>
                </a:solidFill>
                <a:latin typeface="Calibri Light"/>
              </a:rPr>
              <a:t>KEY DISTINCTION   </a:t>
            </a:r>
            <a:r>
              <a:rPr sz="1050" b="0" i="1">
                <a:solidFill>
                  <a:srgbClr val="FFFFFF"/>
                </a:solidFill>
                <a:latin typeface="Calibri"/>
              </a:rPr>
              <a:t>Retroflection directs inward what might be expressed outward — but not all restraint is unhealthy.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6.4</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Deflection</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17</a:t>
            </a:r>
          </a:p>
        </p:txBody>
      </p:sp>
      <p:sp>
        <p:nvSpPr>
          <p:cNvPr id="11" name="TextBox 10"/>
          <p:cNvSpPr txBox="1"/>
          <p:nvPr/>
        </p:nvSpPr>
        <p:spPr>
          <a:xfrm>
            <a:off x="658368" y="1719072"/>
            <a:ext cx="10874959" cy="274320"/>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AVOIDING DIRECT CONTACT WITH AN EXPERIENCE</a:t>
            </a:r>
          </a:p>
        </p:txBody>
      </p:sp>
      <p:sp>
        <p:nvSpPr>
          <p:cNvPr id="12" name="Rectangle 11"/>
          <p:cNvSpPr/>
          <p:nvPr/>
        </p:nvSpPr>
        <p:spPr>
          <a:xfrm>
            <a:off x="658368" y="2048256"/>
            <a:ext cx="10874959" cy="8412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2048256"/>
            <a:ext cx="45720" cy="841248"/>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194560"/>
            <a:ext cx="10362895" cy="621792"/>
          </a:xfrm>
          <a:prstGeom prst="rect">
            <a:avLst/>
          </a:prstGeom>
          <a:noFill/>
        </p:spPr>
        <p:txBody>
          <a:bodyPr wrap="square" lIns="0" rIns="0" tIns="0" bIns="0" anchor="t">
            <a:spAutoFit/>
          </a:bodyPr>
          <a:lstStyle/>
          <a:p>
            <a:pPr algn="l">
              <a:lnSpc>
                <a:spcPct val="100000"/>
              </a:lnSpc>
              <a:spcAft>
                <a:spcPts val="0"/>
              </a:spcAft>
            </a:pPr>
            <a:r>
              <a:rPr sz="950" b="1" i="0">
                <a:solidFill>
                  <a:srgbClr val="2E7D8F"/>
                </a:solidFill>
                <a:latin typeface="Calibri Light"/>
              </a:rPr>
              <a:t>DEFINITION</a:t>
            </a:r>
          </a:p>
          <a:p>
            <a:pPr algn="l">
              <a:lnSpc>
                <a:spcPct val="110000"/>
              </a:lnSpc>
              <a:spcBef>
                <a:spcPts val="300"/>
              </a:spcBef>
              <a:spcAft>
                <a:spcPts val="0"/>
              </a:spcAft>
            </a:pPr>
            <a:r>
              <a:rPr sz="1250" b="0" i="0">
                <a:solidFill>
                  <a:srgbClr val="1B3A4B"/>
                </a:solidFill>
                <a:latin typeface="Calibri"/>
              </a:rPr>
              <a:t>Reducing the intensity or directness of contact with an emotion, person or issue through distraction, humour, vague language, changing the subject, or other forms of avoidance.</a:t>
            </a:r>
          </a:p>
        </p:txBody>
      </p:sp>
      <p:sp>
        <p:nvSpPr>
          <p:cNvPr id="15" name="Rectangle 14"/>
          <p:cNvSpPr/>
          <p:nvPr/>
        </p:nvSpPr>
        <p:spPr>
          <a:xfrm>
            <a:off x="658368" y="3035808"/>
            <a:ext cx="5327751" cy="133502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8368" y="3035808"/>
            <a:ext cx="41148" cy="1335024"/>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 y="3209544"/>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EVERYDAY EXAMPLE</a:t>
            </a:r>
          </a:p>
        </p:txBody>
      </p:sp>
      <p:sp>
        <p:nvSpPr>
          <p:cNvPr id="18" name="TextBox 17"/>
          <p:cNvSpPr txBox="1"/>
          <p:nvPr/>
        </p:nvSpPr>
        <p:spPr>
          <a:xfrm>
            <a:off x="896112" y="3520439"/>
            <a:ext cx="4852263" cy="704088"/>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Whenever a difficult family issue arises, a person makes jokes or quickly introduces another topic to stop the conversation becoming emotionally uncomfortable.</a:t>
            </a:r>
          </a:p>
        </p:txBody>
      </p:sp>
      <p:sp>
        <p:nvSpPr>
          <p:cNvPr id="19" name="Rectangle 18"/>
          <p:cNvSpPr/>
          <p:nvPr/>
        </p:nvSpPr>
        <p:spPr>
          <a:xfrm>
            <a:off x="6205575" y="3035808"/>
            <a:ext cx="5327751" cy="133502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05575" y="3035808"/>
            <a:ext cx="41148" cy="1335024"/>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3319" y="3209544"/>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IN COUNSELLING</a:t>
            </a:r>
          </a:p>
        </p:txBody>
      </p:sp>
      <p:sp>
        <p:nvSpPr>
          <p:cNvPr id="22" name="TextBox 21"/>
          <p:cNvSpPr txBox="1"/>
          <p:nvPr/>
        </p:nvSpPr>
        <p:spPr>
          <a:xfrm>
            <a:off x="6443319" y="3520439"/>
            <a:ext cx="4852263" cy="704088"/>
          </a:xfrm>
          <a:prstGeom prst="rect">
            <a:avLst/>
          </a:prstGeom>
          <a:noFill/>
        </p:spPr>
        <p:txBody>
          <a:bodyPr wrap="square" lIns="0" rIns="0" tIns="0" bIns="0" anchor="t">
            <a:spAutoFit/>
          </a:bodyPr>
          <a:lstStyle/>
          <a:p>
            <a:pPr algn="l">
              <a:lnSpc>
                <a:spcPct val="105000"/>
              </a:lnSpc>
              <a:spcAft>
                <a:spcPts val="500"/>
              </a:spcAft>
            </a:pPr>
            <a:r>
              <a:rPr sz="1100" b="0">
                <a:solidFill>
                  <a:srgbClr val="C9762F"/>
                </a:solidFill>
                <a:latin typeface="Calibri"/>
              </a:rPr>
              <a:t>–   </a:t>
            </a:r>
            <a:r>
              <a:rPr sz="1100" b="0" i="0">
                <a:solidFill>
                  <a:srgbClr val="1B3A4B"/>
                </a:solidFill>
                <a:latin typeface="Calibri"/>
              </a:rPr>
              <a:t>A client begins discussing the death of a close relative, immediately jokes and changes the subject. Each time the counsellor gently returns to the loss, the client laughs, gives brief answers, or turns to unrelated matters.</a:t>
            </a:r>
          </a:p>
        </p:txBody>
      </p:sp>
      <p:sp>
        <p:nvSpPr>
          <p:cNvPr id="23" name="Rectangle 22"/>
          <p:cNvSpPr/>
          <p:nvPr/>
        </p:nvSpPr>
        <p:spPr>
          <a:xfrm>
            <a:off x="658368" y="4443984"/>
            <a:ext cx="5327751" cy="145389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4443984"/>
            <a:ext cx="41148" cy="1453895"/>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4617720"/>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POSSIBLE EFFECT ON CONTACT</a:t>
            </a:r>
          </a:p>
        </p:txBody>
      </p:sp>
      <p:sp>
        <p:nvSpPr>
          <p:cNvPr id="26" name="TextBox 25"/>
          <p:cNvSpPr txBox="1"/>
          <p:nvPr/>
        </p:nvSpPr>
        <p:spPr>
          <a:xfrm>
            <a:off x="896112" y="4928616"/>
            <a:ext cx="4852263" cy="822959"/>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The person cannot stay with painful feelings long enough to understand or communicate them, so the emotional issue remains unexplored.</a:t>
            </a:r>
          </a:p>
        </p:txBody>
      </p:sp>
      <p:sp>
        <p:nvSpPr>
          <p:cNvPr id="27" name="Rectangle 26"/>
          <p:cNvSpPr/>
          <p:nvPr/>
        </p:nvSpPr>
        <p:spPr>
          <a:xfrm>
            <a:off x="6205575" y="4443984"/>
            <a:ext cx="5327751" cy="145389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4443984"/>
            <a:ext cx="41148" cy="1453895"/>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43319" y="4617720"/>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THE COUNSELLOR'S APPROACH</a:t>
            </a:r>
          </a:p>
        </p:txBody>
      </p:sp>
      <p:sp>
        <p:nvSpPr>
          <p:cNvPr id="30" name="TextBox 29"/>
          <p:cNvSpPr txBox="1"/>
          <p:nvPr/>
        </p:nvSpPr>
        <p:spPr>
          <a:xfrm>
            <a:off x="6443319" y="4928616"/>
            <a:ext cx="4852263" cy="822959"/>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“I noticed you laughed just as you mentioned the loss. What are you experiencing right now?” · “What happens for you when we stay with this a little longer?” — increase awareness gently; never force disclosure.</a:t>
            </a:r>
          </a:p>
        </p:txBody>
      </p:sp>
      <p:sp>
        <p:nvSpPr>
          <p:cNvPr id="31" name="Rectangle 30"/>
          <p:cNvSpPr/>
          <p:nvPr/>
        </p:nvSpPr>
        <p:spPr>
          <a:xfrm>
            <a:off x="658368" y="5971032"/>
            <a:ext cx="10874959" cy="256032"/>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77824" y="5971032"/>
            <a:ext cx="10436047" cy="256032"/>
          </a:xfrm>
          <a:prstGeom prst="rect">
            <a:avLst/>
          </a:prstGeom>
          <a:noFill/>
        </p:spPr>
        <p:txBody>
          <a:bodyPr wrap="square" lIns="0" rIns="0" tIns="0" bIns="0" anchor="ctr">
            <a:spAutoFit/>
          </a:bodyPr>
          <a:lstStyle/>
          <a:p>
            <a:pPr algn="l">
              <a:lnSpc>
                <a:spcPct val="100000"/>
              </a:lnSpc>
              <a:spcAft>
                <a:spcPts val="0"/>
              </a:spcAft>
            </a:pPr>
            <a:r>
              <a:rPr sz="900" b="1" i="0">
                <a:solidFill>
                  <a:srgbClr val="C9762F"/>
                </a:solidFill>
                <a:latin typeface="Calibri Light"/>
              </a:rPr>
              <a:t>KEY DISTINCTION   </a:t>
            </a:r>
            <a:r>
              <a:rPr sz="1050" b="0" i="1">
                <a:solidFill>
                  <a:srgbClr val="FFFFFF"/>
                </a:solidFill>
                <a:latin typeface="Calibri"/>
              </a:rPr>
              <a:t>Deflection concerns how direct contact is avoided or diluted — often through distraction or a change in communication.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6.5</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Confluence</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18</a:t>
            </a:r>
          </a:p>
        </p:txBody>
      </p:sp>
      <p:sp>
        <p:nvSpPr>
          <p:cNvPr id="11" name="TextBox 10"/>
          <p:cNvSpPr txBox="1"/>
          <p:nvPr/>
        </p:nvSpPr>
        <p:spPr>
          <a:xfrm>
            <a:off x="658368" y="1719072"/>
            <a:ext cx="10874959" cy="274320"/>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DIFFICULTY DISTINGUISHING SELF FROM OTHERS</a:t>
            </a:r>
          </a:p>
        </p:txBody>
      </p:sp>
      <p:sp>
        <p:nvSpPr>
          <p:cNvPr id="12" name="Rectangle 11"/>
          <p:cNvSpPr/>
          <p:nvPr/>
        </p:nvSpPr>
        <p:spPr>
          <a:xfrm>
            <a:off x="658368" y="2048256"/>
            <a:ext cx="10874959" cy="8412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2048256"/>
            <a:ext cx="45720" cy="841248"/>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194560"/>
            <a:ext cx="10362895" cy="621792"/>
          </a:xfrm>
          <a:prstGeom prst="rect">
            <a:avLst/>
          </a:prstGeom>
          <a:noFill/>
        </p:spPr>
        <p:txBody>
          <a:bodyPr wrap="square" lIns="0" rIns="0" tIns="0" bIns="0" anchor="t">
            <a:spAutoFit/>
          </a:bodyPr>
          <a:lstStyle/>
          <a:p>
            <a:pPr algn="l">
              <a:lnSpc>
                <a:spcPct val="100000"/>
              </a:lnSpc>
              <a:spcAft>
                <a:spcPts val="0"/>
              </a:spcAft>
            </a:pPr>
            <a:r>
              <a:rPr sz="950" b="1" i="0">
                <a:solidFill>
                  <a:srgbClr val="2E7D8F"/>
                </a:solidFill>
                <a:latin typeface="Calibri Light"/>
              </a:rPr>
              <a:t>DEFINITION</a:t>
            </a:r>
          </a:p>
          <a:p>
            <a:pPr algn="l">
              <a:lnSpc>
                <a:spcPct val="110000"/>
              </a:lnSpc>
              <a:spcBef>
                <a:spcPts val="300"/>
              </a:spcBef>
              <a:spcAft>
                <a:spcPts val="0"/>
              </a:spcAft>
            </a:pPr>
            <a:r>
              <a:rPr sz="1250" b="0" i="0">
                <a:solidFill>
                  <a:srgbClr val="1B3A4B"/>
                </a:solidFill>
                <a:latin typeface="Calibri"/>
              </a:rPr>
              <a:t>The distinction between a person's own feelings, needs, beliefs or preferences and those of another becomes unclear. Agreement or togetherness is experienced as necessary for maintaining the relationship.</a:t>
            </a:r>
          </a:p>
        </p:txBody>
      </p:sp>
      <p:sp>
        <p:nvSpPr>
          <p:cNvPr id="15" name="Rectangle 14"/>
          <p:cNvSpPr/>
          <p:nvPr/>
        </p:nvSpPr>
        <p:spPr>
          <a:xfrm>
            <a:off x="658368" y="3035808"/>
            <a:ext cx="5327751" cy="133502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8368" y="3035808"/>
            <a:ext cx="41148" cy="1335024"/>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 y="3209544"/>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EVERYDAY EXAMPLE</a:t>
            </a:r>
          </a:p>
        </p:txBody>
      </p:sp>
      <p:sp>
        <p:nvSpPr>
          <p:cNvPr id="18" name="TextBox 17"/>
          <p:cNvSpPr txBox="1"/>
          <p:nvPr/>
        </p:nvSpPr>
        <p:spPr>
          <a:xfrm>
            <a:off x="896112" y="3520439"/>
            <a:ext cx="4852263" cy="704088"/>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A person consistently agrees with friends about activities and decisions because expressing a different preference feels as though it might threaten the friendship.</a:t>
            </a:r>
          </a:p>
        </p:txBody>
      </p:sp>
      <p:sp>
        <p:nvSpPr>
          <p:cNvPr id="19" name="Rectangle 18"/>
          <p:cNvSpPr/>
          <p:nvPr/>
        </p:nvSpPr>
        <p:spPr>
          <a:xfrm>
            <a:off x="6205575" y="3035808"/>
            <a:ext cx="5327751" cy="133502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05575" y="3035808"/>
            <a:ext cx="41148" cy="1335024"/>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3319" y="3209544"/>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IN COUNSELLING</a:t>
            </a:r>
          </a:p>
        </p:txBody>
      </p:sp>
      <p:sp>
        <p:nvSpPr>
          <p:cNvPr id="22" name="TextBox 21"/>
          <p:cNvSpPr txBox="1"/>
          <p:nvPr/>
        </p:nvSpPr>
        <p:spPr>
          <a:xfrm>
            <a:off x="6443319" y="3520439"/>
            <a:ext cx="4852263" cy="704088"/>
          </a:xfrm>
          <a:prstGeom prst="rect">
            <a:avLst/>
          </a:prstGeom>
          <a:noFill/>
        </p:spPr>
        <p:txBody>
          <a:bodyPr wrap="square" lIns="0" rIns="0" tIns="0" bIns="0" anchor="t">
            <a:spAutoFit/>
          </a:bodyPr>
          <a:lstStyle/>
          <a:p>
            <a:pPr algn="l">
              <a:lnSpc>
                <a:spcPct val="105000"/>
              </a:lnSpc>
              <a:spcAft>
                <a:spcPts val="500"/>
              </a:spcAft>
            </a:pPr>
            <a:r>
              <a:rPr sz="950" b="0">
                <a:solidFill>
                  <a:srgbClr val="C9762F"/>
                </a:solidFill>
                <a:latin typeface="Calibri"/>
              </a:rPr>
              <a:t>–   </a:t>
            </a:r>
            <a:r>
              <a:rPr sz="950" b="0" i="0">
                <a:solidFill>
                  <a:srgbClr val="1B3A4B"/>
                </a:solidFill>
                <a:latin typeface="Calibri"/>
              </a:rPr>
              <a:t>A woman agrees with her partner on major decisions even when she privately disagrees. Asked what she wants, she answers “whatever makes him happy is what I want” — she values cooperation, but cannot identify her own preferences separately.</a:t>
            </a:r>
          </a:p>
        </p:txBody>
      </p:sp>
      <p:sp>
        <p:nvSpPr>
          <p:cNvPr id="23" name="Rectangle 22"/>
          <p:cNvSpPr/>
          <p:nvPr/>
        </p:nvSpPr>
        <p:spPr>
          <a:xfrm>
            <a:off x="658368" y="4443984"/>
            <a:ext cx="5327751" cy="145389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4443984"/>
            <a:ext cx="41148" cy="1453895"/>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4617720"/>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POSSIBLE EFFECT ON CONTACT</a:t>
            </a:r>
          </a:p>
        </p:txBody>
      </p:sp>
      <p:sp>
        <p:nvSpPr>
          <p:cNvPr id="26" name="TextBox 25"/>
          <p:cNvSpPr txBox="1"/>
          <p:nvPr/>
        </p:nvSpPr>
        <p:spPr>
          <a:xfrm>
            <a:off x="896112" y="4928616"/>
            <a:ext cx="4852263" cy="822959"/>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Personal needs are lost sight of, resentment builds, independent decision-making becomes difficult, and a relationship may look harmonious while important differences stay unexpressed.</a:t>
            </a:r>
          </a:p>
        </p:txBody>
      </p:sp>
      <p:sp>
        <p:nvSpPr>
          <p:cNvPr id="27" name="Rectangle 26"/>
          <p:cNvSpPr/>
          <p:nvPr/>
        </p:nvSpPr>
        <p:spPr>
          <a:xfrm>
            <a:off x="6205575" y="4443984"/>
            <a:ext cx="5327751" cy="145389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4443984"/>
            <a:ext cx="41148" cy="1453895"/>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43319" y="4617720"/>
            <a:ext cx="48705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THE COUNSELLOR'S APPROACH</a:t>
            </a:r>
          </a:p>
        </p:txBody>
      </p:sp>
      <p:sp>
        <p:nvSpPr>
          <p:cNvPr id="30" name="TextBox 29"/>
          <p:cNvSpPr txBox="1"/>
          <p:nvPr/>
        </p:nvSpPr>
        <p:spPr>
          <a:xfrm>
            <a:off x="6443319" y="4928616"/>
            <a:ext cx="4852263" cy="822959"/>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“If your partner's preference were not part of the decision, what would you want?” · “How do you experience disagreement in this relationship?” · “Can you remain connected to someone while holding a different opinion?”</a:t>
            </a:r>
          </a:p>
        </p:txBody>
      </p:sp>
      <p:sp>
        <p:nvSpPr>
          <p:cNvPr id="31" name="Rectangle 30"/>
          <p:cNvSpPr/>
          <p:nvPr/>
        </p:nvSpPr>
        <p:spPr>
          <a:xfrm>
            <a:off x="658368" y="5971032"/>
            <a:ext cx="10874959" cy="256032"/>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77824" y="5971032"/>
            <a:ext cx="10436047" cy="256032"/>
          </a:xfrm>
          <a:prstGeom prst="rect">
            <a:avLst/>
          </a:prstGeom>
          <a:noFill/>
        </p:spPr>
        <p:txBody>
          <a:bodyPr wrap="square" lIns="0" rIns="0" tIns="0" bIns="0" anchor="ctr">
            <a:spAutoFit/>
          </a:bodyPr>
          <a:lstStyle/>
          <a:p>
            <a:pPr algn="l">
              <a:lnSpc>
                <a:spcPct val="100000"/>
              </a:lnSpc>
              <a:spcAft>
                <a:spcPts val="0"/>
              </a:spcAft>
            </a:pPr>
            <a:r>
              <a:rPr sz="900" b="1" i="0">
                <a:solidFill>
                  <a:srgbClr val="C9762F"/>
                </a:solidFill>
                <a:latin typeface="Calibri Light"/>
              </a:rPr>
              <a:t>KEY DISTINCTION   </a:t>
            </a:r>
            <a:r>
              <a:rPr sz="1050" b="0" i="1">
                <a:solidFill>
                  <a:srgbClr val="FFFFFF"/>
                </a:solidFill>
                <a:latin typeface="Calibri"/>
              </a:rPr>
              <a:t>Confluence is a blurred self/other distinction — not merely accepting a rule or avoiding a painful topic.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SECTIONS 6.6 &amp; 6.7</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Comparing the Five — and Using Them Well</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19</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(Brownell, 2010; Wheeler &amp; Axelsson, 2015)</a:t>
            </a:r>
          </a:p>
        </p:txBody>
      </p:sp>
      <p:sp>
        <p:nvSpPr>
          <p:cNvPr id="12" name="Rectangle 11"/>
          <p:cNvSpPr/>
          <p:nvPr/>
        </p:nvSpPr>
        <p:spPr>
          <a:xfrm>
            <a:off x="658368" y="1783080"/>
            <a:ext cx="10874959" cy="38404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59" y="1783080"/>
            <a:ext cx="2002536" cy="384048"/>
          </a:xfrm>
          <a:prstGeom prst="rect">
            <a:avLst/>
          </a:prstGeom>
          <a:noFill/>
        </p:spPr>
        <p:txBody>
          <a:bodyPr wrap="square" lIns="0" rIns="0" tIns="0" bIns="0" anchor="ctr">
            <a:spAutoFit/>
          </a:bodyPr>
          <a:lstStyle/>
          <a:p>
            <a:pPr algn="l">
              <a:lnSpc>
                <a:spcPct val="100000"/>
              </a:lnSpc>
              <a:spcAft>
                <a:spcPts val="0"/>
              </a:spcAft>
            </a:pPr>
            <a:r>
              <a:rPr sz="950" b="1" i="0">
                <a:solidFill>
                  <a:srgbClr val="C9762F"/>
                </a:solidFill>
                <a:latin typeface="Calibri Light"/>
              </a:rPr>
              <a:t>DISTURBANCE</a:t>
            </a:r>
          </a:p>
        </p:txBody>
      </p:sp>
      <p:sp>
        <p:nvSpPr>
          <p:cNvPr id="14" name="TextBox 13"/>
          <p:cNvSpPr txBox="1"/>
          <p:nvPr/>
        </p:nvSpPr>
        <p:spPr>
          <a:xfrm>
            <a:off x="3154679" y="1783080"/>
            <a:ext cx="4379976" cy="384048"/>
          </a:xfrm>
          <a:prstGeom prst="rect">
            <a:avLst/>
          </a:prstGeom>
          <a:noFill/>
        </p:spPr>
        <p:txBody>
          <a:bodyPr wrap="square" lIns="0" rIns="0" tIns="0" bIns="0" anchor="ctr">
            <a:spAutoFit/>
          </a:bodyPr>
          <a:lstStyle/>
          <a:p>
            <a:pPr algn="l">
              <a:lnSpc>
                <a:spcPct val="100000"/>
              </a:lnSpc>
              <a:spcAft>
                <a:spcPts val="0"/>
              </a:spcAft>
            </a:pPr>
            <a:r>
              <a:rPr sz="950" b="1" i="0">
                <a:solidFill>
                  <a:srgbClr val="C9762F"/>
                </a:solidFill>
                <a:latin typeface="Calibri Light"/>
              </a:rPr>
              <a:t>MAIN PATTERN</a:t>
            </a:r>
          </a:p>
        </p:txBody>
      </p:sp>
      <p:sp>
        <p:nvSpPr>
          <p:cNvPr id="15" name="TextBox 14"/>
          <p:cNvSpPr txBox="1"/>
          <p:nvPr/>
        </p:nvSpPr>
        <p:spPr>
          <a:xfrm>
            <a:off x="7863840" y="1783080"/>
            <a:ext cx="3504895" cy="384048"/>
          </a:xfrm>
          <a:prstGeom prst="rect">
            <a:avLst/>
          </a:prstGeom>
          <a:noFill/>
        </p:spPr>
        <p:txBody>
          <a:bodyPr wrap="square" lIns="0" rIns="0" tIns="0" bIns="0" anchor="ctr">
            <a:spAutoFit/>
          </a:bodyPr>
          <a:lstStyle/>
          <a:p>
            <a:pPr algn="l">
              <a:lnSpc>
                <a:spcPct val="100000"/>
              </a:lnSpc>
              <a:spcAft>
                <a:spcPts val="0"/>
              </a:spcAft>
            </a:pPr>
            <a:r>
              <a:rPr sz="950" b="1" i="0">
                <a:solidFill>
                  <a:srgbClr val="C9762F"/>
                </a:solidFill>
                <a:latin typeface="Calibri Light"/>
              </a:rPr>
              <a:t>ILLUSTRATIVE STATEMENT</a:t>
            </a:r>
          </a:p>
        </p:txBody>
      </p:sp>
      <p:sp>
        <p:nvSpPr>
          <p:cNvPr id="16" name="Rectangle 15"/>
          <p:cNvSpPr/>
          <p:nvPr/>
        </p:nvSpPr>
        <p:spPr>
          <a:xfrm>
            <a:off x="658368" y="2167128"/>
            <a:ext cx="10874959" cy="402336"/>
          </a:xfrm>
          <a:prstGeom prst="rect">
            <a:avLst/>
          </a:prstGeom>
          <a:solidFill>
            <a:srgbClr val="F4F7F8"/>
          </a:solidFill>
          <a:ln w="6350">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59" y="2167128"/>
            <a:ext cx="2002536" cy="402336"/>
          </a:xfrm>
          <a:prstGeom prst="rect">
            <a:avLst/>
          </a:prstGeom>
          <a:noFill/>
        </p:spPr>
        <p:txBody>
          <a:bodyPr wrap="square" lIns="0" rIns="0" tIns="0" bIns="0" anchor="ctr">
            <a:spAutoFit/>
          </a:bodyPr>
          <a:lstStyle/>
          <a:p>
            <a:pPr algn="l">
              <a:lnSpc>
                <a:spcPct val="100000"/>
              </a:lnSpc>
              <a:spcAft>
                <a:spcPts val="0"/>
              </a:spcAft>
            </a:pPr>
            <a:r>
              <a:rPr sz="1150" b="1" i="0">
                <a:solidFill>
                  <a:srgbClr val="1B3A4B"/>
                </a:solidFill>
                <a:latin typeface="Calibri"/>
              </a:rPr>
              <a:t>Introjection</a:t>
            </a:r>
          </a:p>
        </p:txBody>
      </p:sp>
      <p:sp>
        <p:nvSpPr>
          <p:cNvPr id="18" name="TextBox 17"/>
          <p:cNvSpPr txBox="1"/>
          <p:nvPr/>
        </p:nvSpPr>
        <p:spPr>
          <a:xfrm>
            <a:off x="3154679" y="2167128"/>
            <a:ext cx="4379976" cy="402336"/>
          </a:xfrm>
          <a:prstGeom prst="rect">
            <a:avLst/>
          </a:prstGeom>
          <a:noFill/>
        </p:spPr>
        <p:txBody>
          <a:bodyPr wrap="square" lIns="0" rIns="0" tIns="0" bIns="0" anchor="ctr">
            <a:spAutoFit/>
          </a:bodyPr>
          <a:lstStyle/>
          <a:p>
            <a:pPr algn="l">
              <a:lnSpc>
                <a:spcPct val="100000"/>
              </a:lnSpc>
              <a:spcAft>
                <a:spcPts val="0"/>
              </a:spcAft>
            </a:pPr>
            <a:r>
              <a:rPr sz="1100" b="0" i="0">
                <a:solidFill>
                  <a:srgbClr val="5F7078"/>
                </a:solidFill>
                <a:latin typeface="Calibri"/>
              </a:rPr>
              <a:t>Accepting an external rule without examining it</a:t>
            </a:r>
          </a:p>
        </p:txBody>
      </p:sp>
      <p:sp>
        <p:nvSpPr>
          <p:cNvPr id="19" name="TextBox 18"/>
          <p:cNvSpPr txBox="1"/>
          <p:nvPr/>
        </p:nvSpPr>
        <p:spPr>
          <a:xfrm>
            <a:off x="7863840" y="2167128"/>
            <a:ext cx="3504895" cy="402336"/>
          </a:xfrm>
          <a:prstGeom prst="rect">
            <a:avLst/>
          </a:prstGeom>
          <a:noFill/>
        </p:spPr>
        <p:txBody>
          <a:bodyPr wrap="square" lIns="0" rIns="0" tIns="0" bIns="0" anchor="ctr">
            <a:spAutoFit/>
          </a:bodyPr>
          <a:lstStyle/>
          <a:p>
            <a:pPr algn="l">
              <a:lnSpc>
                <a:spcPct val="100000"/>
              </a:lnSpc>
              <a:spcAft>
                <a:spcPts val="0"/>
              </a:spcAft>
            </a:pPr>
            <a:r>
              <a:rPr sz="1100" b="0" i="1">
                <a:solidFill>
                  <a:srgbClr val="2E7D8F"/>
                </a:solidFill>
                <a:latin typeface="Calibri"/>
              </a:rPr>
              <a:t>“I must never disappoint anyone.”</a:t>
            </a:r>
          </a:p>
        </p:txBody>
      </p:sp>
      <p:sp>
        <p:nvSpPr>
          <p:cNvPr id="20" name="Rectangle 19"/>
          <p:cNvSpPr/>
          <p:nvPr/>
        </p:nvSpPr>
        <p:spPr>
          <a:xfrm>
            <a:off x="658368" y="2569464"/>
            <a:ext cx="10874959" cy="402336"/>
          </a:xfrm>
          <a:prstGeom prst="rect">
            <a:avLst/>
          </a:prstGeom>
          <a:solidFill>
            <a:srgbClr val="FFFFFF"/>
          </a:solidFill>
          <a:ln w="6350">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59" y="2569464"/>
            <a:ext cx="2002536" cy="402336"/>
          </a:xfrm>
          <a:prstGeom prst="rect">
            <a:avLst/>
          </a:prstGeom>
          <a:noFill/>
        </p:spPr>
        <p:txBody>
          <a:bodyPr wrap="square" lIns="0" rIns="0" tIns="0" bIns="0" anchor="ctr">
            <a:spAutoFit/>
          </a:bodyPr>
          <a:lstStyle/>
          <a:p>
            <a:pPr algn="l">
              <a:lnSpc>
                <a:spcPct val="100000"/>
              </a:lnSpc>
              <a:spcAft>
                <a:spcPts val="0"/>
              </a:spcAft>
            </a:pPr>
            <a:r>
              <a:rPr sz="1150" b="1" i="0">
                <a:solidFill>
                  <a:srgbClr val="1B3A4B"/>
                </a:solidFill>
                <a:latin typeface="Calibri"/>
              </a:rPr>
              <a:t>Projection</a:t>
            </a:r>
          </a:p>
        </p:txBody>
      </p:sp>
      <p:sp>
        <p:nvSpPr>
          <p:cNvPr id="22" name="TextBox 21"/>
          <p:cNvSpPr txBox="1"/>
          <p:nvPr/>
        </p:nvSpPr>
        <p:spPr>
          <a:xfrm>
            <a:off x="3154679" y="2569464"/>
            <a:ext cx="4379976" cy="402336"/>
          </a:xfrm>
          <a:prstGeom prst="rect">
            <a:avLst/>
          </a:prstGeom>
          <a:noFill/>
        </p:spPr>
        <p:txBody>
          <a:bodyPr wrap="square" lIns="0" rIns="0" tIns="0" bIns="0" anchor="ctr">
            <a:spAutoFit/>
          </a:bodyPr>
          <a:lstStyle/>
          <a:p>
            <a:pPr algn="l">
              <a:lnSpc>
                <a:spcPct val="100000"/>
              </a:lnSpc>
              <a:spcAft>
                <a:spcPts val="0"/>
              </a:spcAft>
            </a:pPr>
            <a:r>
              <a:rPr sz="1100" b="0" i="0">
                <a:solidFill>
                  <a:srgbClr val="5F7078"/>
                </a:solidFill>
                <a:latin typeface="Calibri"/>
              </a:rPr>
              <a:t>Attributing one's own possible feelings to another</a:t>
            </a:r>
          </a:p>
        </p:txBody>
      </p:sp>
      <p:sp>
        <p:nvSpPr>
          <p:cNvPr id="23" name="TextBox 22"/>
          <p:cNvSpPr txBox="1"/>
          <p:nvPr/>
        </p:nvSpPr>
        <p:spPr>
          <a:xfrm>
            <a:off x="7863840" y="2569464"/>
            <a:ext cx="3504895" cy="402336"/>
          </a:xfrm>
          <a:prstGeom prst="rect">
            <a:avLst/>
          </a:prstGeom>
          <a:noFill/>
        </p:spPr>
        <p:txBody>
          <a:bodyPr wrap="square" lIns="0" rIns="0" tIns="0" bIns="0" anchor="ctr">
            <a:spAutoFit/>
          </a:bodyPr>
          <a:lstStyle/>
          <a:p>
            <a:pPr algn="l">
              <a:lnSpc>
                <a:spcPct val="100000"/>
              </a:lnSpc>
              <a:spcAft>
                <a:spcPts val="0"/>
              </a:spcAft>
            </a:pPr>
            <a:r>
              <a:rPr sz="1100" b="0" i="1">
                <a:solidFill>
                  <a:srgbClr val="2E7D8F"/>
                </a:solidFill>
                <a:latin typeface="Calibri"/>
              </a:rPr>
              <a:t>“Everyone here is hostile towards me.”</a:t>
            </a:r>
          </a:p>
        </p:txBody>
      </p:sp>
      <p:sp>
        <p:nvSpPr>
          <p:cNvPr id="24" name="Rectangle 23"/>
          <p:cNvSpPr/>
          <p:nvPr/>
        </p:nvSpPr>
        <p:spPr>
          <a:xfrm>
            <a:off x="658368" y="2971800"/>
            <a:ext cx="10874959" cy="402336"/>
          </a:xfrm>
          <a:prstGeom prst="rect">
            <a:avLst/>
          </a:prstGeom>
          <a:solidFill>
            <a:srgbClr val="F4F7F8"/>
          </a:solidFill>
          <a:ln w="6350">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2959" y="2971800"/>
            <a:ext cx="2002536" cy="402336"/>
          </a:xfrm>
          <a:prstGeom prst="rect">
            <a:avLst/>
          </a:prstGeom>
          <a:noFill/>
        </p:spPr>
        <p:txBody>
          <a:bodyPr wrap="square" lIns="0" rIns="0" tIns="0" bIns="0" anchor="ctr">
            <a:spAutoFit/>
          </a:bodyPr>
          <a:lstStyle/>
          <a:p>
            <a:pPr algn="l">
              <a:lnSpc>
                <a:spcPct val="100000"/>
              </a:lnSpc>
              <a:spcAft>
                <a:spcPts val="0"/>
              </a:spcAft>
            </a:pPr>
            <a:r>
              <a:rPr sz="1150" b="1" i="0">
                <a:solidFill>
                  <a:srgbClr val="1B3A4B"/>
                </a:solidFill>
                <a:latin typeface="Calibri"/>
              </a:rPr>
              <a:t>Retroflection</a:t>
            </a:r>
          </a:p>
        </p:txBody>
      </p:sp>
      <p:sp>
        <p:nvSpPr>
          <p:cNvPr id="26" name="TextBox 25"/>
          <p:cNvSpPr txBox="1"/>
          <p:nvPr/>
        </p:nvSpPr>
        <p:spPr>
          <a:xfrm>
            <a:off x="3154679" y="2971800"/>
            <a:ext cx="4379976" cy="402336"/>
          </a:xfrm>
          <a:prstGeom prst="rect">
            <a:avLst/>
          </a:prstGeom>
          <a:noFill/>
        </p:spPr>
        <p:txBody>
          <a:bodyPr wrap="square" lIns="0" rIns="0" tIns="0" bIns="0" anchor="ctr">
            <a:spAutoFit/>
          </a:bodyPr>
          <a:lstStyle/>
          <a:p>
            <a:pPr algn="l">
              <a:lnSpc>
                <a:spcPct val="100000"/>
              </a:lnSpc>
              <a:spcAft>
                <a:spcPts val="0"/>
              </a:spcAft>
            </a:pPr>
            <a:r>
              <a:rPr sz="1100" b="0" i="0">
                <a:solidFill>
                  <a:srgbClr val="5F7078"/>
                </a:solidFill>
                <a:latin typeface="Calibri"/>
              </a:rPr>
              <a:t>Directing inward what might be expressed outward</a:t>
            </a:r>
          </a:p>
        </p:txBody>
      </p:sp>
      <p:sp>
        <p:nvSpPr>
          <p:cNvPr id="27" name="TextBox 26"/>
          <p:cNvSpPr txBox="1"/>
          <p:nvPr/>
        </p:nvSpPr>
        <p:spPr>
          <a:xfrm>
            <a:off x="7863840" y="2971800"/>
            <a:ext cx="3504895" cy="402336"/>
          </a:xfrm>
          <a:prstGeom prst="rect">
            <a:avLst/>
          </a:prstGeom>
          <a:noFill/>
        </p:spPr>
        <p:txBody>
          <a:bodyPr wrap="square" lIns="0" rIns="0" tIns="0" bIns="0" anchor="ctr">
            <a:spAutoFit/>
          </a:bodyPr>
          <a:lstStyle/>
          <a:p>
            <a:pPr algn="l">
              <a:lnSpc>
                <a:spcPct val="100000"/>
              </a:lnSpc>
              <a:spcAft>
                <a:spcPts val="0"/>
              </a:spcAft>
            </a:pPr>
            <a:r>
              <a:rPr sz="1100" b="0" i="1">
                <a:solidFill>
                  <a:srgbClr val="2E7D8F"/>
                </a:solidFill>
                <a:latin typeface="Calibri"/>
              </a:rPr>
              <a:t>“I am angry, so I must be a terrible person.”</a:t>
            </a:r>
          </a:p>
        </p:txBody>
      </p:sp>
      <p:sp>
        <p:nvSpPr>
          <p:cNvPr id="28" name="Rectangle 27"/>
          <p:cNvSpPr/>
          <p:nvPr/>
        </p:nvSpPr>
        <p:spPr>
          <a:xfrm>
            <a:off x="658368" y="3374136"/>
            <a:ext cx="10874959" cy="402336"/>
          </a:xfrm>
          <a:prstGeom prst="rect">
            <a:avLst/>
          </a:prstGeom>
          <a:solidFill>
            <a:srgbClr val="FFFFFF"/>
          </a:solidFill>
          <a:ln w="6350">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2959" y="3374136"/>
            <a:ext cx="2002536" cy="402336"/>
          </a:xfrm>
          <a:prstGeom prst="rect">
            <a:avLst/>
          </a:prstGeom>
          <a:noFill/>
        </p:spPr>
        <p:txBody>
          <a:bodyPr wrap="square" lIns="0" rIns="0" tIns="0" bIns="0" anchor="ctr">
            <a:spAutoFit/>
          </a:bodyPr>
          <a:lstStyle/>
          <a:p>
            <a:pPr algn="l">
              <a:lnSpc>
                <a:spcPct val="100000"/>
              </a:lnSpc>
              <a:spcAft>
                <a:spcPts val="0"/>
              </a:spcAft>
            </a:pPr>
            <a:r>
              <a:rPr sz="1150" b="1" i="0">
                <a:solidFill>
                  <a:srgbClr val="1B3A4B"/>
                </a:solidFill>
                <a:latin typeface="Calibri"/>
              </a:rPr>
              <a:t>Deflection</a:t>
            </a:r>
          </a:p>
        </p:txBody>
      </p:sp>
      <p:sp>
        <p:nvSpPr>
          <p:cNvPr id="30" name="TextBox 29"/>
          <p:cNvSpPr txBox="1"/>
          <p:nvPr/>
        </p:nvSpPr>
        <p:spPr>
          <a:xfrm>
            <a:off x="3154679" y="3374136"/>
            <a:ext cx="4379976" cy="402336"/>
          </a:xfrm>
          <a:prstGeom prst="rect">
            <a:avLst/>
          </a:prstGeom>
          <a:noFill/>
        </p:spPr>
        <p:txBody>
          <a:bodyPr wrap="square" lIns="0" rIns="0" tIns="0" bIns="0" anchor="ctr">
            <a:spAutoFit/>
          </a:bodyPr>
          <a:lstStyle/>
          <a:p>
            <a:pPr algn="l">
              <a:lnSpc>
                <a:spcPct val="100000"/>
              </a:lnSpc>
              <a:spcAft>
                <a:spcPts val="0"/>
              </a:spcAft>
            </a:pPr>
            <a:r>
              <a:rPr sz="1100" b="0" i="0">
                <a:solidFill>
                  <a:srgbClr val="5F7078"/>
                </a:solidFill>
                <a:latin typeface="Calibri"/>
              </a:rPr>
              <a:t>Avoiding direct engagement with an experience</a:t>
            </a:r>
          </a:p>
        </p:txBody>
      </p:sp>
      <p:sp>
        <p:nvSpPr>
          <p:cNvPr id="31" name="TextBox 30"/>
          <p:cNvSpPr txBox="1"/>
          <p:nvPr/>
        </p:nvSpPr>
        <p:spPr>
          <a:xfrm>
            <a:off x="7863840" y="3374136"/>
            <a:ext cx="3504895" cy="402336"/>
          </a:xfrm>
          <a:prstGeom prst="rect">
            <a:avLst/>
          </a:prstGeom>
          <a:noFill/>
        </p:spPr>
        <p:txBody>
          <a:bodyPr wrap="square" lIns="0" rIns="0" tIns="0" bIns="0" anchor="ctr">
            <a:spAutoFit/>
          </a:bodyPr>
          <a:lstStyle/>
          <a:p>
            <a:pPr algn="l">
              <a:lnSpc>
                <a:spcPct val="100000"/>
              </a:lnSpc>
              <a:spcAft>
                <a:spcPts val="0"/>
              </a:spcAft>
            </a:pPr>
            <a:r>
              <a:rPr sz="1100" b="0" i="1">
                <a:solidFill>
                  <a:srgbClr val="2E7D8F"/>
                </a:solidFill>
                <a:latin typeface="Calibri"/>
              </a:rPr>
              <a:t>Joking whenever painful feelings arise</a:t>
            </a:r>
          </a:p>
        </p:txBody>
      </p:sp>
      <p:sp>
        <p:nvSpPr>
          <p:cNvPr id="32" name="Rectangle 31"/>
          <p:cNvSpPr/>
          <p:nvPr/>
        </p:nvSpPr>
        <p:spPr>
          <a:xfrm>
            <a:off x="658368" y="3776472"/>
            <a:ext cx="10874959" cy="402336"/>
          </a:xfrm>
          <a:prstGeom prst="rect">
            <a:avLst/>
          </a:prstGeom>
          <a:solidFill>
            <a:srgbClr val="F4F7F8"/>
          </a:solidFill>
          <a:ln w="6350">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59" y="3776472"/>
            <a:ext cx="2002536" cy="402336"/>
          </a:xfrm>
          <a:prstGeom prst="rect">
            <a:avLst/>
          </a:prstGeom>
          <a:noFill/>
        </p:spPr>
        <p:txBody>
          <a:bodyPr wrap="square" lIns="0" rIns="0" tIns="0" bIns="0" anchor="ctr">
            <a:spAutoFit/>
          </a:bodyPr>
          <a:lstStyle/>
          <a:p>
            <a:pPr algn="l">
              <a:lnSpc>
                <a:spcPct val="100000"/>
              </a:lnSpc>
              <a:spcAft>
                <a:spcPts val="0"/>
              </a:spcAft>
            </a:pPr>
            <a:r>
              <a:rPr sz="1150" b="1" i="0">
                <a:solidFill>
                  <a:srgbClr val="1B3A4B"/>
                </a:solidFill>
                <a:latin typeface="Calibri"/>
              </a:rPr>
              <a:t>Confluence</a:t>
            </a:r>
          </a:p>
        </p:txBody>
      </p:sp>
      <p:sp>
        <p:nvSpPr>
          <p:cNvPr id="34" name="TextBox 33"/>
          <p:cNvSpPr txBox="1"/>
          <p:nvPr/>
        </p:nvSpPr>
        <p:spPr>
          <a:xfrm>
            <a:off x="3154679" y="3776472"/>
            <a:ext cx="4379976" cy="402336"/>
          </a:xfrm>
          <a:prstGeom prst="rect">
            <a:avLst/>
          </a:prstGeom>
          <a:noFill/>
        </p:spPr>
        <p:txBody>
          <a:bodyPr wrap="square" lIns="0" rIns="0" tIns="0" bIns="0" anchor="ctr">
            <a:spAutoFit/>
          </a:bodyPr>
          <a:lstStyle/>
          <a:p>
            <a:pPr algn="l">
              <a:lnSpc>
                <a:spcPct val="100000"/>
              </a:lnSpc>
              <a:spcAft>
                <a:spcPts val="0"/>
              </a:spcAft>
            </a:pPr>
            <a:r>
              <a:rPr sz="1100" b="0" i="0">
                <a:solidFill>
                  <a:srgbClr val="5F7078"/>
                </a:solidFill>
                <a:latin typeface="Calibri"/>
              </a:rPr>
              <a:t>Losing clarity about one's own position relative to another</a:t>
            </a:r>
          </a:p>
        </p:txBody>
      </p:sp>
      <p:sp>
        <p:nvSpPr>
          <p:cNvPr id="35" name="TextBox 34"/>
          <p:cNvSpPr txBox="1"/>
          <p:nvPr/>
        </p:nvSpPr>
        <p:spPr>
          <a:xfrm>
            <a:off x="7863840" y="3776472"/>
            <a:ext cx="3504895" cy="402336"/>
          </a:xfrm>
          <a:prstGeom prst="rect">
            <a:avLst/>
          </a:prstGeom>
          <a:noFill/>
        </p:spPr>
        <p:txBody>
          <a:bodyPr wrap="square" lIns="0" rIns="0" tIns="0" bIns="0" anchor="ctr">
            <a:spAutoFit/>
          </a:bodyPr>
          <a:lstStyle/>
          <a:p>
            <a:pPr algn="l">
              <a:lnSpc>
                <a:spcPct val="100000"/>
              </a:lnSpc>
              <a:spcAft>
                <a:spcPts val="0"/>
              </a:spcAft>
            </a:pPr>
            <a:r>
              <a:rPr sz="1100" b="0" i="1">
                <a:solidFill>
                  <a:srgbClr val="2E7D8F"/>
                </a:solidFill>
                <a:latin typeface="Calibri"/>
              </a:rPr>
              <a:t>“Whatever you want is what I want.”</a:t>
            </a:r>
          </a:p>
        </p:txBody>
      </p:sp>
      <p:sp>
        <p:nvSpPr>
          <p:cNvPr id="36" name="Rectangle 35"/>
          <p:cNvSpPr/>
          <p:nvPr/>
        </p:nvSpPr>
        <p:spPr>
          <a:xfrm>
            <a:off x="658368" y="4279392"/>
            <a:ext cx="10874959" cy="161848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58368" y="4279392"/>
            <a:ext cx="41148" cy="1618488"/>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96112" y="4453128"/>
            <a:ext cx="10417759"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USING THEM WELL</a:t>
            </a:r>
          </a:p>
        </p:txBody>
      </p:sp>
      <p:sp>
        <p:nvSpPr>
          <p:cNvPr id="39" name="TextBox 38"/>
          <p:cNvSpPr txBox="1"/>
          <p:nvPr/>
        </p:nvSpPr>
        <p:spPr>
          <a:xfrm>
            <a:off x="896112" y="4764024"/>
            <a:ext cx="10399471" cy="987552"/>
          </a:xfrm>
          <a:prstGeom prst="rect">
            <a:avLst/>
          </a:prstGeom>
          <a:noFill/>
        </p:spPr>
        <p:txBody>
          <a:bodyPr wrap="square" lIns="0" rIns="0" tIns="0" bIns="0" anchor="t">
            <a:spAutoFit/>
          </a:bodyPr>
          <a:lstStyle/>
          <a:p>
            <a:pPr algn="l">
              <a:lnSpc>
                <a:spcPct val="105000"/>
              </a:lnSpc>
              <a:spcAft>
                <a:spcPts val="500"/>
              </a:spcAft>
            </a:pPr>
            <a:r>
              <a:rPr sz="1150" b="0">
                <a:solidFill>
                  <a:srgbClr val="C9762F"/>
                </a:solidFill>
                <a:latin typeface="Calibri"/>
              </a:rPr>
              <a:t>–   </a:t>
            </a:r>
            <a:r>
              <a:rPr sz="1150" b="0" i="0">
                <a:solidFill>
                  <a:srgbClr val="1B3A4B"/>
                </a:solidFill>
                <a:latin typeface="Calibri"/>
              </a:rPr>
              <a:t>The patterns overlap: one employee may introject a rule, retroflect the anger as self-criticism and deflect frustration with jokes</a:t>
            </a:r>
          </a:p>
          <a:p>
            <a:pPr algn="l">
              <a:lnSpc>
                <a:spcPct val="105000"/>
              </a:lnSpc>
              <a:spcAft>
                <a:spcPts val="500"/>
              </a:spcAft>
            </a:pPr>
            <a:r>
              <a:rPr sz="1150" b="0">
                <a:solidFill>
                  <a:srgbClr val="C9762F"/>
                </a:solidFill>
                <a:latin typeface="Calibri"/>
              </a:rPr>
              <a:t>–   </a:t>
            </a:r>
            <a:r>
              <a:rPr sz="1150" b="0" i="0">
                <a:solidFill>
                  <a:srgbClr val="1B3A4B"/>
                </a:solidFill>
                <a:latin typeface="Calibri"/>
              </a:rPr>
              <a:t>The counsellor observes patterns collaboratively and explores the function they serve — never simply telling the client to stop</a:t>
            </a:r>
          </a:p>
          <a:p>
            <a:pPr algn="l">
              <a:lnSpc>
                <a:spcPct val="105000"/>
              </a:lnSpc>
              <a:spcAft>
                <a:spcPts val="500"/>
              </a:spcAft>
            </a:pPr>
            <a:r>
              <a:rPr sz="1150" b="0">
                <a:solidFill>
                  <a:srgbClr val="C9762F"/>
                </a:solidFill>
                <a:latin typeface="Calibri"/>
              </a:rPr>
              <a:t>–   </a:t>
            </a:r>
            <a:r>
              <a:rPr sz="1150" b="0" i="0">
                <a:solidFill>
                  <a:srgbClr val="1B3A4B"/>
                </a:solidFill>
                <a:latin typeface="Calibri"/>
              </a:rPr>
              <a:t>Environment must be read: an employee may genuinely fear retaliation, so urging assertiveness without weighing that risk is inadequate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7</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Goals of Therapy and the Role of the Counsellor</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20</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(Joyce &amp; Sills, 2014)</a:t>
            </a:r>
          </a:p>
        </p:txBody>
      </p:sp>
      <p:sp>
        <p:nvSpPr>
          <p:cNvPr id="12" name="Rectangle 11"/>
          <p:cNvSpPr/>
          <p:nvPr/>
        </p:nvSpPr>
        <p:spPr>
          <a:xfrm>
            <a:off x="658368" y="1783080"/>
            <a:ext cx="5138928" cy="21488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1783080"/>
            <a:ext cx="41148" cy="214884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2" y="1956816"/>
            <a:ext cx="4681728"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THERAPEUTIC GOALS</a:t>
            </a:r>
          </a:p>
        </p:txBody>
      </p:sp>
      <p:sp>
        <p:nvSpPr>
          <p:cNvPr id="15" name="TextBox 14"/>
          <p:cNvSpPr txBox="1"/>
          <p:nvPr/>
        </p:nvSpPr>
        <p:spPr>
          <a:xfrm>
            <a:off x="896112" y="2267712"/>
            <a:ext cx="4663440" cy="1517904"/>
          </a:xfrm>
          <a:prstGeom prst="rect">
            <a:avLst/>
          </a:prstGeom>
          <a:noFill/>
        </p:spPr>
        <p:txBody>
          <a:bodyPr wrap="square" lIns="0" rIns="0" tIns="0" bIns="0" anchor="t">
            <a:spAutoFit/>
          </a:bodyPr>
          <a:lstStyle/>
          <a:p>
            <a:pPr algn="l">
              <a:lnSpc>
                <a:spcPct val="105000"/>
              </a:lnSpc>
              <a:spcAft>
                <a:spcPts val="500"/>
              </a:spcAft>
            </a:pPr>
            <a:r>
              <a:rPr sz="1200" b="0">
                <a:solidFill>
                  <a:srgbClr val="C9762F"/>
                </a:solidFill>
                <a:latin typeface="Calibri"/>
              </a:rPr>
              <a:t>–   </a:t>
            </a:r>
            <a:r>
              <a:rPr sz="1200" b="0" i="0">
                <a:solidFill>
                  <a:srgbClr val="1B3A4B"/>
                </a:solidFill>
                <a:latin typeface="Calibri"/>
              </a:rPr>
              <a:t>Increase awareness so clients respond more consciously and flexibly</a:t>
            </a:r>
          </a:p>
          <a:p>
            <a:pPr algn="l">
              <a:lnSpc>
                <a:spcPct val="105000"/>
              </a:lnSpc>
              <a:spcAft>
                <a:spcPts val="500"/>
              </a:spcAft>
            </a:pPr>
            <a:r>
              <a:rPr sz="1200" b="0">
                <a:solidFill>
                  <a:srgbClr val="C9762F"/>
                </a:solidFill>
                <a:latin typeface="Calibri"/>
              </a:rPr>
              <a:t>–   </a:t>
            </a:r>
            <a:r>
              <a:rPr sz="1200" b="0" i="0">
                <a:solidFill>
                  <a:srgbClr val="1B3A4B"/>
                </a:solidFill>
                <a:latin typeface="Calibri"/>
              </a:rPr>
              <a:t>Recognise unresolved emotions</a:t>
            </a:r>
          </a:p>
          <a:p>
            <a:pPr algn="l">
              <a:lnSpc>
                <a:spcPct val="105000"/>
              </a:lnSpc>
              <a:spcAft>
                <a:spcPts val="500"/>
              </a:spcAft>
            </a:pPr>
            <a:r>
              <a:rPr sz="1200" b="0">
                <a:solidFill>
                  <a:srgbClr val="C9762F"/>
                </a:solidFill>
                <a:latin typeface="Calibri"/>
              </a:rPr>
              <a:t>–   </a:t>
            </a:r>
            <a:r>
              <a:rPr sz="1200" b="0" i="0">
                <a:solidFill>
                  <a:srgbClr val="1B3A4B"/>
                </a:solidFill>
                <a:latin typeface="Calibri"/>
              </a:rPr>
              <a:t>Improve contact with oneself and with others</a:t>
            </a:r>
          </a:p>
          <a:p>
            <a:pPr algn="l">
              <a:lnSpc>
                <a:spcPct val="105000"/>
              </a:lnSpc>
              <a:spcAft>
                <a:spcPts val="500"/>
              </a:spcAft>
            </a:pPr>
            <a:r>
              <a:rPr sz="1200" b="0">
                <a:solidFill>
                  <a:srgbClr val="C9762F"/>
                </a:solidFill>
                <a:latin typeface="Calibri"/>
              </a:rPr>
              <a:t>–   </a:t>
            </a:r>
            <a:r>
              <a:rPr sz="1200" b="0" i="0">
                <a:solidFill>
                  <a:srgbClr val="1B3A4B"/>
                </a:solidFill>
                <a:latin typeface="Calibri"/>
              </a:rPr>
              <a:t>Integrate conflicting aspects of experience</a:t>
            </a:r>
          </a:p>
          <a:p>
            <a:pPr algn="l">
              <a:lnSpc>
                <a:spcPct val="105000"/>
              </a:lnSpc>
              <a:spcAft>
                <a:spcPts val="500"/>
              </a:spcAft>
            </a:pPr>
            <a:r>
              <a:rPr sz="1200" b="0">
                <a:solidFill>
                  <a:srgbClr val="C9762F"/>
                </a:solidFill>
                <a:latin typeface="Calibri"/>
              </a:rPr>
              <a:t>–   </a:t>
            </a:r>
            <a:r>
              <a:rPr sz="1200" b="0" i="0">
                <a:solidFill>
                  <a:srgbClr val="1B3A4B"/>
                </a:solidFill>
                <a:latin typeface="Calibri"/>
              </a:rPr>
              <a:t>Strengthen personal responsibility</a:t>
            </a:r>
          </a:p>
        </p:txBody>
      </p:sp>
      <p:sp>
        <p:nvSpPr>
          <p:cNvPr id="16" name="Rectangle 15"/>
          <p:cNvSpPr/>
          <p:nvPr/>
        </p:nvSpPr>
        <p:spPr>
          <a:xfrm>
            <a:off x="5980176" y="1783080"/>
            <a:ext cx="5553151" cy="21488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980176" y="1783080"/>
            <a:ext cx="41148" cy="214884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0" y="1956816"/>
            <a:ext cx="50959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HOW THE COUNSELLOR WORKS</a:t>
            </a:r>
          </a:p>
        </p:txBody>
      </p:sp>
      <p:sp>
        <p:nvSpPr>
          <p:cNvPr id="19" name="TextBox 18"/>
          <p:cNvSpPr txBox="1"/>
          <p:nvPr/>
        </p:nvSpPr>
        <p:spPr>
          <a:xfrm>
            <a:off x="6217920" y="2267712"/>
            <a:ext cx="5077663" cy="1517904"/>
          </a:xfrm>
          <a:prstGeom prst="rect">
            <a:avLst/>
          </a:prstGeom>
          <a:noFill/>
        </p:spPr>
        <p:txBody>
          <a:bodyPr wrap="square" lIns="0" rIns="0" tIns="0" bIns="0" anchor="t">
            <a:spAutoFit/>
          </a:bodyPr>
          <a:lstStyle/>
          <a:p>
            <a:pPr algn="l">
              <a:lnSpc>
                <a:spcPct val="105000"/>
              </a:lnSpc>
              <a:spcAft>
                <a:spcPts val="500"/>
              </a:spcAft>
            </a:pPr>
            <a:r>
              <a:rPr sz="1250" b="0">
                <a:solidFill>
                  <a:srgbClr val="C9762F"/>
                </a:solidFill>
                <a:latin typeface="Calibri"/>
              </a:rPr>
              <a:t>–   </a:t>
            </a:r>
            <a:r>
              <a:rPr sz="1250" b="0" i="0">
                <a:solidFill>
                  <a:srgbClr val="1B3A4B"/>
                </a:solidFill>
                <a:latin typeface="Calibri"/>
              </a:rPr>
              <a:t>A collaborative relationship, not advice-giving</a:t>
            </a:r>
          </a:p>
          <a:p>
            <a:pPr algn="l">
              <a:lnSpc>
                <a:spcPct val="105000"/>
              </a:lnSpc>
              <a:spcAft>
                <a:spcPts val="500"/>
              </a:spcAft>
            </a:pPr>
            <a:r>
              <a:rPr sz="1250" b="0">
                <a:solidFill>
                  <a:srgbClr val="C9762F"/>
                </a:solidFill>
                <a:latin typeface="Calibri"/>
              </a:rPr>
              <a:t>–   </a:t>
            </a:r>
            <a:r>
              <a:rPr sz="1250" b="0" i="0">
                <a:solidFill>
                  <a:srgbClr val="1B3A4B"/>
                </a:solidFill>
                <a:latin typeface="Calibri"/>
              </a:rPr>
              <a:t>Does not explain the client to themselves</a:t>
            </a:r>
          </a:p>
          <a:p>
            <a:pPr algn="l">
              <a:lnSpc>
                <a:spcPct val="105000"/>
              </a:lnSpc>
              <a:spcAft>
                <a:spcPts val="500"/>
              </a:spcAft>
            </a:pPr>
            <a:r>
              <a:rPr sz="1250" b="0">
                <a:solidFill>
                  <a:srgbClr val="C9762F"/>
                </a:solidFill>
                <a:latin typeface="Calibri"/>
              </a:rPr>
              <a:t>–   </a:t>
            </a:r>
            <a:r>
              <a:rPr sz="1250" b="0" i="0">
                <a:solidFill>
                  <a:srgbClr val="1B3A4B"/>
                </a:solidFill>
                <a:latin typeface="Calibri"/>
              </a:rPr>
              <a:t>Attends to words, tone, posture, facial expression, pauses and emotional response</a:t>
            </a:r>
          </a:p>
        </p:txBody>
      </p:sp>
      <p:sp>
        <p:nvSpPr>
          <p:cNvPr id="20" name="Rectangle 19"/>
          <p:cNvSpPr/>
          <p:nvPr/>
        </p:nvSpPr>
        <p:spPr>
          <a:xfrm>
            <a:off x="658368" y="4133087"/>
            <a:ext cx="10874959" cy="105156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0976" y="4297680"/>
            <a:ext cx="10289743" cy="777240"/>
          </a:xfrm>
          <a:prstGeom prst="rect">
            <a:avLst/>
          </a:prstGeom>
          <a:noFill/>
        </p:spPr>
        <p:txBody>
          <a:bodyPr wrap="square" lIns="0" rIns="0" tIns="0" bIns="0" anchor="t">
            <a:spAutoFit/>
          </a:bodyPr>
          <a:lstStyle/>
          <a:p>
            <a:pPr algn="l">
              <a:lnSpc>
                <a:spcPct val="100000"/>
              </a:lnSpc>
              <a:spcAft>
                <a:spcPts val="0"/>
              </a:spcAft>
            </a:pPr>
            <a:r>
              <a:rPr sz="1000" b="1" i="0">
                <a:solidFill>
                  <a:srgbClr val="C9762F"/>
                </a:solidFill>
                <a:latin typeface="Calibri Light"/>
              </a:rPr>
              <a:t>IN THE ROOM</a:t>
            </a:r>
          </a:p>
          <a:p>
            <a:pPr algn="l">
              <a:lnSpc>
                <a:spcPct val="110000"/>
              </a:lnSpc>
              <a:spcBef>
                <a:spcPts val="500"/>
              </a:spcBef>
              <a:spcAft>
                <a:spcPts val="0"/>
              </a:spcAft>
            </a:pPr>
            <a:r>
              <a:rPr sz="1250" b="0" i="0">
                <a:solidFill>
                  <a:srgbClr val="FFFFFF"/>
                </a:solidFill>
                <a:latin typeface="Calibri"/>
              </a:rPr>
              <a:t>The client says “I am fine” while visibly trembling.   →   “You are saying that you are fine, and I notice your hands are trembling. What are you noticing right now?”</a:t>
            </a:r>
          </a:p>
        </p:txBody>
      </p:sp>
      <p:sp>
        <p:nvSpPr>
          <p:cNvPr id="22" name="TextBox 21"/>
          <p:cNvSpPr txBox="1"/>
          <p:nvPr/>
        </p:nvSpPr>
        <p:spPr>
          <a:xfrm>
            <a:off x="658368" y="5376672"/>
            <a:ext cx="10874959" cy="502920"/>
          </a:xfrm>
          <a:prstGeom prst="rect">
            <a:avLst/>
          </a:prstGeom>
          <a:noFill/>
        </p:spPr>
        <p:txBody>
          <a:bodyPr wrap="square" lIns="0" rIns="0" tIns="0" bIns="0" anchor="t">
            <a:spAutoFit/>
          </a:bodyPr>
          <a:lstStyle/>
          <a:p>
            <a:pPr algn="l">
              <a:lnSpc>
                <a:spcPct val="110000"/>
              </a:lnSpc>
              <a:spcAft>
                <a:spcPts val="400"/>
              </a:spcAft>
            </a:pPr>
            <a:r>
              <a:rPr sz="1200" b="0" i="1">
                <a:solidFill>
                  <a:srgbClr val="2E7D8F"/>
                </a:solidFill>
                <a:latin typeface="Calibri"/>
              </a:rPr>
              <a:t>Ethical boundary: remain sensitive to culture, readiness, trauma history, personal boundaries and the client's right to decline an exercise. Experiential interventions are introduced collaboratively, only when appropriate.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8</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Therapeutic Techniques</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21</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(Wagner-Moore, 2004)</a:t>
            </a:r>
          </a:p>
        </p:txBody>
      </p:sp>
      <p:sp>
        <p:nvSpPr>
          <p:cNvPr id="12" name="Rectangle 11"/>
          <p:cNvSpPr/>
          <p:nvPr/>
        </p:nvSpPr>
        <p:spPr>
          <a:xfrm>
            <a:off x="658368" y="1783080"/>
            <a:ext cx="3490874" cy="197510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1783080"/>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9536" y="1965960"/>
            <a:ext cx="3088538" cy="1627632"/>
          </a:xfrm>
          <a:prstGeom prst="rect">
            <a:avLst/>
          </a:prstGeom>
          <a:noFill/>
        </p:spPr>
        <p:txBody>
          <a:bodyPr wrap="square" lIns="0" rIns="0" tIns="0" bIns="0" anchor="t">
            <a:spAutoFit/>
          </a:bodyPr>
          <a:lstStyle/>
          <a:p>
            <a:pPr algn="l">
              <a:lnSpc>
                <a:spcPct val="100000"/>
              </a:lnSpc>
              <a:spcAft>
                <a:spcPts val="0"/>
              </a:spcAft>
            </a:pPr>
            <a:r>
              <a:rPr sz="1100" b="1" i="0">
                <a:solidFill>
                  <a:srgbClr val="C9762F"/>
                </a:solidFill>
                <a:latin typeface="Calibri Light"/>
              </a:rPr>
              <a:t>8.1</a:t>
            </a:r>
          </a:p>
          <a:p>
            <a:pPr algn="l">
              <a:lnSpc>
                <a:spcPct val="100000"/>
              </a:lnSpc>
              <a:spcBef>
                <a:spcPts val="100"/>
              </a:spcBef>
              <a:spcAft>
                <a:spcPts val="0"/>
              </a:spcAft>
            </a:pPr>
            <a:r>
              <a:rPr sz="1350" b="1" i="0">
                <a:solidFill>
                  <a:srgbClr val="1B3A4B"/>
                </a:solidFill>
                <a:latin typeface="Calibri"/>
              </a:rPr>
              <a:t>Awareness exercises</a:t>
            </a:r>
          </a:p>
          <a:p>
            <a:pPr algn="l">
              <a:lnSpc>
                <a:spcPct val="108000"/>
              </a:lnSpc>
              <a:spcBef>
                <a:spcPts val="400"/>
              </a:spcBef>
              <a:spcAft>
                <a:spcPts val="0"/>
              </a:spcAft>
            </a:pPr>
            <a:r>
              <a:rPr sz="1050" b="0" i="0">
                <a:solidFill>
                  <a:srgbClr val="5F7078"/>
                </a:solidFill>
                <a:latin typeface="Calibri"/>
              </a:rPr>
              <a:t>Notice present thoughts, feelings, sensations and behaviour — e.g. an anxious client tracks breathing, posture and thoughts, and finds anxiety rises when imagining disappointing family.</a:t>
            </a:r>
          </a:p>
        </p:txBody>
      </p:sp>
      <p:sp>
        <p:nvSpPr>
          <p:cNvPr id="15" name="Rectangle 14"/>
          <p:cNvSpPr/>
          <p:nvPr/>
        </p:nvSpPr>
        <p:spPr>
          <a:xfrm>
            <a:off x="4350410" y="1783080"/>
            <a:ext cx="3490874" cy="197510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350410" y="1783080"/>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51578" y="1965960"/>
            <a:ext cx="3088538" cy="1627632"/>
          </a:xfrm>
          <a:prstGeom prst="rect">
            <a:avLst/>
          </a:prstGeom>
          <a:noFill/>
        </p:spPr>
        <p:txBody>
          <a:bodyPr wrap="square" lIns="0" rIns="0" tIns="0" bIns="0" anchor="t">
            <a:spAutoFit/>
          </a:bodyPr>
          <a:lstStyle/>
          <a:p>
            <a:pPr algn="l">
              <a:lnSpc>
                <a:spcPct val="100000"/>
              </a:lnSpc>
              <a:spcAft>
                <a:spcPts val="0"/>
              </a:spcAft>
            </a:pPr>
            <a:r>
              <a:rPr sz="1100" b="1" i="0">
                <a:solidFill>
                  <a:srgbClr val="C9762F"/>
                </a:solidFill>
                <a:latin typeface="Calibri Light"/>
              </a:rPr>
              <a:t>8.2</a:t>
            </a:r>
          </a:p>
          <a:p>
            <a:pPr algn="l">
              <a:lnSpc>
                <a:spcPct val="100000"/>
              </a:lnSpc>
              <a:spcBef>
                <a:spcPts val="100"/>
              </a:spcBef>
              <a:spcAft>
                <a:spcPts val="0"/>
              </a:spcAft>
            </a:pPr>
            <a:r>
              <a:rPr sz="1350" b="1" i="0">
                <a:solidFill>
                  <a:srgbClr val="1B3A4B"/>
                </a:solidFill>
                <a:latin typeface="Calibri"/>
              </a:rPr>
              <a:t>Empty chair</a:t>
            </a:r>
          </a:p>
          <a:p>
            <a:pPr algn="l">
              <a:lnSpc>
                <a:spcPct val="108000"/>
              </a:lnSpc>
              <a:spcBef>
                <a:spcPts val="400"/>
              </a:spcBef>
              <a:spcAft>
                <a:spcPts val="0"/>
              </a:spcAft>
            </a:pPr>
            <a:r>
              <a:rPr sz="1050" b="0" i="0">
                <a:solidFill>
                  <a:srgbClr val="5F7078"/>
                </a:solidFill>
                <a:latin typeface="Calibri"/>
              </a:rPr>
              <a:t>An absent person, a relationship or a part of the self is represented by an empty chair. It explores feelings and meanings; it does not establish what the absent person would actually have said.</a:t>
            </a:r>
          </a:p>
        </p:txBody>
      </p:sp>
      <p:sp>
        <p:nvSpPr>
          <p:cNvPr id="18" name="Rectangle 17"/>
          <p:cNvSpPr/>
          <p:nvPr/>
        </p:nvSpPr>
        <p:spPr>
          <a:xfrm>
            <a:off x="8042452" y="1783080"/>
            <a:ext cx="3490874" cy="197510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42452" y="1783080"/>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43620" y="1965960"/>
            <a:ext cx="3088538" cy="1627632"/>
          </a:xfrm>
          <a:prstGeom prst="rect">
            <a:avLst/>
          </a:prstGeom>
          <a:noFill/>
        </p:spPr>
        <p:txBody>
          <a:bodyPr wrap="square" lIns="0" rIns="0" tIns="0" bIns="0" anchor="t">
            <a:spAutoFit/>
          </a:bodyPr>
          <a:lstStyle/>
          <a:p>
            <a:pPr algn="l">
              <a:lnSpc>
                <a:spcPct val="100000"/>
              </a:lnSpc>
              <a:spcAft>
                <a:spcPts val="0"/>
              </a:spcAft>
            </a:pPr>
            <a:r>
              <a:rPr sz="1100" b="1" i="0">
                <a:solidFill>
                  <a:srgbClr val="C9762F"/>
                </a:solidFill>
                <a:latin typeface="Calibri Light"/>
              </a:rPr>
              <a:t>8.3</a:t>
            </a:r>
          </a:p>
          <a:p>
            <a:pPr algn="l">
              <a:lnSpc>
                <a:spcPct val="100000"/>
              </a:lnSpc>
              <a:spcBef>
                <a:spcPts val="100"/>
              </a:spcBef>
              <a:spcAft>
                <a:spcPts val="0"/>
              </a:spcAft>
            </a:pPr>
            <a:r>
              <a:rPr sz="1350" b="1" i="0">
                <a:solidFill>
                  <a:srgbClr val="1B3A4B"/>
                </a:solidFill>
                <a:latin typeface="Calibri"/>
              </a:rPr>
              <a:t>Two-chair dialogue</a:t>
            </a:r>
          </a:p>
          <a:p>
            <a:pPr algn="l">
              <a:lnSpc>
                <a:spcPct val="108000"/>
              </a:lnSpc>
              <a:spcBef>
                <a:spcPts val="400"/>
              </a:spcBef>
              <a:spcAft>
                <a:spcPts val="0"/>
              </a:spcAft>
            </a:pPr>
            <a:r>
              <a:rPr sz="1050" b="0" i="0">
                <a:solidFill>
                  <a:srgbClr val="5F7078"/>
                </a:solidFill>
                <a:latin typeface="Calibri"/>
              </a:rPr>
              <a:t>Two conflicting internal positions are voiced in turn — “I must work harder or I will fail” against “I am exhausted and need support.” Research has examined its use for internal conflict and unfinished business.</a:t>
            </a:r>
          </a:p>
        </p:txBody>
      </p:sp>
      <p:sp>
        <p:nvSpPr>
          <p:cNvPr id="21" name="Rectangle 20"/>
          <p:cNvSpPr/>
          <p:nvPr/>
        </p:nvSpPr>
        <p:spPr>
          <a:xfrm>
            <a:off x="658368" y="3941064"/>
            <a:ext cx="3490874" cy="197510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58368" y="3941064"/>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59536" y="4123944"/>
            <a:ext cx="3088538" cy="1627632"/>
          </a:xfrm>
          <a:prstGeom prst="rect">
            <a:avLst/>
          </a:prstGeom>
          <a:noFill/>
        </p:spPr>
        <p:txBody>
          <a:bodyPr wrap="square" lIns="0" rIns="0" tIns="0" bIns="0" anchor="t">
            <a:spAutoFit/>
          </a:bodyPr>
          <a:lstStyle/>
          <a:p>
            <a:pPr algn="l">
              <a:lnSpc>
                <a:spcPct val="100000"/>
              </a:lnSpc>
              <a:spcAft>
                <a:spcPts val="0"/>
              </a:spcAft>
            </a:pPr>
            <a:r>
              <a:rPr sz="1100" b="1" i="0">
                <a:solidFill>
                  <a:srgbClr val="C9762F"/>
                </a:solidFill>
                <a:latin typeface="Calibri Light"/>
              </a:rPr>
              <a:t>8.4</a:t>
            </a:r>
          </a:p>
          <a:p>
            <a:pPr algn="l">
              <a:lnSpc>
                <a:spcPct val="100000"/>
              </a:lnSpc>
              <a:spcBef>
                <a:spcPts val="100"/>
              </a:spcBef>
              <a:spcAft>
                <a:spcPts val="0"/>
              </a:spcAft>
            </a:pPr>
            <a:r>
              <a:rPr sz="1350" b="1" i="0">
                <a:solidFill>
                  <a:srgbClr val="1B3A4B"/>
                </a:solidFill>
                <a:latin typeface="Calibri"/>
              </a:rPr>
              <a:t>Staying with a feeling</a:t>
            </a:r>
          </a:p>
          <a:p>
            <a:pPr algn="l">
              <a:lnSpc>
                <a:spcPct val="108000"/>
              </a:lnSpc>
              <a:spcBef>
                <a:spcPts val="400"/>
              </a:spcBef>
              <a:spcAft>
                <a:spcPts val="0"/>
              </a:spcAft>
            </a:pPr>
            <a:r>
              <a:rPr sz="1050" b="0" i="0">
                <a:solidFill>
                  <a:srgbClr val="5F7078"/>
                </a:solidFill>
                <a:latin typeface="Calibri"/>
              </a:rPr>
              <a:t>Gently remain aware of an emotion rather than distracting from it. The client remains free to slow down or stop if it becomes overwhelming.</a:t>
            </a:r>
          </a:p>
        </p:txBody>
      </p:sp>
      <p:sp>
        <p:nvSpPr>
          <p:cNvPr id="24" name="Rectangle 23"/>
          <p:cNvSpPr/>
          <p:nvPr/>
        </p:nvSpPr>
        <p:spPr>
          <a:xfrm>
            <a:off x="4350410" y="3941064"/>
            <a:ext cx="3490874" cy="197510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350410" y="3941064"/>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51578" y="4123944"/>
            <a:ext cx="3088538" cy="1627632"/>
          </a:xfrm>
          <a:prstGeom prst="rect">
            <a:avLst/>
          </a:prstGeom>
          <a:noFill/>
        </p:spPr>
        <p:txBody>
          <a:bodyPr wrap="square" lIns="0" rIns="0" tIns="0" bIns="0" anchor="t">
            <a:spAutoFit/>
          </a:bodyPr>
          <a:lstStyle/>
          <a:p>
            <a:pPr algn="l">
              <a:lnSpc>
                <a:spcPct val="100000"/>
              </a:lnSpc>
              <a:spcAft>
                <a:spcPts val="0"/>
              </a:spcAft>
            </a:pPr>
            <a:r>
              <a:rPr sz="1100" b="1" i="0">
                <a:solidFill>
                  <a:srgbClr val="C9762F"/>
                </a:solidFill>
                <a:latin typeface="Calibri Light"/>
              </a:rPr>
              <a:t>8.5</a:t>
            </a:r>
          </a:p>
          <a:p>
            <a:pPr algn="l">
              <a:lnSpc>
                <a:spcPct val="100000"/>
              </a:lnSpc>
              <a:spcBef>
                <a:spcPts val="100"/>
              </a:spcBef>
              <a:spcAft>
                <a:spcPts val="0"/>
              </a:spcAft>
            </a:pPr>
            <a:r>
              <a:rPr sz="1350" b="1" i="0">
                <a:solidFill>
                  <a:srgbClr val="1B3A4B"/>
                </a:solidFill>
                <a:latin typeface="Calibri"/>
              </a:rPr>
              <a:t>Body awareness &amp; exaggeration</a:t>
            </a:r>
          </a:p>
          <a:p>
            <a:pPr algn="l">
              <a:lnSpc>
                <a:spcPct val="108000"/>
              </a:lnSpc>
              <a:spcBef>
                <a:spcPts val="400"/>
              </a:spcBef>
              <a:spcAft>
                <a:spcPts val="0"/>
              </a:spcAft>
            </a:pPr>
            <a:r>
              <a:rPr sz="1050" b="0" i="0">
                <a:solidFill>
                  <a:srgbClr val="5F7078"/>
                </a:solidFill>
                <a:latin typeface="Calibri"/>
              </a:rPr>
              <a:t>Explore tension in shoulders, a clenched jaw, shallow breathing; gently amplify a gesture to explore its meaning. Used cautiously and collaboratively — never to force an interpretation.</a:t>
            </a:r>
          </a:p>
        </p:txBody>
      </p:sp>
      <p:sp>
        <p:nvSpPr>
          <p:cNvPr id="27" name="Rectangle 26"/>
          <p:cNvSpPr/>
          <p:nvPr/>
        </p:nvSpPr>
        <p:spPr>
          <a:xfrm>
            <a:off x="8042452" y="3941064"/>
            <a:ext cx="3490874" cy="1975104"/>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042452" y="3941064"/>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43620" y="4123944"/>
            <a:ext cx="3088538" cy="1627632"/>
          </a:xfrm>
          <a:prstGeom prst="rect">
            <a:avLst/>
          </a:prstGeom>
          <a:noFill/>
        </p:spPr>
        <p:txBody>
          <a:bodyPr wrap="square" lIns="0" rIns="0" tIns="0" bIns="0" anchor="t">
            <a:spAutoFit/>
          </a:bodyPr>
          <a:lstStyle/>
          <a:p>
            <a:pPr algn="l">
              <a:lnSpc>
                <a:spcPct val="100000"/>
              </a:lnSpc>
              <a:spcAft>
                <a:spcPts val="0"/>
              </a:spcAft>
            </a:pPr>
            <a:r>
              <a:rPr sz="1100" b="1" i="0">
                <a:solidFill>
                  <a:srgbClr val="C9762F"/>
                </a:solidFill>
                <a:latin typeface="Calibri Light"/>
              </a:rPr>
              <a:t>8.6</a:t>
            </a:r>
          </a:p>
          <a:p>
            <a:pPr algn="l">
              <a:lnSpc>
                <a:spcPct val="100000"/>
              </a:lnSpc>
              <a:spcBef>
                <a:spcPts val="100"/>
              </a:spcBef>
              <a:spcAft>
                <a:spcPts val="0"/>
              </a:spcAft>
            </a:pPr>
            <a:r>
              <a:rPr sz="1350" b="1" i="0">
                <a:solidFill>
                  <a:srgbClr val="1B3A4B"/>
                </a:solidFill>
                <a:latin typeface="Calibri"/>
              </a:rPr>
              <a:t>Language &amp; first-person statements</a:t>
            </a:r>
          </a:p>
          <a:p>
            <a:pPr algn="l">
              <a:lnSpc>
                <a:spcPct val="108000"/>
              </a:lnSpc>
              <a:spcBef>
                <a:spcPts val="400"/>
              </a:spcBef>
              <a:spcAft>
                <a:spcPts val="0"/>
              </a:spcAft>
            </a:pPr>
            <a:r>
              <a:rPr sz="1050" b="0" i="0">
                <a:solidFill>
                  <a:srgbClr val="5F7078"/>
                </a:solidFill>
                <a:latin typeface="Calibri"/>
              </a:rPr>
              <a:t>“You make me feel worthless” becomes “I feel worthless when I interpret your criticism as evidence I have failed.” This distinguishes feeling and interpretation from another's action.</a:t>
            </a:r>
          </a:p>
        </p:txBody>
      </p:sp>
      <p:sp>
        <p:nvSpPr>
          <p:cNvPr id="30" name="TextBox 29"/>
          <p:cNvSpPr txBox="1"/>
          <p:nvPr/>
        </p:nvSpPr>
        <p:spPr>
          <a:xfrm>
            <a:off x="658368" y="5870448"/>
            <a:ext cx="10874959" cy="320040"/>
          </a:xfrm>
          <a:prstGeom prst="rect">
            <a:avLst/>
          </a:prstGeom>
          <a:noFill/>
        </p:spPr>
        <p:txBody>
          <a:bodyPr wrap="square" lIns="0" rIns="0" tIns="0" bIns="0" anchor="t">
            <a:spAutoFit/>
          </a:bodyPr>
          <a:lstStyle/>
          <a:p>
            <a:pPr algn="l">
              <a:lnSpc>
                <a:spcPct val="100000"/>
              </a:lnSpc>
              <a:spcAft>
                <a:spcPts val="400"/>
              </a:spcAft>
            </a:pPr>
            <a:r>
              <a:rPr sz="1100" b="0" i="1">
                <a:solidFill>
                  <a:srgbClr val="2E7D8F"/>
                </a:solidFill>
                <a:latin typeface="Calibri"/>
              </a:rPr>
              <a:t>Language work does not imply that others' behaviour is harmless, or that a client is responsible for being mistreated.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9.1–9.2</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Case Application — Amina</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1609344"/>
            <a:ext cx="10874959" cy="365760"/>
          </a:xfrm>
          <a:prstGeom prst="rect">
            <a:avLst/>
          </a:prstGeom>
          <a:noFill/>
        </p:spPr>
        <p:txBody>
          <a:bodyPr wrap="square" lIns="0" rIns="0" tIns="0" bIns="0" anchor="t">
            <a:spAutoFit/>
          </a:bodyPr>
          <a:lstStyle/>
          <a:p>
            <a:pPr algn="l">
              <a:lnSpc>
                <a:spcPct val="105000"/>
              </a:lnSpc>
              <a:spcAft>
                <a:spcPts val="400"/>
              </a:spcAft>
            </a:pPr>
            <a:r>
              <a:rPr sz="1350" b="0" i="1">
                <a:solidFill>
                  <a:srgbClr val="5F7078"/>
                </a:solidFill>
                <a:latin typeface="Calibri"/>
              </a:rPr>
              <a:t>A 32-year-old administrative officer, overwhelmed by her workload.</a:t>
            </a:r>
          </a:p>
        </p:txBody>
      </p:sp>
      <p:sp>
        <p:nvSpPr>
          <p:cNvPr id="9" name="Rectangle 8"/>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1" name="TextBox 10"/>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22</a:t>
            </a:r>
          </a:p>
        </p:txBody>
      </p:sp>
      <p:sp>
        <p:nvSpPr>
          <p:cNvPr id="12" name="Rounded Rectangle 11"/>
          <p:cNvSpPr/>
          <p:nvPr/>
        </p:nvSpPr>
        <p:spPr>
          <a:xfrm>
            <a:off x="658368" y="2084831"/>
            <a:ext cx="3520440" cy="1481328"/>
          </a:xfrm>
          <a:prstGeom prst="roundRect">
            <a:avLst>
              <a:gd name="adj" fmla="val 5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6112" y="2286000"/>
            <a:ext cx="3063240" cy="1097280"/>
          </a:xfrm>
          <a:prstGeom prst="rect">
            <a:avLst/>
          </a:prstGeom>
          <a:noFill/>
        </p:spPr>
        <p:txBody>
          <a:bodyPr wrap="square" lIns="0" rIns="0" tIns="0" bIns="0" anchor="t">
            <a:spAutoFit/>
          </a:bodyPr>
          <a:lstStyle/>
          <a:p>
            <a:pPr algn="l">
              <a:lnSpc>
                <a:spcPct val="100000"/>
              </a:lnSpc>
              <a:spcAft>
                <a:spcPts val="0"/>
              </a:spcAft>
            </a:pPr>
            <a:r>
              <a:rPr sz="1000" b="1" i="0">
                <a:solidFill>
                  <a:srgbClr val="C9762F"/>
                </a:solidFill>
                <a:latin typeface="Calibri Light"/>
              </a:rPr>
              <a:t>CLIENT</a:t>
            </a:r>
          </a:p>
          <a:p>
            <a:pPr algn="l">
              <a:lnSpc>
                <a:spcPct val="100000"/>
              </a:lnSpc>
              <a:spcBef>
                <a:spcPts val="400"/>
              </a:spcBef>
              <a:spcAft>
                <a:spcPts val="0"/>
              </a:spcAft>
            </a:pPr>
            <a:r>
              <a:rPr sz="1700" b="1" i="0">
                <a:solidFill>
                  <a:srgbClr val="FFFFFF"/>
                </a:solidFill>
                <a:latin typeface="Calibri"/>
              </a:rPr>
              <a:t>Amina, 32</a:t>
            </a:r>
          </a:p>
          <a:p>
            <a:pPr algn="l">
              <a:lnSpc>
                <a:spcPct val="100000"/>
              </a:lnSpc>
              <a:spcBef>
                <a:spcPts val="200"/>
              </a:spcBef>
              <a:spcAft>
                <a:spcPts val="0"/>
              </a:spcAft>
            </a:pPr>
            <a:r>
              <a:rPr sz="1150" b="0" i="0">
                <a:solidFill>
                  <a:srgbClr val="A8C4CE"/>
                </a:solidFill>
                <a:latin typeface="Calibri"/>
              </a:rPr>
              <a:t>Administrative officer</a:t>
            </a:r>
          </a:p>
        </p:txBody>
      </p:sp>
      <p:sp>
        <p:nvSpPr>
          <p:cNvPr id="14" name="Rectangle 13"/>
          <p:cNvSpPr/>
          <p:nvPr/>
        </p:nvSpPr>
        <p:spPr>
          <a:xfrm>
            <a:off x="4361688" y="2084831"/>
            <a:ext cx="7171639" cy="1591055"/>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61688" y="2084831"/>
            <a:ext cx="41148" cy="1591055"/>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99431" y="2258568"/>
            <a:ext cx="6714439"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PRESENTING PROBLEM</a:t>
            </a:r>
          </a:p>
        </p:txBody>
      </p:sp>
      <p:sp>
        <p:nvSpPr>
          <p:cNvPr id="17" name="TextBox 16"/>
          <p:cNvSpPr txBox="1"/>
          <p:nvPr/>
        </p:nvSpPr>
        <p:spPr>
          <a:xfrm>
            <a:off x="4599431" y="2569463"/>
            <a:ext cx="6696151" cy="960120"/>
          </a:xfrm>
          <a:prstGeom prst="rect">
            <a:avLst/>
          </a:prstGeom>
          <a:noFill/>
        </p:spPr>
        <p:txBody>
          <a:bodyPr wrap="square" lIns="0" rIns="0" tIns="0" bIns="0" anchor="t">
            <a:spAutoFit/>
          </a:bodyPr>
          <a:lstStyle/>
          <a:p>
            <a:pPr algn="l">
              <a:lnSpc>
                <a:spcPct val="105000"/>
              </a:lnSpc>
              <a:spcAft>
                <a:spcPts val="500"/>
              </a:spcAft>
            </a:pPr>
            <a:r>
              <a:rPr sz="1050" b="0">
                <a:solidFill>
                  <a:srgbClr val="C9762F"/>
                </a:solidFill>
                <a:latin typeface="Calibri"/>
              </a:rPr>
              <a:t>–   </a:t>
            </a:r>
            <a:r>
              <a:rPr sz="1050" b="0" i="0">
                <a:solidFill>
                  <a:srgbClr val="1B3A4B"/>
                </a:solidFill>
                <a:latin typeface="Calibri"/>
              </a:rPr>
              <a:t>Supervisor frequently assigns additional duties; Amina usually accepts, even without time</a:t>
            </a:r>
          </a:p>
          <a:p>
            <a:pPr algn="l">
              <a:lnSpc>
                <a:spcPct val="105000"/>
              </a:lnSpc>
              <a:spcAft>
                <a:spcPts val="500"/>
              </a:spcAft>
            </a:pPr>
            <a:r>
              <a:rPr sz="1050" b="0">
                <a:solidFill>
                  <a:srgbClr val="C9762F"/>
                </a:solidFill>
                <a:latin typeface="Calibri"/>
              </a:rPr>
              <a:t>–   </a:t>
            </a:r>
            <a:r>
              <a:rPr sz="1050" b="0" i="0">
                <a:solidFill>
                  <a:srgbClr val="1B3A4B"/>
                </a:solidFill>
                <a:latin typeface="Calibri"/>
              </a:rPr>
              <a:t>Fears refusing will make her appear irresponsible or uncooperative</a:t>
            </a:r>
          </a:p>
          <a:p>
            <a:pPr algn="l">
              <a:lnSpc>
                <a:spcPct val="105000"/>
              </a:lnSpc>
              <a:spcAft>
                <a:spcPts val="500"/>
              </a:spcAft>
            </a:pPr>
            <a:r>
              <a:rPr sz="1050" b="0">
                <a:solidFill>
                  <a:srgbClr val="C9762F"/>
                </a:solidFill>
                <a:latin typeface="Calibri"/>
              </a:rPr>
              <a:t>–   </a:t>
            </a:r>
            <a:r>
              <a:rPr sz="1050" b="0" i="0">
                <a:solidFill>
                  <a:srgbClr val="1B3A4B"/>
                </a:solidFill>
                <a:latin typeface="Calibri"/>
              </a:rPr>
              <a:t>Muscle tension, difficulty sleeping, frustration she rarely expresses</a:t>
            </a:r>
          </a:p>
          <a:p>
            <a:pPr algn="l">
              <a:lnSpc>
                <a:spcPct val="105000"/>
              </a:lnSpc>
              <a:spcAft>
                <a:spcPts val="500"/>
              </a:spcAft>
            </a:pPr>
            <a:r>
              <a:rPr sz="1050" b="0">
                <a:solidFill>
                  <a:srgbClr val="C9762F"/>
                </a:solidFill>
                <a:latin typeface="Calibri"/>
              </a:rPr>
              <a:t>–   </a:t>
            </a:r>
            <a:r>
              <a:rPr sz="1050" b="0" i="0">
                <a:solidFill>
                  <a:srgbClr val="1B3A4B"/>
                </a:solidFill>
                <a:latin typeface="Calibri"/>
              </a:rPr>
              <a:t>Laughs and changes the subject when discussing anger; self-critical about feeling tired</a:t>
            </a:r>
          </a:p>
        </p:txBody>
      </p:sp>
      <p:sp>
        <p:nvSpPr>
          <p:cNvPr id="18" name="Rectangle 17"/>
          <p:cNvSpPr/>
          <p:nvPr/>
        </p:nvSpPr>
        <p:spPr>
          <a:xfrm>
            <a:off x="658368" y="3730752"/>
            <a:ext cx="10874959" cy="38404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59536" y="3730752"/>
            <a:ext cx="10472623" cy="384048"/>
          </a:xfrm>
          <a:prstGeom prst="rect">
            <a:avLst/>
          </a:prstGeom>
          <a:noFill/>
        </p:spPr>
        <p:txBody>
          <a:bodyPr wrap="square" lIns="0" rIns="0" tIns="0" bIns="0" anchor="ctr">
            <a:spAutoFit/>
          </a:bodyPr>
          <a:lstStyle/>
          <a:p>
            <a:pPr algn="ctr">
              <a:lnSpc>
                <a:spcPct val="100000"/>
              </a:lnSpc>
              <a:spcAft>
                <a:spcPts val="0"/>
              </a:spcAft>
            </a:pPr>
            <a:r>
              <a:rPr sz="1300" b="1" i="1">
                <a:solidFill>
                  <a:srgbClr val="1B3A4B"/>
                </a:solidFill>
                <a:latin typeface="Calibri"/>
              </a:rPr>
              <a:t>“A good employee should never disappoint the people who depend on her.”</a:t>
            </a:r>
          </a:p>
        </p:txBody>
      </p:sp>
      <p:sp>
        <p:nvSpPr>
          <p:cNvPr id="20" name="Rectangle 19"/>
          <p:cNvSpPr/>
          <p:nvPr/>
        </p:nvSpPr>
        <p:spPr>
          <a:xfrm>
            <a:off x="658368" y="4261104"/>
            <a:ext cx="3490874" cy="731520"/>
          </a:xfrm>
          <a:prstGeom prst="rect">
            <a:avLst/>
          </a:prstGeom>
          <a:solidFill>
            <a:srgbClr val="FFFFFF"/>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58368" y="4261104"/>
            <a:ext cx="36576" cy="7315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52544"/>
            <a:ext cx="3125114" cy="566928"/>
          </a:xfrm>
          <a:prstGeom prst="rect">
            <a:avLst/>
          </a:prstGeom>
          <a:noFill/>
        </p:spPr>
        <p:txBody>
          <a:bodyPr wrap="square" lIns="0" rIns="0" tIns="0" bIns="0" anchor="t">
            <a:spAutoFit/>
          </a:bodyPr>
          <a:lstStyle/>
          <a:p>
            <a:pPr algn="l">
              <a:lnSpc>
                <a:spcPct val="100000"/>
              </a:lnSpc>
              <a:spcAft>
                <a:spcPts val="0"/>
              </a:spcAft>
            </a:pPr>
            <a:r>
              <a:rPr sz="1100" b="1" i="0">
                <a:solidFill>
                  <a:srgbClr val="2E7D8F"/>
                </a:solidFill>
                <a:latin typeface="Calibri Light"/>
              </a:rPr>
              <a:t>Awareness / here-and-now</a:t>
            </a:r>
          </a:p>
          <a:p>
            <a:pPr algn="l">
              <a:lnSpc>
                <a:spcPct val="105000"/>
              </a:lnSpc>
              <a:spcBef>
                <a:spcPts val="200"/>
              </a:spcBef>
              <a:spcAft>
                <a:spcPts val="0"/>
              </a:spcAft>
            </a:pPr>
            <a:r>
              <a:rPr sz="950" b="0" i="0">
                <a:solidFill>
                  <a:srgbClr val="5F7078"/>
                </a:solidFill>
                <a:latin typeface="Calibri"/>
              </a:rPr>
              <a:t>Explore what she experiences when talking about her supervisor — bodily tension, anxiety, anger, self-critical thoughts.</a:t>
            </a:r>
          </a:p>
        </p:txBody>
      </p:sp>
      <p:sp>
        <p:nvSpPr>
          <p:cNvPr id="23" name="Rectangle 22"/>
          <p:cNvSpPr/>
          <p:nvPr/>
        </p:nvSpPr>
        <p:spPr>
          <a:xfrm>
            <a:off x="4350410" y="4261104"/>
            <a:ext cx="3490874" cy="731520"/>
          </a:xfrm>
          <a:prstGeom prst="rect">
            <a:avLst/>
          </a:prstGeom>
          <a:solidFill>
            <a:srgbClr val="FFFFFF"/>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350410" y="4261104"/>
            <a:ext cx="36576" cy="7315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33290" y="4352544"/>
            <a:ext cx="3125114" cy="566928"/>
          </a:xfrm>
          <a:prstGeom prst="rect">
            <a:avLst/>
          </a:prstGeom>
          <a:noFill/>
        </p:spPr>
        <p:txBody>
          <a:bodyPr wrap="square" lIns="0" rIns="0" tIns="0" bIns="0" anchor="t">
            <a:spAutoFit/>
          </a:bodyPr>
          <a:lstStyle/>
          <a:p>
            <a:pPr algn="l">
              <a:lnSpc>
                <a:spcPct val="100000"/>
              </a:lnSpc>
              <a:spcAft>
                <a:spcPts val="0"/>
              </a:spcAft>
            </a:pPr>
            <a:r>
              <a:rPr sz="1100" b="1" i="0">
                <a:solidFill>
                  <a:srgbClr val="2E7D8F"/>
                </a:solidFill>
                <a:latin typeface="Calibri Light"/>
              </a:rPr>
              <a:t>Introjection</a:t>
            </a:r>
          </a:p>
          <a:p>
            <a:pPr algn="l">
              <a:lnSpc>
                <a:spcPct val="105000"/>
              </a:lnSpc>
              <a:spcBef>
                <a:spcPts val="200"/>
              </a:spcBef>
              <a:spcAft>
                <a:spcPts val="0"/>
              </a:spcAft>
            </a:pPr>
            <a:r>
              <a:rPr sz="950" b="0" i="0">
                <a:solidFill>
                  <a:srgbClr val="5F7078"/>
                </a:solidFill>
                <a:latin typeface="Calibri"/>
              </a:rPr>
              <a:t>“A good employee should never disappoint others” may be an internalised, unexamined rule. Where did it originate? Does it allow reasonable limits?</a:t>
            </a:r>
          </a:p>
        </p:txBody>
      </p:sp>
      <p:sp>
        <p:nvSpPr>
          <p:cNvPr id="26" name="Rectangle 25"/>
          <p:cNvSpPr/>
          <p:nvPr/>
        </p:nvSpPr>
        <p:spPr>
          <a:xfrm>
            <a:off x="8042452" y="4261104"/>
            <a:ext cx="3490874" cy="731520"/>
          </a:xfrm>
          <a:prstGeom prst="rect">
            <a:avLst/>
          </a:prstGeom>
          <a:solidFill>
            <a:srgbClr val="FFFFFF"/>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42452" y="4261104"/>
            <a:ext cx="36576" cy="7315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5332" y="4352544"/>
            <a:ext cx="3125114" cy="566928"/>
          </a:xfrm>
          <a:prstGeom prst="rect">
            <a:avLst/>
          </a:prstGeom>
          <a:noFill/>
        </p:spPr>
        <p:txBody>
          <a:bodyPr wrap="square" lIns="0" rIns="0" tIns="0" bIns="0" anchor="t">
            <a:spAutoFit/>
          </a:bodyPr>
          <a:lstStyle/>
          <a:p>
            <a:pPr algn="l">
              <a:lnSpc>
                <a:spcPct val="100000"/>
              </a:lnSpc>
              <a:spcAft>
                <a:spcPts val="0"/>
              </a:spcAft>
            </a:pPr>
            <a:r>
              <a:rPr sz="1100" b="1" i="0">
                <a:solidFill>
                  <a:srgbClr val="2E7D8F"/>
                </a:solidFill>
                <a:latin typeface="Calibri Light"/>
              </a:rPr>
              <a:t>Retroflection</a:t>
            </a:r>
          </a:p>
          <a:p>
            <a:pPr algn="l">
              <a:lnSpc>
                <a:spcPct val="105000"/>
              </a:lnSpc>
              <a:spcBef>
                <a:spcPts val="200"/>
              </a:spcBef>
              <a:spcAft>
                <a:spcPts val="0"/>
              </a:spcAft>
            </a:pPr>
            <a:r>
              <a:rPr sz="950" b="0" i="0">
                <a:solidFill>
                  <a:srgbClr val="5F7078"/>
                </a:solidFill>
                <a:latin typeface="Calibri"/>
              </a:rPr>
              <a:t>Instead of expressing frustration, she directs it inward as self-criticism.</a:t>
            </a:r>
          </a:p>
        </p:txBody>
      </p:sp>
      <p:sp>
        <p:nvSpPr>
          <p:cNvPr id="29" name="Rectangle 28"/>
          <p:cNvSpPr/>
          <p:nvPr/>
        </p:nvSpPr>
        <p:spPr>
          <a:xfrm>
            <a:off x="658368" y="5084064"/>
            <a:ext cx="3490874" cy="731520"/>
          </a:xfrm>
          <a:prstGeom prst="rect">
            <a:avLst/>
          </a:prstGeom>
          <a:solidFill>
            <a:srgbClr val="FFFFFF"/>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58368" y="5084064"/>
            <a:ext cx="36576" cy="7315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41247" y="5175504"/>
            <a:ext cx="3125114" cy="566928"/>
          </a:xfrm>
          <a:prstGeom prst="rect">
            <a:avLst/>
          </a:prstGeom>
          <a:noFill/>
        </p:spPr>
        <p:txBody>
          <a:bodyPr wrap="square" lIns="0" rIns="0" tIns="0" bIns="0" anchor="t">
            <a:spAutoFit/>
          </a:bodyPr>
          <a:lstStyle/>
          <a:p>
            <a:pPr algn="l">
              <a:lnSpc>
                <a:spcPct val="100000"/>
              </a:lnSpc>
              <a:spcAft>
                <a:spcPts val="0"/>
              </a:spcAft>
            </a:pPr>
            <a:r>
              <a:rPr sz="1100" b="1" i="0">
                <a:solidFill>
                  <a:srgbClr val="2E7D8F"/>
                </a:solidFill>
                <a:latin typeface="Calibri Light"/>
              </a:rPr>
              <a:t>Deflection</a:t>
            </a:r>
          </a:p>
          <a:p>
            <a:pPr algn="l">
              <a:lnSpc>
                <a:spcPct val="105000"/>
              </a:lnSpc>
              <a:spcBef>
                <a:spcPts val="200"/>
              </a:spcBef>
              <a:spcAft>
                <a:spcPts val="0"/>
              </a:spcAft>
            </a:pPr>
            <a:r>
              <a:rPr sz="950" b="0" i="0">
                <a:solidFill>
                  <a:srgbClr val="5F7078"/>
                </a:solidFill>
                <a:latin typeface="Calibri"/>
              </a:rPr>
              <a:t>Laughter and rapid topic changes when discussing anger — explored tentatively, not assumed to be avoidance.</a:t>
            </a:r>
          </a:p>
        </p:txBody>
      </p:sp>
      <p:sp>
        <p:nvSpPr>
          <p:cNvPr id="32" name="Rectangle 31"/>
          <p:cNvSpPr/>
          <p:nvPr/>
        </p:nvSpPr>
        <p:spPr>
          <a:xfrm>
            <a:off x="4350410" y="5084064"/>
            <a:ext cx="3490874" cy="731520"/>
          </a:xfrm>
          <a:prstGeom prst="rect">
            <a:avLst/>
          </a:prstGeom>
          <a:solidFill>
            <a:srgbClr val="FFFFFF"/>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350410" y="5084064"/>
            <a:ext cx="36576" cy="7315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533290" y="5175504"/>
            <a:ext cx="3125114" cy="566928"/>
          </a:xfrm>
          <a:prstGeom prst="rect">
            <a:avLst/>
          </a:prstGeom>
          <a:noFill/>
        </p:spPr>
        <p:txBody>
          <a:bodyPr wrap="square" lIns="0" rIns="0" tIns="0" bIns="0" anchor="t">
            <a:spAutoFit/>
          </a:bodyPr>
          <a:lstStyle/>
          <a:p>
            <a:pPr algn="l">
              <a:lnSpc>
                <a:spcPct val="100000"/>
              </a:lnSpc>
              <a:spcAft>
                <a:spcPts val="0"/>
              </a:spcAft>
            </a:pPr>
            <a:r>
              <a:rPr sz="1100" b="1" i="0">
                <a:solidFill>
                  <a:srgbClr val="2E7D8F"/>
                </a:solidFill>
                <a:latin typeface="Calibri Light"/>
              </a:rPr>
              <a:t>Organismic self-regulation</a:t>
            </a:r>
          </a:p>
          <a:p>
            <a:pPr algn="l">
              <a:lnSpc>
                <a:spcPct val="105000"/>
              </a:lnSpc>
              <a:spcBef>
                <a:spcPts val="200"/>
              </a:spcBef>
              <a:spcAft>
                <a:spcPts val="0"/>
              </a:spcAft>
            </a:pPr>
            <a:r>
              <a:rPr sz="950" b="0" i="0">
                <a:solidFill>
                  <a:srgbClr val="5F7078"/>
                </a:solidFill>
                <a:latin typeface="Calibri"/>
              </a:rPr>
              <a:t>Fatigue and tension may signal that her needs for rest and manageable demands are not being met.</a:t>
            </a:r>
          </a:p>
        </p:txBody>
      </p:sp>
      <p:sp>
        <p:nvSpPr>
          <p:cNvPr id="35" name="Rectangle 34"/>
          <p:cNvSpPr/>
          <p:nvPr/>
        </p:nvSpPr>
        <p:spPr>
          <a:xfrm>
            <a:off x="8042452" y="5084064"/>
            <a:ext cx="3490874" cy="731520"/>
          </a:xfrm>
          <a:prstGeom prst="rect">
            <a:avLst/>
          </a:prstGeom>
          <a:solidFill>
            <a:srgbClr val="FFFFFF"/>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8042452" y="5084064"/>
            <a:ext cx="36576" cy="731520"/>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25332" y="5175504"/>
            <a:ext cx="3125114" cy="566928"/>
          </a:xfrm>
          <a:prstGeom prst="rect">
            <a:avLst/>
          </a:prstGeom>
          <a:noFill/>
        </p:spPr>
        <p:txBody>
          <a:bodyPr wrap="square" lIns="0" rIns="0" tIns="0" bIns="0" anchor="t">
            <a:spAutoFit/>
          </a:bodyPr>
          <a:lstStyle/>
          <a:p>
            <a:pPr algn="l">
              <a:lnSpc>
                <a:spcPct val="100000"/>
              </a:lnSpc>
              <a:spcAft>
                <a:spcPts val="0"/>
              </a:spcAft>
            </a:pPr>
            <a:r>
              <a:rPr sz="1100" b="1" i="0">
                <a:solidFill>
                  <a:srgbClr val="2E7D8F"/>
                </a:solidFill>
                <a:latin typeface="Calibri Light"/>
              </a:rPr>
              <a:t>Field theory</a:t>
            </a:r>
          </a:p>
          <a:p>
            <a:pPr algn="l">
              <a:lnSpc>
                <a:spcPct val="105000"/>
              </a:lnSpc>
              <a:spcBef>
                <a:spcPts val="200"/>
              </a:spcBef>
              <a:spcAft>
                <a:spcPts val="0"/>
              </a:spcAft>
            </a:pPr>
            <a:r>
              <a:rPr sz="950" b="0" i="0">
                <a:solidFill>
                  <a:srgbClr val="5F7078"/>
                </a:solidFill>
                <a:latin typeface="Calibri"/>
              </a:rPr>
              <a:t>Workplace expectations, power differences, job security, organisational culture and the practical cost of refusing must all be explored.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9.3–9.4</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Amina — Interventions and Expected Outcomes</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23</a:t>
            </a:r>
          </a:p>
        </p:txBody>
      </p:sp>
      <p:sp>
        <p:nvSpPr>
          <p:cNvPr id="11" name="Rectangle 10"/>
          <p:cNvSpPr/>
          <p:nvPr/>
        </p:nvSpPr>
        <p:spPr>
          <a:xfrm>
            <a:off x="658368" y="1783080"/>
            <a:ext cx="5327751" cy="16916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1783080"/>
            <a:ext cx="45720" cy="169164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1965960"/>
            <a:ext cx="4815687" cy="1344168"/>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01</a:t>
            </a:r>
          </a:p>
          <a:p>
            <a:pPr algn="l">
              <a:lnSpc>
                <a:spcPct val="100000"/>
              </a:lnSpc>
              <a:spcBef>
                <a:spcPts val="100"/>
              </a:spcBef>
              <a:spcAft>
                <a:spcPts val="0"/>
              </a:spcAft>
            </a:pPr>
            <a:r>
              <a:rPr sz="1400" b="1" i="0">
                <a:solidFill>
                  <a:srgbClr val="1B3A4B"/>
                </a:solidFill>
                <a:latin typeface="Calibri"/>
              </a:rPr>
              <a:t>Body awareness</a:t>
            </a:r>
          </a:p>
          <a:p>
            <a:pPr algn="l">
              <a:lnSpc>
                <a:spcPct val="110000"/>
              </a:lnSpc>
              <a:spcBef>
                <a:spcPts val="400"/>
              </a:spcBef>
              <a:spcAft>
                <a:spcPts val="0"/>
              </a:spcAft>
            </a:pPr>
            <a:r>
              <a:rPr sz="1150" b="0" i="0">
                <a:solidFill>
                  <a:srgbClr val="5F7078"/>
                </a:solidFill>
                <a:latin typeface="Calibri"/>
              </a:rPr>
              <a:t>Notice what happens in her body when she imagines telling her supervisor she cannot take on another assignment — linking thought, emotion and physical response.</a:t>
            </a:r>
          </a:p>
        </p:txBody>
      </p:sp>
      <p:sp>
        <p:nvSpPr>
          <p:cNvPr id="14" name="Rectangle 13"/>
          <p:cNvSpPr/>
          <p:nvPr/>
        </p:nvSpPr>
        <p:spPr>
          <a:xfrm>
            <a:off x="6205575" y="1783080"/>
            <a:ext cx="5327751" cy="16916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205575" y="1783080"/>
            <a:ext cx="45720" cy="169164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61607" y="1965960"/>
            <a:ext cx="4815687" cy="1344168"/>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02</a:t>
            </a:r>
          </a:p>
          <a:p>
            <a:pPr algn="l">
              <a:lnSpc>
                <a:spcPct val="100000"/>
              </a:lnSpc>
              <a:spcBef>
                <a:spcPts val="100"/>
              </a:spcBef>
              <a:spcAft>
                <a:spcPts val="0"/>
              </a:spcAft>
            </a:pPr>
            <a:r>
              <a:rPr sz="1400" b="1" i="0">
                <a:solidFill>
                  <a:srgbClr val="1B3A4B"/>
                </a:solidFill>
                <a:latin typeface="Calibri"/>
              </a:rPr>
              <a:t>Examining the rule</a:t>
            </a:r>
          </a:p>
          <a:p>
            <a:pPr algn="l">
              <a:lnSpc>
                <a:spcPct val="110000"/>
              </a:lnSpc>
              <a:spcBef>
                <a:spcPts val="400"/>
              </a:spcBef>
              <a:spcAft>
                <a:spcPts val="0"/>
              </a:spcAft>
            </a:pPr>
            <a:r>
              <a:rPr sz="1150" b="0" i="0">
                <a:solidFill>
                  <a:srgbClr val="5F7078"/>
                </a:solidFill>
                <a:latin typeface="Calibri"/>
              </a:rPr>
              <a:t>“What does responsibility mean to you?” · “Can a responsible employee acknowledge that a workload is too heavy?” — examining the belief without dismissing the value she places on responsibility.</a:t>
            </a:r>
          </a:p>
        </p:txBody>
      </p:sp>
      <p:sp>
        <p:nvSpPr>
          <p:cNvPr id="17" name="Rectangle 16"/>
          <p:cNvSpPr/>
          <p:nvPr/>
        </p:nvSpPr>
        <p:spPr>
          <a:xfrm>
            <a:off x="658368" y="3657600"/>
            <a:ext cx="5327751" cy="16916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58368" y="3657600"/>
            <a:ext cx="45720" cy="169164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4400" y="3840480"/>
            <a:ext cx="4815687" cy="1344168"/>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03</a:t>
            </a:r>
          </a:p>
          <a:p>
            <a:pPr algn="l">
              <a:lnSpc>
                <a:spcPct val="100000"/>
              </a:lnSpc>
              <a:spcBef>
                <a:spcPts val="100"/>
              </a:spcBef>
              <a:spcAft>
                <a:spcPts val="0"/>
              </a:spcAft>
            </a:pPr>
            <a:r>
              <a:rPr sz="1400" b="1" i="0">
                <a:solidFill>
                  <a:srgbClr val="1B3A4B"/>
                </a:solidFill>
                <a:latin typeface="Calibri"/>
              </a:rPr>
              <a:t>Two-chair work (if willing)</a:t>
            </a:r>
          </a:p>
          <a:p>
            <a:pPr algn="l">
              <a:lnSpc>
                <a:spcPct val="110000"/>
              </a:lnSpc>
              <a:spcBef>
                <a:spcPts val="400"/>
              </a:spcBef>
              <a:spcAft>
                <a:spcPts val="0"/>
              </a:spcAft>
            </a:pPr>
            <a:r>
              <a:rPr sz="1150" b="0" i="0">
                <a:solidFill>
                  <a:srgbClr val="5F7078"/>
                </a:solidFill>
                <a:latin typeface="Calibri"/>
              </a:rPr>
              <a:t>Explore the conflict between the part demanding constant performance and the part needing rest and fairness. Paced according to her comfort and readiness.</a:t>
            </a:r>
          </a:p>
        </p:txBody>
      </p:sp>
      <p:sp>
        <p:nvSpPr>
          <p:cNvPr id="20" name="Rectangle 19"/>
          <p:cNvSpPr/>
          <p:nvPr/>
        </p:nvSpPr>
        <p:spPr>
          <a:xfrm>
            <a:off x="6205575" y="3657600"/>
            <a:ext cx="5327751" cy="16916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205575" y="3657600"/>
            <a:ext cx="45720" cy="169164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61607" y="3840480"/>
            <a:ext cx="4815687" cy="1344168"/>
          </a:xfrm>
          <a:prstGeom prst="rect">
            <a:avLst/>
          </a:prstGeom>
          <a:noFill/>
        </p:spPr>
        <p:txBody>
          <a:bodyPr wrap="square" lIns="0" rIns="0" tIns="0" bIns="0" anchor="t">
            <a:spAutoFit/>
          </a:bodyPr>
          <a:lstStyle/>
          <a:p>
            <a:pPr algn="l">
              <a:lnSpc>
                <a:spcPct val="100000"/>
              </a:lnSpc>
              <a:spcAft>
                <a:spcPts val="0"/>
              </a:spcAft>
            </a:pPr>
            <a:r>
              <a:rPr sz="1200" b="1" i="0">
                <a:solidFill>
                  <a:srgbClr val="C9762F"/>
                </a:solidFill>
                <a:latin typeface="Calibri Light"/>
              </a:rPr>
              <a:t>04</a:t>
            </a:r>
          </a:p>
          <a:p>
            <a:pPr algn="l">
              <a:lnSpc>
                <a:spcPct val="100000"/>
              </a:lnSpc>
              <a:spcBef>
                <a:spcPts val="100"/>
              </a:spcBef>
              <a:spcAft>
                <a:spcPts val="0"/>
              </a:spcAft>
            </a:pPr>
            <a:r>
              <a:rPr sz="1400" b="1" i="0">
                <a:solidFill>
                  <a:srgbClr val="1B3A4B"/>
                </a:solidFill>
                <a:latin typeface="Calibri"/>
              </a:rPr>
              <a:t>Practical planning</a:t>
            </a:r>
          </a:p>
          <a:p>
            <a:pPr algn="l">
              <a:lnSpc>
                <a:spcPct val="110000"/>
              </a:lnSpc>
              <a:spcBef>
                <a:spcPts val="400"/>
              </a:spcBef>
              <a:spcAft>
                <a:spcPts val="0"/>
              </a:spcAft>
            </a:pPr>
            <a:r>
              <a:rPr sz="1150" b="0" i="0">
                <a:solidFill>
                  <a:srgbClr val="5F7078"/>
                </a:solidFill>
                <a:latin typeface="Calibri"/>
              </a:rPr>
              <a:t>Support her to communicate about workload: ask the supervisor to prioritise tasks, clarify deadlines, discuss capacity — weighing workplace realities and the risks of speaking up.</a:t>
            </a:r>
          </a:p>
        </p:txBody>
      </p:sp>
      <p:sp>
        <p:nvSpPr>
          <p:cNvPr id="23" name="Rectangle 22"/>
          <p:cNvSpPr/>
          <p:nvPr/>
        </p:nvSpPr>
        <p:spPr>
          <a:xfrm>
            <a:off x="658368" y="5504688"/>
            <a:ext cx="10874959" cy="65836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5504688"/>
            <a:ext cx="45720" cy="658368"/>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614416"/>
            <a:ext cx="10326319" cy="475488"/>
          </a:xfrm>
          <a:prstGeom prst="rect">
            <a:avLst/>
          </a:prstGeom>
          <a:noFill/>
        </p:spPr>
        <p:txBody>
          <a:bodyPr wrap="square" lIns="0" rIns="0" tIns="0" bIns="0" anchor="t">
            <a:spAutoFit/>
          </a:bodyPr>
          <a:lstStyle/>
          <a:p>
            <a:pPr algn="l">
              <a:lnSpc>
                <a:spcPct val="110000"/>
              </a:lnSpc>
              <a:spcAft>
                <a:spcPts val="0"/>
              </a:spcAft>
            </a:pPr>
            <a:r>
              <a:rPr sz="1250" b="0" i="0">
                <a:solidFill>
                  <a:srgbClr val="FFFFFF"/>
                </a:solidFill>
                <a:latin typeface="Calibri"/>
              </a:rPr>
              <a:t>Success is not refusing every additional duty. It is making deliberate decisions from her responsibilities, limits and working conditions — rather than responding only through fear or guilt.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10</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Strengths of Gestalt Therapy</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24</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(Brownell, 2010)</a:t>
            </a:r>
          </a:p>
        </p:txBody>
      </p:sp>
      <p:sp>
        <p:nvSpPr>
          <p:cNvPr id="12" name="Rectangle 11"/>
          <p:cNvSpPr/>
          <p:nvPr/>
        </p:nvSpPr>
        <p:spPr>
          <a:xfrm>
            <a:off x="658368" y="1810512"/>
            <a:ext cx="3490874" cy="19202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1810512"/>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9536" y="2011680"/>
            <a:ext cx="3088538" cy="1554480"/>
          </a:xfrm>
          <a:prstGeom prst="rect">
            <a:avLst/>
          </a:prstGeom>
          <a:noFill/>
        </p:spPr>
        <p:txBody>
          <a:bodyPr wrap="square" lIns="0" rIns="0" tIns="0" bIns="0" anchor="t">
            <a:spAutoFit/>
          </a:bodyPr>
          <a:lstStyle/>
          <a:p>
            <a:pPr algn="l">
              <a:lnSpc>
                <a:spcPct val="100000"/>
              </a:lnSpc>
              <a:spcAft>
                <a:spcPts val="0"/>
              </a:spcAft>
            </a:pPr>
            <a:r>
              <a:rPr sz="1500" b="1" i="0">
                <a:solidFill>
                  <a:srgbClr val="C9762F"/>
                </a:solidFill>
                <a:latin typeface="Calibri"/>
              </a:rPr>
              <a:t>✓</a:t>
            </a:r>
          </a:p>
          <a:p>
            <a:pPr algn="l">
              <a:lnSpc>
                <a:spcPct val="100000"/>
              </a:lnSpc>
              <a:spcBef>
                <a:spcPts val="200"/>
              </a:spcBef>
              <a:spcAft>
                <a:spcPts val="0"/>
              </a:spcAft>
            </a:pPr>
            <a:r>
              <a:rPr sz="1350" b="1" i="0">
                <a:solidFill>
                  <a:srgbClr val="1B3A4B"/>
                </a:solidFill>
                <a:latin typeface="Calibri"/>
              </a:rPr>
              <a:t>Holistic understanding</a:t>
            </a:r>
          </a:p>
          <a:p>
            <a:pPr algn="l">
              <a:lnSpc>
                <a:spcPct val="108000"/>
              </a:lnSpc>
              <a:spcBef>
                <a:spcPts val="400"/>
              </a:spcBef>
              <a:spcAft>
                <a:spcPts val="0"/>
              </a:spcAft>
            </a:pPr>
            <a:r>
              <a:rPr sz="1100" b="0" i="0">
                <a:solidFill>
                  <a:srgbClr val="5F7078"/>
                </a:solidFill>
                <a:latin typeface="Calibri"/>
              </a:rPr>
              <a:t>Attending to thought, emotion, bodily sensation, behaviour and relationship gives clients a broader picture of their difficulty.</a:t>
            </a:r>
          </a:p>
        </p:txBody>
      </p:sp>
      <p:sp>
        <p:nvSpPr>
          <p:cNvPr id="15" name="Rectangle 14"/>
          <p:cNvSpPr/>
          <p:nvPr/>
        </p:nvSpPr>
        <p:spPr>
          <a:xfrm>
            <a:off x="4350410" y="1810512"/>
            <a:ext cx="3490874" cy="19202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350410" y="1810512"/>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51578" y="2011680"/>
            <a:ext cx="3088538" cy="1554480"/>
          </a:xfrm>
          <a:prstGeom prst="rect">
            <a:avLst/>
          </a:prstGeom>
          <a:noFill/>
        </p:spPr>
        <p:txBody>
          <a:bodyPr wrap="square" lIns="0" rIns="0" tIns="0" bIns="0" anchor="t">
            <a:spAutoFit/>
          </a:bodyPr>
          <a:lstStyle/>
          <a:p>
            <a:pPr algn="l">
              <a:lnSpc>
                <a:spcPct val="100000"/>
              </a:lnSpc>
              <a:spcAft>
                <a:spcPts val="0"/>
              </a:spcAft>
            </a:pPr>
            <a:r>
              <a:rPr sz="1500" b="1" i="0">
                <a:solidFill>
                  <a:srgbClr val="C9762F"/>
                </a:solidFill>
                <a:latin typeface="Calibri"/>
              </a:rPr>
              <a:t>✓</a:t>
            </a:r>
          </a:p>
          <a:p>
            <a:pPr algn="l">
              <a:lnSpc>
                <a:spcPct val="100000"/>
              </a:lnSpc>
              <a:spcBef>
                <a:spcPts val="200"/>
              </a:spcBef>
              <a:spcAft>
                <a:spcPts val="0"/>
              </a:spcAft>
            </a:pPr>
            <a:r>
              <a:rPr sz="1350" b="1" i="0">
                <a:solidFill>
                  <a:srgbClr val="1B3A4B"/>
                </a:solidFill>
                <a:latin typeface="Calibri"/>
              </a:rPr>
              <a:t>Emphasis on awareness</a:t>
            </a:r>
          </a:p>
          <a:p>
            <a:pPr algn="l">
              <a:lnSpc>
                <a:spcPct val="108000"/>
              </a:lnSpc>
              <a:spcBef>
                <a:spcPts val="400"/>
              </a:spcBef>
              <a:spcAft>
                <a:spcPts val="0"/>
              </a:spcAft>
            </a:pPr>
            <a:r>
              <a:rPr sz="1100" b="0" i="0">
                <a:solidFill>
                  <a:srgbClr val="5F7078"/>
                </a:solidFill>
                <a:latin typeface="Calibri"/>
              </a:rPr>
              <a:t>Patterns that operated automatically become visible, creating openings for more deliberate response.</a:t>
            </a:r>
          </a:p>
        </p:txBody>
      </p:sp>
      <p:sp>
        <p:nvSpPr>
          <p:cNvPr id="18" name="Rectangle 17"/>
          <p:cNvSpPr/>
          <p:nvPr/>
        </p:nvSpPr>
        <p:spPr>
          <a:xfrm>
            <a:off x="8042452" y="1810512"/>
            <a:ext cx="3490874" cy="19202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42452" y="1810512"/>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43620" y="2011680"/>
            <a:ext cx="3088538" cy="1554480"/>
          </a:xfrm>
          <a:prstGeom prst="rect">
            <a:avLst/>
          </a:prstGeom>
          <a:noFill/>
        </p:spPr>
        <p:txBody>
          <a:bodyPr wrap="square" lIns="0" rIns="0" tIns="0" bIns="0" anchor="t">
            <a:spAutoFit/>
          </a:bodyPr>
          <a:lstStyle/>
          <a:p>
            <a:pPr algn="l">
              <a:lnSpc>
                <a:spcPct val="100000"/>
              </a:lnSpc>
              <a:spcAft>
                <a:spcPts val="0"/>
              </a:spcAft>
            </a:pPr>
            <a:r>
              <a:rPr sz="1500" b="1" i="0">
                <a:solidFill>
                  <a:srgbClr val="C9762F"/>
                </a:solidFill>
                <a:latin typeface="Calibri"/>
              </a:rPr>
              <a:t>✓</a:t>
            </a:r>
          </a:p>
          <a:p>
            <a:pPr algn="l">
              <a:lnSpc>
                <a:spcPct val="100000"/>
              </a:lnSpc>
              <a:spcBef>
                <a:spcPts val="200"/>
              </a:spcBef>
              <a:spcAft>
                <a:spcPts val="0"/>
              </a:spcAft>
            </a:pPr>
            <a:r>
              <a:rPr sz="1350" b="1" i="0">
                <a:solidFill>
                  <a:srgbClr val="1B3A4B"/>
                </a:solidFill>
                <a:latin typeface="Calibri"/>
              </a:rPr>
              <a:t>Experiential techniques</a:t>
            </a:r>
          </a:p>
          <a:p>
            <a:pPr algn="l">
              <a:lnSpc>
                <a:spcPct val="108000"/>
              </a:lnSpc>
              <a:spcBef>
                <a:spcPts val="400"/>
              </a:spcBef>
              <a:spcAft>
                <a:spcPts val="0"/>
              </a:spcAft>
            </a:pPr>
            <a:r>
              <a:rPr sz="1100" b="0" i="0">
                <a:solidFill>
                  <a:srgbClr val="5F7078"/>
                </a:solidFill>
                <a:latin typeface="Calibri"/>
              </a:rPr>
              <a:t>Emotions and relationship patterns can be explored directly rather than only discussed abstractly — helping clients articulate feelings that resist words.</a:t>
            </a:r>
          </a:p>
        </p:txBody>
      </p:sp>
      <p:sp>
        <p:nvSpPr>
          <p:cNvPr id="21" name="Rectangle 20"/>
          <p:cNvSpPr/>
          <p:nvPr/>
        </p:nvSpPr>
        <p:spPr>
          <a:xfrm>
            <a:off x="658368" y="3931920"/>
            <a:ext cx="3490874" cy="19202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58368" y="3931920"/>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59536" y="4133088"/>
            <a:ext cx="3088538" cy="1554480"/>
          </a:xfrm>
          <a:prstGeom prst="rect">
            <a:avLst/>
          </a:prstGeom>
          <a:noFill/>
        </p:spPr>
        <p:txBody>
          <a:bodyPr wrap="square" lIns="0" rIns="0" tIns="0" bIns="0" anchor="t">
            <a:spAutoFit/>
          </a:bodyPr>
          <a:lstStyle/>
          <a:p>
            <a:pPr algn="l">
              <a:lnSpc>
                <a:spcPct val="100000"/>
              </a:lnSpc>
              <a:spcAft>
                <a:spcPts val="0"/>
              </a:spcAft>
            </a:pPr>
            <a:r>
              <a:rPr sz="1500" b="1" i="0">
                <a:solidFill>
                  <a:srgbClr val="C9762F"/>
                </a:solidFill>
                <a:latin typeface="Calibri"/>
              </a:rPr>
              <a:t>✓</a:t>
            </a:r>
          </a:p>
          <a:p>
            <a:pPr algn="l">
              <a:lnSpc>
                <a:spcPct val="100000"/>
              </a:lnSpc>
              <a:spcBef>
                <a:spcPts val="200"/>
              </a:spcBef>
              <a:spcAft>
                <a:spcPts val="0"/>
              </a:spcAft>
            </a:pPr>
            <a:r>
              <a:rPr sz="1350" b="1" i="0">
                <a:solidFill>
                  <a:srgbClr val="1B3A4B"/>
                </a:solidFill>
                <a:latin typeface="Calibri"/>
              </a:rPr>
              <a:t>Agency and responsibility</a:t>
            </a:r>
          </a:p>
          <a:p>
            <a:pPr algn="l">
              <a:lnSpc>
                <a:spcPct val="108000"/>
              </a:lnSpc>
              <a:spcBef>
                <a:spcPts val="400"/>
              </a:spcBef>
              <a:spcAft>
                <a:spcPts val="0"/>
              </a:spcAft>
            </a:pPr>
            <a:r>
              <a:rPr sz="1100" b="0" i="0">
                <a:solidFill>
                  <a:srgbClr val="5F7078"/>
                </a:solidFill>
                <a:latin typeface="Calibri"/>
              </a:rPr>
              <a:t>Clients identify where choice is genuinely available, while recognising the limits imposed by their environment.</a:t>
            </a:r>
          </a:p>
        </p:txBody>
      </p:sp>
      <p:sp>
        <p:nvSpPr>
          <p:cNvPr id="24" name="Rectangle 23"/>
          <p:cNvSpPr/>
          <p:nvPr/>
        </p:nvSpPr>
        <p:spPr>
          <a:xfrm>
            <a:off x="4350410" y="3931920"/>
            <a:ext cx="3490874" cy="19202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350410" y="3931920"/>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51578" y="4133088"/>
            <a:ext cx="3088538" cy="1554480"/>
          </a:xfrm>
          <a:prstGeom prst="rect">
            <a:avLst/>
          </a:prstGeom>
          <a:noFill/>
        </p:spPr>
        <p:txBody>
          <a:bodyPr wrap="square" lIns="0" rIns="0" tIns="0" bIns="0" anchor="t">
            <a:spAutoFit/>
          </a:bodyPr>
          <a:lstStyle/>
          <a:p>
            <a:pPr algn="l">
              <a:lnSpc>
                <a:spcPct val="100000"/>
              </a:lnSpc>
              <a:spcAft>
                <a:spcPts val="0"/>
              </a:spcAft>
            </a:pPr>
            <a:r>
              <a:rPr sz="1500" b="1" i="0">
                <a:solidFill>
                  <a:srgbClr val="C9762F"/>
                </a:solidFill>
                <a:latin typeface="Calibri"/>
              </a:rPr>
              <a:t>✓</a:t>
            </a:r>
          </a:p>
          <a:p>
            <a:pPr algn="l">
              <a:lnSpc>
                <a:spcPct val="100000"/>
              </a:lnSpc>
              <a:spcBef>
                <a:spcPts val="200"/>
              </a:spcBef>
              <a:spcAft>
                <a:spcPts val="0"/>
              </a:spcAft>
            </a:pPr>
            <a:r>
              <a:rPr sz="1350" b="1" i="0">
                <a:solidFill>
                  <a:srgbClr val="1B3A4B"/>
                </a:solidFill>
                <a:latin typeface="Calibri"/>
              </a:rPr>
              <a:t>Contextual field perspective</a:t>
            </a:r>
          </a:p>
          <a:p>
            <a:pPr algn="l">
              <a:lnSpc>
                <a:spcPct val="108000"/>
              </a:lnSpc>
              <a:spcBef>
                <a:spcPts val="400"/>
              </a:spcBef>
              <a:spcAft>
                <a:spcPts val="0"/>
              </a:spcAft>
            </a:pPr>
            <a:r>
              <a:rPr sz="1100" b="0" i="0">
                <a:solidFill>
                  <a:srgbClr val="5F7078"/>
                </a:solidFill>
                <a:latin typeface="Calibri"/>
              </a:rPr>
              <a:t>Applied carefully, field theory discourages counsellors from reducing complex difficulties to individual weaknesses.</a:t>
            </a:r>
          </a:p>
        </p:txBody>
      </p:sp>
      <p:sp>
        <p:nvSpPr>
          <p:cNvPr id="27" name="Rectangle 26"/>
          <p:cNvSpPr/>
          <p:nvPr/>
        </p:nvSpPr>
        <p:spPr>
          <a:xfrm>
            <a:off x="8042452" y="3931920"/>
            <a:ext cx="3490874" cy="1920240"/>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042452" y="3931920"/>
            <a:ext cx="3490874" cy="45720"/>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43620" y="4133088"/>
            <a:ext cx="3088538" cy="1554480"/>
          </a:xfrm>
          <a:prstGeom prst="rect">
            <a:avLst/>
          </a:prstGeom>
          <a:noFill/>
        </p:spPr>
        <p:txBody>
          <a:bodyPr wrap="square" lIns="0" rIns="0" tIns="0" bIns="0" anchor="t">
            <a:spAutoFit/>
          </a:bodyPr>
          <a:lstStyle/>
          <a:p>
            <a:pPr algn="l">
              <a:lnSpc>
                <a:spcPct val="100000"/>
              </a:lnSpc>
              <a:spcAft>
                <a:spcPts val="0"/>
              </a:spcAft>
            </a:pPr>
            <a:r>
              <a:rPr sz="1500" b="1" i="0">
                <a:solidFill>
                  <a:srgbClr val="C9762F"/>
                </a:solidFill>
                <a:latin typeface="Calibri"/>
              </a:rPr>
              <a:t>✓</a:t>
            </a:r>
          </a:p>
          <a:p>
            <a:pPr algn="l">
              <a:lnSpc>
                <a:spcPct val="100000"/>
              </a:lnSpc>
              <a:spcBef>
                <a:spcPts val="200"/>
              </a:spcBef>
              <a:spcAft>
                <a:spcPts val="0"/>
              </a:spcAft>
            </a:pPr>
            <a:r>
              <a:rPr sz="1350" b="1" i="0">
                <a:solidFill>
                  <a:srgbClr val="1B3A4B"/>
                </a:solidFill>
                <a:latin typeface="Calibri"/>
              </a:rPr>
              <a:t>Enduring influence</a:t>
            </a:r>
          </a:p>
          <a:p>
            <a:pPr algn="l">
              <a:lnSpc>
                <a:spcPct val="108000"/>
              </a:lnSpc>
              <a:spcBef>
                <a:spcPts val="400"/>
              </a:spcBef>
              <a:spcAft>
                <a:spcPts val="0"/>
              </a:spcAft>
            </a:pPr>
            <a:r>
              <a:rPr sz="1100" b="0" i="0">
                <a:solidFill>
                  <a:srgbClr val="5F7078"/>
                </a:solidFill>
                <a:latin typeface="Calibri"/>
              </a:rPr>
              <a:t>These features explain why Gestalt principles and experiential methods continue to inform contemporary counselling and psychotherapy.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 11</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Limitations and Criticisms</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25</a:t>
            </a:r>
          </a:p>
        </p:txBody>
      </p:sp>
      <p:sp>
        <p:nvSpPr>
          <p:cNvPr id="11" name="TextBox 10"/>
          <p:cNvSpPr txBox="1"/>
          <p:nvPr/>
        </p:nvSpPr>
        <p:spPr>
          <a:xfrm>
            <a:off x="658368" y="5989320"/>
            <a:ext cx="10874959" cy="237744"/>
          </a:xfrm>
          <a:prstGeom prst="rect">
            <a:avLst/>
          </a:prstGeom>
          <a:noFill/>
        </p:spPr>
        <p:txBody>
          <a:bodyPr wrap="square" lIns="0" rIns="0" tIns="0" bIns="0" anchor="t">
            <a:spAutoFit/>
          </a:bodyPr>
          <a:lstStyle/>
          <a:p>
            <a:pPr algn="l">
              <a:lnSpc>
                <a:spcPct val="100000"/>
              </a:lnSpc>
              <a:spcAft>
                <a:spcPts val="400"/>
              </a:spcAft>
            </a:pPr>
            <a:r>
              <a:rPr sz="1000" b="0" i="1">
                <a:solidFill>
                  <a:srgbClr val="5F7078"/>
                </a:solidFill>
                <a:latin typeface="Calibri"/>
              </a:rPr>
              <a:t>(Wheeler &amp; Axelsson, 2015)</a:t>
            </a:r>
          </a:p>
        </p:txBody>
      </p:sp>
      <p:sp>
        <p:nvSpPr>
          <p:cNvPr id="12" name="Rectangle 11"/>
          <p:cNvSpPr/>
          <p:nvPr/>
        </p:nvSpPr>
        <p:spPr>
          <a:xfrm>
            <a:off x="658368" y="1783080"/>
            <a:ext cx="10874959" cy="74980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1783080"/>
            <a:ext cx="45720" cy="749808"/>
          </a:xfrm>
          <a:prstGeom prst="rect">
            <a:avLst/>
          </a:prstGeom>
          <a:solidFill>
            <a:srgbClr val="B0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1911095"/>
            <a:ext cx="3063240" cy="512064"/>
          </a:xfrm>
          <a:prstGeom prst="rect">
            <a:avLst/>
          </a:prstGeom>
          <a:noFill/>
        </p:spPr>
        <p:txBody>
          <a:bodyPr wrap="square" lIns="0" rIns="0" tIns="0" bIns="0" anchor="t">
            <a:spAutoFit/>
          </a:bodyPr>
          <a:lstStyle/>
          <a:p>
            <a:pPr algn="l">
              <a:lnSpc>
                <a:spcPct val="100000"/>
              </a:lnSpc>
              <a:spcAft>
                <a:spcPts val="0"/>
              </a:spcAft>
            </a:pPr>
            <a:r>
              <a:rPr sz="1250" b="1" i="0">
                <a:solidFill>
                  <a:srgbClr val="1B3A4B"/>
                </a:solidFill>
                <a:latin typeface="Calibri"/>
              </a:rPr>
              <a:t>Intensity of experiential work</a:t>
            </a:r>
          </a:p>
        </p:txBody>
      </p:sp>
      <p:sp>
        <p:nvSpPr>
          <p:cNvPr id="15" name="TextBox 14"/>
          <p:cNvSpPr txBox="1"/>
          <p:nvPr/>
        </p:nvSpPr>
        <p:spPr>
          <a:xfrm>
            <a:off x="4087368" y="1901952"/>
            <a:ext cx="7171639" cy="548640"/>
          </a:xfrm>
          <a:prstGeom prst="rect">
            <a:avLst/>
          </a:prstGeom>
          <a:noFill/>
        </p:spPr>
        <p:txBody>
          <a:bodyPr wrap="square" lIns="0" rIns="0" tIns="0" bIns="0" anchor="t">
            <a:spAutoFit/>
          </a:bodyPr>
          <a:lstStyle/>
          <a:p>
            <a:pPr algn="l">
              <a:lnSpc>
                <a:spcPct val="108000"/>
              </a:lnSpc>
              <a:spcAft>
                <a:spcPts val="0"/>
              </a:spcAft>
            </a:pPr>
            <a:r>
              <a:rPr sz="1100" b="0" i="0">
                <a:solidFill>
                  <a:srgbClr val="5F7078"/>
                </a:solidFill>
                <a:latin typeface="Calibri"/>
              </a:rPr>
              <a:t>Some techniques evoke intense emotion and may be unsuitable without adequate preparation, consent and attention to readiness. Counsellors need appropriate training.</a:t>
            </a:r>
          </a:p>
        </p:txBody>
      </p:sp>
      <p:sp>
        <p:nvSpPr>
          <p:cNvPr id="16" name="Rectangle 15"/>
          <p:cNvSpPr/>
          <p:nvPr/>
        </p:nvSpPr>
        <p:spPr>
          <a:xfrm>
            <a:off x="658368" y="2624328"/>
            <a:ext cx="10874959" cy="749808"/>
          </a:xfrm>
          <a:prstGeom prst="rect">
            <a:avLst/>
          </a:prstGeom>
          <a:solidFill>
            <a:srgbClr val="FFFFFF"/>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58368" y="2624328"/>
            <a:ext cx="45720" cy="749808"/>
          </a:xfrm>
          <a:prstGeom prst="rect">
            <a:avLst/>
          </a:prstGeom>
          <a:solidFill>
            <a:srgbClr val="B0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2752344"/>
            <a:ext cx="3063240" cy="512064"/>
          </a:xfrm>
          <a:prstGeom prst="rect">
            <a:avLst/>
          </a:prstGeom>
          <a:noFill/>
        </p:spPr>
        <p:txBody>
          <a:bodyPr wrap="square" lIns="0" rIns="0" tIns="0" bIns="0" anchor="t">
            <a:spAutoFit/>
          </a:bodyPr>
          <a:lstStyle/>
          <a:p>
            <a:pPr algn="l">
              <a:lnSpc>
                <a:spcPct val="100000"/>
              </a:lnSpc>
              <a:spcAft>
                <a:spcPts val="0"/>
              </a:spcAft>
            </a:pPr>
            <a:r>
              <a:rPr sz="1250" b="1" i="0">
                <a:solidFill>
                  <a:srgbClr val="1B3A4B"/>
                </a:solidFill>
                <a:latin typeface="Calibri"/>
              </a:rPr>
              <a:t>Risk of minimising the past</a:t>
            </a:r>
          </a:p>
        </p:txBody>
      </p:sp>
      <p:sp>
        <p:nvSpPr>
          <p:cNvPr id="19" name="TextBox 18"/>
          <p:cNvSpPr txBox="1"/>
          <p:nvPr/>
        </p:nvSpPr>
        <p:spPr>
          <a:xfrm>
            <a:off x="4087368" y="2743200"/>
            <a:ext cx="7171639" cy="548640"/>
          </a:xfrm>
          <a:prstGeom prst="rect">
            <a:avLst/>
          </a:prstGeom>
          <a:noFill/>
        </p:spPr>
        <p:txBody>
          <a:bodyPr wrap="square" lIns="0" rIns="0" tIns="0" bIns="0" anchor="t">
            <a:spAutoFit/>
          </a:bodyPr>
          <a:lstStyle/>
          <a:p>
            <a:pPr algn="l">
              <a:lnSpc>
                <a:spcPct val="108000"/>
              </a:lnSpc>
              <a:spcAft>
                <a:spcPts val="0"/>
              </a:spcAft>
            </a:pPr>
            <a:r>
              <a:rPr sz="1100" b="0" i="0">
                <a:solidFill>
                  <a:srgbClr val="5F7078"/>
                </a:solidFill>
                <a:latin typeface="Calibri"/>
              </a:rPr>
              <a:t>The emphasis on present experience can be misunderstood as dismissing history. The past can be explored through its current effects, but historical and contextual factors must not be overlooked.</a:t>
            </a:r>
          </a:p>
        </p:txBody>
      </p:sp>
      <p:sp>
        <p:nvSpPr>
          <p:cNvPr id="20" name="Rectangle 19"/>
          <p:cNvSpPr/>
          <p:nvPr/>
        </p:nvSpPr>
        <p:spPr>
          <a:xfrm>
            <a:off x="658368" y="3465576"/>
            <a:ext cx="10874959" cy="74980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58368" y="3465576"/>
            <a:ext cx="45720" cy="749808"/>
          </a:xfrm>
          <a:prstGeom prst="rect">
            <a:avLst/>
          </a:prstGeom>
          <a:solidFill>
            <a:srgbClr val="B0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3593592"/>
            <a:ext cx="3063240" cy="512064"/>
          </a:xfrm>
          <a:prstGeom prst="rect">
            <a:avLst/>
          </a:prstGeom>
          <a:noFill/>
        </p:spPr>
        <p:txBody>
          <a:bodyPr wrap="square" lIns="0" rIns="0" tIns="0" bIns="0" anchor="t">
            <a:spAutoFit/>
          </a:bodyPr>
          <a:lstStyle/>
          <a:p>
            <a:pPr algn="l">
              <a:lnSpc>
                <a:spcPct val="100000"/>
              </a:lnSpc>
              <a:spcAft>
                <a:spcPts val="0"/>
              </a:spcAft>
            </a:pPr>
            <a:r>
              <a:rPr sz="1250" b="1" i="0">
                <a:solidFill>
                  <a:srgbClr val="1B3A4B"/>
                </a:solidFill>
                <a:latin typeface="Calibri"/>
              </a:rPr>
              <a:t>Misuse of “responsibility”</a:t>
            </a:r>
          </a:p>
        </p:txBody>
      </p:sp>
      <p:sp>
        <p:nvSpPr>
          <p:cNvPr id="23" name="TextBox 22"/>
          <p:cNvSpPr txBox="1"/>
          <p:nvPr/>
        </p:nvSpPr>
        <p:spPr>
          <a:xfrm>
            <a:off x="4087368" y="3584448"/>
            <a:ext cx="7171639" cy="548640"/>
          </a:xfrm>
          <a:prstGeom prst="rect">
            <a:avLst/>
          </a:prstGeom>
          <a:noFill/>
        </p:spPr>
        <p:txBody>
          <a:bodyPr wrap="square" lIns="0" rIns="0" tIns="0" bIns="0" anchor="t">
            <a:spAutoFit/>
          </a:bodyPr>
          <a:lstStyle/>
          <a:p>
            <a:pPr algn="l">
              <a:lnSpc>
                <a:spcPct val="108000"/>
              </a:lnSpc>
              <a:spcAft>
                <a:spcPts val="0"/>
              </a:spcAft>
            </a:pPr>
            <a:r>
              <a:rPr sz="1100" b="0" i="0">
                <a:solidFill>
                  <a:srgbClr val="5F7078"/>
                </a:solidFill>
                <a:latin typeface="Calibri"/>
              </a:rPr>
              <a:t>If environmental constraints, trauma, social inequality or power differences are ignored, clients may feel blamed for circumstances they did not create.</a:t>
            </a:r>
          </a:p>
        </p:txBody>
      </p:sp>
      <p:sp>
        <p:nvSpPr>
          <p:cNvPr id="24" name="Rectangle 23"/>
          <p:cNvSpPr/>
          <p:nvPr/>
        </p:nvSpPr>
        <p:spPr>
          <a:xfrm>
            <a:off x="658368" y="4306824"/>
            <a:ext cx="10874959" cy="749808"/>
          </a:xfrm>
          <a:prstGeom prst="rect">
            <a:avLst/>
          </a:prstGeom>
          <a:solidFill>
            <a:srgbClr val="FFFFFF"/>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58368" y="4306824"/>
            <a:ext cx="45720" cy="749808"/>
          </a:xfrm>
          <a:prstGeom prst="rect">
            <a:avLst/>
          </a:prstGeom>
          <a:solidFill>
            <a:srgbClr val="B0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2688" y="4434840"/>
            <a:ext cx="3063240" cy="512064"/>
          </a:xfrm>
          <a:prstGeom prst="rect">
            <a:avLst/>
          </a:prstGeom>
          <a:noFill/>
        </p:spPr>
        <p:txBody>
          <a:bodyPr wrap="square" lIns="0" rIns="0" tIns="0" bIns="0" anchor="t">
            <a:spAutoFit/>
          </a:bodyPr>
          <a:lstStyle/>
          <a:p>
            <a:pPr algn="l">
              <a:lnSpc>
                <a:spcPct val="100000"/>
              </a:lnSpc>
              <a:spcAft>
                <a:spcPts val="0"/>
              </a:spcAft>
            </a:pPr>
            <a:r>
              <a:rPr sz="1250" b="1" i="0">
                <a:solidFill>
                  <a:srgbClr val="1B3A4B"/>
                </a:solidFill>
                <a:latin typeface="Calibri"/>
              </a:rPr>
              <a:t>Not every client wants this</a:t>
            </a:r>
          </a:p>
        </p:txBody>
      </p:sp>
      <p:sp>
        <p:nvSpPr>
          <p:cNvPr id="27" name="TextBox 26"/>
          <p:cNvSpPr txBox="1"/>
          <p:nvPr/>
        </p:nvSpPr>
        <p:spPr>
          <a:xfrm>
            <a:off x="4087368" y="4425696"/>
            <a:ext cx="7171639" cy="548640"/>
          </a:xfrm>
          <a:prstGeom prst="rect">
            <a:avLst/>
          </a:prstGeom>
          <a:noFill/>
        </p:spPr>
        <p:txBody>
          <a:bodyPr wrap="square" lIns="0" rIns="0" tIns="0" bIns="0" anchor="t">
            <a:spAutoFit/>
          </a:bodyPr>
          <a:lstStyle/>
          <a:p>
            <a:pPr algn="l">
              <a:lnSpc>
                <a:spcPct val="108000"/>
              </a:lnSpc>
              <a:spcAft>
                <a:spcPts val="0"/>
              </a:spcAft>
            </a:pPr>
            <a:r>
              <a:rPr sz="1100" b="0" i="0">
                <a:solidFill>
                  <a:srgbClr val="5F7078"/>
                </a:solidFill>
                <a:latin typeface="Calibri"/>
              </a:rPr>
              <a:t>Some clients are uncomfortable with direct experiential exercises and prefer structured, skills-based or explicitly cognitive work. Interventions must adapt to the client.</a:t>
            </a:r>
          </a:p>
        </p:txBody>
      </p:sp>
      <p:sp>
        <p:nvSpPr>
          <p:cNvPr id="28" name="Rectangle 27"/>
          <p:cNvSpPr/>
          <p:nvPr/>
        </p:nvSpPr>
        <p:spPr>
          <a:xfrm>
            <a:off x="658368" y="5148072"/>
            <a:ext cx="10874959" cy="749808"/>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58368" y="5148072"/>
            <a:ext cx="45720" cy="749808"/>
          </a:xfrm>
          <a:prstGeom prst="rect">
            <a:avLst/>
          </a:prstGeom>
          <a:solidFill>
            <a:srgbClr val="B0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2688" y="5276088"/>
            <a:ext cx="3063240" cy="512064"/>
          </a:xfrm>
          <a:prstGeom prst="rect">
            <a:avLst/>
          </a:prstGeom>
          <a:noFill/>
        </p:spPr>
        <p:txBody>
          <a:bodyPr wrap="square" lIns="0" rIns="0" tIns="0" bIns="0" anchor="t">
            <a:spAutoFit/>
          </a:bodyPr>
          <a:lstStyle/>
          <a:p>
            <a:pPr algn="l">
              <a:lnSpc>
                <a:spcPct val="100000"/>
              </a:lnSpc>
              <a:spcAft>
                <a:spcPts val="0"/>
              </a:spcAft>
            </a:pPr>
            <a:r>
              <a:rPr sz="1250" b="1" i="0">
                <a:solidFill>
                  <a:srgbClr val="1B3A4B"/>
                </a:solidFill>
                <a:latin typeface="Calibri"/>
              </a:rPr>
              <a:t>Uneven evidence base</a:t>
            </a:r>
          </a:p>
        </p:txBody>
      </p:sp>
      <p:sp>
        <p:nvSpPr>
          <p:cNvPr id="31" name="TextBox 30"/>
          <p:cNvSpPr txBox="1"/>
          <p:nvPr/>
        </p:nvSpPr>
        <p:spPr>
          <a:xfrm>
            <a:off x="4087368" y="5266944"/>
            <a:ext cx="7171639" cy="548640"/>
          </a:xfrm>
          <a:prstGeom prst="rect">
            <a:avLst/>
          </a:prstGeom>
          <a:noFill/>
        </p:spPr>
        <p:txBody>
          <a:bodyPr wrap="square" lIns="0" rIns="0" tIns="0" bIns="0" anchor="t">
            <a:spAutoFit/>
          </a:bodyPr>
          <a:lstStyle/>
          <a:p>
            <a:pPr algn="l">
              <a:lnSpc>
                <a:spcPct val="108000"/>
              </a:lnSpc>
              <a:spcAft>
                <a:spcPts val="0"/>
              </a:spcAft>
            </a:pPr>
            <a:r>
              <a:rPr sz="1100" b="0" i="0">
                <a:solidFill>
                  <a:srgbClr val="5F7078"/>
                </a:solidFill>
                <a:latin typeface="Calibri"/>
              </a:rPr>
              <a:t>Evidence varies across Gestalt interventions and problems. Research on one technique does not establish that all Gestalt methods work for every client. Effectiveness claims need relevant research, not theory alone.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SECTIONS 12 &amp; 13</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Critical Evaluation and Conclusion</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26</a:t>
            </a:r>
          </a:p>
        </p:txBody>
      </p:sp>
      <p:sp>
        <p:nvSpPr>
          <p:cNvPr id="11" name="Rectangle 10"/>
          <p:cNvSpPr/>
          <p:nvPr/>
        </p:nvSpPr>
        <p:spPr>
          <a:xfrm>
            <a:off x="658368" y="1783080"/>
            <a:ext cx="5138928" cy="2404872"/>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1783080"/>
            <a:ext cx="41148" cy="2404872"/>
          </a:xfrm>
          <a:prstGeom prst="rect">
            <a:avLst/>
          </a:prstGeom>
          <a:solidFill>
            <a:srgbClr val="2E7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6112" y="1956816"/>
            <a:ext cx="4681728"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2E7D8F"/>
                </a:solidFill>
                <a:latin typeface="Calibri Light"/>
              </a:rPr>
              <a:t>WHAT THE APPROACH CONTRIBUTES</a:t>
            </a:r>
          </a:p>
        </p:txBody>
      </p:sp>
      <p:sp>
        <p:nvSpPr>
          <p:cNvPr id="14" name="TextBox 13"/>
          <p:cNvSpPr txBox="1"/>
          <p:nvPr/>
        </p:nvSpPr>
        <p:spPr>
          <a:xfrm>
            <a:off x="896112" y="2267712"/>
            <a:ext cx="4663440" cy="1773936"/>
          </a:xfrm>
          <a:prstGeom prst="rect">
            <a:avLst/>
          </a:prstGeom>
          <a:noFill/>
        </p:spPr>
        <p:txBody>
          <a:bodyPr wrap="square" lIns="0" rIns="0" tIns="0" bIns="0" anchor="t">
            <a:spAutoFit/>
          </a:bodyPr>
          <a:lstStyle/>
          <a:p>
            <a:pPr algn="l">
              <a:lnSpc>
                <a:spcPct val="105000"/>
              </a:lnSpc>
              <a:spcAft>
                <a:spcPts val="500"/>
              </a:spcAft>
            </a:pPr>
            <a:r>
              <a:rPr sz="1200" b="0">
                <a:solidFill>
                  <a:srgbClr val="C9762F"/>
                </a:solidFill>
                <a:latin typeface="Calibri"/>
              </a:rPr>
              <a:t>–   </a:t>
            </a:r>
            <a:r>
              <a:rPr sz="1200" b="0" i="0">
                <a:solidFill>
                  <a:srgbClr val="1B3A4B"/>
                </a:solidFill>
                <a:latin typeface="Calibri"/>
              </a:rPr>
              <a:t>A framework for understanding how awareness, unresolved emotion, contact patterns and environment shape functioning</a:t>
            </a:r>
          </a:p>
          <a:p>
            <a:pPr algn="l">
              <a:lnSpc>
                <a:spcPct val="105000"/>
              </a:lnSpc>
              <a:spcAft>
                <a:spcPts val="500"/>
              </a:spcAft>
            </a:pPr>
            <a:r>
              <a:rPr sz="1200" b="0">
                <a:solidFill>
                  <a:srgbClr val="C9762F"/>
                </a:solidFill>
                <a:latin typeface="Calibri"/>
              </a:rPr>
              <a:t>–   </a:t>
            </a:r>
            <a:r>
              <a:rPr sz="1200" b="0" i="0">
                <a:solidFill>
                  <a:srgbClr val="1B3A4B"/>
                </a:solidFill>
                <a:latin typeface="Calibri"/>
              </a:rPr>
              <a:t>Its central contribution is not “living in the present” — it is showing how we experience our world and how established responses shape our choices</a:t>
            </a:r>
          </a:p>
          <a:p>
            <a:pPr algn="l">
              <a:lnSpc>
                <a:spcPct val="105000"/>
              </a:lnSpc>
              <a:spcAft>
                <a:spcPts val="500"/>
              </a:spcAft>
            </a:pPr>
            <a:r>
              <a:rPr sz="1200" b="0">
                <a:solidFill>
                  <a:srgbClr val="C9762F"/>
                </a:solidFill>
                <a:latin typeface="Calibri"/>
              </a:rPr>
              <a:t>–   </a:t>
            </a:r>
            <a:r>
              <a:rPr sz="1200" b="0" i="0">
                <a:solidFill>
                  <a:srgbClr val="1B3A4B"/>
                </a:solidFill>
                <a:latin typeface="Calibri"/>
              </a:rPr>
              <a:t>The five disturbances are most useful as exploratory frameworks, applied tentatively and with attention to the client's own understanding</a:t>
            </a:r>
          </a:p>
        </p:txBody>
      </p:sp>
      <p:sp>
        <p:nvSpPr>
          <p:cNvPr id="15" name="Rectangle 14"/>
          <p:cNvSpPr/>
          <p:nvPr/>
        </p:nvSpPr>
        <p:spPr>
          <a:xfrm>
            <a:off x="5980176" y="1783080"/>
            <a:ext cx="5553151" cy="2404872"/>
          </a:xfrm>
          <a:prstGeom prst="rect">
            <a:avLst/>
          </a:prstGeom>
          <a:solidFill>
            <a:srgbClr val="F4F7F8"/>
          </a:solidFill>
          <a:ln w="9525">
            <a:solidFill>
              <a:srgbClr val="D8E1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980176" y="1783080"/>
            <a:ext cx="41148" cy="2404872"/>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0" y="1956816"/>
            <a:ext cx="5095951" cy="219456"/>
          </a:xfrm>
          <a:prstGeom prst="rect">
            <a:avLst/>
          </a:prstGeom>
          <a:noFill/>
        </p:spPr>
        <p:txBody>
          <a:bodyPr wrap="square" lIns="0" rIns="0" tIns="0" bIns="0" anchor="t">
            <a:spAutoFit/>
          </a:bodyPr>
          <a:lstStyle/>
          <a:p>
            <a:pPr algn="l">
              <a:lnSpc>
                <a:spcPct val="100000"/>
              </a:lnSpc>
              <a:spcAft>
                <a:spcPts val="400"/>
              </a:spcAft>
            </a:pPr>
            <a:r>
              <a:rPr sz="1050" b="1" i="0">
                <a:solidFill>
                  <a:srgbClr val="C9762F"/>
                </a:solidFill>
                <a:latin typeface="Calibri Light"/>
              </a:rPr>
              <a:t>WHAT IT NEEDS IN ORDER TO WORK</a:t>
            </a:r>
          </a:p>
        </p:txBody>
      </p:sp>
      <p:sp>
        <p:nvSpPr>
          <p:cNvPr id="18" name="TextBox 17"/>
          <p:cNvSpPr txBox="1"/>
          <p:nvPr/>
        </p:nvSpPr>
        <p:spPr>
          <a:xfrm>
            <a:off x="6217920" y="2267712"/>
            <a:ext cx="5077663" cy="1773936"/>
          </a:xfrm>
          <a:prstGeom prst="rect">
            <a:avLst/>
          </a:prstGeom>
          <a:noFill/>
        </p:spPr>
        <p:txBody>
          <a:bodyPr wrap="square" lIns="0" rIns="0" tIns="0" bIns="0" anchor="t">
            <a:spAutoFit/>
          </a:bodyPr>
          <a:lstStyle/>
          <a:p>
            <a:pPr algn="l">
              <a:lnSpc>
                <a:spcPct val="105000"/>
              </a:lnSpc>
              <a:spcAft>
                <a:spcPts val="500"/>
              </a:spcAft>
            </a:pPr>
            <a:r>
              <a:rPr sz="1200" b="0">
                <a:solidFill>
                  <a:srgbClr val="C9762F"/>
                </a:solidFill>
                <a:latin typeface="Calibri"/>
              </a:rPr>
              <a:t>–   </a:t>
            </a:r>
            <a:r>
              <a:rPr sz="1200" b="0" i="0">
                <a:solidFill>
                  <a:srgbClr val="1B3A4B"/>
                </a:solidFill>
                <a:latin typeface="Calibri"/>
              </a:rPr>
              <a:t>Ethical practice, appropriate assessment and cultural sensitivity</a:t>
            </a:r>
          </a:p>
          <a:p>
            <a:pPr algn="l">
              <a:lnSpc>
                <a:spcPct val="105000"/>
              </a:lnSpc>
              <a:spcAft>
                <a:spcPts val="500"/>
              </a:spcAft>
            </a:pPr>
            <a:r>
              <a:rPr sz="1200" b="0">
                <a:solidFill>
                  <a:srgbClr val="C9762F"/>
                </a:solidFill>
                <a:latin typeface="Calibri"/>
              </a:rPr>
              <a:t>–   </a:t>
            </a:r>
            <a:r>
              <a:rPr sz="1200" b="0" i="0">
                <a:solidFill>
                  <a:srgbClr val="1B3A4B"/>
                </a:solidFill>
                <a:latin typeface="Calibri"/>
              </a:rPr>
              <a:t>Attention to practical circumstances</a:t>
            </a:r>
          </a:p>
          <a:p>
            <a:pPr algn="l">
              <a:lnSpc>
                <a:spcPct val="105000"/>
              </a:lnSpc>
              <a:spcAft>
                <a:spcPts val="500"/>
              </a:spcAft>
            </a:pPr>
            <a:r>
              <a:rPr sz="1200" b="0">
                <a:solidFill>
                  <a:srgbClr val="C9762F"/>
                </a:solidFill>
                <a:latin typeface="Calibri"/>
              </a:rPr>
              <a:t>–   </a:t>
            </a:r>
            <a:r>
              <a:rPr sz="1200" b="0" i="0">
                <a:solidFill>
                  <a:srgbClr val="1B3A4B"/>
                </a:solidFill>
                <a:latin typeface="Calibri"/>
              </a:rPr>
              <a:t>Awareness alone may not remove every difficulty — some clients also need concrete problem-solving, further support, or other evidence-informed approaches</a:t>
            </a:r>
          </a:p>
        </p:txBody>
      </p:sp>
      <p:sp>
        <p:nvSpPr>
          <p:cNvPr id="19" name="Rectangle 18"/>
          <p:cNvSpPr/>
          <p:nvPr/>
        </p:nvSpPr>
        <p:spPr>
          <a:xfrm>
            <a:off x="658368" y="4261104"/>
            <a:ext cx="10874959" cy="175564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58368" y="4261104"/>
            <a:ext cx="45720" cy="1755648"/>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69264" y="4462272"/>
            <a:ext cx="10253167" cy="1481328"/>
          </a:xfrm>
          <a:prstGeom prst="rect">
            <a:avLst/>
          </a:prstGeom>
          <a:noFill/>
        </p:spPr>
        <p:txBody>
          <a:bodyPr wrap="square" lIns="0" rIns="0" tIns="0" bIns="0" anchor="t">
            <a:spAutoFit/>
          </a:bodyPr>
          <a:lstStyle/>
          <a:p>
            <a:pPr algn="l">
              <a:lnSpc>
                <a:spcPct val="100000"/>
              </a:lnSpc>
              <a:spcAft>
                <a:spcPts val="0"/>
              </a:spcAft>
            </a:pPr>
            <a:r>
              <a:rPr sz="1050" b="1" i="0">
                <a:solidFill>
                  <a:srgbClr val="C9762F"/>
                </a:solidFill>
                <a:latin typeface="Calibri Light"/>
              </a:rPr>
              <a:t>CONCLUSION</a:t>
            </a:r>
          </a:p>
          <a:p>
            <a:pPr algn="l">
              <a:lnSpc>
                <a:spcPct val="115000"/>
              </a:lnSpc>
              <a:spcBef>
                <a:spcPts val="800"/>
              </a:spcBef>
              <a:spcAft>
                <a:spcPts val="0"/>
              </a:spcAft>
            </a:pPr>
            <a:r>
              <a:rPr sz="1600" b="0" i="0">
                <a:solidFill>
                  <a:srgbClr val="FFFFFF"/>
                </a:solidFill>
                <a:latin typeface="Calibri"/>
              </a:rPr>
              <a:t>Gestalt Therapy seeks to help clients become more aware of themselves and their relationships, so that they can respond to life's challenges with greater understanding, flexibility and choice.</a:t>
            </a:r>
          </a:p>
          <a:p>
            <a:pPr algn="l">
              <a:lnSpc>
                <a:spcPct val="110000"/>
              </a:lnSpc>
              <a:spcBef>
                <a:spcPts val="800"/>
              </a:spcBef>
              <a:spcAft>
                <a:spcPts val="0"/>
              </a:spcAft>
            </a:pPr>
            <a:r>
              <a:rPr sz="1200" b="0" i="1">
                <a:solidFill>
                  <a:srgbClr val="A8C4CE"/>
                </a:solidFill>
                <a:latin typeface="Calibri"/>
              </a:rPr>
              <a:t>Its value depends not only on the concepts themselves but on the counsellor's ability to apply them collaboratively, ethically, and in a way that respects the client's circumstances.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45720" cy="1874519"/>
          </a:xfrm>
          <a:prstGeom prst="rect">
            <a:avLst/>
          </a:prstGeom>
          <a:solidFill>
            <a:srgbClr val="C97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20624"/>
            <a:ext cx="10874959" cy="237744"/>
          </a:xfrm>
          <a:prstGeom prst="rect">
            <a:avLst/>
          </a:prstGeom>
          <a:noFill/>
        </p:spPr>
        <p:txBody>
          <a:bodyPr wrap="square" lIns="0" rIns="0" tIns="0" bIns="0" anchor="t">
            <a:spAutoFit/>
          </a:bodyPr>
          <a:lstStyle/>
          <a:p>
            <a:pPr algn="l">
              <a:lnSpc>
                <a:spcPct val="100000"/>
              </a:lnSpc>
              <a:spcAft>
                <a:spcPts val="400"/>
              </a:spcAft>
            </a:pPr>
            <a:r>
              <a:rPr sz="1150" b="1" i="0">
                <a:solidFill>
                  <a:srgbClr val="C9762F"/>
                </a:solidFill>
                <a:latin typeface="Calibri Light"/>
              </a:rPr>
              <a:t>CLOSING</a:t>
            </a:r>
          </a:p>
        </p:txBody>
      </p:sp>
      <p:sp>
        <p:nvSpPr>
          <p:cNvPr id="6" name="TextBox 5"/>
          <p:cNvSpPr txBox="1"/>
          <p:nvPr/>
        </p:nvSpPr>
        <p:spPr>
          <a:xfrm>
            <a:off x="658368" y="694944"/>
            <a:ext cx="10874959" cy="658368"/>
          </a:xfrm>
          <a:prstGeom prst="rect">
            <a:avLst/>
          </a:prstGeom>
          <a:noFill/>
        </p:spPr>
        <p:txBody>
          <a:bodyPr wrap="square" lIns="0" rIns="0" tIns="0" bIns="0" anchor="t">
            <a:spAutoFit/>
          </a:bodyPr>
          <a:lstStyle/>
          <a:p>
            <a:pPr algn="l">
              <a:lnSpc>
                <a:spcPct val="95000"/>
              </a:lnSpc>
              <a:spcAft>
                <a:spcPts val="400"/>
              </a:spcAft>
            </a:pPr>
            <a:r>
              <a:rPr sz="3100" b="1" i="0">
                <a:solidFill>
                  <a:srgbClr val="1B3A4B"/>
                </a:solidFill>
                <a:latin typeface="Calibri Light"/>
              </a:rPr>
              <a:t>References</a:t>
            </a:r>
          </a:p>
        </p:txBody>
      </p:sp>
      <p:sp>
        <p:nvSpPr>
          <p:cNvPr id="7" name="Rectangle 6"/>
          <p:cNvSpPr/>
          <p:nvPr/>
        </p:nvSpPr>
        <p:spPr>
          <a:xfrm>
            <a:off x="658368" y="1490472"/>
            <a:ext cx="10874959" cy="20116"/>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6272784"/>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6382512"/>
            <a:ext cx="9960559" cy="237744"/>
          </a:xfrm>
          <a:prstGeom prst="rect">
            <a:avLst/>
          </a:prstGeom>
          <a:noFill/>
        </p:spPr>
        <p:txBody>
          <a:bodyPr wrap="square" lIns="0" rIns="0" tIns="0" bIns="0" anchor="t">
            <a:spAutoFit/>
          </a:bodyPr>
          <a:lstStyle/>
          <a:p>
            <a:pPr algn="l">
              <a:lnSpc>
                <a:spcPct val="100000"/>
              </a:lnSpc>
              <a:spcAft>
                <a:spcPts val="400"/>
              </a:spcAft>
            </a:pPr>
            <a:r>
              <a:rPr sz="850" b="0" i="0">
                <a:solidFill>
                  <a:srgbClr val="5F7078"/>
                </a:solidFill>
                <a:latin typeface="Calibri Light"/>
              </a:rPr>
              <a:t>PAN AFRICAN CHRISTIAN UNIVERSITY   ·   MCP504 THEORIES OF COUNSELLING AND PSYCHOTHERAPY</a:t>
            </a:r>
          </a:p>
        </p:txBody>
      </p:sp>
      <p:sp>
        <p:nvSpPr>
          <p:cNvPr id="10" name="TextBox 9"/>
          <p:cNvSpPr txBox="1"/>
          <p:nvPr/>
        </p:nvSpPr>
        <p:spPr>
          <a:xfrm>
            <a:off x="10710367" y="6382512"/>
            <a:ext cx="822960" cy="237744"/>
          </a:xfrm>
          <a:prstGeom prst="rect">
            <a:avLst/>
          </a:prstGeom>
          <a:noFill/>
        </p:spPr>
        <p:txBody>
          <a:bodyPr wrap="square" lIns="0" rIns="0" tIns="0" bIns="0" anchor="t">
            <a:spAutoFit/>
          </a:bodyPr>
          <a:lstStyle/>
          <a:p>
            <a:pPr algn="r">
              <a:lnSpc>
                <a:spcPct val="100000"/>
              </a:lnSpc>
              <a:spcAft>
                <a:spcPts val="400"/>
              </a:spcAft>
            </a:pPr>
            <a:r>
              <a:rPr sz="850" b="1" i="0">
                <a:solidFill>
                  <a:srgbClr val="C9762F"/>
                </a:solidFill>
                <a:latin typeface="Calibri Light"/>
              </a:rPr>
              <a:t>27</a:t>
            </a:r>
          </a:p>
        </p:txBody>
      </p:sp>
      <p:sp>
        <p:nvSpPr>
          <p:cNvPr id="11" name="TextBox 10"/>
          <p:cNvSpPr txBox="1"/>
          <p:nvPr/>
        </p:nvSpPr>
        <p:spPr>
          <a:xfrm>
            <a:off x="1042415" y="1874519"/>
            <a:ext cx="10490911" cy="566928"/>
          </a:xfrm>
          <a:prstGeom prst="rect">
            <a:avLst/>
          </a:prstGeom>
          <a:noFill/>
        </p:spPr>
        <p:txBody>
          <a:bodyPr wrap="square" lIns="0" rIns="0" tIns="0" bIns="0" anchor="t">
            <a:spAutoFit/>
          </a:bodyPr>
          <a:lstStyle/>
          <a:p>
            <a:pPr algn="l">
              <a:lnSpc>
                <a:spcPct val="112000"/>
              </a:lnSpc>
              <a:spcAft>
                <a:spcPts val="400"/>
              </a:spcAft>
            </a:pPr>
            <a:r>
              <a:rPr sz="1250" b="0" i="0">
                <a:solidFill>
                  <a:srgbClr val="1B3A4B"/>
                </a:solidFill>
                <a:latin typeface="Calibri"/>
              </a:rPr>
              <a:t>Brownell, P. (Ed.). (2010). Gestalt therapy: A guide to contemporary practice. Springer Publishing Company.</a:t>
            </a:r>
          </a:p>
        </p:txBody>
      </p:sp>
      <p:sp>
        <p:nvSpPr>
          <p:cNvPr id="12" name="TextBox 11"/>
          <p:cNvSpPr txBox="1"/>
          <p:nvPr/>
        </p:nvSpPr>
        <p:spPr>
          <a:xfrm>
            <a:off x="658368" y="1892807"/>
            <a:ext cx="27432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C9762F"/>
                </a:solidFill>
                <a:latin typeface="Calibri"/>
              </a:rPr>
              <a:t>▪</a:t>
            </a:r>
          </a:p>
        </p:txBody>
      </p:sp>
      <p:sp>
        <p:nvSpPr>
          <p:cNvPr id="13" name="TextBox 12"/>
          <p:cNvSpPr txBox="1"/>
          <p:nvPr/>
        </p:nvSpPr>
        <p:spPr>
          <a:xfrm>
            <a:off x="1042415" y="2532887"/>
            <a:ext cx="10490911" cy="566928"/>
          </a:xfrm>
          <a:prstGeom prst="rect">
            <a:avLst/>
          </a:prstGeom>
          <a:noFill/>
        </p:spPr>
        <p:txBody>
          <a:bodyPr wrap="square" lIns="0" rIns="0" tIns="0" bIns="0" anchor="t">
            <a:spAutoFit/>
          </a:bodyPr>
          <a:lstStyle/>
          <a:p>
            <a:pPr algn="l">
              <a:lnSpc>
                <a:spcPct val="112000"/>
              </a:lnSpc>
              <a:spcAft>
                <a:spcPts val="400"/>
              </a:spcAft>
            </a:pPr>
            <a:r>
              <a:rPr sz="1250" b="0" i="0">
                <a:solidFill>
                  <a:srgbClr val="1B3A4B"/>
                </a:solidFill>
                <a:latin typeface="Calibri"/>
              </a:rPr>
              <a:t>Joyce, P., &amp; Sills, C. (2014). Skills in Gestalt counselling &amp; psychotherapy (3rd ed.). SAGE Publications.</a:t>
            </a:r>
          </a:p>
        </p:txBody>
      </p:sp>
      <p:sp>
        <p:nvSpPr>
          <p:cNvPr id="14" name="TextBox 13"/>
          <p:cNvSpPr txBox="1"/>
          <p:nvPr/>
        </p:nvSpPr>
        <p:spPr>
          <a:xfrm>
            <a:off x="658368" y="2551175"/>
            <a:ext cx="27432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C9762F"/>
                </a:solidFill>
                <a:latin typeface="Calibri"/>
              </a:rPr>
              <a:t>▪</a:t>
            </a:r>
          </a:p>
        </p:txBody>
      </p:sp>
      <p:sp>
        <p:nvSpPr>
          <p:cNvPr id="15" name="TextBox 14"/>
          <p:cNvSpPr txBox="1"/>
          <p:nvPr/>
        </p:nvSpPr>
        <p:spPr>
          <a:xfrm>
            <a:off x="1042415" y="3191255"/>
            <a:ext cx="10490911" cy="566928"/>
          </a:xfrm>
          <a:prstGeom prst="rect">
            <a:avLst/>
          </a:prstGeom>
          <a:noFill/>
        </p:spPr>
        <p:txBody>
          <a:bodyPr wrap="square" lIns="0" rIns="0" tIns="0" bIns="0" anchor="t">
            <a:spAutoFit/>
          </a:bodyPr>
          <a:lstStyle/>
          <a:p>
            <a:pPr algn="l">
              <a:lnSpc>
                <a:spcPct val="112000"/>
              </a:lnSpc>
              <a:spcAft>
                <a:spcPts val="400"/>
              </a:spcAft>
            </a:pPr>
            <a:r>
              <a:rPr sz="1250" b="0" i="0">
                <a:solidFill>
                  <a:srgbClr val="1B3A4B"/>
                </a:solidFill>
                <a:latin typeface="Calibri"/>
              </a:rPr>
              <a:t>Perls, F. S., Hefferline, R. F., &amp; Goodman, P. (1951). Gestalt therapy: Excitement and growth in the human personality. Julian Press.</a:t>
            </a:r>
          </a:p>
        </p:txBody>
      </p:sp>
      <p:sp>
        <p:nvSpPr>
          <p:cNvPr id="16" name="TextBox 15"/>
          <p:cNvSpPr txBox="1"/>
          <p:nvPr/>
        </p:nvSpPr>
        <p:spPr>
          <a:xfrm>
            <a:off x="658368" y="3209543"/>
            <a:ext cx="27432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C9762F"/>
                </a:solidFill>
                <a:latin typeface="Calibri"/>
              </a:rPr>
              <a:t>▪</a:t>
            </a:r>
          </a:p>
        </p:txBody>
      </p:sp>
      <p:sp>
        <p:nvSpPr>
          <p:cNvPr id="17" name="TextBox 16"/>
          <p:cNvSpPr txBox="1"/>
          <p:nvPr/>
        </p:nvSpPr>
        <p:spPr>
          <a:xfrm>
            <a:off x="1042415" y="3849623"/>
            <a:ext cx="10490911" cy="566928"/>
          </a:xfrm>
          <a:prstGeom prst="rect">
            <a:avLst/>
          </a:prstGeom>
          <a:noFill/>
        </p:spPr>
        <p:txBody>
          <a:bodyPr wrap="square" lIns="0" rIns="0" tIns="0" bIns="0" anchor="t">
            <a:spAutoFit/>
          </a:bodyPr>
          <a:lstStyle/>
          <a:p>
            <a:pPr algn="l">
              <a:lnSpc>
                <a:spcPct val="112000"/>
              </a:lnSpc>
              <a:spcAft>
                <a:spcPts val="400"/>
              </a:spcAft>
            </a:pPr>
            <a:r>
              <a:rPr sz="1250" b="0" i="0">
                <a:solidFill>
                  <a:srgbClr val="1B3A4B"/>
                </a:solidFill>
                <a:latin typeface="Calibri"/>
              </a:rPr>
              <a:t>Wagner-Moore, L. E. (2004). Gestalt therapy: Past, present, theory, and research. Psychotherapy: Theory, Research, Practice, Training, 41(2), 180–189. https://doi.org/10.1037/0033-3204.41.2.180</a:t>
            </a:r>
          </a:p>
        </p:txBody>
      </p:sp>
      <p:sp>
        <p:nvSpPr>
          <p:cNvPr id="18" name="TextBox 17"/>
          <p:cNvSpPr txBox="1"/>
          <p:nvPr/>
        </p:nvSpPr>
        <p:spPr>
          <a:xfrm>
            <a:off x="658368" y="3867911"/>
            <a:ext cx="27432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C9762F"/>
                </a:solidFill>
                <a:latin typeface="Calibri"/>
              </a:rPr>
              <a:t>▪</a:t>
            </a:r>
          </a:p>
        </p:txBody>
      </p:sp>
      <p:sp>
        <p:nvSpPr>
          <p:cNvPr id="19" name="TextBox 18"/>
          <p:cNvSpPr txBox="1"/>
          <p:nvPr/>
        </p:nvSpPr>
        <p:spPr>
          <a:xfrm>
            <a:off x="1042415" y="4507991"/>
            <a:ext cx="10490911" cy="566928"/>
          </a:xfrm>
          <a:prstGeom prst="rect">
            <a:avLst/>
          </a:prstGeom>
          <a:noFill/>
        </p:spPr>
        <p:txBody>
          <a:bodyPr wrap="square" lIns="0" rIns="0" tIns="0" bIns="0" anchor="t">
            <a:spAutoFit/>
          </a:bodyPr>
          <a:lstStyle/>
          <a:p>
            <a:pPr algn="l">
              <a:lnSpc>
                <a:spcPct val="112000"/>
              </a:lnSpc>
              <a:spcAft>
                <a:spcPts val="400"/>
              </a:spcAft>
            </a:pPr>
            <a:r>
              <a:rPr sz="1250" b="0" i="0">
                <a:solidFill>
                  <a:srgbClr val="1B3A4B"/>
                </a:solidFill>
                <a:latin typeface="Calibri"/>
              </a:rPr>
              <a:t>Wheeler, G., &amp; Axelsson, L. (2015). Gestalt therapy. American Psychological Association.</a:t>
            </a:r>
          </a:p>
        </p:txBody>
      </p:sp>
      <p:sp>
        <p:nvSpPr>
          <p:cNvPr id="20" name="TextBox 19"/>
          <p:cNvSpPr txBox="1"/>
          <p:nvPr/>
        </p:nvSpPr>
        <p:spPr>
          <a:xfrm>
            <a:off x="658368" y="4526279"/>
            <a:ext cx="27432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C9762F"/>
                </a:solidFill>
                <a:latin typeface="Calibri"/>
              </a:rPr>
              <a:t>▪</a:t>
            </a:r>
          </a:p>
        </p:txBody>
      </p:sp>
      <p:sp>
        <p:nvSpPr>
          <p:cNvPr id="21" name="TextBox 20"/>
          <p:cNvSpPr txBox="1"/>
          <p:nvPr/>
        </p:nvSpPr>
        <p:spPr>
          <a:xfrm>
            <a:off x="1042415" y="5166359"/>
            <a:ext cx="10490911" cy="566928"/>
          </a:xfrm>
          <a:prstGeom prst="rect">
            <a:avLst/>
          </a:prstGeom>
          <a:noFill/>
        </p:spPr>
        <p:txBody>
          <a:bodyPr wrap="square" lIns="0" rIns="0" tIns="0" bIns="0" anchor="t">
            <a:spAutoFit/>
          </a:bodyPr>
          <a:lstStyle/>
          <a:p>
            <a:pPr algn="l">
              <a:lnSpc>
                <a:spcPct val="112000"/>
              </a:lnSpc>
              <a:spcAft>
                <a:spcPts val="400"/>
              </a:spcAft>
            </a:pPr>
            <a:r>
              <a:rPr sz="1250" b="0" i="0">
                <a:solidFill>
                  <a:srgbClr val="1B3A4B"/>
                </a:solidFill>
                <a:latin typeface="Calibri"/>
              </a:rPr>
              <a:t>Woldt, A. L., &amp; Toman, S. M. (Eds.). (2005). Gestalt therapy: History, theory, and practice. SAGE Publications.</a:t>
            </a:r>
          </a:p>
        </p:txBody>
      </p:sp>
      <p:sp>
        <p:nvSpPr>
          <p:cNvPr id="22" name="TextBox 21"/>
          <p:cNvSpPr txBox="1"/>
          <p:nvPr/>
        </p:nvSpPr>
        <p:spPr>
          <a:xfrm>
            <a:off x="658368" y="5184647"/>
            <a:ext cx="27432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C9762F"/>
                </a:solidFill>
                <a:latin typeface="Calibri"/>
              </a:rPr>
              <a:t>▪</a:t>
            </a:r>
          </a:p>
        </p:txBody>
      </p:sp>
      <p:sp>
        <p:nvSpPr>
          <p:cNvPr id="23" name="Rectangle 22"/>
          <p:cNvSpPr/>
          <p:nvPr/>
        </p:nvSpPr>
        <p:spPr>
          <a:xfrm>
            <a:off x="658368" y="5760720"/>
            <a:ext cx="10874959" cy="14630"/>
          </a:xfrm>
          <a:prstGeom prst="rect">
            <a:avLst/>
          </a:prstGeom>
          <a:solidFill>
            <a:srgbClr val="D8E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8368" y="5870448"/>
            <a:ext cx="10874959" cy="274320"/>
          </a:xfrm>
          <a:prstGeom prst="rect">
            <a:avLst/>
          </a:prstGeom>
          <a:noFill/>
        </p:spPr>
        <p:txBody>
          <a:bodyPr wrap="square" lIns="0" rIns="0" tIns="0" bIns="0" anchor="t">
            <a:spAutoFit/>
          </a:bodyPr>
          <a:lstStyle/>
          <a:p>
            <a:pPr algn="ctr">
              <a:lnSpc>
                <a:spcPct val="100000"/>
              </a:lnSpc>
              <a:spcAft>
                <a:spcPts val="400"/>
              </a:spcAft>
            </a:pPr>
            <a:r>
              <a:rPr sz="1300" b="1" i="0">
                <a:solidFill>
                  <a:srgbClr val="2E7D8F"/>
                </a:solidFill>
                <a:latin typeface="Calibri"/>
              </a:rPr>
              <a:t>Thank you  ·  Questions and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