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970" cy="6857983" type="screen4x3"/>
  <p:notesSz cx="6858000" cy="9144000"/>
  <p:embeddedFontLst>
    <p:embeddedFont>
      <p:font typeface="Poppins" charset="1" panose="00000500000000000000"/>
      <p:regular r:id="rIdFont1a"/>
      <p:bold r:id="rIdFont1b"/>
    </p:embeddedFont>
    <p:embeddedFont>
      <p:font typeface="Raleway" charset="1" panose="00000000000000000000"/>
      <p:regular r:id="rIdFont2a"/>
      <p:bold r:id="rIdFont2b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Font1a" Type="http://schemas.openxmlformats.org/officeDocument/2006/relationships/font" Target="fonts/font17.fntdata"/><Relationship Id="rIdFont1b" Type="http://schemas.openxmlformats.org/officeDocument/2006/relationships/font" Target="fonts/font19.fntdata"/><Relationship Id="rIdFont2a" Type="http://schemas.openxmlformats.org/officeDocument/2006/relationships/font" Target="fonts/font18.fntdata"/><Relationship Id="rIdFont2b" Type="http://schemas.openxmlformats.org/officeDocument/2006/relationships/font" Target="fonts/font1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Relationship Id="rId4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40.png"/><Relationship Id="rId4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image" Target="../media/image44.png"/><Relationship Id="rId4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Relationship Id="rId4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594359"/>
            <a:ext cx="699514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81">
                <a:solidFill>
                  <a:srgbClr val="CFE9F8"/>
                </a:solidFill>
                <a:latin typeface="Poppins"/>
              </a:rPr>
              <a:t>GROUP 4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905826"/>
            <a:ext cx="87050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260"/>
              </a:lnSpc>
              <a:buNone/>
            </a:pPr>
            <a:r>
              <a:rPr sz="6600" b="1" i="0">
                <a:solidFill>
                  <a:srgbClr val="FFFFFF"/>
                </a:solidFill>
                <a:latin typeface="Raleway"/>
              </a:rPr>
              <a:t>GESTALT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802698"/>
            <a:ext cx="87050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260"/>
              </a:lnSpc>
              <a:buNone/>
            </a:pPr>
            <a:r>
              <a:rPr sz="6600" b="1" i="0">
                <a:solidFill>
                  <a:srgbClr val="FFFFFF"/>
                </a:solidFill>
                <a:latin typeface="Raleway"/>
              </a:rPr>
              <a:t>THEORY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8" y="2791009"/>
            <a:ext cx="792782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80"/>
              </a:lnSpc>
              <a:buNone/>
            </a:pPr>
            <a:r>
              <a:rPr sz="1250" b="1" i="0" spc="234">
                <a:solidFill>
                  <a:srgbClr val="CFE9F8"/>
                </a:solidFill>
                <a:latin typeface="Raleway"/>
              </a:rPr>
              <a:t>AND ITS APPLICATION TO COUNSELLING</a:t>
            </a:r>
          </a:p>
        </p:txBody>
      </p:sp>
      <p:pic>
        <p:nvPicPr>
          <p:cNvPr id="8" name="Picture 7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284395"/>
            <a:ext cx="297179" cy="2971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73477" y="3352975"/>
            <a:ext cx="388619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B7D6E9"/>
                </a:solidFill>
                <a:latin typeface="Poppins"/>
              </a:rPr>
              <a:t>PRESENTED BY</a:t>
            </a:r>
          </a:p>
        </p:txBody>
      </p:sp>
      <p:pic>
        <p:nvPicPr>
          <p:cNvPr id="10" name="Picture 9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657774"/>
            <a:ext cx="247649" cy="2476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7757" y="3619674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10"/>
              </a:lnSpc>
              <a:buNone/>
            </a:pPr>
            <a:r>
              <a:rPr sz="1350" b="1" i="0">
                <a:solidFill>
                  <a:srgbClr val="FFFFFF"/>
                </a:solidFill>
                <a:latin typeface="Poppins"/>
              </a:rPr>
              <a:t>Josephine Biwott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2429" y="364253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>
                <a:solidFill>
                  <a:srgbClr val="D8EBF7"/>
                </a:solidFill>
                <a:latin typeface="Poppins"/>
              </a:rPr>
              <a:t>MACP/35996/0/26</a:t>
            </a:r>
          </a:p>
        </p:txBody>
      </p:sp>
      <p:pic>
        <p:nvPicPr>
          <p:cNvPr id="13" name="Picture 12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947334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7757" y="3909234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10"/>
              </a:lnSpc>
              <a:buNone/>
            </a:pPr>
            <a:r>
              <a:rPr sz="1350" b="1" i="0">
                <a:solidFill>
                  <a:srgbClr val="FFFFFF"/>
                </a:solidFill>
                <a:latin typeface="Poppins"/>
              </a:rPr>
              <a:t>Cynthia Cherono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82429" y="393209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>
                <a:solidFill>
                  <a:srgbClr val="D8EBF7"/>
                </a:solidFill>
                <a:latin typeface="Poppins"/>
              </a:rPr>
              <a:t>MACP/35785/4/26</a:t>
            </a:r>
          </a:p>
        </p:txBody>
      </p:sp>
      <p:pic>
        <p:nvPicPr>
          <p:cNvPr id="16" name="Picture 15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236893"/>
            <a:ext cx="247649" cy="2476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27757" y="4198793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10"/>
              </a:lnSpc>
              <a:buNone/>
            </a:pPr>
            <a:r>
              <a:rPr sz="1350" b="1" i="0">
                <a:solidFill>
                  <a:srgbClr val="FFFFFF"/>
                </a:solidFill>
                <a:latin typeface="Poppins"/>
              </a:rPr>
              <a:t>Yvonne Juliet Awuor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2429" y="4221653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>
                <a:solidFill>
                  <a:srgbClr val="D8EBF7"/>
                </a:solidFill>
                <a:latin typeface="Poppins"/>
              </a:rPr>
              <a:t>MALD/36547/4/26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9981" y="3276592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CFE9F8"/>
                </a:solidFill>
                <a:latin typeface="Poppins"/>
              </a:rPr>
              <a:t>COURSE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981" y="3542339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Poppins"/>
              </a:rPr>
              <a:t>MCP504 Theories of Counseling and Psychotherapy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9981" y="4208254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CFE9F8"/>
                </a:solidFill>
                <a:latin typeface="Poppins"/>
              </a:rPr>
              <a:t>INSTITUTION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981" y="4474001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9981" y="4898398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CFE9F8"/>
                </a:solidFill>
                <a:latin typeface="Poppins"/>
              </a:rPr>
              <a:t>LECTURER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9981" y="5164146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00"/>
              </a:lnSpc>
              <a:buNone/>
            </a:pPr>
            <a:r>
              <a:rPr sz="1150" b="0" i="0">
                <a:solidFill>
                  <a:srgbClr val="FFFFFF"/>
                </a:solidFill>
                <a:latin typeface="Poppins"/>
              </a:rPr>
              <a:t>Dr. Lucy Gachenia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78" y="623314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 spc="234">
                <a:solidFill>
                  <a:srgbClr val="B7D6E9"/>
                </a:solidFill>
                <a:latin typeface="Poppins"/>
              </a:rPr>
              <a:t>AWARENESS    PRESENCE    CONTACT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15" presetID="22" presetClass="entr" presetSubtype="0" fill="hold" grpId="0" nodeType="afterEffect">
                      <p:stCondLst>
                        <p:cond delay="300"/>
                      </p:stCondLst>
                      <p:childTnLst>
                        <p:set>
                          <p:cBhvr>
                            <p:cTn id="1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1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0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36" presetID="22" presetClass="entr" presetSubtype="0" fill="hold" grpId="0" nodeType="afterEffect">
                      <p:stCondLst>
                        <p:cond delay="460"/>
                      </p:stCondLst>
                      <p:childTnLst>
                        <p:set>
                          <p:cBhvr>
                            <p:cTn id="1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" dur="620"/>
                            <p:tgtEl>
                              <p:spTgt spid="6"/>
                            </p:tgtEl>
                          </p:cBhvr>
                        </p:animEffect>
                        <p:anim calcmode="lin" valueType="num">
                          <p:cBhvr additive="base">
                            <p:cTn id="133" dur="520" fill="hold"/>
                            <p:tgtEl>
                              <p:spTgt spid="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45" presetID="10" presetClass="entr" presetSubtype="0" fill="hold" grpId="0" nodeType="afterEffect">
                      <p:stCondLst>
                        <p:cond delay="620"/>
                      </p:stCondLst>
                      <p:childTnLst>
                        <p:set>
                          <p:cBhvr>
                            <p:cTn id="1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1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57" presetID="10" presetClass="entr" presetSubtype="0" fill="hold" grpId="0" nodeType="afterEffect">
                      <p:stCondLst>
                        <p:cond delay="760"/>
                      </p:stCondLst>
                      <p:childTnLst>
                        <p:set>
                          <p:cBhvr>
                            <p:cTn id="1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3" dur="420"/>
                            <p:tgtEl>
                              <p:spTgt spid="8"/>
                            </p:tgtEl>
                          </p:cBhvr>
                        </p:animEffect>
                        <p:animScale>
                          <p:cBhvr>
                            <p:cTn id="154" dur="520" fill="hold"/>
                            <p:tgtEl>
                              <p:spTgt spid="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66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1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2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78" presetID="10" presetClass="entr" presetSubtype="0" fill="hold" grpId="0" nodeType="afterEffect">
                      <p:stCondLst>
                        <p:cond delay="940"/>
                      </p:stCondLst>
                      <p:childTnLst>
                        <p:set>
                          <p:cBhvr>
                            <p:cTn id="1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4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175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87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1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3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96" presetID="10" presetClass="entr" presetSubtype="0" fill="hold" grpId="0" nodeType="afterEffect">
                      <p:stCondLst>
                        <p:cond delay="1060"/>
                      </p:stCondLst>
                      <p:childTnLst>
                        <p:set>
                          <p:cBhvr>
                            <p:cTn id="1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2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08" presetID="10" presetClass="entr" presetSubtype="0" fill="hold" grpId="0" nodeType="afterEffect">
                      <p:stCondLst>
                        <p:cond delay="1080"/>
                      </p:stCondLst>
                      <p:childTnLst>
                        <p:set>
                          <p:cBhvr>
                            <p:cTn id="2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4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05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7" presetID="10" presetClass="entr" presetSubtype="0" fill="hold" grpId="0" nodeType="afterEffect">
                      <p:stCondLst>
                        <p:cond delay="1140"/>
                      </p:stCondLst>
                      <p:childTnLst>
                        <p:set>
                          <p:cBhvr>
                            <p:cTn id="2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3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26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2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2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238" presetID="10" presetClass="entr" presetSubtype="0" fill="hold" grpId="0" nodeType="afterEffect">
                      <p:stCondLst>
                        <p:cond delay="1220"/>
                      </p:stCondLst>
                      <p:childTnLst>
                        <p:set>
                          <p:cBhvr>
                            <p:cTn id="2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4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235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47" presetID="10" presetClass="entr" presetSubtype="0" fill="hold" grpId="0" nodeType="afterEffect">
                      <p:stCondLst>
                        <p:cond delay="1280"/>
                      </p:stCondLst>
                      <p:childTnLst>
                        <p:set>
                          <p:cBhvr>
                            <p:cTn id="2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3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256" presetID="10" presetClass="entr" presetSubtype="0" fill="hold" grpId="0" nodeType="afterEffect">
                      <p:stCondLst>
                        <p:cond delay="1340"/>
                      </p:stCondLst>
                      <p:childTnLst>
                        <p:set>
                          <p:cBhvr>
                            <p:cTn id="2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2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65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2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1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277" presetID="22" presetClass="entr" presetSubtype="0" fill="hold" grpId="0" nodeType="afterEffect">
                      <p:stCondLst>
                        <p:cond delay="1560"/>
                      </p:stCondLst>
                      <p:childTnLst>
                        <p:set>
                          <p:cBhvr>
                            <p:cTn id="2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3" dur="620"/>
                            <p:tgtEl>
                              <p:spTgt spid="20"/>
                            </p:tgtEl>
                          </p:cBhvr>
                        </p:animEffect>
                        <p:anim calcmode="lin" valueType="num">
                          <p:cBhvr additive="base">
                            <p:cTn id="274" dur="52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86" presetID="10" presetClass="entr" presetSubtype="0" fill="hold" grpId="0" nodeType="afterEffect">
                      <p:stCondLst>
                        <p:cond delay="1620"/>
                      </p:stCondLst>
                      <p:childTnLst>
                        <p:set>
                          <p:cBhvr>
                            <p:cTn id="2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2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98" presetID="22" presetClass="entr" presetSubtype="0" fill="hold" grpId="0" nodeType="afterEffect">
                      <p:stCondLst>
                        <p:cond delay="1680"/>
                      </p:stCondLst>
                      <p:childTnLst>
                        <p:set>
                          <p:cBhvr>
                            <p:cTn id="3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4" dur="620"/>
                            <p:tgtEl>
                              <p:spTgt spid="22"/>
                            </p:tgtEl>
                          </p:cBhvr>
                        </p:animEffect>
                        <p:anim calcmode="lin" valueType="num">
                          <p:cBhvr additive="base">
                            <p:cTn id="295" dur="520" fill="hold"/>
                            <p:tgtEl>
                              <p:spTgt spid="22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07" presetID="10" presetClass="entr" presetSubtype="0" fill="hold" grpId="0" nodeType="afterEffect">
                      <p:stCondLst>
                        <p:cond delay="1740"/>
                      </p:stCondLst>
                      <p:childTnLst>
                        <p:set>
                          <p:cBhvr>
                            <p:cTn id="3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3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19" presetID="22" presetClass="entr" presetSubtype="0" fill="hold" grpId="0" nodeType="afterEffect">
                      <p:stCondLst>
                        <p:cond delay="1800"/>
                      </p:stCondLst>
                      <p:childTnLst>
                        <p:set>
                          <p:cBhvr>
                            <p:cTn id="3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5" dur="620"/>
                            <p:tgtEl>
                              <p:spTgt spid="24"/>
                            </p:tgtEl>
                          </p:cBhvr>
                        </p:animEffect>
                        <p:anim calcmode="lin" valueType="num">
                          <p:cBhvr additive="base">
                            <p:cTn id="316" dur="520" fill="hold"/>
                            <p:tgtEl>
                              <p:spTgt spid="24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28" presetID="10" presetClass="entr" presetSubtype="0" fill="hold" grpId="0" nodeType="afterEffect">
                      <p:stCondLst>
                        <p:cond delay="2000"/>
                      </p:stCondLst>
                      <p:childTnLst>
                        <p:set>
                          <p:cBhvr>
                            <p:cTn id="3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4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02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An experiential and humanistic approach to counselling.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02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30462"/>
            <a:ext cx="257555" cy="2575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6875" y="2285994"/>
            <a:ext cx="654185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Emphasizes awareness, present experience and contact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98094"/>
            <a:ext cx="257555" cy="2575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6875" y="3353626"/>
            <a:ext cx="654185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Understands individuals within their environment and relationships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65726"/>
            <a:ext cx="257555" cy="2575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6875" y="4421258"/>
            <a:ext cx="654185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Encourages personal responsibility, choice and authentic living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533358"/>
            <a:ext cx="257555" cy="2575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6875" y="5488890"/>
            <a:ext cx="654185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Focuses on the client's experience in the here and now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7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3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46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2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55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1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67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3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3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364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76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3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2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85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3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1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97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4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3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394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06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4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2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18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4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4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415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27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4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3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39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4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5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436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48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4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4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60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4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6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457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69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4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5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03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200"/>
              </a:lnSpc>
              <a:buNone/>
            </a:pPr>
            <a:r>
              <a:rPr sz="5050" b="1" i="0">
                <a:solidFill>
                  <a:srgbClr val="4595C2"/>
                </a:solidFill>
                <a:latin typeface="Raleway"/>
              </a:rPr>
              <a:t>HISTORICAL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600516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 therapy that grew out of the 1940s and 1950s.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03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679894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2187" y="2636061"/>
            <a:ext cx="874330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Emerged during the 1940s and 1950s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220185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2187" y="3176353"/>
            <a:ext cx="874330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Developed partly in response to limitations perceived in traditional psychoanalysis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8" y="3698356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INFLUENCED BY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980311"/>
            <a:ext cx="227837" cy="2278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87498" y="3942196"/>
            <a:ext cx="255058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Gestalt psychology</a:t>
            </a:r>
          </a:p>
        </p:txBody>
      </p:sp>
      <p:pic>
        <p:nvPicPr>
          <p:cNvPr id="16" name="Picture 1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70" y="3980311"/>
            <a:ext cx="227837" cy="2278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235490" y="3942196"/>
            <a:ext cx="255058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Phenomenology</a:t>
            </a:r>
          </a:p>
        </p:txBody>
      </p:sp>
      <p:pic>
        <p:nvPicPr>
          <p:cNvPr id="18" name="Picture 1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463" y="3980311"/>
            <a:ext cx="227837" cy="2278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83483" y="3942196"/>
            <a:ext cx="255058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Existential philosophy</a:t>
            </a:r>
          </a:p>
        </p:txBody>
      </p:sp>
      <p:pic>
        <p:nvPicPr>
          <p:cNvPr id="20" name="Picture 1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368962"/>
            <a:ext cx="227837" cy="2278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87498" y="4330846"/>
            <a:ext cx="255058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Field theory</a:t>
            </a:r>
          </a:p>
        </p:txBody>
      </p:sp>
      <p:pic>
        <p:nvPicPr>
          <p:cNvPr id="22" name="Picture 2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70" y="4368962"/>
            <a:ext cx="227837" cy="2278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35490" y="4330846"/>
            <a:ext cx="255058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Holistic approaches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478" y="4917616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INTELLECTUAL ROOTS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8" y="5161456"/>
            <a:ext cx="22769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930"/>
              </a:lnSpc>
              <a:buNone/>
            </a:pPr>
            <a:r>
              <a:rPr sz="1150" b="1" i="0" spc="78">
                <a:solidFill>
                  <a:srgbClr val="33506B"/>
                </a:solidFill>
                <a:latin typeface="Poppins"/>
              </a:rPr>
              <a:t>Gestalt psychology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24784" y="5161456"/>
            <a:ext cx="22769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930"/>
              </a:lnSpc>
              <a:buNone/>
            </a:pPr>
            <a:r>
              <a:rPr sz="1150" b="1" i="0" spc="78">
                <a:solidFill>
                  <a:srgbClr val="33506B"/>
                </a:solidFill>
                <a:latin typeface="Poppins"/>
              </a:rPr>
              <a:t>Phenomenology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8049" y="5161456"/>
            <a:ext cx="22769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930"/>
              </a:lnSpc>
              <a:buNone/>
            </a:pPr>
            <a:r>
              <a:rPr sz="1150" b="1" i="0" spc="78">
                <a:solidFill>
                  <a:srgbClr val="33506B"/>
                </a:solidFill>
                <a:latin typeface="Poppins"/>
              </a:rPr>
              <a:t>Existentialism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1314" y="5161456"/>
            <a:ext cx="22769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930"/>
              </a:lnSpc>
              <a:buNone/>
            </a:pPr>
            <a:r>
              <a:rPr sz="1150" b="1" i="0" spc="78">
                <a:solidFill>
                  <a:srgbClr val="33506B"/>
                </a:solidFill>
                <a:latin typeface="Poppins"/>
              </a:rPr>
              <a:t>Field theory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4580" y="5161456"/>
            <a:ext cx="22769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930"/>
              </a:lnSpc>
              <a:buNone/>
            </a:pPr>
            <a:r>
              <a:rPr sz="1150" b="1" i="0" spc="78">
                <a:solidFill>
                  <a:srgbClr val="33506B"/>
                </a:solidFill>
                <a:latin typeface="Poppins"/>
              </a:rPr>
              <a:t>Gestalt therapy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78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4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487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3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96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2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08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5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4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505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17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3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26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2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38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5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4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535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47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5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3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559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5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5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556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68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5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4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77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5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3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589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5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5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586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98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6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4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610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6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6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607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19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6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5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631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63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7" dur="420"/>
                            <p:tgtEl>
                              <p:spTgt spid="18"/>
                            </p:tgtEl>
                          </p:cBhvr>
                        </p:animEffect>
                        <p:animScale>
                          <p:cBhvr>
                            <p:cTn id="628" dur="520" fill="hold"/>
                            <p:tgtEl>
                              <p:spTgt spid="1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40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64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6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652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6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8" dur="420"/>
                            <p:tgtEl>
                              <p:spTgt spid="20"/>
                            </p:tgtEl>
                          </p:cBhvr>
                        </p:animEffect>
                        <p:animScale>
                          <p:cBhvr>
                            <p:cTn id="649" dur="520" fill="hold"/>
                            <p:tgtEl>
                              <p:spTgt spid="2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61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6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7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673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6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9" dur="420"/>
                            <p:tgtEl>
                              <p:spTgt spid="22"/>
                            </p:tgtEl>
                          </p:cBhvr>
                        </p:animEffect>
                        <p:animScale>
                          <p:cBhvr>
                            <p:cTn id="670" dur="520" fill="hold"/>
                            <p:tgtEl>
                              <p:spTgt spid="2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82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6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8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691" presetID="10" presetClass="entr" presetSubtype="0" fill="hold" grpId="0" nodeType="afterEffect">
                      <p:stCondLst>
                        <p:cond delay="1600"/>
                      </p:stCondLst>
                      <p:childTnLst>
                        <p:set>
                          <p:cBhvr>
                            <p:cTn id="6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7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700" presetID="10" presetClass="entr" presetSubtype="0" fill="hold" grpId="0" nodeType="afterEffect">
                      <p:stCondLst>
                        <p:cond delay="1700"/>
                      </p:stCondLst>
                      <p:childTnLst>
                        <p:set>
                          <p:cBhvr>
                            <p:cTn id="7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06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709" presetID="10" presetClass="entr" presetSubtype="0" fill="hold" grpId="0" nodeType="afterEffect">
                      <p:stCondLst>
                        <p:cond delay="1840"/>
                      </p:stCondLst>
                      <p:childTnLst>
                        <p:set>
                          <p:cBhvr>
                            <p:cTn id="7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15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718" presetID="10" presetClass="entr" presetSubtype="0" fill="hold" grpId="0" nodeType="afterEffect">
                      <p:stCondLst>
                        <p:cond delay="1980"/>
                      </p:stCondLst>
                      <p:childTnLst>
                        <p:set>
                          <p:cBhvr>
                            <p:cTn id="7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24" dur="52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27" presetID="10" presetClass="entr" presetSubtype="0" fill="hold" grpId="0" nodeType="afterEffect">
                      <p:stCondLst>
                        <p:cond delay="2120"/>
                      </p:stCondLst>
                      <p:childTnLst>
                        <p:set>
                          <p:cBhvr>
                            <p:cTn id="7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33" dur="52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736" presetID="10" presetClass="entr" presetSubtype="0" fill="hold" grpId="0" nodeType="afterEffect">
                      <p:stCondLst>
                        <p:cond delay="2260"/>
                      </p:stCondLst>
                      <p:childTnLst>
                        <p:set>
                          <p:cBhvr>
                            <p:cTn id="7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42" dur="52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04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MAJOR THEORISTS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Three voices that shaped the theory and its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04</a:t>
            </a:r>
          </a:p>
        </p:txBody>
      </p:sp>
      <p:pic>
        <p:nvPicPr>
          <p:cNvPr id="9" name="Picture 8" descr="medallio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834300"/>
            <a:ext cx="1188717" cy="11887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48835" y="297145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70"/>
              </a:lnSpc>
              <a:buNone/>
            </a:pPr>
            <a:r>
              <a:rPr sz="2050" b="1" i="0">
                <a:solidFill>
                  <a:srgbClr val="4595C2"/>
                </a:solidFill>
                <a:latin typeface="Raleway"/>
              </a:rPr>
              <a:t>FRITZ PERLS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35" y="330673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80"/>
              </a:lnSpc>
              <a:buNone/>
            </a:pPr>
            <a:r>
              <a:rPr sz="1250" b="1" i="0" spc="125">
                <a:solidFill>
                  <a:srgbClr val="4595C2"/>
                </a:solidFill>
                <a:latin typeface="Raleway"/>
              </a:rPr>
              <a:t>1893 TO 1970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35" y="3596298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9"/>
              </a:lnSpc>
              <a:buNone/>
            </a:pPr>
            <a:r>
              <a:rPr sz="1250" b="1" i="0">
                <a:solidFill>
                  <a:srgbClr val="5F7E97"/>
                </a:solidFill>
                <a:latin typeface="Poppins"/>
              </a:rPr>
              <a:t>Major founder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78" y="4744392"/>
            <a:ext cx="257555" cy="2575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36875" y="4708815"/>
            <a:ext cx="296656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Awareness, experience and responsibility</a:t>
            </a:r>
          </a:p>
        </p:txBody>
      </p:sp>
      <p:pic>
        <p:nvPicPr>
          <p:cNvPr id="15" name="Picture 14" descr="medallion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3869" y="2834300"/>
            <a:ext cx="1188717" cy="11887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30226" y="297145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70"/>
              </a:lnSpc>
              <a:buNone/>
            </a:pPr>
            <a:r>
              <a:rPr sz="2050" b="1" i="0">
                <a:solidFill>
                  <a:srgbClr val="4595C2"/>
                </a:solidFill>
                <a:latin typeface="Raleway"/>
              </a:rPr>
              <a:t>LAURA PERLS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0226" y="330673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80"/>
              </a:lnSpc>
              <a:buNone/>
            </a:pPr>
            <a:r>
              <a:rPr sz="1250" b="1" i="0" spc="125">
                <a:solidFill>
                  <a:srgbClr val="4595C2"/>
                </a:solidFill>
                <a:latin typeface="Raleway"/>
              </a:rPr>
              <a:t>1905 TO 1990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0226" y="3596298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9"/>
              </a:lnSpc>
              <a:buNone/>
            </a:pPr>
            <a:r>
              <a:rPr sz="1250" b="1" i="0">
                <a:solidFill>
                  <a:srgbClr val="5F7E97"/>
                </a:solidFill>
                <a:latin typeface="Poppins"/>
              </a:rPr>
              <a:t>Major contributor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3869" y="4744392"/>
            <a:ext cx="257555" cy="2575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18266" y="4708815"/>
            <a:ext cx="296656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Contact, relationship and embodied experience</a:t>
            </a:r>
          </a:p>
        </p:txBody>
      </p:sp>
      <p:pic>
        <p:nvPicPr>
          <p:cNvPr id="21" name="Picture 20" descr="medallion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60" y="2834300"/>
            <a:ext cx="1188717" cy="118871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11617" y="297145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370"/>
              </a:lnSpc>
              <a:buNone/>
            </a:pPr>
            <a:r>
              <a:rPr sz="2050" b="1" i="0">
                <a:solidFill>
                  <a:srgbClr val="4595C2"/>
                </a:solidFill>
                <a:latin typeface="Raleway"/>
              </a:rPr>
              <a:t>PAUL GOODMAN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1617" y="3306739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80"/>
              </a:lnSpc>
              <a:buNone/>
            </a:pPr>
            <a:r>
              <a:rPr sz="1250" b="1" i="0" spc="125">
                <a:solidFill>
                  <a:srgbClr val="4595C2"/>
                </a:solidFill>
                <a:latin typeface="Raleway"/>
              </a:rPr>
              <a:t>1911 TO 1972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11617" y="3596298"/>
            <a:ext cx="230062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9"/>
              </a:lnSpc>
              <a:buNone/>
            </a:pPr>
            <a:r>
              <a:rPr sz="1250" b="1" i="0">
                <a:solidFill>
                  <a:srgbClr val="5F7E97"/>
                </a:solidFill>
                <a:latin typeface="Poppins"/>
              </a:rPr>
              <a:t>Co author of the 1951 text</a:t>
            </a:r>
          </a:p>
        </p:txBody>
      </p:sp>
      <p:pic>
        <p:nvPicPr>
          <p:cNvPr id="25" name="Picture 24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60" y="4744392"/>
            <a:ext cx="257555" cy="25755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99657" y="4708815"/>
            <a:ext cx="296656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Shaped the theoretical formulation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45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51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75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7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60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76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7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69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775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77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8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77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784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7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90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79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7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99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805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8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11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802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817" presetID="22" presetClass="entr" presetSubtype="0" fill="hold" grpId="0" nodeType="afterEffect">
                      <p:stCondLst>
                        <p:cond delay="550"/>
                      </p:stCondLst>
                      <p:childTnLst>
                        <p:set>
                          <p:cBhvr>
                            <p:cTn id="8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23" dur="620"/>
                            <p:tgtEl>
                              <p:spTgt spid="10"/>
                            </p:tgtEl>
                          </p:cBhvr>
                        </p:animEffect>
                        <p:anim calcmode="lin" valueType="num">
                          <p:cBhvr additive="base">
                            <p:cTn id="814" dur="52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829" presetID="10" presetClass="entr" presetSubtype="0" fill="hold" grpId="0" nodeType="afterEffect">
                      <p:stCondLst>
                        <p:cond delay="610"/>
                      </p:stCondLst>
                      <p:childTnLst>
                        <p:set>
                          <p:cBhvr>
                            <p:cTn id="8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35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826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838" presetID="10" presetClass="entr" presetSubtype="0" fill="hold" grpId="0" nodeType="afterEffect">
                      <p:stCondLst>
                        <p:cond delay="620"/>
                      </p:stCondLst>
                      <p:childTnLst>
                        <p:set>
                          <p:cBhvr>
                            <p:cTn id="8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44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84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8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53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859" presetID="22" presetClass="entr" presetSubtype="0" fill="hold" grpId="0" nodeType="afterEffect">
                      <p:stCondLst>
                        <p:cond delay="710"/>
                      </p:stCondLst>
                      <p:childTnLst>
                        <p:set>
                          <p:cBhvr>
                            <p:cTn id="8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65" dur="620"/>
                            <p:tgtEl>
                              <p:spTgt spid="16"/>
                            </p:tgtEl>
                          </p:cBhvr>
                        </p:animEffect>
                        <p:anim calcmode="lin" valueType="num">
                          <p:cBhvr additive="base">
                            <p:cTn id="856" dur="520" fill="hold"/>
                            <p:tgtEl>
                              <p:spTgt spid="1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871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8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77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868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883" presetID="10" presetClass="entr" presetSubtype="0" fill="hold" grpId="0" nodeType="afterEffect">
                      <p:stCondLst>
                        <p:cond delay="780"/>
                      </p:stCondLst>
                      <p:childTnLst>
                        <p:set>
                          <p:cBhvr>
                            <p:cTn id="8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89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880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892" presetID="10" presetClass="entr" presetSubtype="0" fill="hold" grpId="0" nodeType="afterEffect">
                      <p:stCondLst>
                        <p:cond delay="780"/>
                      </p:stCondLst>
                      <p:childTnLst>
                        <p:set>
                          <p:cBhvr>
                            <p:cTn id="8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98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901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9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07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910" presetID="10" presetClass="entr" presetSubtype="0" fill="hold" grpId="0" nodeType="afterEffect">
                      <p:stCondLst>
                        <p:cond delay="860"/>
                      </p:stCondLst>
                      <p:childTnLst>
                        <p:set>
                          <p:cBhvr>
                            <p:cTn id="9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16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922" presetID="22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9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28" dur="620"/>
                            <p:tgtEl>
                              <p:spTgt spid="22"/>
                            </p:tgtEl>
                          </p:cBhvr>
                        </p:animEffect>
                        <p:anim calcmode="lin" valueType="num">
                          <p:cBhvr additive="base">
                            <p:cTn id="919" dur="520" fill="hold"/>
                            <p:tgtEl>
                              <p:spTgt spid="22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931" presetID="10" presetClass="entr" presetSubtype="0" fill="hold" grpId="0" nodeType="afterEffect">
                      <p:stCondLst>
                        <p:cond delay="940"/>
                      </p:stCondLst>
                      <p:childTnLst>
                        <p:set>
                          <p:cBhvr>
                            <p:cTn id="93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37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943" presetID="10" presetClass="entr" presetSubtype="0" fill="hold" grpId="0" nodeType="afterEffect">
                      <p:stCondLst>
                        <p:cond delay="940"/>
                      </p:stCondLst>
                      <p:childTnLst>
                        <p:set>
                          <p:cBhvr>
                            <p:cTn id="9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49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940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952" presetID="10" presetClass="entr" presetSubtype="0" fill="hold" grpId="0" nodeType="afterEffect">
                      <p:stCondLst>
                        <p:cond delay="1010"/>
                      </p:stCondLst>
                      <p:childTnLst>
                        <p:set>
                          <p:cBhvr>
                            <p:cTn id="9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58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961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9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67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973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9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79" dur="420"/>
                            <p:tgtEl>
                              <p:spTgt spid="25"/>
                            </p:tgtEl>
                          </p:cBhvr>
                        </p:animEffect>
                        <p:animScale>
                          <p:cBhvr>
                            <p:cTn id="970" dur="520" fill="hold"/>
                            <p:tgtEl>
                              <p:spTgt spid="2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982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9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88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05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CORE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Seven beliefs that hold the whole approach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05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25381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2187" y="2285994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People are best understood as whole persons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54903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2187" y="3315516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Human experience is influenced by the environment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668937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4629551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Awareness is central to psychological growth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698459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5659072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Experience unfolds in the present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325381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6173" y="2285994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People have capacity for choice and self regulation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011920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6173" y="3972533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Healthy functioning involves meaningful contact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413946"/>
            <a:ext cx="247649" cy="247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46173" y="5374559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Psychological difficulties may involve interruptions in awareness or contact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1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9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97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00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0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06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009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0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15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021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0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27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018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030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10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36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039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0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45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51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105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57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1048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060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10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66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072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10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78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1069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081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10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87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093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0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099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1090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102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11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08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114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11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0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1111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123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11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29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135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11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41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1132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144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11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50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156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11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62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1153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165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11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71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177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11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83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1174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186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11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92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06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The central concept in Gestalt therapy.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57141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NOTICING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654336"/>
            <a:ext cx="227837" cy="2278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7498" y="2616221"/>
            <a:ext cx="130700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Thoughts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33" y="2654336"/>
            <a:ext cx="227837" cy="2278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01053" y="2616221"/>
            <a:ext cx="130700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Feelings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589" y="2654336"/>
            <a:ext cx="227837" cy="2278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14609" y="2616221"/>
            <a:ext cx="130700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Bodily sensations</a:t>
            </a:r>
          </a:p>
        </p:txBody>
      </p:sp>
      <p:pic>
        <p:nvPicPr>
          <p:cNvPr id="16" name="Picture 1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44" y="2654336"/>
            <a:ext cx="227837" cy="2278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28164" y="2616221"/>
            <a:ext cx="130700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Behaviour</a:t>
            </a:r>
          </a:p>
        </p:txBody>
      </p:sp>
      <p:pic>
        <p:nvPicPr>
          <p:cNvPr id="18" name="Picture 1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00" y="2654336"/>
            <a:ext cx="227837" cy="2278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41720" y="2616221"/>
            <a:ext cx="130700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Needs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478" y="3164859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THE PROCESS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63961"/>
            <a:ext cx="257555" cy="25755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12187" y="3423939"/>
            <a:ext cx="88987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Focuses on present experience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14818"/>
            <a:ext cx="257555" cy="2575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2187" y="4374795"/>
            <a:ext cx="88987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1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Creates opportunities for choice and change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158" y="5523771"/>
            <a:ext cx="19319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760"/>
              </a:lnSpc>
              <a:buNone/>
            </a:pPr>
            <a:r>
              <a:rPr sz="1650" b="1" i="0" spc="78">
                <a:solidFill>
                  <a:srgbClr val="33506B"/>
                </a:solidFill>
                <a:latin typeface="Poppins"/>
              </a:rPr>
              <a:t>Awareness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4214" y="5523771"/>
            <a:ext cx="19319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760"/>
              </a:lnSpc>
              <a:buNone/>
            </a:pPr>
            <a:r>
              <a:rPr sz="1650" b="1" i="0" spc="78">
                <a:solidFill>
                  <a:srgbClr val="33506B"/>
                </a:solidFill>
                <a:latin typeface="Poppins"/>
              </a:rPr>
              <a:t>Choice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271" y="5523771"/>
            <a:ext cx="19319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760"/>
              </a:lnSpc>
              <a:buNone/>
            </a:pPr>
            <a:r>
              <a:rPr sz="1650" b="1" i="0" spc="78">
                <a:solidFill>
                  <a:srgbClr val="33506B"/>
                </a:solidFill>
                <a:latin typeface="Poppins"/>
              </a:rPr>
              <a:t>Change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95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1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01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20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20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10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21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2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19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225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2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3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22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234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12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40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4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2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49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52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12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58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264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12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70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1261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273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12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79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285" presetID="10" presetClass="entr" presetSubtype="0" fill="hold" grpId="0" nodeType="afterEffect">
                      <p:stCondLst>
                        <p:cond delay="680"/>
                      </p:stCondLst>
                      <p:childTnLst>
                        <p:set>
                          <p:cBhvr>
                            <p:cTn id="12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291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1282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294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12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00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06" presetID="10" presetClass="entr" presetSubtype="0" fill="hold" grpId="0" nodeType="afterEffect">
                      <p:stCondLst>
                        <p:cond delay="780"/>
                      </p:stCondLst>
                      <p:childTnLst>
                        <p:set>
                          <p:cBhvr>
                            <p:cTn id="13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12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1303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315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13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21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327" presetID="10" presetClass="entr" presetSubtype="0" fill="hold" grpId="0" nodeType="afterEffect">
                      <p:stCondLst>
                        <p:cond delay="880"/>
                      </p:stCondLst>
                      <p:childTnLst>
                        <p:set>
                          <p:cBhvr>
                            <p:cTn id="13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33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1324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336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13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42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348" presetID="10" presetClass="entr" presetSubtype="0" fill="hold" grpId="0" nodeType="afterEffect">
                      <p:stCondLst>
                        <p:cond delay="980"/>
                      </p:stCondLst>
                      <p:childTnLst>
                        <p:set>
                          <p:cBhvr>
                            <p:cTn id="13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54" dur="420"/>
                            <p:tgtEl>
                              <p:spTgt spid="18"/>
                            </p:tgtEl>
                          </p:cBhvr>
                        </p:animEffect>
                        <p:animScale>
                          <p:cBhvr>
                            <p:cTn id="1345" dur="520" fill="hold"/>
                            <p:tgtEl>
                              <p:spTgt spid="1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357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3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63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366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13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72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378" presetID="10" presetClass="entr" presetSubtype="0" fill="hold" grpId="0" nodeType="afterEffect">
                      <p:stCondLst>
                        <p:cond delay="1280"/>
                      </p:stCondLst>
                      <p:childTnLst>
                        <p:set>
                          <p:cBhvr>
                            <p:cTn id="13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84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1375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387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13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93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399" presetID="10" presetClass="entr" presetSubtype="0" fill="hold" grpId="0" nodeType="afterEffect">
                      <p:stCondLst>
                        <p:cond delay="1380"/>
                      </p:stCondLst>
                      <p:childTnLst>
                        <p:set>
                          <p:cBhvr>
                            <p:cTn id="140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05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1396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408" presetID="10" presetClass="entr" presetSubtype="0" fill="hold" grpId="0" nodeType="afterEffect">
                      <p:stCondLst>
                        <p:cond delay="1450"/>
                      </p:stCondLst>
                      <p:childTnLst>
                        <p:set>
                          <p:cBhvr>
                            <p:cTn id="14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14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417" presetID="10" presetClass="entr" presetSubtype="0" fill="hold" grpId="0" nodeType="afterEffect">
                      <p:stCondLst>
                        <p:cond delay="1600"/>
                      </p:stCondLst>
                      <p:childTnLst>
                        <p:set>
                          <p:cBhvr>
                            <p:cTn id="14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23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1426" presetID="10" presetClass="entr" presetSubtype="0" fill="hold" grpId="0" nodeType="afterEffect">
                      <p:stCondLst>
                        <p:cond delay="1740"/>
                      </p:stCondLst>
                      <p:childTnLst>
                        <p:set>
                          <p:cBhvr>
                            <p:cTn id="14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32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1435" presetID="10" presetClass="entr" presetSubtype="0" fill="hold" grpId="0" nodeType="afterEffect">
                      <p:stCondLst>
                        <p:cond delay="1880"/>
                      </p:stCondLst>
                      <p:childTnLst>
                        <p:set>
                          <p:cBhvr>
                            <p:cTn id="14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41" dur="52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07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THE HERE AND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Change happens in the present moment.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34189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THE FOCUS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632655"/>
            <a:ext cx="247649" cy="2476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12187" y="2593268"/>
            <a:ext cx="45462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Focuses on the client's present experience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42988"/>
            <a:ext cx="247649" cy="2476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12187" y="4403602"/>
            <a:ext cx="45462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Includes thoughts, emotions, bodily sensations and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864" y="2334189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THE PAST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64" y="2632655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98573" y="2593268"/>
            <a:ext cx="40798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Past experiences are explored through their current impact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64" y="4442988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98573" y="4403602"/>
            <a:ext cx="40798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The therapeutic relationship offers present moment awareness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701009"/>
            <a:ext cx="267461" cy="26746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12187" y="5660351"/>
            <a:ext cx="92873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00" b="0" i="0">
                <a:solidFill>
                  <a:srgbClr val="33506B"/>
                </a:solidFill>
                <a:latin typeface="Poppins"/>
              </a:rPr>
              <a:t>Encourages direct experience rather than excessive intellectual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4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4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50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45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4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59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46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4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68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474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4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80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471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483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14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89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49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4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9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501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15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07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513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15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19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1510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522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15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28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534" presetID="10" presetClass="entr" presetSubtype="0" fill="hold" grpId="0" nodeType="afterEffect">
                      <p:stCondLst>
                        <p:cond delay="680"/>
                      </p:stCondLst>
                      <p:childTnLst>
                        <p:set>
                          <p:cBhvr>
                            <p:cTn id="15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40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1531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543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15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49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552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15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58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564" presetID="10" presetClass="entr" presetSubtype="0" fill="hold" grpId="0" nodeType="afterEffect">
                      <p:stCondLst>
                        <p:cond delay="980"/>
                      </p:stCondLst>
                      <p:childTnLst>
                        <p:set>
                          <p:cBhvr>
                            <p:cTn id="15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70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1561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573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5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79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585" presetID="10" presetClass="entr" presetSubtype="0" fill="hold" grpId="0" nodeType="afterEffect">
                      <p:stCondLst>
                        <p:cond delay="1080"/>
                      </p:stCondLst>
                      <p:childTnLst>
                        <p:set>
                          <p:cBhvr>
                            <p:cTn id="15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591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1582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594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15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00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606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6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12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1603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615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16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21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08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FIGURE AND 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One element steps forward from its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08</a:t>
            </a:r>
          </a:p>
        </p:txBody>
      </p:sp>
      <p:pic>
        <p:nvPicPr>
          <p:cNvPr id="9" name="Picture 8" descr="figure_g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316" y="2438394"/>
            <a:ext cx="3276592" cy="32765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98316" y="3489951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00"/>
              </a:lnSpc>
              <a:buNone/>
            </a:pPr>
            <a:r>
              <a:rPr sz="1200" b="1" i="0" spc="187">
                <a:solidFill>
                  <a:srgbClr val="33506B"/>
                </a:solidFill>
                <a:latin typeface="Poppins"/>
              </a:rPr>
              <a:t>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8316" y="3703311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80"/>
              </a:lnSpc>
              <a:buNone/>
            </a:pPr>
            <a:r>
              <a:rPr sz="1250" b="0" i="0">
                <a:solidFill>
                  <a:srgbClr val="5F7E97"/>
                </a:solidFill>
                <a:latin typeface="Raleway"/>
              </a:rPr>
              <a:t>what steps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8316" y="5135867"/>
            <a:ext cx="334212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730"/>
              </a:lnSpc>
              <a:buNone/>
            </a:pPr>
            <a:r>
              <a:rPr sz="1050" b="1" i="0" spc="234">
                <a:solidFill>
                  <a:srgbClr val="5F7E97"/>
                </a:solidFill>
                <a:latin typeface="Poppins"/>
              </a:rPr>
              <a:t>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66" y="2255514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010"/>
              </a:lnSpc>
              <a:buNone/>
            </a:pPr>
            <a:r>
              <a:rPr sz="2450" b="1" i="0">
                <a:solidFill>
                  <a:srgbClr val="4595C2"/>
                </a:solidFill>
                <a:latin typeface="Raleway"/>
              </a:rPr>
              <a:t>FIGURE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66" y="2810439"/>
            <a:ext cx="423594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10"/>
              </a:lnSpc>
              <a:buNone/>
            </a:pPr>
            <a:r>
              <a:rPr sz="1300" b="0" i="0">
                <a:solidFill>
                  <a:srgbClr val="5F7E97"/>
                </a:solidFill>
                <a:latin typeface="Poppins"/>
              </a:rPr>
              <a:t>What is most prominent in awareness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66" y="3397873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010"/>
              </a:lnSpc>
              <a:buNone/>
            </a:pPr>
            <a:r>
              <a:rPr sz="2450" b="1" i="0">
                <a:solidFill>
                  <a:srgbClr val="4595C2"/>
                </a:solidFill>
                <a:latin typeface="Raleway"/>
              </a:rPr>
              <a:t>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66" y="3952798"/>
            <a:ext cx="423594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10"/>
              </a:lnSpc>
              <a:buNone/>
            </a:pPr>
            <a:r>
              <a:rPr sz="1300" b="0" i="0">
                <a:solidFill>
                  <a:srgbClr val="5F7E97"/>
                </a:solidFill>
                <a:latin typeface="Poppins"/>
              </a:rPr>
              <a:t>The surrounding context and experiences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66" y="4333237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88974" y="4311632"/>
            <a:ext cx="392443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Needs and concerns move between figure and ground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66" y="4979267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88974" y="4957663"/>
            <a:ext cx="392443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The figure changes as circumstances change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66" y="5376349"/>
            <a:ext cx="247649" cy="247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88974" y="5354744"/>
            <a:ext cx="392443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Awareness reveals what matters most right now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2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30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63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6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39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64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6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48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654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6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60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651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663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16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69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67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6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7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684" presetID="23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16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690" dur="70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1681" dur="520" fill="hold"/>
                            <p:tgtEl>
                              <p:spTgt spid="9"/>
                            </p:tgtEl>
                          </p:cBhvr>
                          <p:from x="92000" y="92000"/>
                          <p:to x="100000" y="100000"/>
                        </p:animScale>
                      </p:childTnLst>
                    </p:cTn>
                  </p:par>
                  <p:par>
                    <p:cTn id="1696" presetID="22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6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02" dur="620"/>
                            <p:tgtEl>
                              <p:spTgt spid="13"/>
                            </p:tgtEl>
                          </p:cBhvr>
                        </p:animEffect>
                        <p:anim calcmode="lin" valueType="num">
                          <p:cBhvr additive="base">
                            <p:cTn id="1693" dur="520" fill="hold"/>
                            <p:tgtEl>
                              <p:spTgt spid="13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705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17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11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714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17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20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726" presetID="22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17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32" dur="620"/>
                            <p:tgtEl>
                              <p:spTgt spid="15"/>
                            </p:tgtEl>
                          </p:cBhvr>
                        </p:animEffect>
                        <p:anim calcmode="lin" valueType="num">
                          <p:cBhvr additive="base">
                            <p:cTn id="1723" dur="520" fill="hold"/>
                            <p:tgtEl>
                              <p:spTgt spid="1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735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17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41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744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17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50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753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17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59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765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17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71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1762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774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17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80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786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17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92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1783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795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17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01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807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18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13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1804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816" presetID="10" presetClass="entr" presetSubtype="0" fill="hold" grpId="0" nodeType="afterEffect">
                      <p:stCondLst>
                        <p:cond delay="1570"/>
                      </p:stCondLst>
                      <p:childTnLst>
                        <p:set>
                          <p:cBhvr>
                            <p:cTn id="18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22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09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CONTACT AND THE CONTACT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2128238"/>
            <a:ext cx="816100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Where the person and the world meet.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09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698121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2187" y="2658734"/>
            <a:ext cx="88987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Contact is the interaction between the individual and the environment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33906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2187" y="3294519"/>
            <a:ext cx="88987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The contact boundary is the point at which the two meet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969691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3930304"/>
            <a:ext cx="88987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Healthy contact addresses needs while keeping a sense of self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605475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4566089"/>
            <a:ext cx="88987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Contact involves engaging, responding and withdrawing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241260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2187" y="5201873"/>
            <a:ext cx="88987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Relationships, culture and circumstances influence 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78" y="5745466"/>
            <a:ext cx="258043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340"/>
              </a:lnSpc>
              <a:buNone/>
            </a:pPr>
            <a:r>
              <a:rPr sz="1400" b="1" i="0" spc="78">
                <a:solidFill>
                  <a:srgbClr val="33506B"/>
                </a:solidFill>
                <a:latin typeface="Poppins"/>
              </a:rPr>
              <a:t>Individual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9471" y="5745466"/>
            <a:ext cx="258043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340"/>
              </a:lnSpc>
              <a:buNone/>
            </a:pPr>
            <a:r>
              <a:rPr sz="1400" b="1" i="0" spc="78">
                <a:solidFill>
                  <a:srgbClr val="33506B"/>
                </a:solidFill>
                <a:latin typeface="Poppins"/>
              </a:rPr>
              <a:t>Contact 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0265" y="5745466"/>
            <a:ext cx="258043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340"/>
              </a:lnSpc>
              <a:buNone/>
            </a:pPr>
            <a:r>
              <a:rPr sz="1400" b="1" i="0" spc="78">
                <a:solidFill>
                  <a:srgbClr val="33506B"/>
                </a:solidFill>
                <a:latin typeface="Poppins"/>
              </a:rPr>
              <a:t>Environment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25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8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31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83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8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40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84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18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49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855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18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6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185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1864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18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70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87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18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79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885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18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891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1882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894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18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00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906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19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1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190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915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19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21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92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19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3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192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936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19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42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948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19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54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1945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957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19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63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969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19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75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1966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1978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19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84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987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19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993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996" presetID="10" presetClass="entr" presetSubtype="0" fill="hold" grpId="0" nodeType="afterEffect">
                      <p:stCondLst>
                        <p:cond delay="1440"/>
                      </p:stCondLst>
                      <p:childTnLst>
                        <p:set>
                          <p:cBhvr>
                            <p:cTn id="19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02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005" presetID="10" presetClass="entr" presetSubtype="0" fill="hold" grpId="0" nodeType="afterEffect">
                      <p:stCondLst>
                        <p:cond delay="1580"/>
                      </p:stCondLst>
                      <p:childTnLst>
                        <p:set>
                          <p:cBhvr>
                            <p:cTn id="20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11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10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CONTACT BOUNDARY DISTURBANCES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07018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How awareness, contact and the self environment connection become restricted.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10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16490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2187" y="2285994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Patterns through which awareness or contact becomes restricted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072151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2187" y="3041655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Also described as interruptions or resistances to contact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827811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3797315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May develop as coping and serve a protective function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316490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46173" y="2285994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Not diagnoses or permanent personality characteristics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072151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6173" y="3041655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Significance depends on context, flexibility and whether they restrict choice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827811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6173" y="3797315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Five patterns are most commonly discussed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4605097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FIVE PATTERNS FROM PAGE 10</a:t>
            </a:r>
          </a:p>
        </p:txBody>
      </p:sp>
      <p:pic>
        <p:nvPicPr>
          <p:cNvPr id="22" name="Picture 2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887052"/>
            <a:ext cx="227837" cy="2278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12187" y="4848936"/>
            <a:ext cx="28362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1" i="0">
                <a:solidFill>
                  <a:srgbClr val="33506B"/>
                </a:solidFill>
                <a:latin typeface="Poppins"/>
              </a:rPr>
              <a:t>Introjection</a:t>
            </a:r>
          </a:p>
        </p:txBody>
      </p:sp>
      <p:pic>
        <p:nvPicPr>
          <p:cNvPr id="24" name="Picture 2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469" y="4887052"/>
            <a:ext cx="227837" cy="22783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41178" y="4848936"/>
            <a:ext cx="28362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1" i="0">
                <a:solidFill>
                  <a:srgbClr val="33506B"/>
                </a:solidFill>
                <a:latin typeface="Poppins"/>
              </a:rPr>
              <a:t>Projection</a:t>
            </a:r>
          </a:p>
        </p:txBody>
      </p:sp>
      <p:pic>
        <p:nvPicPr>
          <p:cNvPr id="26" name="Picture 2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461" y="4887052"/>
            <a:ext cx="227837" cy="22783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70169" y="4848936"/>
            <a:ext cx="28362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1" i="0">
                <a:solidFill>
                  <a:srgbClr val="33506B"/>
                </a:solidFill>
                <a:latin typeface="Poppins"/>
              </a:rPr>
              <a:t>Retroflection</a:t>
            </a:r>
          </a:p>
        </p:txBody>
      </p:sp>
      <p:pic>
        <p:nvPicPr>
          <p:cNvPr id="28" name="Picture 2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237571"/>
            <a:ext cx="227837" cy="22783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12187" y="5199455"/>
            <a:ext cx="28362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1" i="0">
                <a:solidFill>
                  <a:srgbClr val="33506B"/>
                </a:solidFill>
                <a:latin typeface="Poppins"/>
              </a:rPr>
              <a:t>Deflection</a:t>
            </a:r>
          </a:p>
        </p:txBody>
      </p:sp>
      <p:pic>
        <p:nvPicPr>
          <p:cNvPr id="30" name="Picture 2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1469" y="5237571"/>
            <a:ext cx="227837" cy="22783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641178" y="5199455"/>
            <a:ext cx="2836297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1" i="0">
                <a:solidFill>
                  <a:srgbClr val="33506B"/>
                </a:solidFill>
                <a:latin typeface="Poppins"/>
              </a:rPr>
              <a:t>Confluence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478" y="5793814"/>
            <a:ext cx="252855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210"/>
              </a:lnSpc>
              <a:buNone/>
            </a:pPr>
            <a:r>
              <a:rPr sz="1350" b="1" i="0" spc="78">
                <a:solidFill>
                  <a:srgbClr val="33506B"/>
                </a:solidFill>
                <a:latin typeface="Poppins"/>
              </a:rPr>
              <a:t>Experience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2416" y="5793814"/>
            <a:ext cx="252855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210"/>
              </a:lnSpc>
              <a:buNone/>
            </a:pPr>
            <a:r>
              <a:rPr sz="1350" b="1" i="0" spc="78">
                <a:solidFill>
                  <a:srgbClr val="33506B"/>
                </a:solidFill>
                <a:latin typeface="Poppins"/>
              </a:rPr>
              <a:t>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2354" y="5793814"/>
            <a:ext cx="252855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210"/>
              </a:lnSpc>
              <a:buNone/>
            </a:pPr>
            <a:r>
              <a:rPr sz="1350" b="1" i="0" spc="78">
                <a:solidFill>
                  <a:srgbClr val="33506B"/>
                </a:solidFill>
                <a:latin typeface="Poppins"/>
              </a:rPr>
              <a:t>Meaningful contact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01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20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02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0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29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03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0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38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044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20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50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2041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053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20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59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06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20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6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2074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2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80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2071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083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20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89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095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20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01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2092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04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210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10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116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21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22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113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25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21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31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137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21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43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2134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46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21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52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158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2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64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2155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67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21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73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179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1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85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2176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188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94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2197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22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03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209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22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15" dur="420"/>
                            <p:tgtEl>
                              <p:spTgt spid="22"/>
                            </p:tgtEl>
                          </p:cBhvr>
                        </p:animEffect>
                        <p:animScale>
                          <p:cBhvr>
                            <p:cTn id="2206" dur="520" fill="hold"/>
                            <p:tgtEl>
                              <p:spTgt spid="2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218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22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24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2230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22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36" dur="420"/>
                            <p:tgtEl>
                              <p:spTgt spid="24"/>
                            </p:tgtEl>
                          </p:cBhvr>
                        </p:animEffect>
                        <p:animScale>
                          <p:cBhvr>
                            <p:cTn id="2227" dur="520" fill="hold"/>
                            <p:tgtEl>
                              <p:spTgt spid="2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239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22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45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2251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225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57" dur="420"/>
                            <p:tgtEl>
                              <p:spTgt spid="26"/>
                            </p:tgtEl>
                          </p:cBhvr>
                        </p:animEffect>
                        <p:animScale>
                          <p:cBhvr>
                            <p:cTn id="2248" dur="520" fill="hold"/>
                            <p:tgtEl>
                              <p:spTgt spid="2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260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22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66" dur="52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2272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22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78" dur="420"/>
                            <p:tgtEl>
                              <p:spTgt spid="28"/>
                            </p:tgtEl>
                          </p:cBhvr>
                        </p:animEffect>
                        <p:animScale>
                          <p:cBhvr>
                            <p:cTn id="2269" dur="520" fill="hold"/>
                            <p:tgtEl>
                              <p:spTgt spid="2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281" presetID="10" presetClass="entr" presetSubtype="0" fill="hold" grpId="0" nodeType="afterEffect">
                      <p:stCondLst>
                        <p:cond delay="1570"/>
                      </p:stCondLst>
                      <p:childTnLst>
                        <p:set>
                          <p:cBhvr>
                            <p:cTn id="22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87" dur="52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2293" presetID="10" presetClass="entr" presetSubtype="0" fill="hold" grpId="0" nodeType="afterEffect">
                      <p:stCondLst>
                        <p:cond delay="1600"/>
                      </p:stCondLst>
                      <p:childTnLst>
                        <p:set>
                          <p:cBhvr>
                            <p:cTn id="22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299" dur="420"/>
                            <p:tgtEl>
                              <p:spTgt spid="30"/>
                            </p:tgtEl>
                          </p:cBhvr>
                        </p:animEffect>
                        <p:animScale>
                          <p:cBhvr>
                            <p:cTn id="2290" dur="520" fill="hold"/>
                            <p:tgtEl>
                              <p:spTgt spid="3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302" presetID="10" presetClass="entr" presetSubtype="0" fill="hold" grpId="0" nodeType="afterEffect">
                      <p:stCondLst>
                        <p:cond delay="1670"/>
                      </p:stCondLst>
                      <p:childTnLst>
                        <p:set>
                          <p:cBhvr>
                            <p:cTn id="23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08" dur="52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2311" presetID="10" presetClass="entr" presetSubtype="0" fill="hold" grpId="0" nodeType="afterEffect">
                      <p:stCondLst>
                        <p:cond delay="1800"/>
                      </p:stCondLst>
                      <p:childTnLst>
                        <p:set>
                          <p:cBhvr>
                            <p:cTn id="23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17" dur="52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2320" presetID="10" presetClass="entr" presetSubtype="0" fill="hold" grpId="0" nodeType="afterEffect">
                      <p:stCondLst>
                        <p:cond delay="1940"/>
                      </p:stCondLst>
                      <p:childTnLst>
                        <p:set>
                          <p:cBhvr>
                            <p:cTn id="23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26" dur="52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2329" presetID="10" presetClass="entr" presetSubtype="0" fill="hold" grpId="0" nodeType="afterEffect">
                      <p:stCondLst>
                        <p:cond delay="2080"/>
                      </p:stCondLst>
                      <p:childTnLst>
                        <p:set>
                          <p:cBhvr>
                            <p:cTn id="23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35" dur="52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11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INTROJECTION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816100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Accepting beliefs without examining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17456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2530815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7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Taking in rules, beliefs, values or expectations from others without adequately examining whether they fit own experience or circumstances. An external expectation becomes an unquestioned internal rule.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454031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65" y="3454031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EFFECT AND APPROACH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688996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3667391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Everyday: A child taught that a good child must always obey continues to follow family decisions even with legitimate concerns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633352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4611747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Counselling: “A responsible person must never say no to the supervisor”, accepts every duty even when exhausted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688996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6173" y="3667391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Effect: struggles to recognise own needs, guilt or anxiety when considering an alternative response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384403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6173" y="4362799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Counsellor asks: “Where did you learn that rule?” “Does it apply in every situation?” “What happens when you consider your own needs?”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5771550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KEY DISTINCTION: Accepting an external rule without sufficient examination. Illustrative statement: “I must never disappoint anyone.”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38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3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44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347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3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53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356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3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62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368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23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74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2365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377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23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83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386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23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92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2395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23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01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404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240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10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413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24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19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422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4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28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434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4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40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431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443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24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49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455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24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61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2452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467" presetID="10" presetClass="entr" presetSubtype="0" fill="hold" grpId="0" nodeType="afterEffect">
                      <p:stCondLst>
                        <p:cond delay="1250"/>
                      </p:stCondLst>
                      <p:childTnLst>
                        <p:set>
                          <p:cBhvr>
                            <p:cTn id="24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73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2464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476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24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82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485" presetID="10" presetClass="entr" presetSubtype="0" fill="hold" grpId="0" nodeType="afterEffect">
                      <p:stCondLst>
                        <p:cond delay="1320"/>
                      </p:stCondLst>
                      <p:childTnLst>
                        <p:set>
                          <p:cBhvr>
                            <p:cTn id="24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491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497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25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03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2494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506" presetID="10" presetClass="entr" presetSubtype="0" fill="hold" grpId="0" nodeType="afterEffect">
                      <p:stCondLst>
                        <p:cond delay="1420"/>
                      </p:stCondLst>
                      <p:childTnLst>
                        <p:set>
                          <p:cBhvr>
                            <p:cTn id="25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12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515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25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21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12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PROJECTION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Attributing one's own experience to others.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28599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2499354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7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Attributing feelings, intentions or characteristics to someone else without adequately recognising own possible contribution. Finding it difficult to acknowledge a feeling within and instead perceiving it as belonging to another.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19249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65" y="319249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EFFECT AND APPROACH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27457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3405853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Everyday: A person jealous of a friend's success repeatedly claims the friend is jealous of them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122865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4101260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Counselling: Client feels angry with a colleague but says “My colleague hates me and is always looking for a fight” without clear evidence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427457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6173" y="3405853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Effect: responds to assumptions rather than checking what is actually happening, risking misunderstanding or conflict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371814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6173" y="4350209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Counsellor asks: “What feelings arise in you as you describe this?” “What have you observed directly, and what are you assuming?”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5279935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KEY  Not every perception is inaccurate. Others may genuinely behave in harmful ways. Illustrative: “Everyone here is hostile towards me.”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2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30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53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5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39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54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5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48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554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25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60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2551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563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25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69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57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25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7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2581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25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87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590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25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96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599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260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05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608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6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14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620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6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26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617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629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26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35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641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26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47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2638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653" presetID="10" presetClass="entr" presetSubtype="0" fill="hold" grpId="0" nodeType="afterEffect">
                      <p:stCondLst>
                        <p:cond delay="1250"/>
                      </p:stCondLst>
                      <p:childTnLst>
                        <p:set>
                          <p:cBhvr>
                            <p:cTn id="26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59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2650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662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26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68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671" presetID="10" presetClass="entr" presetSubtype="0" fill="hold" grpId="0" nodeType="afterEffect">
                      <p:stCondLst>
                        <p:cond delay="1320"/>
                      </p:stCondLst>
                      <p:childTnLst>
                        <p:set>
                          <p:cBhvr>
                            <p:cTn id="26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77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683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26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89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2680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692" presetID="10" presetClass="entr" presetSubtype="0" fill="hold" grpId="0" nodeType="afterEffect">
                      <p:stCondLst>
                        <p:cond delay="1420"/>
                      </p:stCondLst>
                      <p:childTnLst>
                        <p:set>
                          <p:cBhvr>
                            <p:cTn id="26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98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701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27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07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13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RETROFLECTION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Turning an outward response inward.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28599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2499354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7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Directing towards self feelings, actions or energy that might otherwise be expressed towards another person or into the environment.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19249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65" y="319249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EFFECT AND APPROACH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27457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3405853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Everyday: Feels angry after unfair treatment but repeatedly criticises self for being weak instead of expressing concern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371814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4350209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Counselling: Worker frustrated by unreasonable workload does not communicate, says “I am weak and should manage everything” and becomes self critical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427457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6173" y="3405853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Effect: inhibits direct expression, creates internal tension, turns understandable frustration into self blame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371814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6173" y="4350209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Counsellor asks: “What would you want to say if you felt safe?” “What happens inside when you hold back?”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5528884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KEY  Not all restraint is unhealthy. Withholding can be necessary for safety or professional judgement. Illustrative: “I am angry, so I must be a terrible person.”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10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7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16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719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7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25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728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7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34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740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274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46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2737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749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27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55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758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27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64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2767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27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73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776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27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82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785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27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791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794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7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00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806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8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12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803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815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28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21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2827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28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33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2824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839" presetID="10" presetClass="entr" presetSubtype="0" fill="hold" grpId="0" nodeType="afterEffect">
                      <p:stCondLst>
                        <p:cond delay="1250"/>
                      </p:stCondLst>
                      <p:childTnLst>
                        <p:set>
                          <p:cBhvr>
                            <p:cTn id="28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45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2836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848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28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54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2857" presetID="10" presetClass="entr" presetSubtype="0" fill="hold" grpId="0" nodeType="afterEffect">
                      <p:stCondLst>
                        <p:cond delay="1320"/>
                      </p:stCondLst>
                      <p:childTnLst>
                        <p:set>
                          <p:cBhvr>
                            <p:cTn id="28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63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2869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28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75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2866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2878" presetID="10" presetClass="entr" presetSubtype="0" fill="hold" grpId="0" nodeType="afterEffect">
                      <p:stCondLst>
                        <p:cond delay="1420"/>
                      </p:stCondLst>
                      <p:childTnLst>
                        <p:set>
                          <p:cBhvr>
                            <p:cTn id="28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84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2887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28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893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14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DEFLECTION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Avoiding direct contact with an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3209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2545454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7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Reducing intensity or directness of contact through distraction, humour, vague language, changing the subject or other avoidance.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46334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65" y="346334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EFFECT AND APPROACH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698307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3676702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Everyday: Whenever a difficult family issue arises, makes jokes or quickly introduces another topic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618464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4596860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Counselling: Client begins discussing death of a close relative but immediately jokes and changes subject whenever grief is approached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698307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6173" y="3676702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Effect: difficulty remaining with painful feelings long enough to understand or communicate them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618464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6173" y="4596860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Counsellor asks gently: “I noticed you laughed as you mentioned the loss, what are you experiencing right now?”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5751336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KEY  Concerns how direct contact is diluted, often through distraction. Illustrative: joking whenever painful feelings arise.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89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8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02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905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9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11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91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29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20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926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29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32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2923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2935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29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41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94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29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50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2953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29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59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962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29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68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971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29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77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980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298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86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992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29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98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2989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001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30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07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3013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30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19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3010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025" presetID="10" presetClass="entr" presetSubtype="0" fill="hold" grpId="0" nodeType="afterEffect">
                      <p:stCondLst>
                        <p:cond delay="1250"/>
                      </p:stCondLst>
                      <p:childTnLst>
                        <p:set>
                          <p:cBhvr>
                            <p:cTn id="30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31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3022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034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3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40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3043" presetID="10" presetClass="entr" presetSubtype="0" fill="hold" grpId="0" nodeType="afterEffect">
                      <p:stCondLst>
                        <p:cond delay="1320"/>
                      </p:stCondLst>
                      <p:childTnLst>
                        <p:set>
                          <p:cBhvr>
                            <p:cTn id="30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49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3055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30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61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3052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064" presetID="10" presetClass="entr" presetSubtype="0" fill="hold" grpId="0" nodeType="afterEffect">
                      <p:stCondLst>
                        <p:cond delay="1420"/>
                      </p:stCondLst>
                      <p:childTnLst>
                        <p:set>
                          <p:cBhvr>
                            <p:cTn id="30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70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3073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30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79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15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CONFLUENCE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Difficulty distinguishing self from others.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17456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8" y="2530815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7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The distinction between own feelings, needs, beliefs or preferences and those of another becomes unclear. Agreement or togetherness feels necessary for maintaining the relationship.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8" y="3377339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65" y="3377339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EFFECT AND APPROACH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612303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3590699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Everyday: Consistently agrees with friends about activities because expressing a different preference feels threatening to friendship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710044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4688440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Counselling: Woman agrees with partner on major decisions even when privately disagreeing, says “Whatever makes him happy is what I want”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612303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6173" y="3590699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Effect: loses sight of personal needs, experiences resentment, struggles to make independent decisions while appearing harmonious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710044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6173" y="4688440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Counsellor asks: “If your partner's preference were not part of the decision, what would you want?”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478" y="5771550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KEY  Concerns a blurred self other distinction, not simply a rule or avoided topic. Illustrative: “Whatever you want is what I want.”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8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0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88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09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0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097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10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1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06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112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31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18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3109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121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31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27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130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31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36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139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314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45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3148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31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54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3157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31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63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166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31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72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3178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31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84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3175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187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31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193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3199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320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05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3196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211" presetID="10" presetClass="entr" presetSubtype="0" fill="hold" grpId="0" nodeType="afterEffect">
                      <p:stCondLst>
                        <p:cond delay="1250"/>
                      </p:stCondLst>
                      <p:childTnLst>
                        <p:set>
                          <p:cBhvr>
                            <p:cTn id="32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17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3208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220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32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26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3229" presetID="10" presetClass="entr" presetSubtype="0" fill="hold" grpId="0" nodeType="afterEffect">
                      <p:stCondLst>
                        <p:cond delay="1320"/>
                      </p:stCondLst>
                      <p:childTnLst>
                        <p:set>
                          <p:cBhvr>
                            <p:cTn id="32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35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3241" presetID="10" presetClass="entr" presetSubtype="0" fill="hold" grpId="0" nodeType="afterEffect">
                      <p:stCondLst>
                        <p:cond delay="1350"/>
                      </p:stCondLst>
                      <p:childTnLst>
                        <p:set>
                          <p:cBhvr>
                            <p:cTn id="32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47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3238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250" presetID="10" presetClass="entr" presetSubtype="0" fill="hold" grpId="0" nodeType="afterEffect">
                      <p:stCondLst>
                        <p:cond delay="1420"/>
                      </p:stCondLst>
                      <p:childTnLst>
                        <p:set>
                          <p:cBhvr>
                            <p:cTn id="32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56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3259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32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65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16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CONTACT BOUNDARY DISTURBANCES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COMPARISON AND CLINICAL SIGNIFICANCE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2128238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From exploratory frameworks to flexible responding.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65873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COMPARISON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900683"/>
            <a:ext cx="217931" cy="2179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7498" y="2872094"/>
            <a:ext cx="426050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Introjection: Accepting an external rule without examining it, “I must never disappoint anyone”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553620"/>
            <a:ext cx="217931" cy="2179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7498" y="3525031"/>
            <a:ext cx="426050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Projection: Attributing own possible feelings to another, “Everyone here is hostile towards me”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206557"/>
            <a:ext cx="217931" cy="2179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87498" y="4177967"/>
            <a:ext cx="426050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Retroflection: Directing inward what might be expressed outward, “I am angry so I must be terrible”</a:t>
            </a:r>
          </a:p>
        </p:txBody>
      </p:sp>
      <p:pic>
        <p:nvPicPr>
          <p:cNvPr id="16" name="Picture 1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900683"/>
            <a:ext cx="217931" cy="2179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21484" y="2872094"/>
            <a:ext cx="441595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Deflection: Avoiding direct engagement, joking whenever painful feelings arise</a:t>
            </a:r>
          </a:p>
        </p:txBody>
      </p:sp>
      <p:pic>
        <p:nvPicPr>
          <p:cNvPr id="18" name="Picture 1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553620"/>
            <a:ext cx="217931" cy="2179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21484" y="3525031"/>
            <a:ext cx="441595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Confluence: Losing clarity about own needs, “Whatever you want is what I want”</a:t>
            </a:r>
          </a:p>
        </p:txBody>
      </p:sp>
      <p:pic>
        <p:nvPicPr>
          <p:cNvPr id="20" name="Picture 1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206557"/>
            <a:ext cx="217931" cy="21793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21484" y="4177967"/>
            <a:ext cx="441595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Overlap is common, patterns are best used as exploratory frameworks not fixed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78" y="487144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CLINICAL SIGNIFICANCE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106407"/>
            <a:ext cx="247649" cy="2476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2187" y="5084802"/>
            <a:ext cx="92096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Helps counsellor develop questions that increase awareness collaboratively, not to impose labels</a:t>
            </a:r>
          </a:p>
        </p:txBody>
      </p:sp>
      <p:pic>
        <p:nvPicPr>
          <p:cNvPr id="25" name="Picture 2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528177"/>
            <a:ext cx="247649" cy="24764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12187" y="5506572"/>
            <a:ext cx="92096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Requires attention to environment: fear of retaliation, need for safety and timing before exploring loss</a:t>
            </a:r>
          </a:p>
        </p:txBody>
      </p:sp>
      <p:pic>
        <p:nvPicPr>
          <p:cNvPr id="27" name="Picture 2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949947"/>
            <a:ext cx="247649" cy="2476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12187" y="5928342"/>
            <a:ext cx="92096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Aim is to recognise patterns and develop more flexible ways of responding, not to eliminate every interruption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268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2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74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277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2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83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286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2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292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298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33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04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3295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307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33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13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316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33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22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325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33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31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3337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33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43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3334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346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33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52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358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33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64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3355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367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33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73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3379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33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85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3376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391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33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97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3388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400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34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06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3409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34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15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3421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34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27" dur="420"/>
                            <p:tgtEl>
                              <p:spTgt spid="18"/>
                            </p:tgtEl>
                          </p:cBhvr>
                        </p:animEffect>
                        <p:animScale>
                          <p:cBhvr>
                            <p:cTn id="3418" dur="520" fill="hold"/>
                            <p:tgtEl>
                              <p:spTgt spid="1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430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34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36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3442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34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48" dur="420"/>
                            <p:tgtEl>
                              <p:spTgt spid="20"/>
                            </p:tgtEl>
                          </p:cBhvr>
                        </p:animEffect>
                        <p:animScale>
                          <p:cBhvr>
                            <p:cTn id="3439" dur="520" fill="hold"/>
                            <p:tgtEl>
                              <p:spTgt spid="2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451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345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57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460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34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66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472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34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78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3469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481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34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87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493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34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499" dur="420"/>
                            <p:tgtEl>
                              <p:spTgt spid="25"/>
                            </p:tgtEl>
                          </p:cBhvr>
                        </p:animEffect>
                        <p:animScale>
                          <p:cBhvr>
                            <p:cTn id="3490" dur="520" fill="hold"/>
                            <p:tgtEl>
                              <p:spTgt spid="2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502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35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08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514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35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20" dur="420"/>
                            <p:tgtEl>
                              <p:spTgt spid="27"/>
                            </p:tgtEl>
                          </p:cBhvr>
                        </p:animEffect>
                        <p:animScale>
                          <p:cBhvr>
                            <p:cTn id="3511" dur="520" fill="hold"/>
                            <p:tgtEl>
                              <p:spTgt spid="2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523" presetID="10" presetClass="entr" presetSubtype="0" fill="hold" grpId="0" nodeType="afterEffect">
                      <p:stCondLst>
                        <p:cond delay="1570"/>
                      </p:stCondLst>
                      <p:childTnLst>
                        <p:set>
                          <p:cBhvr>
                            <p:cTn id="35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29" dur="52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17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UNFINISHED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Unresolved experience keeps its hold on the present.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28599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MAY INCLUDE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602875"/>
            <a:ext cx="227837" cy="2278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7498" y="2560314"/>
            <a:ext cx="130700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70"/>
              </a:lnSpc>
              <a:buNone/>
            </a:pPr>
            <a:r>
              <a:rPr sz="1300" b="0" i="0">
                <a:solidFill>
                  <a:srgbClr val="33506B"/>
                </a:solidFill>
                <a:latin typeface="Poppins"/>
              </a:rPr>
              <a:t>Grief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33" y="2602875"/>
            <a:ext cx="227837" cy="2278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01053" y="2560314"/>
            <a:ext cx="130700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70"/>
              </a:lnSpc>
              <a:buNone/>
            </a:pPr>
            <a:r>
              <a:rPr sz="1300" b="0" i="0">
                <a:solidFill>
                  <a:srgbClr val="33506B"/>
                </a:solidFill>
                <a:latin typeface="Poppins"/>
              </a:rPr>
              <a:t>Anger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589" y="2602875"/>
            <a:ext cx="227837" cy="2278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14609" y="2560314"/>
            <a:ext cx="130700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70"/>
              </a:lnSpc>
              <a:buNone/>
            </a:pPr>
            <a:r>
              <a:rPr sz="1300" b="0" i="0">
                <a:solidFill>
                  <a:srgbClr val="33506B"/>
                </a:solidFill>
                <a:latin typeface="Poppins"/>
              </a:rPr>
              <a:t>Guilt</a:t>
            </a:r>
          </a:p>
        </p:txBody>
      </p:sp>
      <p:pic>
        <p:nvPicPr>
          <p:cNvPr id="16" name="Picture 1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44" y="2602875"/>
            <a:ext cx="227837" cy="22783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28164" y="2560314"/>
            <a:ext cx="130700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70"/>
              </a:lnSpc>
              <a:buNone/>
            </a:pPr>
            <a:r>
              <a:rPr sz="1300" b="0" i="0">
                <a:solidFill>
                  <a:srgbClr val="33506B"/>
                </a:solidFill>
                <a:latin typeface="Poppins"/>
              </a:rPr>
              <a:t>Resentment</a:t>
            </a:r>
          </a:p>
        </p:txBody>
      </p:sp>
      <p:pic>
        <p:nvPicPr>
          <p:cNvPr id="18" name="Picture 1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00" y="2602875"/>
            <a:ext cx="227837" cy="2278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41720" y="2560314"/>
            <a:ext cx="130700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70"/>
              </a:lnSpc>
              <a:buNone/>
            </a:pPr>
            <a:r>
              <a:rPr sz="1300" b="0" i="0">
                <a:solidFill>
                  <a:srgbClr val="33506B"/>
                </a:solidFill>
                <a:latin typeface="Poppins"/>
              </a:rPr>
              <a:t>Unmet needs</a:t>
            </a:r>
          </a:p>
        </p:txBody>
      </p:sp>
      <p:pic>
        <p:nvPicPr>
          <p:cNvPr id="20" name="Picture 1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209299"/>
            <a:ext cx="247649" cy="24764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12187" y="3169912"/>
            <a:ext cx="88987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Can remain psychologically active in the present</a:t>
            </a:r>
          </a:p>
        </p:txBody>
      </p:sp>
      <p:pic>
        <p:nvPicPr>
          <p:cNvPr id="22" name="Picture 2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377679"/>
            <a:ext cx="247649" cy="24764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12187" y="4338292"/>
            <a:ext cx="88987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May interfere with healthy contact</a:t>
            </a:r>
          </a:p>
        </p:txBody>
      </p:sp>
      <p:pic>
        <p:nvPicPr>
          <p:cNvPr id="24" name="Picture 2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546059"/>
            <a:ext cx="247649" cy="24764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12187" y="5506673"/>
            <a:ext cx="88987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Therapy promotes awareness and 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53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5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38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54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5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47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55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5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56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562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35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68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3559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571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35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77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580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358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86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589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35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595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3601" presetID="10" presetClass="entr" presetSubtype="0" fill="hold" grpId="0" nodeType="afterEffect">
                      <p:stCondLst>
                        <p:cond delay="580"/>
                      </p:stCondLst>
                      <p:childTnLst>
                        <p:set>
                          <p:cBhvr>
                            <p:cTn id="36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07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3598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610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36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16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622" presetID="10" presetClass="entr" presetSubtype="0" fill="hold" grpId="0" nodeType="afterEffect">
                      <p:stCondLst>
                        <p:cond delay="680"/>
                      </p:stCondLst>
                      <p:childTnLst>
                        <p:set>
                          <p:cBhvr>
                            <p:cTn id="36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28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3619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631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363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37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3643" presetID="10" presetClass="entr" presetSubtype="0" fill="hold" grpId="0" nodeType="afterEffect">
                      <p:stCondLst>
                        <p:cond delay="780"/>
                      </p:stCondLst>
                      <p:childTnLst>
                        <p:set>
                          <p:cBhvr>
                            <p:cTn id="36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49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3640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652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36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58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3664" presetID="10" presetClass="entr" presetSubtype="0" fill="hold" grpId="0" nodeType="afterEffect">
                      <p:stCondLst>
                        <p:cond delay="880"/>
                      </p:stCondLst>
                      <p:childTnLst>
                        <p:set>
                          <p:cBhvr>
                            <p:cTn id="36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70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3661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673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36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79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3685" presetID="10" presetClass="entr" presetSubtype="0" fill="hold" grpId="0" nodeType="afterEffect">
                      <p:stCondLst>
                        <p:cond delay="980"/>
                      </p:stCondLst>
                      <p:childTnLst>
                        <p:set>
                          <p:cBhvr>
                            <p:cTn id="36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691" dur="420"/>
                            <p:tgtEl>
                              <p:spTgt spid="18"/>
                            </p:tgtEl>
                          </p:cBhvr>
                        </p:animEffect>
                        <p:animScale>
                          <p:cBhvr>
                            <p:cTn id="3682" dur="520" fill="hold"/>
                            <p:tgtEl>
                              <p:spTgt spid="1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694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36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00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3706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37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12" dur="420"/>
                            <p:tgtEl>
                              <p:spTgt spid="20"/>
                            </p:tgtEl>
                          </p:cBhvr>
                        </p:animEffect>
                        <p:animScale>
                          <p:cBhvr>
                            <p:cTn id="3703" dur="520" fill="hold"/>
                            <p:tgtEl>
                              <p:spTgt spid="2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715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37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21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727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37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33" dur="420"/>
                            <p:tgtEl>
                              <p:spTgt spid="22"/>
                            </p:tgtEl>
                          </p:cBhvr>
                        </p:animEffect>
                        <p:animScale>
                          <p:cBhvr>
                            <p:cTn id="3724" dur="520" fill="hold"/>
                            <p:tgtEl>
                              <p:spTgt spid="2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736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37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42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748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37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54" dur="420"/>
                            <p:tgtEl>
                              <p:spTgt spid="24"/>
                            </p:tgtEl>
                          </p:cBhvr>
                        </p:animEffect>
                        <p:animScale>
                          <p:cBhvr>
                            <p:cTn id="3745" dur="520" fill="hold"/>
                            <p:tgtEl>
                              <p:spTgt spid="2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757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37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63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18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CORE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200"/>
              </a:lnSpc>
              <a:buNone/>
            </a:pPr>
            <a:r>
              <a:rPr sz="5050" b="1" i="0">
                <a:solidFill>
                  <a:srgbClr val="4595C2"/>
                </a:solidFill>
                <a:latin typeface="Raleway"/>
              </a:rPr>
              <a:t>PERSONAL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600516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Owning your choices, without blame.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18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25381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2187" y="2285994"/>
            <a:ext cx="501256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Recognising one's own choices and responses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246541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2187" y="3207154"/>
            <a:ext cx="501256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Promotes agency and ownership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167701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4128314"/>
            <a:ext cx="501256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Encourages authentic decision making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088860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5049474"/>
            <a:ext cx="501256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Uses language that reflects personal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8" y="5577826"/>
            <a:ext cx="512977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39"/>
              </a:lnSpc>
              <a:buNone/>
            </a:pPr>
            <a:r>
              <a:rPr sz="1050" b="1" i="0" spc="172">
                <a:solidFill>
                  <a:srgbClr val="4595C2"/>
                </a:solidFill>
                <a:latin typeface="Poppins"/>
              </a:rPr>
              <a:t>RESPONSIBILITY IS OWNERSHIP  NOT BLAME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864" y="2240274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LANGUAGE IN PRACTICE</a:t>
            </a:r>
          </a:p>
        </p:txBody>
      </p:sp>
      <p:pic>
        <p:nvPicPr>
          <p:cNvPr id="19" name="Picture 18" descr="mark_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864" y="2560314"/>
            <a:ext cx="297179" cy="2971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29383" y="2529834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40"/>
              </a:lnSpc>
              <a:buNone/>
            </a:pPr>
            <a:r>
              <a:rPr sz="1750" b="0" i="0">
                <a:solidFill>
                  <a:srgbClr val="5F7E97"/>
                </a:solidFill>
                <a:latin typeface="Raleway"/>
              </a:rPr>
              <a:t>“You make me angry.”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383" y="2929006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>
                <a:solidFill>
                  <a:srgbClr val="8FA9BC"/>
                </a:solidFill>
                <a:latin typeface="Poppins"/>
              </a:rPr>
              <a:t>blames the other person</a:t>
            </a:r>
          </a:p>
        </p:txBody>
      </p:sp>
      <p:pic>
        <p:nvPicPr>
          <p:cNvPr id="22" name="Picture 2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864" y="3371727"/>
            <a:ext cx="297179" cy="2971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29383" y="3341247"/>
            <a:ext cx="45079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840"/>
              </a:lnSpc>
              <a:buNone/>
            </a:pPr>
            <a:r>
              <a:rPr sz="1750" b="0" i="0">
                <a:solidFill>
                  <a:srgbClr val="33506B"/>
                </a:solidFill>
                <a:latin typeface="Raleway"/>
              </a:rPr>
              <a:t>“I notice that I become angry when…”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383" y="3740420"/>
            <a:ext cx="45079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0" i="0">
                <a:solidFill>
                  <a:srgbClr val="8FA9BC"/>
                </a:solidFill>
                <a:latin typeface="Poppins"/>
              </a:rPr>
              <a:t>owns the experience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76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7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72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775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77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81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78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7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90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796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37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02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3793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3805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38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11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81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38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20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826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38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32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3823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835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38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41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3847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38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53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3844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856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38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62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3865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38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71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387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38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8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387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889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38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895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3886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898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39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04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3907" presetID="10" presetClass="entr" presetSubtype="0" fill="hold" grpId="0" nodeType="afterEffect">
                      <p:stCondLst>
                        <p:cond delay="780"/>
                      </p:stCondLst>
                      <p:childTnLst>
                        <p:set>
                          <p:cBhvr>
                            <p:cTn id="39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13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3919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39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25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3916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928" presetID="10" presetClass="entr" presetSubtype="0" fill="hold" grpId="0" nodeType="afterEffect">
                      <p:stCondLst>
                        <p:cond delay="860"/>
                      </p:stCondLst>
                      <p:childTnLst>
                        <p:set>
                          <p:cBhvr>
                            <p:cTn id="39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34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937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39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43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3949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39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55" dur="420"/>
                            <p:tgtEl>
                              <p:spTgt spid="22"/>
                            </p:tgtEl>
                          </p:cBhvr>
                        </p:animEffect>
                        <p:animScale>
                          <p:cBhvr>
                            <p:cTn id="3946" dur="520" fill="hold"/>
                            <p:tgtEl>
                              <p:spTgt spid="2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3958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39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64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3967" presetID="10" presetClass="entr" presetSubtype="0" fill="hold" grpId="0" nodeType="afterEffect">
                      <p:stCondLst>
                        <p:cond delay="1130"/>
                      </p:stCondLst>
                      <p:childTnLst>
                        <p:set>
                          <p:cBhvr>
                            <p:cTn id="39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73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976" presetID="10" presetClass="entr" presetSubtype="0" fill="hold" grpId="0" nodeType="afterEffect">
                      <p:stCondLst>
                        <p:cond delay="1210"/>
                      </p:stCondLst>
                      <p:childTnLst>
                        <p:set>
                          <p:cBhvr>
                            <p:cTn id="39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82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19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ROLE OF THE GESTALT COUNSELLOR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07018"/>
            <a:ext cx="8161000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 companion in the client's present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19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25381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2187" y="2285994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Facilitates awareness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98940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2187" y="3359554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Focuses on present experience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72500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4433113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Observes verbal and non verbal behaviour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546059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5506673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Uses the therapeutic relationship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325381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6173" y="2285994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Encourages authentic expression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398940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6173" y="3359554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Explores interruptions in contact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472500"/>
            <a:ext cx="247649" cy="247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46173" y="4433113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Promotes responsibility and choice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85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39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991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99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39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00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00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00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09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015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40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2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401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024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40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30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403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0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39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4045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40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51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4042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054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40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60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066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40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7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406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075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407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81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08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40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09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408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096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40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02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108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41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14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4105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117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41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23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129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41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35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4126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138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41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44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150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41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56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4147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159" presetID="10" presetClass="entr" presetSubtype="0" fill="hold" grpId="0" nodeType="afterEffect">
                      <p:stCondLst>
                        <p:cond delay="1120"/>
                      </p:stCondLst>
                      <p:childTnLst>
                        <p:set>
                          <p:cBhvr>
                            <p:cTn id="41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65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4171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41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77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4168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180" presetID="10" presetClass="entr" presetSubtype="0" fill="hold" grpId="0" nodeType="afterEffect">
                      <p:stCondLst>
                        <p:cond delay="1220"/>
                      </p:stCondLst>
                      <p:childTnLst>
                        <p:set>
                          <p:cBhvr>
                            <p:cTn id="418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86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20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GESTALT THERAPEUTIC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07018"/>
            <a:ext cx="854961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Nine experiments that turn talking into experiencing.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20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708326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2187" y="2668939"/>
            <a:ext cx="29140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Empty chair technique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869" y="2708326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93578" y="2668939"/>
            <a:ext cx="29140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Two chair dialogue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60" y="2708326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74969" y="2668939"/>
            <a:ext cx="29140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Exaggeration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983436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3944050"/>
            <a:ext cx="29140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Staying with the feeling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869" y="3983436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93578" y="3944050"/>
            <a:ext cx="29140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Role play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60" y="3983436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74969" y="3944050"/>
            <a:ext cx="29140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Body awareness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258547"/>
            <a:ext cx="247649" cy="247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12187" y="5219160"/>
            <a:ext cx="29140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“I” statements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869" y="5258547"/>
            <a:ext cx="247649" cy="2476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793578" y="5219160"/>
            <a:ext cx="29140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Dream work</a:t>
            </a:r>
          </a:p>
        </p:txBody>
      </p:sp>
      <p:pic>
        <p:nvPicPr>
          <p:cNvPr id="25" name="Picture 2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60" y="5258547"/>
            <a:ext cx="247649" cy="24764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74969" y="5219160"/>
            <a:ext cx="291402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Here and now questioning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189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1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95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4198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2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04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207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2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13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219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42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25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4216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228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42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34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4237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2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43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4249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2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55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4246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258" presetID="10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42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64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270" presetID="10" presetClass="entr" presetSubtype="0" fill="hold" grpId="0" nodeType="afterEffect">
                      <p:stCondLst>
                        <p:cond delay="540"/>
                      </p:stCondLst>
                      <p:childTnLst>
                        <p:set>
                          <p:cBhvr>
                            <p:cTn id="42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76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4267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279" presetID="10" presetClass="entr" presetSubtype="0" fill="hold" grpId="0" nodeType="afterEffect">
                      <p:stCondLst>
                        <p:cond delay="610"/>
                      </p:stCondLst>
                      <p:childTnLst>
                        <p:set>
                          <p:cBhvr>
                            <p:cTn id="42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85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291" presetID="10" presetClass="entr" presetSubtype="0" fill="hold" grpId="0" nodeType="afterEffect">
                      <p:stCondLst>
                        <p:cond delay="630"/>
                      </p:stCondLst>
                      <p:childTnLst>
                        <p:set>
                          <p:cBhvr>
                            <p:cTn id="42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297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4288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300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43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06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312" presetID="10" presetClass="entr" presetSubtype="0" fill="hold" grpId="0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43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18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4309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321" presetID="10" presetClass="entr" presetSubtype="0" fill="hold" grpId="0" nodeType="afterEffect">
                      <p:stCondLst>
                        <p:cond delay="790"/>
                      </p:stCondLst>
                      <p:childTnLst>
                        <p:set>
                          <p:cBhvr>
                            <p:cTn id="43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27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333" presetID="10" presetClass="entr" presetSubtype="0" fill="hold" grpId="0" nodeType="afterEffect">
                      <p:stCondLst>
                        <p:cond delay="810"/>
                      </p:stCondLst>
                      <p:childTnLst>
                        <p:set>
                          <p:cBhvr>
                            <p:cTn id="43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39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4330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342" presetID="10" presetClass="entr" presetSubtype="0" fill="hold" grpId="0" nodeType="afterEffect">
                      <p:stCondLst>
                        <p:cond delay="880"/>
                      </p:stCondLst>
                      <p:childTnLst>
                        <p:set>
                          <p:cBhvr>
                            <p:cTn id="43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48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354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43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60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4351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363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43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69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4375" presetID="10" presetClass="entr" presetSubtype="0" fill="hold" grpId="0" nodeType="afterEffect">
                      <p:stCondLst>
                        <p:cond delay="990"/>
                      </p:stCondLst>
                      <p:childTnLst>
                        <p:set>
                          <p:cBhvr>
                            <p:cTn id="437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81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4372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384" presetID="10" presetClass="entr" presetSubtype="0" fill="hold" grpId="0" nodeType="afterEffect">
                      <p:stCondLst>
                        <p:cond delay="1060"/>
                      </p:stCondLst>
                      <p:childTnLst>
                        <p:set>
                          <p:cBhvr>
                            <p:cTn id="43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390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4396" presetID="10" presetClass="entr" presetSubtype="0" fill="hold" grpId="0" nodeType="afterEffect">
                      <p:stCondLst>
                        <p:cond delay="1080"/>
                      </p:stCondLst>
                      <p:childTnLst>
                        <p:set>
                          <p:cBhvr>
                            <p:cTn id="43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02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4393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405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44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11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4417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44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23" dur="420"/>
                            <p:tgtEl>
                              <p:spTgt spid="25"/>
                            </p:tgtEl>
                          </p:cBhvr>
                        </p:animEffect>
                        <p:animScale>
                          <p:cBhvr>
                            <p:cTn id="4414" dur="520" fill="hold"/>
                            <p:tgtEl>
                              <p:spTgt spid="2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426" presetID="10" presetClass="entr" presetSubtype="0" fill="hold" grpId="0" nodeType="afterEffect">
                      <p:stCondLst>
                        <p:cond delay="1240"/>
                      </p:stCondLst>
                      <p:childTnLst>
                        <p:set>
                          <p:cBhvr>
                            <p:cTn id="44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32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21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EMPTY CHAIR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Speaking to the person who is not in the 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21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25381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2187" y="2285994"/>
            <a:ext cx="56343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The client imagines another person in the empty chair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832093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2187" y="2792706"/>
            <a:ext cx="56343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Speaks directly to the imagined person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38804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3299418"/>
            <a:ext cx="56343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Brings unresolved experience into present awareness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845516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3806129"/>
            <a:ext cx="56343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Facilitates expression of unfinished emotions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352228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2187" y="4312841"/>
            <a:ext cx="563435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May open new awareness and perspectives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82" y="2133595"/>
            <a:ext cx="155447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009"/>
              </a:lnSpc>
              <a:buNone/>
            </a:pPr>
            <a:r>
              <a:rPr sz="7200" b="1" i="0">
                <a:solidFill>
                  <a:srgbClr val="4595C2"/>
                </a:solidFill>
                <a:latin typeface="Raleway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21" y="3069961"/>
            <a:ext cx="404163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70"/>
              </a:lnSpc>
              <a:buNone/>
            </a:pPr>
            <a:r>
              <a:rPr sz="1900" b="0" i="0">
                <a:solidFill>
                  <a:srgbClr val="33506B"/>
                </a:solidFill>
                <a:latin typeface="Raleway"/>
              </a:rPr>
              <a:t>Imagine your father is sitting in that chair. What would you want him to hear from you?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21" y="4370994"/>
            <a:ext cx="357529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8FA9BC"/>
                </a:solidFill>
                <a:latin typeface="Poppins"/>
              </a:rPr>
              <a:t>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78" y="485643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THE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98" y="5100273"/>
            <a:ext cx="226953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210"/>
              </a:lnSpc>
              <a:buNone/>
            </a:pPr>
            <a:r>
              <a:rPr sz="1350" b="1" i="0" spc="78">
                <a:solidFill>
                  <a:srgbClr val="33506B"/>
                </a:solidFill>
                <a:latin typeface="Poppins"/>
              </a:rPr>
              <a:t>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4192" y="5100273"/>
            <a:ext cx="226953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210"/>
              </a:lnSpc>
              <a:buNone/>
            </a:pPr>
            <a:r>
              <a:rPr sz="1350" b="1" i="0" spc="78">
                <a:solidFill>
                  <a:srgbClr val="33506B"/>
                </a:solidFill>
                <a:latin typeface="Poppins"/>
              </a:rPr>
              <a:t>Imagined person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435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4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41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444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4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50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45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4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59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465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44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71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4462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474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44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80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448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4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489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4495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44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01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4492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504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450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10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516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45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2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451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525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45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31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53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45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4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453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546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45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52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558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45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64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4555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567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45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73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579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45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85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4576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588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45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94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4597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46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03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609" presetID="22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46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15" dur="620"/>
                            <p:tgtEl>
                              <p:spTgt spid="20"/>
                            </p:tgtEl>
                          </p:cBhvr>
                        </p:animEffect>
                        <p:anim calcmode="lin" valueType="num">
                          <p:cBhvr additive="base">
                            <p:cTn id="4606" dur="520" fill="hold"/>
                            <p:tgtEl>
                              <p:spTgt spid="2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618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462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24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4627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46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33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4636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46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42" dur="52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4645" presetID="10" presetClass="entr" presetSubtype="0" fill="hold" grpId="0" nodeType="afterEffect">
                      <p:stCondLst>
                        <p:cond delay="1540"/>
                      </p:stCondLst>
                      <p:childTnLst>
                        <p:set>
                          <p:cBhvr>
                            <p:cTn id="46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51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22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OTHER EXPERIENTIAL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07018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What each experiment is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22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96013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6253" y="2356627"/>
            <a:ext cx="353798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Two chair dialogue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396013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20239" y="2356627"/>
            <a:ext cx="384888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Explore opposing parts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054778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6253" y="3015391"/>
            <a:ext cx="353798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Exaggeration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054778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20239" y="3015391"/>
            <a:ext cx="384888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Increase awareness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713542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86253" y="3674156"/>
            <a:ext cx="353798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Staying with the feeling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713542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20239" y="3674156"/>
            <a:ext cx="384888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Explore emerging emotions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372307"/>
            <a:ext cx="247649" cy="247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86253" y="4332920"/>
            <a:ext cx="353798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Body awareness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372307"/>
            <a:ext cx="247649" cy="2476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620239" y="4332920"/>
            <a:ext cx="384888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Notice physical experience</a:t>
            </a:r>
          </a:p>
        </p:txBody>
      </p:sp>
      <p:pic>
        <p:nvPicPr>
          <p:cNvPr id="25" name="Picture 2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031071"/>
            <a:ext cx="247649" cy="24764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86253" y="4991684"/>
            <a:ext cx="353798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“I” statements</a:t>
            </a:r>
          </a:p>
        </p:txBody>
      </p:sp>
      <p:pic>
        <p:nvPicPr>
          <p:cNvPr id="27" name="Picture 2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031071"/>
            <a:ext cx="247649" cy="2476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20239" y="4991684"/>
            <a:ext cx="384888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Own personal experience</a:t>
            </a:r>
          </a:p>
        </p:txBody>
      </p:sp>
      <p:pic>
        <p:nvPicPr>
          <p:cNvPr id="29" name="Picture 2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689836"/>
            <a:ext cx="247649" cy="24764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86253" y="5650449"/>
            <a:ext cx="353798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1" i="0">
                <a:solidFill>
                  <a:srgbClr val="33506B"/>
                </a:solidFill>
                <a:latin typeface="Poppins"/>
              </a:rPr>
              <a:t>Dream work</a:t>
            </a:r>
          </a:p>
        </p:txBody>
      </p:sp>
      <p:pic>
        <p:nvPicPr>
          <p:cNvPr id="31" name="Picture 3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689836"/>
            <a:ext cx="247649" cy="24764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20239" y="5650449"/>
            <a:ext cx="384888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5F7E97"/>
                </a:solidFill>
                <a:latin typeface="Poppins"/>
              </a:rPr>
              <a:t>Explore present meaning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654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6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60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4663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6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69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67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6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78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684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46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90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4681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4693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46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699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470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7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0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471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47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20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4711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726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472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3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472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735" presetID="10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47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41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747" presetID="10" presetClass="entr" presetSubtype="0" fill="hold" grpId="0" nodeType="afterEffect">
                      <p:stCondLst>
                        <p:cond delay="550"/>
                      </p:stCondLst>
                      <p:childTnLst>
                        <p:set>
                          <p:cBhvr>
                            <p:cTn id="475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5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474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756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47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62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768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47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74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4765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777" presetID="10" presetClass="entr" presetSubtype="0" fill="hold" grpId="0" nodeType="afterEffect">
                      <p:stCondLst>
                        <p:cond delay="620"/>
                      </p:stCondLst>
                      <p:childTnLst>
                        <p:set>
                          <p:cBhvr>
                            <p:cTn id="47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83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789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47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795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4786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798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48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04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810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48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16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4807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819" presetID="10" presetClass="entr" presetSubtype="0" fill="hold" grpId="0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48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25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831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483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37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4828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840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484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46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4852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48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58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4849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861" presetID="10" presetClass="entr" presetSubtype="0" fill="hold" grpId="0" nodeType="afterEffect">
                      <p:stCondLst>
                        <p:cond delay="820"/>
                      </p:stCondLst>
                      <p:childTnLst>
                        <p:set>
                          <p:cBhvr>
                            <p:cTn id="48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67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4873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48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79" dur="420"/>
                            <p:tgtEl>
                              <p:spTgt spid="25"/>
                            </p:tgtEl>
                          </p:cBhvr>
                        </p:animEffect>
                        <p:animScale>
                          <p:cBhvr>
                            <p:cTn id="4870" dur="520" fill="hold"/>
                            <p:tgtEl>
                              <p:spTgt spid="2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882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48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888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4894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48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00" dur="420"/>
                            <p:tgtEl>
                              <p:spTgt spid="27"/>
                            </p:tgtEl>
                          </p:cBhvr>
                        </p:animEffect>
                        <p:animScale>
                          <p:cBhvr>
                            <p:cTn id="4891" dur="520" fill="hold"/>
                            <p:tgtEl>
                              <p:spTgt spid="2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903" presetID="10" presetClass="entr" presetSubtype="0" fill="hold" grpId="0" nodeType="afterEffect">
                      <p:stCondLst>
                        <p:cond delay="920"/>
                      </p:stCondLst>
                      <p:childTnLst>
                        <p:set>
                          <p:cBhvr>
                            <p:cTn id="490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09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4915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49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21" dur="420"/>
                            <p:tgtEl>
                              <p:spTgt spid="29"/>
                            </p:tgtEl>
                          </p:cBhvr>
                        </p:animEffect>
                        <p:animScale>
                          <p:cBhvr>
                            <p:cTn id="4912" dur="520" fill="hold"/>
                            <p:tgtEl>
                              <p:spTgt spid="2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924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49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30" dur="52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4936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49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42" dur="420"/>
                            <p:tgtEl>
                              <p:spTgt spid="31"/>
                            </p:tgtEl>
                          </p:cBhvr>
                        </p:animEffect>
                        <p:animScale>
                          <p:cBhvr>
                            <p:cTn id="4933" dur="520" fill="hold"/>
                            <p:tgtEl>
                              <p:spTgt spid="3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4945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49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51" dur="52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4954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49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60" dur="52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23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370"/>
              </a:lnSpc>
              <a:buNone/>
            </a:pPr>
            <a:r>
              <a:rPr sz="4450" b="1" i="0">
                <a:solidFill>
                  <a:srgbClr val="4595C2"/>
                </a:solidFill>
                <a:latin typeface="Raleway"/>
              </a:rPr>
              <a:t>APPLICATION IN COUNSELLING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94972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Gestalt therapy can be applied to the following areas.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23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90326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2187" y="2350939"/>
            <a:ext cx="40798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Grief and loss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66" y="2390326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36575" y="2350939"/>
            <a:ext cx="40798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Relationship difficulties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079948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3040561"/>
            <a:ext cx="40798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Anxiety and emotional distress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66" y="3079948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36575" y="3040561"/>
            <a:ext cx="40798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Unresolved anger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769570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2187" y="3730183"/>
            <a:ext cx="40798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Identity concerns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66" y="3769570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936575" y="3730183"/>
            <a:ext cx="40798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Emotional expression difficulties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59192"/>
            <a:ext cx="247649" cy="247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12187" y="4419805"/>
            <a:ext cx="40798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Personal growth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866" y="4459192"/>
            <a:ext cx="247649" cy="2476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36575" y="4419805"/>
            <a:ext cx="407987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Unresolved interpersonal experiences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78" y="5292306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THERAPEUTIC MOVEMENT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478" y="5551386"/>
            <a:ext cx="19117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70"/>
              </a:lnSpc>
              <a:buNone/>
            </a:pPr>
            <a:r>
              <a:rPr sz="1250" b="1" i="0" spc="78">
                <a:solidFill>
                  <a:srgbClr val="33506B"/>
                </a:solidFill>
                <a:latin typeface="Poppins"/>
              </a:rPr>
              <a:t>Awareness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7702" y="5551386"/>
            <a:ext cx="19117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70"/>
              </a:lnSpc>
              <a:buNone/>
            </a:pPr>
            <a:r>
              <a:rPr sz="1250" b="1" i="0" spc="78">
                <a:solidFill>
                  <a:srgbClr val="33506B"/>
                </a:solidFill>
                <a:latin typeface="Poppins"/>
              </a:rPr>
              <a:t>Contact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2926" y="5551386"/>
            <a:ext cx="19117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70"/>
              </a:lnSpc>
              <a:buNone/>
            </a:pPr>
            <a:r>
              <a:rPr sz="1250" b="1" i="0" spc="78">
                <a:solidFill>
                  <a:srgbClr val="33506B"/>
                </a:solidFill>
                <a:latin typeface="Poppins"/>
              </a:rPr>
              <a:t>Responsibility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8150" y="5551386"/>
            <a:ext cx="19117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70"/>
              </a:lnSpc>
              <a:buNone/>
            </a:pPr>
            <a:r>
              <a:rPr sz="1250" b="1" i="0" spc="78">
                <a:solidFill>
                  <a:srgbClr val="33506B"/>
                </a:solidFill>
                <a:latin typeface="Poppins"/>
              </a:rPr>
              <a:t>Choice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3374" y="5551386"/>
            <a:ext cx="19117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2070"/>
              </a:lnSpc>
              <a:buNone/>
            </a:pPr>
            <a:r>
              <a:rPr sz="1250" b="1" i="0" spc="78">
                <a:solidFill>
                  <a:srgbClr val="33506B"/>
                </a:solidFill>
                <a:latin typeface="Poppins"/>
              </a:rPr>
              <a:t>Growth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6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9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69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497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9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78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98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49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87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993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49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999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4990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002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0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08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011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0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17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023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0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29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5020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032" presetID="10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50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38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5044" presetID="10" presetClass="entr" presetSubtype="0" fill="hold" grpId="0" nodeType="afterEffect">
                      <p:stCondLst>
                        <p:cond delay="540"/>
                      </p:stCondLst>
                      <p:childTnLst>
                        <p:set>
                          <p:cBhvr>
                            <p:cTn id="50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50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5041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053" presetID="10" presetClass="entr" presetSubtype="0" fill="hold" grpId="0" nodeType="afterEffect">
                      <p:stCondLst>
                        <p:cond delay="610"/>
                      </p:stCondLst>
                      <p:childTnLst>
                        <p:set>
                          <p:cBhvr>
                            <p:cTn id="50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59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065" presetID="10" presetClass="entr" presetSubtype="0" fill="hold" grpId="0" nodeType="afterEffect">
                      <p:stCondLst>
                        <p:cond delay="630"/>
                      </p:stCondLst>
                      <p:childTnLst>
                        <p:set>
                          <p:cBhvr>
                            <p:cTn id="50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71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5062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074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50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80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5086" presetID="10" presetClass="entr" presetSubtype="0" fill="hold" grpId="0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50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092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5083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095" presetID="10" presetClass="entr" presetSubtype="0" fill="hold" grpId="0" nodeType="afterEffect">
                      <p:stCondLst>
                        <p:cond delay="790"/>
                      </p:stCondLst>
                      <p:childTnLst>
                        <p:set>
                          <p:cBhvr>
                            <p:cTn id="50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01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5107" presetID="10" presetClass="entr" presetSubtype="0" fill="hold" grpId="0" nodeType="afterEffect">
                      <p:stCondLst>
                        <p:cond delay="810"/>
                      </p:stCondLst>
                      <p:childTnLst>
                        <p:set>
                          <p:cBhvr>
                            <p:cTn id="51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13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5104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116" presetID="10" presetClass="entr" presetSubtype="0" fill="hold" grpId="0" nodeType="afterEffect">
                      <p:stCondLst>
                        <p:cond delay="880"/>
                      </p:stCondLst>
                      <p:childTnLst>
                        <p:set>
                          <p:cBhvr>
                            <p:cTn id="51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22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128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51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34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5125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137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51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43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149" presetID="10" presetClass="entr" presetSubtype="0" fill="hold" grpId="0" nodeType="afterEffect">
                      <p:stCondLst>
                        <p:cond delay="990"/>
                      </p:stCondLst>
                      <p:childTnLst>
                        <p:set>
                          <p:cBhvr>
                            <p:cTn id="51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55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5146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158" presetID="10" presetClass="entr" presetSubtype="0" fill="hold" grpId="0" nodeType="afterEffect">
                      <p:stCondLst>
                        <p:cond delay="1060"/>
                      </p:stCondLst>
                      <p:childTnLst>
                        <p:set>
                          <p:cBhvr>
                            <p:cTn id="51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64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5170" presetID="10" presetClass="entr" presetSubtype="0" fill="hold" grpId="0" nodeType="afterEffect">
                      <p:stCondLst>
                        <p:cond delay="1080"/>
                      </p:stCondLst>
                      <p:childTnLst>
                        <p:set>
                          <p:cBhvr>
                            <p:cTn id="51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76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5167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179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518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85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188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519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194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5197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52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03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5206" presetID="10" presetClass="entr" presetSubtype="0" fill="hold" grpId="0" nodeType="afterEffect">
                      <p:stCondLst>
                        <p:cond delay="1540"/>
                      </p:stCondLst>
                      <p:childTnLst>
                        <p:set>
                          <p:cBhvr>
                            <p:cTn id="52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12" dur="52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5215" presetID="10" presetClass="entr" presetSubtype="0" fill="hold" grpId="0" nodeType="afterEffect">
                      <p:stCondLst>
                        <p:cond delay="1680"/>
                      </p:stCondLst>
                      <p:childTnLst>
                        <p:set>
                          <p:cBhvr>
                            <p:cTn id="52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21" dur="52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5224" presetID="10" presetClass="entr" presetSubtype="0" fill="hold" grpId="0" nodeType="afterEffect">
                      <p:stCondLst>
                        <p:cond delay="1820"/>
                      </p:stCondLst>
                      <p:childTnLst>
                        <p:set>
                          <p:cBhvr>
                            <p:cTn id="52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30" dur="52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5233" presetID="10" presetClass="entr" presetSubtype="0" fill="hold" grpId="0" nodeType="afterEffect">
                      <p:stCondLst>
                        <p:cond delay="1960"/>
                      </p:stCondLst>
                      <p:childTnLst>
                        <p:set>
                          <p:cBhvr>
                            <p:cTn id="52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39" dur="52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24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STRENGTHS OF GESTALT THERAPY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407018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What this approach does particularly well.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24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25381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2187" y="2285994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Promotes self awareness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49740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2187" y="3410354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Focuses on lived experience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574100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4534713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Encourages agency and responsibility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698459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5659072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Integrates mind, emotion and body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325381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6173" y="2285994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Considers person and environment interaction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794954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6173" y="3755567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Encourages active client participation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264526"/>
            <a:ext cx="247649" cy="247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46173" y="5225139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Supports experiential emotional 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24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2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48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25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25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57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526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2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66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272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52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78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5269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281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2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87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290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2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296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30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3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08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5299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311" presetID="10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53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17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5323" presetID="10" presetClass="entr" presetSubtype="0" fill="hold" grpId="0" nodeType="afterEffect">
                      <p:stCondLst>
                        <p:cond delay="550"/>
                      </p:stCondLst>
                      <p:childTnLst>
                        <p:set>
                          <p:cBhvr>
                            <p:cTn id="53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29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5320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332" presetID="10" presetClass="entr" presetSubtype="0" fill="hold" grpId="0" nodeType="afterEffect">
                      <p:stCondLst>
                        <p:cond delay="620"/>
                      </p:stCondLst>
                      <p:childTnLst>
                        <p:set>
                          <p:cBhvr>
                            <p:cTn id="53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38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344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53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50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5341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353" presetID="10" presetClass="entr" presetSubtype="0" fill="hold" grpId="0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53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59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5365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53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71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5362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374" presetID="10" presetClass="entr" presetSubtype="0" fill="hold" grpId="0" nodeType="afterEffect">
                      <p:stCondLst>
                        <p:cond delay="820"/>
                      </p:stCondLst>
                      <p:childTnLst>
                        <p:set>
                          <p:cBhvr>
                            <p:cTn id="537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80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5386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53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92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5383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395" presetID="10" presetClass="entr" presetSubtype="0" fill="hold" grpId="0" nodeType="afterEffect">
                      <p:stCondLst>
                        <p:cond delay="920"/>
                      </p:stCondLst>
                      <p:childTnLst>
                        <p:set>
                          <p:cBhvr>
                            <p:cTn id="53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01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407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54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13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5404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416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54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22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428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54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34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5425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437" presetID="10" presetClass="entr" presetSubtype="0" fill="hold" grpId="0" nodeType="afterEffect">
                      <p:stCondLst>
                        <p:cond delay="1120"/>
                      </p:stCondLst>
                      <p:childTnLst>
                        <p:set>
                          <p:cBhvr>
                            <p:cTn id="54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43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25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200"/>
              </a:lnSpc>
              <a:buNone/>
            </a:pPr>
            <a:r>
              <a:rPr sz="5050" b="1" i="0">
                <a:solidFill>
                  <a:srgbClr val="4595C2"/>
                </a:solidFill>
                <a:latin typeface="Raleway"/>
              </a:rPr>
              <a:t>LIMITATIONS AND CRITICISMS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600516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Honest considerations for careful practice.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25</a:t>
            </a:r>
          </a:p>
        </p:txBody>
      </p:sp>
      <p:pic>
        <p:nvPicPr>
          <p:cNvPr id="9" name="Picture 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25381"/>
            <a:ext cx="247649" cy="247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12187" y="2285994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Some techniques may feel intense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329503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2187" y="3290116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Requires skilled and sensitive application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333624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4294238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May challenge clients who prefer highly structured approaches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622259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5582872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Experiential techniques can be misused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325381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6173" y="2285994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Not every intervention suits every client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794954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6173" y="3755567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Cultural context must be considered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264526"/>
            <a:ext cx="247649" cy="247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46173" y="5225139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240"/>
              </a:lnSpc>
              <a:buNone/>
            </a:pPr>
            <a:r>
              <a:rPr sz="1350" b="0" i="0">
                <a:solidFill>
                  <a:srgbClr val="33506B"/>
                </a:solidFill>
                <a:latin typeface="Poppins"/>
              </a:rPr>
              <a:t>Ethical boundaries are essential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46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4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52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455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4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61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5464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4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70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476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54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82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5473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485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4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491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49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4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00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506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5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12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5503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515" presetID="10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55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21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5527" presetID="10" presetClass="entr" presetSubtype="0" fill="hold" grpId="0" nodeType="afterEffect">
                      <p:stCondLst>
                        <p:cond delay="550"/>
                      </p:stCondLst>
                      <p:childTnLst>
                        <p:set>
                          <p:cBhvr>
                            <p:cTn id="553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33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5524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536" presetID="10" presetClass="entr" presetSubtype="0" fill="hold" grpId="0" nodeType="afterEffect">
                      <p:stCondLst>
                        <p:cond delay="620"/>
                      </p:stCondLst>
                      <p:childTnLst>
                        <p:set>
                          <p:cBhvr>
                            <p:cTn id="55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42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548" presetID="10" presetClass="entr" presetSubtype="0" fill="hold" grpId="0" nodeType="afterEffect">
                      <p:stCondLst>
                        <p:cond delay="650"/>
                      </p:stCondLst>
                      <p:childTnLst>
                        <p:set>
                          <p:cBhvr>
                            <p:cTn id="55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54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5545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557" presetID="10" presetClass="entr" presetSubtype="0" fill="hold" grpId="0" nodeType="afterEffect">
                      <p:stCondLst>
                        <p:cond delay="720"/>
                      </p:stCondLst>
                      <p:childTnLst>
                        <p:set>
                          <p:cBhvr>
                            <p:cTn id="55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63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5569" presetID="10" presetClass="entr" presetSubtype="0" fill="hold" grpId="0" nodeType="afterEffect">
                      <p:stCondLst>
                        <p:cond delay="750"/>
                      </p:stCondLst>
                      <p:childTnLst>
                        <p:set>
                          <p:cBhvr>
                            <p:cTn id="557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75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5566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578" presetID="10" presetClass="entr" presetSubtype="0" fill="hold" grpId="0" nodeType="afterEffect">
                      <p:stCondLst>
                        <p:cond delay="820"/>
                      </p:stCondLst>
                      <p:childTnLst>
                        <p:set>
                          <p:cBhvr>
                            <p:cTn id="558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84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5590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55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596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5587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599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560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05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611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56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17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5608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620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56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26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632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56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38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5629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641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56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47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26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THE STORY OF AMINA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A 32 year old administrative officer overwhelmed by workload.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184" y="2285994"/>
            <a:ext cx="155447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6440"/>
              </a:lnSpc>
              <a:buNone/>
            </a:pPr>
            <a:r>
              <a:rPr sz="6600" b="1" i="0">
                <a:solidFill>
                  <a:srgbClr val="4595C2"/>
                </a:solidFill>
                <a:latin typeface="Raleway"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383" y="3134906"/>
            <a:ext cx="404163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30"/>
              </a:lnSpc>
              <a:buNone/>
            </a:pPr>
            <a:r>
              <a:rPr sz="1750" b="0" i="0">
                <a:solidFill>
                  <a:srgbClr val="33506B"/>
                </a:solidFill>
                <a:latin typeface="Raleway"/>
              </a:rPr>
              <a:t>A good employee should never disappoint the people who depend on 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383" y="4358134"/>
            <a:ext cx="404163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8FA9BC"/>
                </a:solidFill>
                <a:latin typeface="Poppins"/>
              </a:rPr>
              <a:t>AMINA'S OWN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383" y="4556253"/>
            <a:ext cx="404163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89"/>
              </a:lnSpc>
              <a:buNone/>
            </a:pPr>
            <a:r>
              <a:rPr sz="1100" b="0" i="0">
                <a:solidFill>
                  <a:srgbClr val="5F7E97"/>
                </a:solidFill>
                <a:latin typeface="Poppins"/>
              </a:rPr>
              <a:t>Supervisor frequently assigns additional duties, she usually accepts even when she has insufficient time.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312045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2285994"/>
            <a:ext cx="501256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Amina, 32, administrative officer seeks counselling for feeling overwhelmed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025234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2999184"/>
            <a:ext cx="501256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Supervisor frequently assigns additional duties, she accepts even when time is insufficient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738424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2187" y="3712374"/>
            <a:ext cx="501256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Fears that refusing will make her appear irresponsible or uncooperative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451614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12187" y="4425564"/>
            <a:ext cx="501256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Reports frequent muscle tension, difficulty sleeping and frustration rarely expressed openly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164804"/>
            <a:ext cx="247649" cy="247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12187" y="5138753"/>
            <a:ext cx="501256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When discussing anger she laughs and quickly changes the subject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877993"/>
            <a:ext cx="247649" cy="2476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12187" y="5851943"/>
            <a:ext cx="501256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  <a:buNone/>
            </a:pPr>
            <a:r>
              <a:rPr sz="1200" b="0" i="0">
                <a:solidFill>
                  <a:srgbClr val="33506B"/>
                </a:solidFill>
                <a:latin typeface="Poppins"/>
              </a:rPr>
              <a:t>Criticises herself for feeling tired, believes she should be able to manage everything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650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6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56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659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6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65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5668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67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74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680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568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86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5677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689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69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695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698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70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04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710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57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16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5707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719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57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25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5728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57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34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740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574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46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5737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749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57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55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5761" presetID="22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57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67" dur="620"/>
                            <p:tgtEl>
                              <p:spTgt spid="10"/>
                            </p:tgtEl>
                          </p:cBhvr>
                        </p:animEffect>
                        <p:anim calcmode="lin" valueType="num">
                          <p:cBhvr additive="base">
                            <p:cTn id="5758" dur="52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773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57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79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5770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782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57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88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794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579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00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5791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803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580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09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5812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58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18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821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58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27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833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58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39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5830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842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58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48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5854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585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60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5851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863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58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69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27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GESTALT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Reading Amina's experience as an interconnected whole.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28599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THROUGH THE GESTALT LENS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520958"/>
            <a:ext cx="247649" cy="2476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12187" y="2499354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Awareness and here and now: bodily tension, anxiety, anger and self critical thoughts when anticipating disappointing others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890000"/>
            <a:ext cx="247649" cy="2476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12187" y="3868396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Introjection: belief that a good employee must never disappoint, an internalised rule not fully examined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010093"/>
            <a:ext cx="247649" cy="2476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2187" y="4988488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Retroflection: directs frustration inward as self criticism rather than exploring workload concerns</a:t>
            </a:r>
          </a:p>
        </p:txBody>
      </p:sp>
      <p:pic>
        <p:nvPicPr>
          <p:cNvPr id="16" name="Picture 1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520958"/>
            <a:ext cx="247649" cy="2476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46173" y="2499354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Deflection: laughter and rapid subject changes when discussing anger, difficulty staying with emotion</a:t>
            </a:r>
          </a:p>
        </p:txBody>
      </p:sp>
      <p:pic>
        <p:nvPicPr>
          <p:cNvPr id="18" name="Picture 1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890000"/>
            <a:ext cx="247649" cy="2476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46173" y="3868396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Organismic self regulation: fatigue and tension signal needs for rest and manageable demands not being met</a:t>
            </a:r>
          </a:p>
        </p:txBody>
      </p:sp>
      <p:pic>
        <p:nvPicPr>
          <p:cNvPr id="20" name="Picture 1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010093"/>
            <a:ext cx="247649" cy="24764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546173" y="4988488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Field theory: workplace expectations, power differences, job security and organisational 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478" y="5730226"/>
            <a:ext cx="963775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>
                <a:solidFill>
                  <a:srgbClr val="4595C2"/>
                </a:solidFill>
                <a:latin typeface="Poppins"/>
              </a:rPr>
              <a:t>Amina's difficulty cannot be understood solely as an individual problem, the field matters as much as the person.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87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8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78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88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8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87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589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589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896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902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590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08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5899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5911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591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17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920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59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26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929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59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35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941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59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47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5938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950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59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56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5962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59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68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5959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971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59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77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5983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59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989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5980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5995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59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01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5992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004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600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10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6013" presetID="10" presetClass="entr" presetSubtype="0" fill="hold" grpId="0" nodeType="afterEffect">
                      <p:stCondLst>
                        <p:cond delay="920"/>
                      </p:stCondLst>
                      <p:childTnLst>
                        <p:set>
                          <p:cBhvr>
                            <p:cTn id="60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19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6025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60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31" dur="420"/>
                            <p:tgtEl>
                              <p:spTgt spid="18"/>
                            </p:tgtEl>
                          </p:cBhvr>
                        </p:animEffect>
                        <p:animScale>
                          <p:cBhvr>
                            <p:cTn id="6022" dur="520" fill="hold"/>
                            <p:tgtEl>
                              <p:spTgt spid="1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034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60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40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6046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604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52" dur="420"/>
                            <p:tgtEl>
                              <p:spTgt spid="20"/>
                            </p:tgtEl>
                          </p:cBhvr>
                        </p:animEffect>
                        <p:animScale>
                          <p:cBhvr>
                            <p:cTn id="6043" dur="520" fill="hold"/>
                            <p:tgtEl>
                              <p:spTgt spid="2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055" presetID="10" presetClass="entr" presetSubtype="0" fill="hold" grpId="0" nodeType="afterEffect">
                      <p:stCondLst>
                        <p:cond delay="1120"/>
                      </p:stCondLst>
                      <p:childTnLst>
                        <p:set>
                          <p:cBhvr>
                            <p:cTn id="60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61" dur="52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6064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60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70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28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680"/>
              </a:lnSpc>
              <a:buNone/>
            </a:pPr>
            <a:r>
              <a:rPr sz="4000" b="1" i="0">
                <a:solidFill>
                  <a:srgbClr val="4595C2"/>
                </a:solidFill>
                <a:latin typeface="Raleway"/>
              </a:rPr>
              <a:t>GOALS, INTERVENTIONS AND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2128238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From awareness to deliberate choice, with attention to workplace realities.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65873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THERAPEUTIC GOALS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889253"/>
            <a:ext cx="247649" cy="2476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12187" y="2872094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Help Amina recognise emotional and bodily responses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277443"/>
            <a:ext cx="247649" cy="24764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12187" y="3260284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Examine the rule that she must never disappoint others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665633"/>
            <a:ext cx="247649" cy="2476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2187" y="3648474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Identify realistic choices for responding to workplace demands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65" y="2658734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INTERVENTIONS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889253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46173" y="2872094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Body awareness: “What happens in your body when you imagine telling your supervisor you cannot take another assignment?”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757559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46173" y="3740400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Explore belief: “What does responsibility mean to you?”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145749"/>
            <a:ext cx="247649" cy="247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46173" y="4128590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Two chair exercise if willing: part demanding constant performance versus part needing rest and fairness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773997"/>
            <a:ext cx="247649" cy="2476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46173" y="4756838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Practical planning: prioritise tasks, clarify deadlines, discuss 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478" y="5419833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EXPECTED OUTCOMES</a:t>
            </a:r>
          </a:p>
        </p:txBody>
      </p:sp>
      <p:pic>
        <p:nvPicPr>
          <p:cNvPr id="26" name="Picture 2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619872"/>
            <a:ext cx="247649" cy="24764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12187" y="5602713"/>
            <a:ext cx="92096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Greater ability to recognise needs and evaluate internalised expectations</a:t>
            </a:r>
          </a:p>
        </p:txBody>
      </p:sp>
      <p:pic>
        <p:nvPicPr>
          <p:cNvPr id="28" name="Picture 2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995718"/>
            <a:ext cx="247649" cy="24764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12187" y="5978559"/>
            <a:ext cx="92096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Deliberate decisions based on responsibilities, limits and workplace conditions</a:t>
            </a:r>
          </a:p>
        </p:txBody>
      </p:sp>
      <p:pic>
        <p:nvPicPr>
          <p:cNvPr id="30" name="Picture 2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6371564"/>
            <a:ext cx="247649" cy="24764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12187" y="6354405"/>
            <a:ext cx="920964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33506B"/>
                </a:solidFill>
                <a:latin typeface="Poppins"/>
              </a:rPr>
              <a:t>Shows how Gestalt integrates awareness, contact patterns, self regulation and field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07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07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79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6082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0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88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609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0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097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6103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610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09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6100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112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61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18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6121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1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27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130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613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36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6142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614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48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6139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151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615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57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6163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616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69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6160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172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61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78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6181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618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87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6193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619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199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6190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205" presetID="10" presetClass="entr" presetSubtype="0" fill="hold" grpId="0" nodeType="afterEffect">
                      <p:stCondLst>
                        <p:cond delay="850"/>
                      </p:stCondLst>
                      <p:childTnLst>
                        <p:set>
                          <p:cBhvr>
                            <p:cTn id="620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11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6202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214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621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20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6223" presetID="10" presetClass="entr" presetSubtype="0" fill="hold" grpId="0" nodeType="afterEffect">
                      <p:stCondLst>
                        <p:cond delay="920"/>
                      </p:stCondLst>
                      <p:childTnLst>
                        <p:set>
                          <p:cBhvr>
                            <p:cTn id="622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29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6235" presetID="10" presetClass="entr" presetSubtype="0" fill="hold" grpId="0" nodeType="afterEffect">
                      <p:stCondLst>
                        <p:cond delay="950"/>
                      </p:stCondLst>
                      <p:childTnLst>
                        <p:set>
                          <p:cBhvr>
                            <p:cTn id="623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41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6232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244" presetID="10" presetClass="entr" presetSubtype="0" fill="hold" grpId="0" nodeType="afterEffect">
                      <p:stCondLst>
                        <p:cond delay="1020"/>
                      </p:stCondLst>
                      <p:childTnLst>
                        <p:set>
                          <p:cBhvr>
                            <p:cTn id="624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50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6256" presetID="10" presetClass="entr" presetSubtype="0" fill="hold" grpId="0" nodeType="afterEffect">
                      <p:stCondLst>
                        <p:cond delay="1050"/>
                      </p:stCondLst>
                      <p:childTnLst>
                        <p:set>
                          <p:cBhvr>
                            <p:cTn id="625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62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6253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265" presetID="10" presetClass="entr" presetSubtype="0" fill="hold" grpId="0" nodeType="afterEffect">
                      <p:stCondLst>
                        <p:cond delay="1120"/>
                      </p:stCondLst>
                      <p:childTnLst>
                        <p:set>
                          <p:cBhvr>
                            <p:cTn id="626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71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6277" presetID="10" presetClass="entr" presetSubtype="0" fill="hold" grpId="0" nodeType="afterEffect">
                      <p:stCondLst>
                        <p:cond delay="1150"/>
                      </p:stCondLst>
                      <p:childTnLst>
                        <p:set>
                          <p:cBhvr>
                            <p:cTn id="628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83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6274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286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628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292" dur="52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6295" presetID="10" presetClass="entr" presetSubtype="0" fill="hold" grpId="0" nodeType="afterEffect">
                      <p:stCondLst>
                        <p:cond delay="1220"/>
                      </p:stCondLst>
                      <p:childTnLst>
                        <p:set>
                          <p:cBhvr>
                            <p:cTn id="629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01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6307" presetID="10" presetClass="entr" presetSubtype="0" fill="hold" grpId="0" nodeType="afterEffect">
                      <p:stCondLst>
                        <p:cond delay="1300"/>
                      </p:stCondLst>
                      <p:childTnLst>
                        <p:set>
                          <p:cBhvr>
                            <p:cTn id="63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13" dur="420"/>
                            <p:tgtEl>
                              <p:spTgt spid="26"/>
                            </p:tgtEl>
                          </p:cBhvr>
                        </p:animEffect>
                        <p:animScale>
                          <p:cBhvr>
                            <p:cTn id="6304" dur="520" fill="hold"/>
                            <p:tgtEl>
                              <p:spTgt spid="2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316" presetID="10" presetClass="entr" presetSubtype="0" fill="hold" grpId="0" nodeType="afterEffect">
                      <p:stCondLst>
                        <p:cond delay="1370"/>
                      </p:stCondLst>
                      <p:childTnLst>
                        <p:set>
                          <p:cBhvr>
                            <p:cTn id="63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22" dur="52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6328" presetID="10" presetClass="entr" presetSubtype="0" fill="hold" grpId="0" nodeType="afterEffect">
                      <p:stCondLst>
                        <p:cond delay="1400"/>
                      </p:stCondLst>
                      <p:childTnLst>
                        <p:set>
                          <p:cBhvr>
                            <p:cTn id="633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34" dur="420"/>
                            <p:tgtEl>
                              <p:spTgt spid="28"/>
                            </p:tgtEl>
                          </p:cBhvr>
                        </p:animEffect>
                        <p:animScale>
                          <p:cBhvr>
                            <p:cTn id="6325" dur="520" fill="hold"/>
                            <p:tgtEl>
                              <p:spTgt spid="2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337" presetID="10" presetClass="entr" presetSubtype="0" fill="hold" grpId="0" nodeType="afterEffect">
                      <p:stCondLst>
                        <p:cond delay="1470"/>
                      </p:stCondLst>
                      <p:childTnLst>
                        <p:set>
                          <p:cBhvr>
                            <p:cTn id="63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43" dur="52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6349" presetID="10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63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55" dur="420"/>
                            <p:tgtEl>
                              <p:spTgt spid="30"/>
                            </p:tgtEl>
                          </p:cBhvr>
                        </p:animEffect>
                        <p:animScale>
                          <p:cBhvr>
                            <p:cTn id="6346" dur="520" fill="hold"/>
                            <p:tgtEl>
                              <p:spTgt spid="3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358" presetID="10" presetClass="entr" presetSubtype="0" fill="hold" grpId="0" nodeType="afterEffect">
                      <p:stCondLst>
                        <p:cond delay="1570"/>
                      </p:stCondLst>
                      <p:childTnLst>
                        <p:set>
                          <p:cBhvr>
                            <p:cTn id="636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64" dur="52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29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CRITICAL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5F7E97"/>
                </a:solidFill>
                <a:latin typeface="Poppins"/>
              </a:rPr>
              <a:t>What the theory contributes and what it asks of the therapist.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8" y="2362756"/>
            <a:ext cx="59070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CONTRIBUTIONS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65" y="2362756"/>
            <a:ext cx="435253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0"/>
              </a:lnSpc>
              <a:buNone/>
            </a:pPr>
            <a:r>
              <a:rPr sz="1050" b="1" i="0" spc="203">
                <a:solidFill>
                  <a:srgbClr val="4595C2"/>
                </a:solidFill>
                <a:latin typeface="Poppins"/>
              </a:rPr>
              <a:t>CONSIDERATIONS</a:t>
            </a:r>
          </a:p>
        </p:txBody>
      </p:sp>
      <p:pic>
        <p:nvPicPr>
          <p:cNvPr id="11" name="Picture 1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652331"/>
            <a:ext cx="247649" cy="2476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2187" y="2621835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Holistic understanding of human experience</a:t>
            </a:r>
          </a:p>
        </p:txBody>
      </p:sp>
      <p:pic>
        <p:nvPicPr>
          <p:cNvPr id="13" name="Picture 1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09591"/>
            <a:ext cx="247649" cy="2476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12187" y="3379095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Strong emphasis on awareness</a:t>
            </a:r>
          </a:p>
        </p:txBody>
      </p:sp>
      <p:pic>
        <p:nvPicPr>
          <p:cNvPr id="15" name="Picture 1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166851"/>
            <a:ext cx="247649" cy="24764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12187" y="4136356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Integrates body, emotion and cognition</a:t>
            </a:r>
          </a:p>
        </p:txBody>
      </p:sp>
      <p:pic>
        <p:nvPicPr>
          <p:cNvPr id="17" name="Picture 1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924111"/>
            <a:ext cx="247649" cy="2476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2187" y="4893616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Recognises person and environment interaction</a:t>
            </a:r>
          </a:p>
        </p:txBody>
      </p:sp>
      <p:pic>
        <p:nvPicPr>
          <p:cNvPr id="19" name="Picture 1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681372"/>
            <a:ext cx="247649" cy="2476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12187" y="5650876"/>
            <a:ext cx="423532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Promotes agency and authentic choice</a:t>
            </a:r>
          </a:p>
        </p:txBody>
      </p:sp>
      <p:pic>
        <p:nvPicPr>
          <p:cNvPr id="21" name="Picture 20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2652331"/>
            <a:ext cx="247649" cy="24764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46173" y="2621835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Cultural adaptation</a:t>
            </a:r>
          </a:p>
        </p:txBody>
      </p:sp>
      <p:pic>
        <p:nvPicPr>
          <p:cNvPr id="23" name="Picture 22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3409591"/>
            <a:ext cx="247649" cy="2476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46173" y="3379095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Client readiness</a:t>
            </a:r>
          </a:p>
        </p:txBody>
      </p:sp>
      <p:pic>
        <p:nvPicPr>
          <p:cNvPr id="25" name="Picture 24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166851"/>
            <a:ext cx="247649" cy="24764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46173" y="4136356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Therapist competence</a:t>
            </a:r>
          </a:p>
        </p:txBody>
      </p:sp>
      <p:pic>
        <p:nvPicPr>
          <p:cNvPr id="27" name="Picture 26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4924111"/>
            <a:ext cx="247649" cy="2476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46173" y="4893616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Appropriate use of experiential techniques</a:t>
            </a:r>
          </a:p>
        </p:txBody>
      </p:sp>
      <p:pic>
        <p:nvPicPr>
          <p:cNvPr id="29" name="Picture 28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65" y="5681372"/>
            <a:ext cx="247649" cy="24764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546173" y="5650876"/>
            <a:ext cx="439077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  <a:buNone/>
            </a:pPr>
            <a:r>
              <a:rPr sz="1250" b="0" i="0">
                <a:solidFill>
                  <a:srgbClr val="33506B"/>
                </a:solidFill>
                <a:latin typeface="Poppins"/>
              </a:rPr>
              <a:t>Balance between present and past experience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67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37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73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6376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3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82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6385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3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391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6397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64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03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6394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406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64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12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6415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41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21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424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4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30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6436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64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4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643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445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64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51" dur="52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6457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646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63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6454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466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646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72" dur="52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6475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647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81" dur="52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6487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649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493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6484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496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64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02" dur="52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6508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65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14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6505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520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65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26" dur="420"/>
                            <p:tgtEl>
                              <p:spTgt spid="21"/>
                            </p:tgtEl>
                          </p:cBhvr>
                        </p:animEffect>
                        <p:animScale>
                          <p:cBhvr>
                            <p:cTn id="6517" dur="520" fill="hold"/>
                            <p:tgtEl>
                              <p:spTgt spid="2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529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65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35" dur="52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6538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654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44" dur="52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6550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65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56" dur="420"/>
                            <p:tgtEl>
                              <p:spTgt spid="19"/>
                            </p:tgtEl>
                          </p:cBhvr>
                        </p:animEffect>
                        <p:animScale>
                          <p:cBhvr>
                            <p:cTn id="6547" dur="520" fill="hold"/>
                            <p:tgtEl>
                              <p:spTgt spid="1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562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656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68" dur="420"/>
                            <p:tgtEl>
                              <p:spTgt spid="23"/>
                            </p:tgtEl>
                          </p:cBhvr>
                        </p:animEffect>
                        <p:animScale>
                          <p:cBhvr>
                            <p:cTn id="6559" dur="520" fill="hold"/>
                            <p:tgtEl>
                              <p:spTgt spid="2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571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65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77" dur="52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6580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658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86" dur="52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6592" presetID="10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65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598" dur="420"/>
                            <p:tgtEl>
                              <p:spTgt spid="25"/>
                            </p:tgtEl>
                          </p:cBhvr>
                        </p:animEffect>
                        <p:animScale>
                          <p:cBhvr>
                            <p:cTn id="6589" dur="520" fill="hold"/>
                            <p:tgtEl>
                              <p:spTgt spid="2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601" presetID="10" presetClass="entr" presetSubtype="0" fill="hold" grpId="0" nodeType="afterEffect">
                      <p:stCondLst>
                        <p:cond delay="1070"/>
                      </p:stCondLst>
                      <p:childTnLst>
                        <p:set>
                          <p:cBhvr>
                            <p:cTn id="66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07" dur="52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6613" presetID="10" presetClass="entr" presetSubtype="0" fill="hold" grpId="0" nodeType="afterEffect">
                      <p:stCondLst>
                        <p:cond delay="1100"/>
                      </p:stCondLst>
                      <p:childTnLst>
                        <p:set>
                          <p:cBhvr>
                            <p:cTn id="66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19" dur="420"/>
                            <p:tgtEl>
                              <p:spTgt spid="27"/>
                            </p:tgtEl>
                          </p:cBhvr>
                        </p:animEffect>
                        <p:animScale>
                          <p:cBhvr>
                            <p:cTn id="6610" dur="520" fill="hold"/>
                            <p:tgtEl>
                              <p:spTgt spid="2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622" presetID="10" presetClass="entr" presetSubtype="0" fill="hold" grpId="0" nodeType="afterEffect">
                      <p:stCondLst>
                        <p:cond delay="1170"/>
                      </p:stCondLst>
                      <p:childTnLst>
                        <p:set>
                          <p:cBhvr>
                            <p:cTn id="66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28" dur="52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6634" presetID="10" presetClass="entr" presetSubtype="0" fill="hold" grpId="0" nodeType="afterEffect">
                      <p:stCondLst>
                        <p:cond delay="1200"/>
                      </p:stCondLst>
                      <p:childTnLst>
                        <p:set>
                          <p:cBhvr>
                            <p:cTn id="66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40" dur="420"/>
                            <p:tgtEl>
                              <p:spTgt spid="29"/>
                            </p:tgtEl>
                          </p:cBhvr>
                        </p:animEffect>
                        <p:animScale>
                          <p:cBhvr>
                            <p:cTn id="6631" dur="520" fill="hold"/>
                            <p:tgtEl>
                              <p:spTgt spid="2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643" presetID="10" presetClass="entr" presetSubtype="0" fill="hold" grpId="0" nodeType="afterEffect">
                      <p:stCondLst>
                        <p:cond delay="1270"/>
                      </p:stCondLst>
                      <p:childTnLst>
                        <p:set>
                          <p:cBhvr>
                            <p:cTn id="66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49" dur="52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CFE9F8"/>
                </a:solidFill>
                <a:latin typeface="Raleway"/>
              </a:rPr>
              <a:t>30</a:t>
            </a:r>
            <a:r>
              <a:rPr sz="1050" b="1" i="0" spc="203">
                <a:solidFill>
                  <a:srgbClr val="D8EBF7"/>
                </a:solidFill>
                <a:latin typeface="Poppins"/>
              </a:rPr>
              <a:t>    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FFFFFF"/>
                </a:solidFill>
                <a:latin typeface="Raleway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78" y="1706060"/>
            <a:ext cx="9171409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380"/>
              </a:lnSpc>
              <a:buNone/>
            </a:pPr>
            <a:r>
              <a:rPr sz="1450" b="0" i="0">
                <a:solidFill>
                  <a:srgbClr val="D8EBF7"/>
                </a:solidFill>
                <a:latin typeface="Poppins"/>
              </a:rPr>
              <a:t>Greater awareness creates greater possibilities for choice and change.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B7D6E9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B7D6E9"/>
                </a:solidFill>
                <a:latin typeface="Poppins"/>
              </a:rPr>
              <a:t>30</a:t>
            </a:r>
          </a:p>
        </p:txBody>
      </p:sp>
      <p:pic>
        <p:nvPicPr>
          <p:cNvPr id="9" name="Picture 8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428930"/>
            <a:ext cx="257555" cy="2575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3957" y="2325465"/>
            <a:ext cx="54406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90"/>
              </a:lnSpc>
              <a:buNone/>
            </a:pPr>
            <a:r>
              <a:rPr sz="2050" b="1" i="0">
                <a:solidFill>
                  <a:srgbClr val="FFFFFF"/>
                </a:solidFill>
                <a:latin typeface="Raleway"/>
              </a:rPr>
              <a:t>AWARENESS</a:t>
            </a:r>
          </a:p>
        </p:txBody>
      </p:sp>
      <p:pic>
        <p:nvPicPr>
          <p:cNvPr id="11" name="Picture 10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270251"/>
            <a:ext cx="257555" cy="2575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03957" y="3166786"/>
            <a:ext cx="54406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90"/>
              </a:lnSpc>
              <a:buNone/>
            </a:pPr>
            <a:r>
              <a:rPr sz="2050" b="1" i="0">
                <a:solidFill>
                  <a:srgbClr val="FFFFFF"/>
                </a:solidFill>
                <a:latin typeface="Raleway"/>
              </a:rPr>
              <a:t>HERE AND NOW</a:t>
            </a:r>
          </a:p>
        </p:txBody>
      </p:sp>
      <p:pic>
        <p:nvPicPr>
          <p:cNvPr id="13" name="Picture 12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111571"/>
            <a:ext cx="257555" cy="2575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3957" y="4008106"/>
            <a:ext cx="54406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90"/>
              </a:lnSpc>
              <a:buNone/>
            </a:pPr>
            <a:r>
              <a:rPr sz="2050" b="1" i="0">
                <a:solidFill>
                  <a:srgbClr val="FFFFFF"/>
                </a:solidFill>
                <a:latin typeface="Raleway"/>
              </a:rPr>
              <a:t>CONTACT</a:t>
            </a:r>
          </a:p>
        </p:txBody>
      </p:sp>
      <p:pic>
        <p:nvPicPr>
          <p:cNvPr id="15" name="Picture 14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952892"/>
            <a:ext cx="257555" cy="2575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03957" y="4849427"/>
            <a:ext cx="54406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190"/>
              </a:lnSpc>
              <a:buNone/>
            </a:pPr>
            <a:r>
              <a:rPr sz="2050" b="1" i="0">
                <a:solidFill>
                  <a:srgbClr val="FFFFFF"/>
                </a:solidFill>
                <a:latin typeface="Raleway"/>
              </a:rPr>
              <a:t>RESPONSIBILITY AND CHOICE</a:t>
            </a:r>
          </a:p>
        </p:txBody>
      </p:sp>
      <p:pic>
        <p:nvPicPr>
          <p:cNvPr id="17" name="Picture 16" descr="ti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609877"/>
            <a:ext cx="336803" cy="33680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03957" y="5498316"/>
            <a:ext cx="5440666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800"/>
              </a:lnSpc>
              <a:buNone/>
            </a:pPr>
            <a:r>
              <a:rPr sz="2450" b="1" i="0">
                <a:solidFill>
                  <a:srgbClr val="FFFFFF"/>
                </a:solidFill>
                <a:latin typeface="Raleway"/>
              </a:rPr>
              <a:t>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61" y="4731555"/>
            <a:ext cx="4041638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990"/>
              </a:lnSpc>
              <a:buNone/>
            </a:pPr>
            <a:r>
              <a:rPr sz="1650" b="0" i="0">
                <a:solidFill>
                  <a:srgbClr val="FFFFFF"/>
                </a:solidFill>
                <a:latin typeface="Raleway"/>
              </a:rPr>
              <a:t>Therapeutic change begins with noticing what is happening now.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52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65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58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6661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66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67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667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67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76" dur="52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6682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668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88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6679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691" presetID="10" presetClass="entr" presetSubtype="0" fill="hold" grpId="0" nodeType="afterEffect">
                      <p:stCondLst>
                        <p:cond delay="340"/>
                      </p:stCondLst>
                      <p:childTnLst>
                        <p:set>
                          <p:cBhvr>
                            <p:cTn id="669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697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6700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70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06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71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71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18" dur="420"/>
                            <p:tgtEl>
                              <p:spTgt spid="9"/>
                            </p:tgtEl>
                          </p:cBhvr>
                        </p:animEffect>
                        <p:animScale>
                          <p:cBhvr>
                            <p:cTn id="6709" dur="520" fill="hold"/>
                            <p:tgtEl>
                              <p:spTgt spid="9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724" presetID="22" presetClass="entr" presetSubtype="0" fill="hold" grpId="0" nodeType="afterEffect">
                      <p:stCondLst>
                        <p:cond delay="520"/>
                      </p:stCondLst>
                      <p:childTnLst>
                        <p:set>
                          <p:cBhvr>
                            <p:cTn id="672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30" dur="620"/>
                            <p:tgtEl>
                              <p:spTgt spid="10"/>
                            </p:tgtEl>
                          </p:cBhvr>
                        </p:animEffect>
                        <p:anim calcmode="lin" valueType="num">
                          <p:cBhvr additive="base">
                            <p:cTn id="6721" dur="520" fill="hold"/>
                            <p:tgtEl>
                              <p:spTgt spid="10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736" presetID="10" presetClass="entr" presetSubtype="0" fill="hold" grpId="0" nodeType="afterEffect">
                      <p:stCondLst>
                        <p:cond delay="610"/>
                      </p:stCondLst>
                      <p:childTnLst>
                        <p:set>
                          <p:cBhvr>
                            <p:cTn id="673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42" dur="420"/>
                            <p:tgtEl>
                              <p:spTgt spid="11"/>
                            </p:tgtEl>
                          </p:cBhvr>
                        </p:animEffect>
                        <p:animScale>
                          <p:cBhvr>
                            <p:cTn id="6733" dur="520" fill="hold"/>
                            <p:tgtEl>
                              <p:spTgt spid="11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748" presetID="22" presetClass="entr" presetSubtype="0" fill="hold" grpId="0" nodeType="afterEffect">
                      <p:stCondLst>
                        <p:cond delay="680"/>
                      </p:stCondLst>
                      <p:childTnLst>
                        <p:set>
                          <p:cBhvr>
                            <p:cTn id="675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54" dur="620"/>
                            <p:tgtEl>
                              <p:spTgt spid="12"/>
                            </p:tgtEl>
                          </p:cBhvr>
                        </p:animEffect>
                        <p:anim calcmode="lin" valueType="num">
                          <p:cBhvr additive="base">
                            <p:cTn id="6745" dur="520" fill="hold"/>
                            <p:tgtEl>
                              <p:spTgt spid="12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760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676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66" dur="420"/>
                            <p:tgtEl>
                              <p:spTgt spid="13"/>
                            </p:tgtEl>
                          </p:cBhvr>
                        </p:animEffect>
                        <p:animScale>
                          <p:cBhvr>
                            <p:cTn id="6757" dur="520" fill="hold"/>
                            <p:tgtEl>
                              <p:spTgt spid="13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772" presetID="22" presetClass="entr" presetSubtype="0" fill="hold" grpId="0" nodeType="afterEffect">
                      <p:stCondLst>
                        <p:cond delay="840"/>
                      </p:stCondLst>
                      <p:childTnLst>
                        <p:set>
                          <p:cBhvr>
                            <p:cTn id="677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78" dur="620"/>
                            <p:tgtEl>
                              <p:spTgt spid="14"/>
                            </p:tgtEl>
                          </p:cBhvr>
                        </p:animEffect>
                        <p:anim calcmode="lin" valueType="num">
                          <p:cBhvr additive="base">
                            <p:cTn id="6769" dur="520" fill="hold"/>
                            <p:tgtEl>
                              <p:spTgt spid="14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784" presetID="10" presetClass="entr" presetSubtype="0" fill="hold" grpId="0" nodeType="afterEffect">
                      <p:stCondLst>
                        <p:cond delay="930"/>
                      </p:stCondLst>
                      <p:childTnLst>
                        <p:set>
                          <p:cBhvr>
                            <p:cTn id="678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790" dur="420"/>
                            <p:tgtEl>
                              <p:spTgt spid="15"/>
                            </p:tgtEl>
                          </p:cBhvr>
                        </p:animEffect>
                        <p:animScale>
                          <p:cBhvr>
                            <p:cTn id="6781" dur="520" fill="hold"/>
                            <p:tgtEl>
                              <p:spTgt spid="15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796" presetID="22" presetClass="entr" presetSubtype="0" fill="hold" grpId="0" nodeType="afterEffect">
                      <p:stCondLst>
                        <p:cond delay="1000"/>
                      </p:stCondLst>
                      <p:childTnLst>
                        <p:set>
                          <p:cBhvr>
                            <p:cTn id="679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02" dur="620"/>
                            <p:tgtEl>
                              <p:spTgt spid="16"/>
                            </p:tgtEl>
                          </p:cBhvr>
                        </p:animEffect>
                        <p:anim calcmode="lin" valueType="num">
                          <p:cBhvr additive="base">
                            <p:cTn id="6793" dur="520" fill="hold"/>
                            <p:tgtEl>
                              <p:spTgt spid="16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808" presetID="10" presetClass="entr" presetSubtype="0" fill="hold" grpId="0" nodeType="afterEffect">
                      <p:stCondLst>
                        <p:cond delay="1090"/>
                      </p:stCondLst>
                      <p:childTnLst>
                        <p:set>
                          <p:cBhvr>
                            <p:cTn id="6811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14" dur="420"/>
                            <p:tgtEl>
                              <p:spTgt spid="17"/>
                            </p:tgtEl>
                          </p:cBhvr>
                        </p:animEffect>
                        <p:animScale>
                          <p:cBhvr>
                            <p:cTn id="6805" dur="520" fill="hold"/>
                            <p:tgtEl>
                              <p:spTgt spid="17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820" presetID="22" presetClass="entr" presetSubtype="0" fill="hold" grpId="0" nodeType="afterEffect">
                      <p:stCondLst>
                        <p:cond delay="1160"/>
                      </p:stCondLst>
                      <p:childTnLst>
                        <p:set>
                          <p:cBhvr>
                            <p:cTn id="682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26" dur="620"/>
                            <p:tgtEl>
                              <p:spTgt spid="18"/>
                            </p:tgtEl>
                          </p:cBhvr>
                        </p:animEffect>
                        <p:anim calcmode="lin" valueType="num">
                          <p:cBhvr additive="base">
                            <p:cTn id="6817" dur="520" fill="hold"/>
                            <p:tgtEl>
                              <p:spTgt spid="18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832" presetID="22" presetClass="entr" presetSubtype="0" fill="hold" grpId="0" nodeType="afterEffect">
                      <p:stCondLst>
                        <p:cond delay="1500"/>
                      </p:stCondLst>
                      <p:childTnLst>
                        <p:set>
                          <p:cBhvr>
                            <p:cTn id="683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38" dur="620"/>
                            <p:tgtEl>
                              <p:spTgt spid="19"/>
                            </p:tgtEl>
                          </p:cBhvr>
                        </p:animEffect>
                        <p:anim calcmode="lin" valueType="num">
                          <p:cBhvr additive="base">
                            <p:cTn id="6829" dur="520" fill="hold"/>
                            <p:tgtEl>
                              <p:spTgt spid="19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pic>
        <p:nvPicPr>
          <p:cNvPr id="3" name="Picture 2" descr="graphics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0" cy="6857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2478" y="335279"/>
            <a:ext cx="7772381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10"/>
              </a:lnSpc>
              <a:buNone/>
            </a:pPr>
            <a:r>
              <a:rPr sz="1450" b="1" i="0">
                <a:solidFill>
                  <a:srgbClr val="4595C2"/>
                </a:solidFill>
                <a:latin typeface="Raleway"/>
              </a:rPr>
              <a:t>31</a:t>
            </a:r>
            <a:r>
              <a:rPr sz="1050" b="1" i="0" spc="203">
                <a:solidFill>
                  <a:srgbClr val="5F7E97"/>
                </a:solidFill>
                <a:latin typeface="Poppins"/>
              </a:rPr>
              <a:t>    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2478" y="563879"/>
            <a:ext cx="9870923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030"/>
              </a:lnSpc>
              <a:buNone/>
            </a:pPr>
            <a:r>
              <a:rPr sz="5650" b="1" i="0">
                <a:solidFill>
                  <a:srgbClr val="4595C2"/>
                </a:solidFill>
                <a:latin typeface="Raleway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899" y="335279"/>
            <a:ext cx="2953505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09">
                <a:solidFill>
                  <a:srgbClr val="8FA9BC"/>
                </a:solidFill>
                <a:latin typeface="Poppins"/>
              </a:rPr>
              <a:t>PAN AFRICAN CHRISTIAN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13497" y="6385544"/>
            <a:ext cx="2331714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ts val="1730"/>
              </a:lnSpc>
              <a:buNone/>
            </a:pPr>
            <a:r>
              <a:rPr sz="1050" b="1" i="0" spc="156">
                <a:solidFill>
                  <a:srgbClr val="8FA9BC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238384"/>
            <a:ext cx="217931" cy="2179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7498" y="2209794"/>
            <a:ext cx="923483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Brownell, P. (2010). Gestalt therapy: A guide to contemporary practice. Springer.</a:t>
            </a:r>
          </a:p>
        </p:txBody>
      </p:sp>
      <p:pic>
        <p:nvPicPr>
          <p:cNvPr id="10" name="Picture 9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2856347"/>
            <a:ext cx="217931" cy="2179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7498" y="2827758"/>
            <a:ext cx="923483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Corey, G. (2024). Theory and practice of counseling and psychotherapy (11th ed.). Cengage.</a:t>
            </a:r>
          </a:p>
        </p:txBody>
      </p:sp>
      <p:pic>
        <p:nvPicPr>
          <p:cNvPr id="12" name="Picture 11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3474310"/>
            <a:ext cx="217931" cy="2179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7498" y="3445721"/>
            <a:ext cx="923483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Joyce, P., and Sills, C. (2014). Skills in Gestalt counselling and psychotherapy (3rd ed.). SAGE.</a:t>
            </a:r>
          </a:p>
        </p:txBody>
      </p:sp>
      <p:pic>
        <p:nvPicPr>
          <p:cNvPr id="14" name="Picture 13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092274"/>
            <a:ext cx="217931" cy="21793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87498" y="4063685"/>
            <a:ext cx="923483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Perls, F. S., Hefferline, R. F., and Goodman, P. (1951). Gestalt therapy: Excitement and growth in the human personality. Julian Press.</a:t>
            </a:r>
          </a:p>
        </p:txBody>
      </p:sp>
      <p:pic>
        <p:nvPicPr>
          <p:cNvPr id="16" name="Picture 15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4950295"/>
            <a:ext cx="217931" cy="21793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87498" y="4921706"/>
            <a:ext cx="923483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Woldt, A. L., and Toman, S. M. (2005). Gestalt therapy: History, theory, and practice. SAGE.</a:t>
            </a:r>
          </a:p>
        </p:txBody>
      </p:sp>
      <p:pic>
        <p:nvPicPr>
          <p:cNvPr id="18" name="Picture 17" descr="tick_de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8" y="5568258"/>
            <a:ext cx="217931" cy="21793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7498" y="5539669"/>
            <a:ext cx="9234832" cy="2285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9"/>
              </a:lnSpc>
              <a:buNone/>
            </a:pPr>
            <a:r>
              <a:rPr sz="1150" b="0" i="0">
                <a:solidFill>
                  <a:srgbClr val="5F7E97"/>
                </a:solidFill>
                <a:latin typeface="Poppins"/>
              </a:rPr>
              <a:t>Yontef, G., and Fuhr, R. (2005). Gestalt therapy theory of change. In Woldt and Toman (Eds.), Gestalt therapy: History, theory, and practice (pp. 81 to 100). SAGE.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841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8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47" dur="52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6850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85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56" dur="52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6859" presetID="10" presetClass="entr" presetSubtype="0" fill="hold" grpId="0" nodeType="afterEffect">
                      <p:stCondLst>
                        <p:cond delay="100"/>
                      </p:stCondLst>
                      <p:childTnLst>
                        <p:set>
                          <p:cBhvr>
                            <p:cTn id="686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65" dur="52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6871" presetID="22" presetClass="entr" presetSubtype="0" fill="hold" grpId="0" nodeType="afterEffect">
                      <p:stCondLst>
                        <p:cond delay="180"/>
                      </p:stCondLst>
                      <p:childTnLst>
                        <p:set>
                          <p:cBhvr>
                            <p:cTn id="687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77" dur="620"/>
                            <p:tgtEl>
                              <p:spTgt spid="5"/>
                            </p:tgtEl>
                          </p:cBhvr>
                        </p:animEffect>
                        <p:anim calcmode="lin" valueType="num">
                          <p:cBhvr additive="base">
                            <p:cTn id="6868" dur="520" fill="hold"/>
                            <p:tgtEl>
                              <p:spTgt spid="5"/>
                            </p:tgtEl>
                            <p:attrNameLst>
                              <p:attrName>ppt_y</p:attrName>
                            </p:attrNameLst>
                          </p:cBhvr>
                          <p:tavLst>
                            <p:tav tm="0">
                              <p:val>
                                <p:strVal val="#ppt_y+.035"/>
                              </p:val>
                            </p:tav>
                            <p:tav tm="100000">
                              <p:val>
                                <p:strVal val="#ppt_y"/>
                              </p:val>
                            </p:tav>
                          </p:tavLst>
                        </p:anim>
                      </p:childTnLst>
                    </p:cTn>
                  </p:par>
                  <p:par>
                    <p:cTn id="6883" presetID="10" presetClass="entr" presetSubtype="0" fill="hold" grpId="0" nodeType="afterEffect">
                      <p:stCondLst>
                        <p:cond delay="400"/>
                      </p:stCondLst>
                      <p:childTnLst>
                        <p:set>
                          <p:cBhvr>
                            <p:cTn id="688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89" dur="420"/>
                            <p:tgtEl>
                              <p:spTgt spid="8"/>
                            </p:tgtEl>
                          </p:cBhvr>
                        </p:animEffect>
                        <p:animScale>
                          <p:cBhvr>
                            <p:cTn id="6880" dur="520" fill="hold"/>
                            <p:tgtEl>
                              <p:spTgt spid="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892" presetID="10" presetClass="entr" presetSubtype="0" fill="hold" grpId="0" nodeType="afterEffect">
                      <p:stCondLst>
                        <p:cond delay="450"/>
                      </p:stCondLst>
                      <p:childTnLst>
                        <p:set>
                          <p:cBhvr>
                            <p:cTn id="689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898" dur="52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901" presetID="10" presetClass="entr" presetSubtype="0" fill="hold" grpId="0" nodeType="afterEffect">
                      <p:stCondLst>
                        <p:cond delay="470"/>
                      </p:stCondLst>
                      <p:childTnLst>
                        <p:set>
                          <p:cBhvr>
                            <p:cTn id="690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07" dur="52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6913" presetID="10" presetClass="entr" presetSubtype="0" fill="hold" grpId="0" nodeType="afterEffect">
                      <p:stCondLst>
                        <p:cond delay="500"/>
                      </p:stCondLst>
                      <p:childTnLst>
                        <p:set>
                          <p:cBhvr>
                            <p:cTn id="69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19" dur="420"/>
                            <p:tgtEl>
                              <p:spTgt spid="10"/>
                            </p:tgtEl>
                          </p:cBhvr>
                        </p:animEffect>
                        <p:animScale>
                          <p:cBhvr>
                            <p:cTn id="6910" dur="520" fill="hold"/>
                            <p:tgtEl>
                              <p:spTgt spid="10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922" presetID="10" presetClass="entr" presetSubtype="0" fill="hold" grpId="0" nodeType="afterEffect">
                      <p:stCondLst>
                        <p:cond delay="570"/>
                      </p:stCondLst>
                      <p:childTnLst>
                        <p:set>
                          <p:cBhvr>
                            <p:cTn id="69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28" dur="52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6934" presetID="10" presetClass="entr" presetSubtype="0" fill="hold" grpId="0" nodeType="afterEffect">
                      <p:stCondLst>
                        <p:cond delay="600"/>
                      </p:stCondLst>
                      <p:childTnLst>
                        <p:set>
                          <p:cBhvr>
                            <p:cTn id="693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40" dur="420"/>
                            <p:tgtEl>
                              <p:spTgt spid="12"/>
                            </p:tgtEl>
                          </p:cBhvr>
                        </p:animEffect>
                        <p:animScale>
                          <p:cBhvr>
                            <p:cTn id="6931" dur="520" fill="hold"/>
                            <p:tgtEl>
                              <p:spTgt spid="12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943" presetID="10" presetClass="entr" presetSubtype="0" fill="hold" grpId="0" nodeType="afterEffect">
                      <p:stCondLst>
                        <p:cond delay="670"/>
                      </p:stCondLst>
                      <p:childTnLst>
                        <p:set>
                          <p:cBhvr>
                            <p:cTn id="694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49" dur="52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6955" presetID="10" presetClass="entr" presetSubtype="0" fill="hold" grpId="0" nodeType="afterEffect">
                      <p:stCondLst>
                        <p:cond delay="700"/>
                      </p:stCondLst>
                      <p:childTnLst>
                        <p:set>
                          <p:cBhvr>
                            <p:cTn id="695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61" dur="420"/>
                            <p:tgtEl>
                              <p:spTgt spid="14"/>
                            </p:tgtEl>
                          </p:cBhvr>
                        </p:animEffect>
                        <p:animScale>
                          <p:cBhvr>
                            <p:cTn id="6952" dur="520" fill="hold"/>
                            <p:tgtEl>
                              <p:spTgt spid="14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964" presetID="10" presetClass="entr" presetSubtype="0" fill="hold" grpId="0" nodeType="afterEffect">
                      <p:stCondLst>
                        <p:cond delay="770"/>
                      </p:stCondLst>
                      <p:childTnLst>
                        <p:set>
                          <p:cBhvr>
                            <p:cTn id="696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70" dur="52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6976" presetID="10" presetClass="entr" presetSubtype="0" fill="hold" grpId="0" nodeType="afterEffect">
                      <p:stCondLst>
                        <p:cond delay="800"/>
                      </p:stCondLst>
                      <p:childTnLst>
                        <p:set>
                          <p:cBhvr>
                            <p:cTn id="697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82" dur="420"/>
                            <p:tgtEl>
                              <p:spTgt spid="16"/>
                            </p:tgtEl>
                          </p:cBhvr>
                        </p:animEffect>
                        <p:animScale>
                          <p:cBhvr>
                            <p:cTn id="6973" dur="520" fill="hold"/>
                            <p:tgtEl>
                              <p:spTgt spid="16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6985" presetID="10" presetClass="entr" presetSubtype="0" fill="hold" grpId="0" nodeType="afterEffect">
                      <p:stCondLst>
                        <p:cond delay="870"/>
                      </p:stCondLst>
                      <p:childTnLst>
                        <p:set>
                          <p:cBhvr>
                            <p:cTn id="698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991" dur="52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6997" presetID="10" presetClass="entr" presetSubtype="0" fill="hold" grpId="0" nodeType="afterEffect">
                      <p:stCondLst>
                        <p:cond delay="900"/>
                      </p:stCondLst>
                      <p:childTnLst>
                        <p:set>
                          <p:cBhvr>
                            <p:cTn id="700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003" dur="420"/>
                            <p:tgtEl>
                              <p:spTgt spid="18"/>
                            </p:tgtEl>
                          </p:cBhvr>
                        </p:animEffect>
                        <p:animScale>
                          <p:cBhvr>
                            <p:cTn id="6994" dur="520" fill="hold"/>
                            <p:tgtEl>
                              <p:spTgt spid="18"/>
                            </p:tgtEl>
                          </p:cBhvr>
                          <p:from x="60000" y="60000"/>
                          <p:to x="100000" y="100000"/>
                        </p:animScale>
                      </p:childTnLst>
                    </p:cTn>
                  </p:par>
                  <p:par>
                    <p:cTn id="7006" presetID="10" presetClass="entr" presetSubtype="0" fill="hold" grpId="0" nodeType="afterEffect">
                      <p:stCondLst>
                        <p:cond delay="970"/>
                      </p:stCondLst>
                      <p:childTnLst>
                        <p:set>
                          <p:cBhvr>
                            <p:cTn id="700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012" dur="52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