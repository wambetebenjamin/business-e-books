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70" cy="6857983" type="screen4x3"/>
  <p:notesSz cx="6858000" cy="9144000"/>
  <p:embeddedFontLst>
    <p:embeddedFont>
      <p:font typeface="Poppins" charset="1" panose="00000500000000000000"/>
      <p:regular r:id="rIdFont1a"/>
      <p:bold r:id="rIdFont1b"/>
    </p:embeddedFont>
    <p:embeddedFont>
      <p:font typeface="Raleway" charset="1" panose="00000000000000000000"/>
      <p:regular r:id="rIdFont2a"/>
      <p:bold r:id="rIdFont2b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Font1a" Type="http://schemas.openxmlformats.org/officeDocument/2006/relationships/font" Target="fonts/font17.fntdata"/><Relationship Id="rIdFont1b" Type="http://schemas.openxmlformats.org/officeDocument/2006/relationships/font" Target="fonts/font19.fntdata"/><Relationship Id="rIdFont2a" Type="http://schemas.openxmlformats.org/officeDocument/2006/relationships/font" Target="fonts/font18.fntdata"/><Relationship Id="rIdFont2b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59435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81">
                <a:solidFill>
                  <a:srgbClr val="CFE9F8"/>
                </a:solidFill>
                <a:latin typeface="Poppin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895998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92870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781181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234">
                <a:solidFill>
                  <a:srgbClr val="CFE9F8"/>
                </a:solidFill>
                <a:latin typeface="Raleway"/>
              </a:rPr>
              <a:t>AND ITS APPLICATION TO COUNSELLING</a:t>
            </a:r>
          </a:p>
        </p:txBody>
      </p:sp>
      <p:pic>
        <p:nvPicPr>
          <p:cNvPr id="8" name="Picture 7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74568"/>
            <a:ext cx="297179" cy="2971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343147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50"/>
              </a:lnSpc>
              <a:buNone/>
            </a:pPr>
            <a:r>
              <a:rPr sz="900" b="1" i="0" spc="203">
                <a:solidFill>
                  <a:srgbClr val="B7D6E9"/>
                </a:solidFill>
                <a:latin typeface="Poppins"/>
              </a:rPr>
              <a:t>PRESENTED BY</a:t>
            </a:r>
          </a:p>
        </p:txBody>
      </p:sp>
      <p:pic>
        <p:nvPicPr>
          <p:cNvPr id="10" name="Picture 9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47947"/>
            <a:ext cx="247649" cy="247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60984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632707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20"/>
              </a:lnSpc>
              <a:buNone/>
            </a:pPr>
            <a:r>
              <a:rPr sz="900" b="0" i="0">
                <a:solidFill>
                  <a:srgbClr val="D8EBF7"/>
                </a:solidFill>
                <a:latin typeface="Poppins"/>
              </a:rPr>
              <a:t>MACP/35996/0/26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37506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3899406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3922266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20"/>
              </a:lnSpc>
              <a:buNone/>
            </a:pPr>
            <a:r>
              <a:rPr sz="900" b="0" i="0">
                <a:solidFill>
                  <a:srgbClr val="D8EBF7"/>
                </a:solidFill>
                <a:latin typeface="Poppins"/>
              </a:rPr>
              <a:t>MACP/35785/4/26</a:t>
            </a:r>
          </a:p>
        </p:txBody>
      </p:sp>
      <p:pic>
        <p:nvPicPr>
          <p:cNvPr id="16" name="Picture 15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27065"/>
            <a:ext cx="247649" cy="2476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4188965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4211825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20"/>
              </a:lnSpc>
              <a:buNone/>
            </a:pPr>
            <a:r>
              <a:rPr sz="900" b="0" i="0">
                <a:solidFill>
                  <a:srgbClr val="D8EBF7"/>
                </a:solidFill>
                <a:latin typeface="Poppin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50"/>
              </a:lnSpc>
              <a:buNone/>
            </a:pPr>
            <a:r>
              <a:rPr sz="900" b="1" i="0" spc="203">
                <a:solidFill>
                  <a:srgbClr val="CFE9F8"/>
                </a:solidFill>
                <a:latin typeface="Poppin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506237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172151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50"/>
              </a:lnSpc>
              <a:buNone/>
            </a:pPr>
            <a:r>
              <a:rPr sz="900" b="1" i="0" spc="203">
                <a:solidFill>
                  <a:srgbClr val="CFE9F8"/>
                </a:solidFill>
                <a:latin typeface="Poppin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40179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4826193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50"/>
              </a:lnSpc>
              <a:buNone/>
            </a:pPr>
            <a:r>
              <a:rPr sz="900" b="1" i="0" spc="203">
                <a:solidFill>
                  <a:srgbClr val="CFE9F8"/>
                </a:solidFill>
                <a:latin typeface="Poppin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055838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50"/>
              </a:lnSpc>
              <a:buNone/>
            </a:pPr>
            <a:r>
              <a:rPr sz="900" b="0" i="0" spc="234">
                <a:solidFill>
                  <a:srgbClr val="B7D6E9"/>
                </a:solidFill>
                <a:latin typeface="Poppins"/>
              </a:rPr>
              <a:t>AWARENESS    PRESENCE   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02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00478"/>
            <a:ext cx="257555" cy="2575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6875" y="215601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Emphasizes awareness, present experience and contact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1438"/>
            <a:ext cx="257555" cy="25755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6875" y="326697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Understands individuals within their environment and relationships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22398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36875" y="437793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personal responsibility, choice and authentic living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33358"/>
            <a:ext cx="257555" cy="257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6875" y="548889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the client's experience in the here and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03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9557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874330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Emerged during the 1940s and 1950s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79849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636016"/>
            <a:ext cx="874330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4158020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INFLUENCED BY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39975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7498" y="4401859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439975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35490" y="4401859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4439975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3483" y="4401859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Existential philosophy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828626"/>
            <a:ext cx="227837" cy="2278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7498" y="4790510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828626"/>
            <a:ext cx="227837" cy="2278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35490" y="4790510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5377280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5621119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784" y="5621119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8049" y="5621119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1314" y="5621119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4580" y="5621119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Gestalt therapy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04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16970"/>
            <a:ext cx="792478" cy="7924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2116" y="2277929"/>
            <a:ext cx="24871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10"/>
              </a:lnSpc>
              <a:buNone/>
            </a:pPr>
            <a:r>
              <a:rPr sz="1950" b="1" i="0">
                <a:solidFill>
                  <a:srgbClr val="4595C2"/>
                </a:solidFill>
                <a:latin typeface="Raleway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2116" y="2552249"/>
            <a:ext cx="24871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0"/>
              </a:lnSpc>
              <a:buNone/>
            </a:pPr>
            <a:r>
              <a:rPr sz="1150" b="1" i="0" spc="109">
                <a:solidFill>
                  <a:srgbClr val="4595C2"/>
                </a:solidFill>
                <a:latin typeface="Raleway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3177087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1" i="0">
                <a:solidFill>
                  <a:srgbClr val="33506B"/>
                </a:solidFill>
                <a:latin typeface="Poppins"/>
              </a:rPr>
              <a:t>Major founder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3530797"/>
            <a:ext cx="227837" cy="2278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7498" y="3497126"/>
            <a:ext cx="301692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5F7E97"/>
                </a:solidFill>
                <a:latin typeface="Poppins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2216970"/>
            <a:ext cx="792478" cy="79247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03507" y="2277929"/>
            <a:ext cx="24871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10"/>
              </a:lnSpc>
              <a:buNone/>
            </a:pPr>
            <a:r>
              <a:rPr sz="1950" b="1" i="0">
                <a:solidFill>
                  <a:srgbClr val="4595C2"/>
                </a:solidFill>
                <a:latin typeface="Raleway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07" y="2552249"/>
            <a:ext cx="24871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0"/>
              </a:lnSpc>
              <a:buNone/>
            </a:pPr>
            <a:r>
              <a:rPr sz="1150" b="1" i="0" spc="109">
                <a:solidFill>
                  <a:srgbClr val="4595C2"/>
                </a:solidFill>
                <a:latin typeface="Raleway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3869" y="3177087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1" i="0">
                <a:solidFill>
                  <a:srgbClr val="33506B"/>
                </a:solidFill>
                <a:latin typeface="Poppins"/>
              </a:rPr>
              <a:t>Major contributor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3530797"/>
            <a:ext cx="227837" cy="2278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68889" y="3497126"/>
            <a:ext cx="301692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5F7E97"/>
                </a:solidFill>
                <a:latin typeface="Poppins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2216970"/>
            <a:ext cx="792478" cy="79247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84898" y="2277929"/>
            <a:ext cx="24871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10"/>
              </a:lnSpc>
              <a:buNone/>
            </a:pPr>
            <a:r>
              <a:rPr sz="1950" b="1" i="0">
                <a:solidFill>
                  <a:srgbClr val="4595C2"/>
                </a:solidFill>
                <a:latin typeface="Raleway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4898" y="2552249"/>
            <a:ext cx="24871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0"/>
              </a:lnSpc>
              <a:buNone/>
            </a:pPr>
            <a:r>
              <a:rPr sz="1150" b="1" i="0" spc="109">
                <a:solidFill>
                  <a:srgbClr val="4595C2"/>
                </a:solidFill>
                <a:latin typeface="Raleway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60" y="3177087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1" i="0">
                <a:solidFill>
                  <a:srgbClr val="33506B"/>
                </a:solidFill>
                <a:latin typeface="Poppins"/>
              </a:rPr>
              <a:t>Co author of the 1951 text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3530797"/>
            <a:ext cx="227837" cy="2278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50280" y="3497126"/>
            <a:ext cx="301692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5F7E97"/>
                </a:solidFill>
                <a:latin typeface="Poppins"/>
              </a:rPr>
              <a:t>Shaped the theoretical formulation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05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95397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156010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are best understood as whole persons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6824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228860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Human experience is influenced by the environment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25609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58622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 is central to psychological growth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984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65907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Experience unfolds in the present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195397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215601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have capacity for choice and self regulation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946928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907541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functioning involves meaningful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41394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37455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Psychological difficulties may involve interruptions in awareness or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06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156010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NOTICING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53205"/>
            <a:ext cx="227837" cy="227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41508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Thoughts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453205"/>
            <a:ext cx="227837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01053" y="241508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Feelings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453205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4609" y="241508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Bodily sensations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453205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8164" y="241508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Behaviour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453205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41720" y="241508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2963728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THE PROCESS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62829"/>
            <a:ext cx="257555" cy="2575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3222807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93393"/>
            <a:ext cx="257555" cy="25755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2187" y="3653371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4282054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78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4214" y="4282054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78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271" y="4282054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78">
                <a:solidFill>
                  <a:srgbClr val="33506B"/>
                </a:solidFill>
                <a:latin typeface="Poppins"/>
              </a:rPr>
              <a:t>Change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07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156010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THE FOCUS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54476"/>
            <a:ext cx="247649" cy="247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2187" y="2415089"/>
            <a:ext cx="45462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the client's present experience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12365"/>
            <a:ext cx="247649" cy="2476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12187" y="3872978"/>
            <a:ext cx="45462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2156010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THE PAST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454476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8573" y="2415089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Past experiences are explored through their current impact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3912365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8573" y="3872978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therapeutic relationship offers present moment awareness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817941"/>
            <a:ext cx="267461" cy="2674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4777283"/>
            <a:ext cx="92873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direct experience rather than excessive intellectual analysis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08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08</a:t>
            </a:r>
          </a:p>
        </p:txBody>
      </p:sp>
      <p:pic>
        <p:nvPicPr>
          <p:cNvPr id="9" name="Picture 8" descr="figure_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2308409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335996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00"/>
              </a:lnSpc>
              <a:buNone/>
            </a:pPr>
            <a:r>
              <a:rPr sz="1200" b="1" i="0" spc="187">
                <a:solidFill>
                  <a:srgbClr val="33506B"/>
                </a:solidFill>
                <a:latin typeface="Poppin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573326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80"/>
              </a:lnSpc>
              <a:buNone/>
            </a:pPr>
            <a:r>
              <a:rPr sz="1250" b="0" i="0">
                <a:solidFill>
                  <a:srgbClr val="5F7E97"/>
                </a:solidFill>
                <a:latin typeface="Raleway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5005883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660"/>
              </a:lnSpc>
              <a:buNone/>
            </a:pPr>
            <a:r>
              <a:rPr sz="1000" b="1" i="0" spc="234">
                <a:solidFill>
                  <a:srgbClr val="5F7E97"/>
                </a:solidFill>
                <a:latin typeface="Poppin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2125530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680455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3267889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822814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The surrounding context and experiences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203253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88974" y="4181648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Needs and concerns move between figure and ground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849283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88974" y="4827678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The figure changes as circumstances change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246364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8974" y="5224760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reveals what matters most right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09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09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is the interaction between the individual and the environment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61649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622262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contact boundary is the point at which the two meet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88186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148799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contact addresses needs while keeping a sense of self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14723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4675336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involves engaging, responding and withdrawing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41260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5201873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78">
                <a:solidFill>
                  <a:srgbClr val="33506B"/>
                </a:solidFill>
                <a:latin typeface="Poppins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78">
                <a:solidFill>
                  <a:srgbClr val="33506B"/>
                </a:solidFill>
                <a:latin typeface="Poppins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78">
                <a:solidFill>
                  <a:srgbClr val="33506B"/>
                </a:solidFill>
                <a:latin typeface="Poppins"/>
              </a:rPr>
              <a:t>Environment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10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156010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MAY INCLUDE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72890"/>
            <a:ext cx="227837" cy="227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43032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Grief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472890"/>
            <a:ext cx="227837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01053" y="243032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Anger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472890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4609" y="243032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Guilt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472890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8164" y="243032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Resentment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472890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41720" y="2430329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Unmet needs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79314"/>
            <a:ext cx="247649" cy="2476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12187" y="3039928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Can remain psychologically active in the present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12687"/>
            <a:ext cx="247649" cy="2476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12187" y="4273300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interfere with healthy contact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46059"/>
            <a:ext cx="247649" cy="2476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12187" y="5506673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Therapy promotes awareness and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7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208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9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2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9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210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2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2122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34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2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143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5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2164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2185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11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11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Recognising one's own choices and responses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8636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74697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agency and ownership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37611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39822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decision making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88860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04947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5577826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80"/>
              </a:lnSpc>
              <a:buNone/>
            </a:pPr>
            <a:r>
              <a:rPr sz="950" b="1" i="0" spc="172">
                <a:solidFill>
                  <a:srgbClr val="4595C2"/>
                </a:solidFill>
                <a:latin typeface="Poppin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3050005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20"/>
              </a:lnSpc>
              <a:buNone/>
            </a:pPr>
            <a:r>
              <a:rPr sz="900" b="1" i="0" spc="203">
                <a:solidFill>
                  <a:srgbClr val="4595C2"/>
                </a:solidFill>
                <a:latin typeface="Poppins"/>
              </a:rPr>
              <a:t>LANGUAGE IN PRACTICE</a:t>
            </a:r>
          </a:p>
        </p:txBody>
      </p:sp>
      <p:pic>
        <p:nvPicPr>
          <p:cNvPr id="19" name="Picture 18" descr="mark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3370044"/>
            <a:ext cx="297179" cy="29717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9383" y="333956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5F7E97"/>
                </a:solidFill>
                <a:latin typeface="Raleway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383" y="3738737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0" i="0">
                <a:solidFill>
                  <a:srgbClr val="8FA9BC"/>
                </a:solidFill>
                <a:latin typeface="Poppins"/>
              </a:rPr>
              <a:t>blames the other person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4181458"/>
            <a:ext cx="297179" cy="29717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29383" y="4150978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383" y="4550151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0" i="0">
                <a:solidFill>
                  <a:srgbClr val="8FA9BC"/>
                </a:solidFill>
                <a:latin typeface="Poppins"/>
              </a:rPr>
              <a:t>owns the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4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25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26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27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2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27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8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2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2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2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30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1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3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32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3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35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35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71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36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8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3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389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3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40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4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39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24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41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4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31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37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428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6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449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24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55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458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24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12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3876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89937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4241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70302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Observes verbal and non verbal behaviour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460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50667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the therapeutic relationship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35112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3095725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expression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340585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430119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Explores interruptions in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546059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506673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responsibility and choice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4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2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52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3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4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5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54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5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56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56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7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58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11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3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2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13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Empty chair technique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3135112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3578" y="309572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3135112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74969" y="309572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1774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57835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3617744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93578" y="357835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Role play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3617744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74969" y="357835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00377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406099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4100377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93578" y="406099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4100377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74969" y="406099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Here and now questioning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7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68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68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69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1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3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72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4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52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27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74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61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2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773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2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77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8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79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03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2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1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2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8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3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8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3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8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85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6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28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2875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89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9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5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2896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0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29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4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14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14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95397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156010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client imagines another person in the empty chair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02108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662721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Speaks directly to the imagined person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0882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169433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Brings unresolved experience into present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15532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676145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expression of unfinished emotions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22243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182856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2003610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009"/>
              </a:lnSpc>
              <a:buNone/>
            </a:pPr>
            <a:r>
              <a:rPr sz="72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2939976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70"/>
              </a:lnSpc>
              <a:buNone/>
            </a:pPr>
            <a:r>
              <a:rPr sz="1900" b="0" i="0">
                <a:solidFill>
                  <a:srgbClr val="33506B"/>
                </a:solidFill>
                <a:latin typeface="Raleway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4241010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50"/>
              </a:lnSpc>
              <a:buNone/>
            </a:pPr>
            <a:r>
              <a:rPr sz="900" b="1" i="0" spc="203">
                <a:solidFill>
                  <a:srgbClr val="8FA9BC"/>
                </a:solidFill>
                <a:latin typeface="Poppin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72644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4970288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78">
                <a:solidFill>
                  <a:srgbClr val="33506B"/>
                </a:solidFill>
                <a:latin typeface="Poppins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192" y="4970288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78">
                <a:solidFill>
                  <a:srgbClr val="33506B"/>
                </a:solidFill>
                <a:latin typeface="Poppins"/>
              </a:rPr>
              <a:t>Imagined person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1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9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4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4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5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6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7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97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8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9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9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0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99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0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01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0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2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01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0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4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0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4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0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6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5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7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07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0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3088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109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1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11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1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27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1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15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6253" y="3095725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35112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0239" y="3095725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opposing parts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87264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6253" y="3547877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58726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0239" y="3547877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Increase awareness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39417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86253" y="4000030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039417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0239" y="4000030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emerging emotions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91569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6253" y="4452183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91569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20239" y="4452183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Notice physical experience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43722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86253" y="4904335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943722"/>
            <a:ext cx="247649" cy="2476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0239" y="4904335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Own personal experience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395875"/>
            <a:ext cx="247649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86253" y="5356488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31" name="Picture 3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395875"/>
            <a:ext cx="247649" cy="2476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620239" y="5356488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present meaning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3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14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6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7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19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20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22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38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24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271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2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6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8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2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9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2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8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01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3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3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3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31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2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33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33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3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3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35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1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352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3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0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3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2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373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8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1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39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3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3394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2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41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4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3415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27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3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3436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2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16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16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Grief and loss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135112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6575" y="3095725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 difficulties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87264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547877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Anxiety and emotional distress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58726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36575" y="3547877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anger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39417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000030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Identity concerns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4039417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6575" y="4000030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Emotional expression difficulties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91569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4452183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Personal growth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4491569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36575" y="4452183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087215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5346294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7702" y="5346294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926" y="5346294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8150" y="5346294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3374" y="5346294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Growth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4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4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4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4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4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5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526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3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5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3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35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547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3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5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5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5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568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5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77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3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5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98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6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6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40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3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6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6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3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67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3679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6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8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688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6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3697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7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17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17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self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8956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95017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lived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84401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80462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agency and responsibility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984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65907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Integrates mind, emotion and body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35112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3095725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Considers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6785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437739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active client participation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698459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659072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Supports experiential emotional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7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78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93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0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868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8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86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90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18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56522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18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5112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3095725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Some techniques may feel intense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69323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82993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Requires skilled and sensitive application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03535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564148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challenge clients who prefer highly structured approaches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222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582872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Experiential techniques can be misused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35112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309572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Not every intervention suits every client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378685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4339299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Cultural context must be considered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622259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58287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Ethical boundaries are essential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2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9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95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95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8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8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9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0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0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1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0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1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0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3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2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3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4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05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04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0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0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8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09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09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02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1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0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11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2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19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CASE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20 year old undergraduate student on a scholarship.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1102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30"/>
              </a:lnSpc>
              <a:buNone/>
            </a:pPr>
            <a:r>
              <a:rPr sz="1650" b="1" i="0">
                <a:solidFill>
                  <a:srgbClr val="4595C2"/>
                </a:solidFill>
                <a:latin typeface="Raleway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354129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00"/>
              </a:lnSpc>
              <a:buNone/>
            </a:pPr>
            <a:r>
              <a:rPr sz="1050" b="1" i="0" spc="94">
                <a:solidFill>
                  <a:srgbClr val="4595C2"/>
                </a:solidFill>
                <a:latin typeface="Poppins"/>
              </a:rPr>
              <a:t>PRESENTING CONCERNS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62119"/>
            <a:ext cx="22783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62844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Academic anxiety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26443"/>
            <a:ext cx="227837" cy="2278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392773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 of losing the scholarship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90767"/>
            <a:ext cx="227837" cy="2278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415709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 of disappointing family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55091"/>
            <a:ext cx="227837" cy="22783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921421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Difficulty expressing emotions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19415"/>
            <a:ext cx="227837" cy="2278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568574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Pressure to maintain high 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349" y="21102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30"/>
              </a:lnSpc>
              <a:buNone/>
            </a:pPr>
            <a:r>
              <a:rPr sz="1650" b="1" i="0">
                <a:solidFill>
                  <a:srgbClr val="4595C2"/>
                </a:solidFill>
                <a:latin typeface="Raleway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349" y="2354129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00"/>
              </a:lnSpc>
              <a:buNone/>
            </a:pPr>
            <a:r>
              <a:rPr sz="1050" b="1" i="0" spc="94">
                <a:solidFill>
                  <a:srgbClr val="4595C2"/>
                </a:solidFill>
                <a:latin typeface="Poppins"/>
              </a:rPr>
              <a:t>GESTALT CONCEPTUALISATION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662119"/>
            <a:ext cx="227837" cy="22783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824058" y="262844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Anxiety becomes figure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3595271"/>
            <a:ext cx="227837" cy="2278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24058" y="3561601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Possible introjected expectations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4528423"/>
            <a:ext cx="227837" cy="22783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24058" y="4494753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Limited awareness of personal needs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5719415"/>
            <a:ext cx="227837" cy="22783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24058" y="568574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Interrupted contact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6220" y="21102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30"/>
              </a:lnSpc>
              <a:buNone/>
            </a:pPr>
            <a:r>
              <a:rPr sz="1650" b="1" i="0">
                <a:solidFill>
                  <a:srgbClr val="4595C2"/>
                </a:solidFill>
                <a:latin typeface="Raleway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6220" y="2354129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00"/>
              </a:lnSpc>
              <a:buNone/>
            </a:pPr>
            <a:r>
              <a:rPr sz="1050" b="1" i="0" spc="94">
                <a:solidFill>
                  <a:srgbClr val="4595C2"/>
                </a:solidFill>
                <a:latin typeface="Poppins"/>
              </a:rPr>
              <a:t>POSSIBLE INTERVENTIONS</a:t>
            </a:r>
          </a:p>
        </p:txBody>
      </p:sp>
      <p:pic>
        <p:nvPicPr>
          <p:cNvPr id="33" name="Picture 3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662119"/>
            <a:ext cx="227837" cy="22783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35929" y="262844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Here and now exploration</a:t>
            </a:r>
          </a:p>
        </p:txBody>
      </p:sp>
      <p:pic>
        <p:nvPicPr>
          <p:cNvPr id="35" name="Picture 3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3426443"/>
            <a:ext cx="227837" cy="22783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35929" y="3392773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37" name="Picture 3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4190767"/>
            <a:ext cx="227837" cy="2278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35929" y="415709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39" name="Picture 3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4955091"/>
            <a:ext cx="227837" cy="22783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435929" y="4921421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41" name="Picture 4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5719415"/>
            <a:ext cx="227837" cy="22783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35929" y="568574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Exploring introjected beliefs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1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1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1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18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01" presetID="22" presetClass="entr" presetSubtype="0" fill="hold" grpId="0" nodeType="afterEffect">
                      <p:stCondLst>
                        <p:cond delay="480"/>
                      </p:stCondLst>
                      <p:childTnLst>
                        <p:set>
                          <p:cBhvr>
                            <p:cTn id="42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19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1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22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1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34" presetID="22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0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4231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43" presetID="10" presetClass="entr" presetSubtype="0" fill="hold" grpId="0" nodeType="afterEffect">
                      <p:stCondLst>
                        <p:cond delay="640"/>
                      </p:stCondLst>
                      <p:childTnLst>
                        <p:set>
                          <p:cBhvr>
                            <p:cTn id="4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9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425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6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6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27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88" presetID="22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4" dur="620"/>
                            <p:tgtEl>
                              <p:spTgt spid="32"/>
                            </p:tgtEl>
                          </p:cBhvr>
                        </p:animEffect>
                        <p:anim calcmode="lin" valueType="num">
                          <p:cBhvr additive="base">
                            <p:cTn id="4285" dur="520" fill="hold"/>
                            <p:tgtEl>
                              <p:spTgt spid="3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9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3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06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31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3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1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3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3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6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327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420"/>
                            <p:tgtEl>
                              <p:spTgt spid="33"/>
                            </p:tgtEl>
                          </p:cBhvr>
                        </p:animEffect>
                        <p:animScale>
                          <p:cBhvr>
                            <p:cTn id="4339" dur="520" fill="hold"/>
                            <p:tgtEl>
                              <p:spTgt spid="3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51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3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5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60" presetID="10" presetClass="entr" presetSubtype="0" fill="hold" grpId="0" nodeType="afterEffect">
                      <p:stCondLst>
                        <p:cond delay="890"/>
                      </p:stCondLst>
                      <p:childTnLst>
                        <p:set>
                          <p:cBhvr>
                            <p:cTn id="43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3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1" presetID="10" presetClass="entr" presetSubtype="0" fill="hold" grpId="0" nodeType="afterEffect">
                      <p:stCondLst>
                        <p:cond delay="910"/>
                      </p:stCondLst>
                      <p:childTnLst>
                        <p:set>
                          <p:cBhvr>
                            <p:cTn id="43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7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  <p:par>
                    <p:cTn id="439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3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39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420"/>
                            <p:tgtEl>
                              <p:spTgt spid="35"/>
                            </p:tgtEl>
                          </p:cBhvr>
                        </p:animEffect>
                        <p:animScale>
                          <p:cBhvr>
                            <p:cTn id="4402" dur="520" fill="hold"/>
                            <p:tgtEl>
                              <p:spTgt spid="3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1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4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423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4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43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4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36"/>
                            </p:tgtEl>
                          </p:cBhvr>
                        </p:animEffect>
                      </p:childTnLst>
                    </p:cTn>
                  </p:par>
                  <p:par>
                    <p:cTn id="445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4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62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453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68" presetID="10" presetClass="entr" presetSubtype="0" fill="hold" grpId="0" nodeType="afterEffect">
                      <p:stCondLst>
                        <p:cond delay="1040"/>
                      </p:stCondLst>
                      <p:childTnLst>
                        <p:set>
                          <p:cBhvr>
                            <p:cTn id="44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4" dur="420"/>
                            <p:tgtEl>
                              <p:spTgt spid="37"/>
                            </p:tgtEl>
                          </p:cBhvr>
                        </p:animEffect>
                        <p:animScale>
                          <p:cBhvr>
                            <p:cTn id="4465" dur="520" fill="hold"/>
                            <p:tgtEl>
                              <p:spTgt spid="3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7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4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486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4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92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111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520"/>
                            <p:tgtEl>
                              <p:spTgt spid="38"/>
                            </p:tgtEl>
                          </p:cBhvr>
                        </p:animEffect>
                      </p:childTnLst>
                    </p:cTn>
                  </p:par>
                  <p:par>
                    <p:cTn id="450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45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3" dur="420"/>
                            <p:tgtEl>
                              <p:spTgt spid="39"/>
                            </p:tgtEl>
                          </p:cBhvr>
                        </p:animEffect>
                        <p:animScale>
                          <p:cBhvr>
                            <p:cTn id="4504" dur="520" fill="hold"/>
                            <p:tgtEl>
                              <p:spTgt spid="3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520"/>
                            <p:tgtEl>
                              <p:spTgt spid="40"/>
                            </p:tgtEl>
                          </p:cBhvr>
                        </p:animEffect>
                      </p:childTnLst>
                    </p:cTn>
                  </p:par>
                  <p:par>
                    <p:cTn id="452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5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4" dur="420"/>
                            <p:tgtEl>
                              <p:spTgt spid="41"/>
                            </p:tgtEl>
                          </p:cBhvr>
                        </p:animEffect>
                        <p:animScale>
                          <p:cBhvr>
                            <p:cTn id="4525" dur="520" fill="hold"/>
                            <p:tgtEl>
                              <p:spTgt spid="4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131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52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20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156010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2156010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60"/>
              </a:lnSpc>
              <a:buNone/>
            </a:pPr>
            <a:r>
              <a:rPr sz="1000" b="1" i="0" spc="203">
                <a:solidFill>
                  <a:srgbClr val="4595C2"/>
                </a:solidFill>
                <a:latin typeface="Poppins"/>
              </a:rPr>
              <a:t>CONSIDERATIONS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45585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415089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understanding of human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2217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289167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Strong emphasis on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98755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368260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Integrates body, emotion and cognition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75341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384484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Recognises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51926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4321430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Promotes agency and authentic choice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445585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241508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Cultural adaptation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22170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46173" y="2891674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Client readiness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398755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46173" y="336826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Therapist competence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75341"/>
            <a:ext cx="247649" cy="2476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6173" y="3844845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Appropriate use of experiential techniques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351926"/>
            <a:ext cx="247649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46173" y="432143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Balance between present and past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5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5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5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5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5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5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5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60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6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61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6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2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63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5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66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66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7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6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8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687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6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7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69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0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1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7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72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72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4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7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738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75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7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7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7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768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8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7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7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7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8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789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8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7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8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8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9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810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2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48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8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CFE9F8"/>
                </a:solidFill>
                <a:latin typeface="Raleway"/>
              </a:rPr>
              <a:t>21</a:t>
            </a:r>
            <a:r>
              <a:rPr sz="900" b="1" i="0" spc="203">
                <a:solidFill>
                  <a:srgbClr val="D8EBF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FFFFFF"/>
                </a:solidFill>
                <a:latin typeface="Raleway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25513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D8EBF7"/>
                </a:solidFill>
                <a:latin typeface="Poppins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B7D6E9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B7D6E9"/>
                </a:solidFill>
                <a:latin typeface="Poppins"/>
              </a:rPr>
              <a:t>21</a:t>
            </a:r>
          </a:p>
        </p:txBody>
      </p:sp>
      <p:pic>
        <p:nvPicPr>
          <p:cNvPr id="9" name="Picture 8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35675"/>
            <a:ext cx="257555" cy="2575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3957" y="2232210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AWARENESS</a:t>
            </a:r>
          </a:p>
        </p:txBody>
      </p:sp>
      <p:pic>
        <p:nvPicPr>
          <p:cNvPr id="11" name="Picture 10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84564"/>
            <a:ext cx="257555" cy="25755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3957" y="2881099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HERE AND NOW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33453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3957" y="3529988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CONTACT</a:t>
            </a:r>
          </a:p>
        </p:txBody>
      </p:sp>
      <p:pic>
        <p:nvPicPr>
          <p:cNvPr id="15" name="Picture 14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82342"/>
            <a:ext cx="257555" cy="257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3957" y="4178877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RESPONSIBILITY AND CHOICE</a:t>
            </a:r>
          </a:p>
        </p:txBody>
      </p:sp>
      <p:pic>
        <p:nvPicPr>
          <p:cNvPr id="17" name="Picture 16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39327"/>
            <a:ext cx="336803" cy="3368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482776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buNone/>
            </a:pPr>
            <a:r>
              <a:rPr sz="2450" b="1" i="0">
                <a:solidFill>
                  <a:srgbClr val="FFFFFF"/>
                </a:solidFill>
                <a:latin typeface="Raleway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3603806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10"/>
              </a:lnSpc>
              <a:buNone/>
            </a:pPr>
            <a:r>
              <a:rPr sz="1600" b="0" i="0">
                <a:solidFill>
                  <a:srgbClr val="D8EBF7"/>
                </a:solidFill>
                <a:latin typeface="Raleway"/>
              </a:rPr>
              <a:t>Therapeutic change begins with noticing what is happening now.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3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84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86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85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87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8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87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89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9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88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900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7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4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3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4924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39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9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9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51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9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7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4948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63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96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75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1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4972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87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9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99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50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5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4996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11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5008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22</a:t>
            </a:r>
            <a:r>
              <a:rPr sz="900" b="1" i="0" spc="203">
                <a:solidFill>
                  <a:srgbClr val="5F7E9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7911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0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380"/>
              </a:lnSpc>
              <a:buNone/>
            </a:pPr>
            <a:r>
              <a:rPr sz="8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660"/>
              </a:lnSpc>
              <a:buNone/>
            </a:pPr>
            <a:r>
              <a:rPr sz="1000" b="1" i="0" spc="156">
                <a:solidFill>
                  <a:srgbClr val="8FA9BC"/>
                </a:solidFill>
                <a:latin typeface="Poppins"/>
              </a:rPr>
              <a:t>22</a:t>
            </a:r>
          </a:p>
        </p:txBody>
      </p:sp>
      <p:pic>
        <p:nvPicPr>
          <p:cNvPr id="8" name="Picture 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699822"/>
            <a:ext cx="217931" cy="2179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7498" y="1671233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Brownell, P. (2010). Gestalt therapy: A guide to contemporary practice. Springer.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25498"/>
            <a:ext cx="217931" cy="2179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396909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Corey, G. (2024). Theory and practice of counseling and psychotherapy (11th ed.). Cengage.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51174"/>
            <a:ext cx="217931" cy="2179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87498" y="3122585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Joyce, P., and Sills, C. (2014). Skills in Gestalt counselling and psychotherapy (3rd ed.). SAGE.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76849"/>
            <a:ext cx="217931" cy="2179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7498" y="3848260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Perls, F. S., Hefferline, R. F., and Goodman, P. (1951). Gestalt therapy: Excitement and growth in the human personality. Julian Press.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842583"/>
            <a:ext cx="217931" cy="21793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7498" y="4813994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Woldt, A. L., and Toman, S. M. (2005). Gestalt therapy: History, theory, and practice. SAGE.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68258"/>
            <a:ext cx="217931" cy="21793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7498" y="5539669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2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0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02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3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4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05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0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4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62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5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68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5059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80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50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09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08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01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1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113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11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2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1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8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13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0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131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43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1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9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515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15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1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0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51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2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5173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8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