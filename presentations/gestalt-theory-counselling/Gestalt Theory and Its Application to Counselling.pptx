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970" cy="6857983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670558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50" b="1" i="0" spc="289">
                <a:solidFill>
                  <a:srgbClr val="F0CA84"/>
                </a:solidFill>
                <a:latin typeface="Consolas"/>
              </a:rPr>
              <a:t>GROUP 4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964171"/>
            <a:ext cx="792782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306"/>
              </a:lnSpc>
              <a:buNone/>
            </a:pPr>
            <a:r>
              <a:rPr sz="5800" b="1" i="0">
                <a:solidFill>
                  <a:srgbClr val="F7F4EC"/>
                </a:solidFill>
                <a:latin typeface="Playfair Display"/>
              </a:rPr>
              <a:t>Gestalt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30742"/>
            <a:ext cx="792782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306"/>
              </a:lnSpc>
              <a:buNone/>
            </a:pPr>
            <a:r>
              <a:rPr sz="5800" b="1" i="0">
                <a:solidFill>
                  <a:srgbClr val="F7F4EC"/>
                </a:solidFill>
                <a:latin typeface="Playfair Display"/>
              </a:rPr>
              <a:t>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588751"/>
            <a:ext cx="792782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150" b="1" i="0" spc="273">
                <a:solidFill>
                  <a:srgbClr val="F0CA84"/>
                </a:solidFill>
                <a:latin typeface="Consolas"/>
              </a:rPr>
              <a:t>AND ITS APPLICATION TO COUNSELLING</a:t>
            </a:r>
          </a:p>
        </p:txBody>
      </p:sp>
      <p:pic>
        <p:nvPicPr>
          <p:cNvPr id="8" name="Picture 7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53220"/>
            <a:ext cx="306323" cy="3063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73477" y="3121800"/>
            <a:ext cx="388619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09">
                <a:solidFill>
                  <a:srgbClr val="8B95AE"/>
                </a:solidFill>
                <a:latin typeface="Consolas"/>
              </a:rPr>
              <a:t>PRESENTED BY</a:t>
            </a:r>
          </a:p>
        </p:txBody>
      </p:sp>
      <p:pic>
        <p:nvPicPr>
          <p:cNvPr id="10" name="Picture 9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26599"/>
            <a:ext cx="255269" cy="2552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27757" y="3388499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300" b="1" i="0">
                <a:solidFill>
                  <a:srgbClr val="F7F4EC"/>
                </a:solidFill>
                <a:latin typeface="Verdana"/>
              </a:rPr>
              <a:t>Josephine Biwott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2429" y="3411359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0" i="0">
                <a:solidFill>
                  <a:srgbClr val="B4BDD3"/>
                </a:solidFill>
                <a:latin typeface="Consolas"/>
              </a:rPr>
              <a:t>MACP/35996/0/26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16158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7757" y="3678058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300" b="1" i="0">
                <a:solidFill>
                  <a:srgbClr val="F7F4EC"/>
                </a:solidFill>
                <a:latin typeface="Verdana"/>
              </a:rPr>
              <a:t>Cynthia Cherono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2429" y="3700918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0" i="0">
                <a:solidFill>
                  <a:srgbClr val="B4BDD3"/>
                </a:solidFill>
                <a:latin typeface="Consolas"/>
              </a:rPr>
              <a:t>MACP/35785/4/26</a:t>
            </a:r>
          </a:p>
        </p:txBody>
      </p:sp>
      <p:pic>
        <p:nvPicPr>
          <p:cNvPr id="16" name="Picture 15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05717"/>
            <a:ext cx="255269" cy="25526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7757" y="3967617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300" b="1" i="0">
                <a:solidFill>
                  <a:srgbClr val="F7F4EC"/>
                </a:solidFill>
                <a:latin typeface="Verdana"/>
              </a:rPr>
              <a:t>Yvonne Juliet Awuor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2429" y="3990477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0" i="0">
                <a:solidFill>
                  <a:srgbClr val="B4BDD3"/>
                </a:solidFill>
                <a:latin typeface="Consolas"/>
              </a:rPr>
              <a:t>MALD/36547/4/26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981" y="3276592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09">
                <a:solidFill>
                  <a:srgbClr val="F0CA84"/>
                </a:solidFill>
                <a:latin typeface="Consolas"/>
              </a:rPr>
              <a:t>COURSE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9981" y="3499213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150" b="0" i="0">
                <a:solidFill>
                  <a:srgbClr val="F7F4EC"/>
                </a:solidFill>
                <a:latin typeface="Verdana"/>
              </a:rPr>
              <a:t>MCP504 Theories of Counseling and Psychotherapy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9981" y="4146683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09">
                <a:solidFill>
                  <a:srgbClr val="F0CA84"/>
                </a:solidFill>
                <a:latin typeface="Consolas"/>
              </a:rPr>
              <a:t>INSTITUTION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981" y="4369305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150" b="0" i="0">
                <a:solidFill>
                  <a:srgbClr val="F7F4EC"/>
                </a:solidFill>
                <a:latin typeface="Verdana"/>
              </a:rPr>
              <a:t>Pan African Christian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9981" y="4784479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09">
                <a:solidFill>
                  <a:srgbClr val="F0CA84"/>
                </a:solidFill>
                <a:latin typeface="Consolas"/>
              </a:rPr>
              <a:t>LECTURER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9981" y="5007101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150" b="0" i="0">
                <a:solidFill>
                  <a:srgbClr val="F7F4EC"/>
                </a:solidFill>
                <a:latin typeface="Verdana"/>
              </a:rPr>
              <a:t>Dr. Lucy Gachenia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623314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0" i="0" spc="241">
                <a:solidFill>
                  <a:srgbClr val="8B95AE"/>
                </a:solidFill>
                <a:latin typeface="Consolas"/>
              </a:rPr>
              <a:t>AWARENESS    PRESENCE    CONTACT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15" presetID="22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id="1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1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36" presetID="22" presetClass="entr" presetSubtype="0" fill="hold" grpId="0" nodeType="afterEffect">
                      <p:stCondLst>
                        <p:cond delay="460"/>
                      </p:stCondLst>
                      <p:childTnLst>
                        <p:set>
                          <p:cBhvr>
                            <p:cTn id="1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" dur="620"/>
                            <p:tgtEl>
                              <p:spTgt spid="6"/>
                            </p:tgtEl>
                          </p:cBhvr>
                        </p:animEffect>
                        <p:anim calcmode="lin" valueType="num">
                          <p:cBhvr additive="base">
                            <p:cTn id="133" dur="520" fill="hold"/>
                            <p:tgtEl>
                              <p:spTgt spid="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5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1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57" presetID="10" presetClass="entr" presetSubtype="0" fill="hold" grpId="0" nodeType="afterEffect">
                      <p:stCondLst>
                        <p:cond delay="760"/>
                      </p:stCondLst>
                      <p:childTnLst>
                        <p:set>
                          <p:cBhvr>
                            <p:cTn id="1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154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6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78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1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75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7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96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1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08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2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0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7" presetID="10" presetClass="entr" presetSubtype="0" fill="hold" grpId="0" nodeType="afterEffect">
                      <p:stCondLst>
                        <p:cond delay="1140"/>
                      </p:stCondLst>
                      <p:childTnLst>
                        <p:set>
                          <p:cBhvr>
                            <p:cTn id="2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2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238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2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235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7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2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56" presetID="10" presetClass="entr" presetSubtype="0" fill="hold" grpId="0" nodeType="afterEffect">
                      <p:stCondLst>
                        <p:cond delay="1340"/>
                      </p:stCondLst>
                      <p:childTnLst>
                        <p:set>
                          <p:cBhvr>
                            <p:cTn id="2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5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77" presetID="22" presetClass="entr" presetSubtype="0" fill="hold" grpId="0" nodeType="afterEffect">
                      <p:stCondLst>
                        <p:cond delay="1560"/>
                      </p:stCondLst>
                      <p:childTnLst>
                        <p:set>
                          <p:cBhvr>
                            <p:cTn id="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274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86" presetID="10" presetClass="entr" presetSubtype="0" fill="hold" grpId="0" nodeType="afterEffect">
                      <p:stCondLst>
                        <p:cond delay="1620"/>
                      </p:stCondLst>
                      <p:childTnLst>
                        <p:set>
                          <p:cBhvr>
                            <p:cTn id="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98" presetID="22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3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295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07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19" presetID="22" presetClass="entr" presetSubtype="0" fill="hold" grpId="0" nodeType="afterEffect">
                      <p:stCondLst>
                        <p:cond delay="1800"/>
                      </p:stCondLst>
                      <p:childTnLst>
                        <p:set>
                          <p:cBhvr>
                            <p:cTn id="3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" dur="620"/>
                            <p:tgtEl>
                              <p:spTgt spid="24"/>
                            </p:tgtEl>
                          </p:cBhvr>
                        </p:animEffect>
                        <p:anim calcmode="lin" valueType="num">
                          <p:cBhvr additive="base">
                            <p:cTn id="316" dur="520" fill="hold"/>
                            <p:tgtEl>
                              <p:spTgt spid="2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28" presetID="10" presetClass="entr" presetSubtype="0" fill="hold" grpId="0" nodeType="afterEffect">
                      <p:stCondLst>
                        <p:cond delay="2000"/>
                      </p:stCondLst>
                      <p:childTnLst>
                        <p:set>
                          <p:cBhvr>
                            <p:cTn id="3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F4C57E"/>
                </a:solidFill>
                <a:latin typeface="Consolas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AF5EC"/>
                </a:solidFill>
                <a:latin typeface="Playfair Display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D3C9D4"/>
                </a:solidFill>
                <a:latin typeface="Playfair Display"/>
              </a:rPr>
              <a:t>An experiential and humanistic approach to counselling.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A79CB0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A79CB0"/>
                </a:solidFill>
                <a:latin typeface="Consolas"/>
              </a:rPr>
              <a:t>02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708961"/>
            <a:ext cx="265480" cy="265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60066" y="1707151"/>
            <a:ext cx="662020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AF5EC"/>
                </a:solidFill>
                <a:latin typeface="Verdana"/>
              </a:rPr>
              <a:t>Emphasizes awareness, present experience and contact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265193"/>
            <a:ext cx="265480" cy="265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0066" y="2263383"/>
            <a:ext cx="662020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AF5EC"/>
                </a:solidFill>
                <a:latin typeface="Verdana"/>
              </a:rPr>
              <a:t>Understands individuals within their environment and relationships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21425"/>
            <a:ext cx="265480" cy="265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0066" y="2819615"/>
            <a:ext cx="662020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AF5EC"/>
                </a:solidFill>
                <a:latin typeface="Verdana"/>
              </a:rPr>
              <a:t>Encourages personal responsibility, choice and authentic living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77657"/>
            <a:ext cx="265480" cy="265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0066" y="3375847"/>
            <a:ext cx="662020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AF5EC"/>
                </a:solidFill>
                <a:latin typeface="Verdana"/>
              </a:rPr>
              <a:t>Focuses on the client's experience in the here and now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4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6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6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7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8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9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9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1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1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3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3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6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5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F4C57E"/>
                </a:solidFill>
                <a:latin typeface="Consolas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AF5EC"/>
                </a:solidFill>
                <a:latin typeface="Playfair Display"/>
              </a:rPr>
              <a:t>Historical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D3C9D4"/>
                </a:solidFill>
                <a:latin typeface="Playfair Display"/>
              </a:rPr>
              <a:t>A therapy that grew out of the 1940s and 1950s.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A79CB0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A79CB0"/>
                </a:solidFill>
                <a:latin typeface="Consolas"/>
              </a:rPr>
              <a:t>03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709580"/>
            <a:ext cx="255269" cy="2552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9644" y="1707151"/>
            <a:ext cx="881729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AF5EC"/>
                </a:solidFill>
                <a:latin typeface="Verdana"/>
              </a:rPr>
              <a:t>Emerged during the 1940s and 1950s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95996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9644" y="2193567"/>
            <a:ext cx="881729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AF5EC"/>
                </a:solidFill>
                <a:latin typeface="Verdana"/>
              </a:rPr>
              <a:t>Developed partly in response to limitations perceived in traditional psychoanalysis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8" y="2704367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F4C57E"/>
                </a:solidFill>
                <a:latin typeface="Consolas"/>
              </a:rPr>
              <a:t>INFLUENCED BY</a:t>
            </a:r>
          </a:p>
        </p:txBody>
      </p:sp>
      <p:pic>
        <p:nvPicPr>
          <p:cNvPr id="14" name="Picture 13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48682"/>
            <a:ext cx="234848" cy="2348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9223" y="2948206"/>
            <a:ext cx="26202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AF5EC"/>
                </a:solidFill>
                <a:latin typeface="Verdana"/>
              </a:rPr>
              <a:t>Gestalt psychology</a:t>
            </a:r>
          </a:p>
        </p:txBody>
      </p:sp>
      <p:pic>
        <p:nvPicPr>
          <p:cNvPr id="16" name="Picture 15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2948682"/>
            <a:ext cx="234848" cy="234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167215" y="2948206"/>
            <a:ext cx="26202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AF5EC"/>
                </a:solidFill>
                <a:latin typeface="Verdana"/>
              </a:rPr>
              <a:t>Phenomenology</a:t>
            </a:r>
          </a:p>
        </p:txBody>
      </p:sp>
      <p:pic>
        <p:nvPicPr>
          <p:cNvPr id="18" name="Picture 17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463" y="2948682"/>
            <a:ext cx="234848" cy="2348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15208" y="2948206"/>
            <a:ext cx="26202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AF5EC"/>
                </a:solidFill>
                <a:latin typeface="Verdana"/>
              </a:rPr>
              <a:t>Existential philosophy</a:t>
            </a:r>
          </a:p>
        </p:txBody>
      </p:sp>
      <p:pic>
        <p:nvPicPr>
          <p:cNvPr id="20" name="Picture 19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27148"/>
            <a:ext cx="234848" cy="2348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19223" y="3326672"/>
            <a:ext cx="26202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AF5EC"/>
                </a:solidFill>
                <a:latin typeface="Verdana"/>
              </a:rPr>
              <a:t>Field theory</a:t>
            </a:r>
          </a:p>
        </p:txBody>
      </p:sp>
      <p:pic>
        <p:nvPicPr>
          <p:cNvPr id="22" name="Picture 21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3327148"/>
            <a:ext cx="234848" cy="2348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67215" y="3326672"/>
            <a:ext cx="26202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AF5EC"/>
                </a:solidFill>
                <a:latin typeface="Verdana"/>
              </a:rPr>
              <a:t>Holistic approaches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78" y="3903256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F4C57E"/>
                </a:solidFill>
                <a:latin typeface="Consolas"/>
              </a:rPr>
              <a:t>INTELLECTUAL ROOTS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8" y="4147096"/>
            <a:ext cx="23416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150" b="1" i="0" spc="80">
                <a:solidFill>
                  <a:srgbClr val="FAF5EC"/>
                </a:solidFill>
                <a:latin typeface="Verdana"/>
              </a:rPr>
              <a:t>Gestalt psychology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88206" y="4147096"/>
            <a:ext cx="23416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150" b="1" i="0" spc="80">
                <a:solidFill>
                  <a:srgbClr val="FAF5EC"/>
                </a:solidFill>
                <a:latin typeface="Verdana"/>
              </a:rPr>
              <a:t>Phenomenology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4895" y="4147096"/>
            <a:ext cx="23416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150" b="1" i="0" spc="80">
                <a:solidFill>
                  <a:srgbClr val="FAF5EC"/>
                </a:solidFill>
                <a:latin typeface="Verdana"/>
              </a:rPr>
              <a:t>Existentialism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01583" y="4147096"/>
            <a:ext cx="23416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150" b="1" i="0" spc="80">
                <a:solidFill>
                  <a:srgbClr val="FAF5EC"/>
                </a:solidFill>
                <a:latin typeface="Verdana"/>
              </a:rPr>
              <a:t>Field theory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8271" y="4147096"/>
            <a:ext cx="23416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150" b="1" i="0" spc="80">
                <a:solidFill>
                  <a:srgbClr val="FAF5EC"/>
                </a:solidFill>
                <a:latin typeface="Verdana"/>
              </a:rPr>
              <a:t>Gestalt therapy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7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8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9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0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0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1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2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3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3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7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59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5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8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77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3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89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5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86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8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6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4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1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6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607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6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5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631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7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628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0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6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652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8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649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1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673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6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9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670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82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6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8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691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6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700" presetID="10" presetClass="entr" presetSubtype="0" fill="hold" grpId="0" nodeType="afterEffect">
                      <p:stCondLst>
                        <p:cond delay="1700"/>
                      </p:stCondLst>
                      <p:childTnLst>
                        <p:set>
                          <p:cBhvr>
                            <p:cTn id="7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06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709" presetID="10" presetClass="entr" presetSubtype="0" fill="hold" grpId="0" nodeType="afterEffect">
                      <p:stCondLst>
                        <p:cond delay="1840"/>
                      </p:stCondLst>
                      <p:childTnLst>
                        <p:set>
                          <p:cBhvr>
                            <p:cTn id="7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15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718" presetID="10" presetClass="entr" presetSubtype="0" fill="hold" grpId="0" nodeType="afterEffect">
                      <p:stCondLst>
                        <p:cond delay="1980"/>
                      </p:stCondLst>
                      <p:childTnLst>
                        <p:set>
                          <p:cBhvr>
                            <p:cTn id="7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24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727" presetID="10" presetClass="entr" presetSubtype="0" fill="hold" grpId="0" nodeType="afterEffect">
                      <p:stCondLst>
                        <p:cond delay="2120"/>
                      </p:stCondLst>
                      <p:childTnLst>
                        <p:set>
                          <p:cBhvr>
                            <p:cTn id="7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33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736" presetID="10" presetClass="entr" presetSubtype="0" fill="hold" grpId="0" nodeType="afterEffect">
                      <p:stCondLst>
                        <p:cond delay="2260"/>
                      </p:stCondLst>
                      <p:childTnLst>
                        <p:set>
                          <p:cBhvr>
                            <p:cTn id="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42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F4C57E"/>
                </a:solidFill>
                <a:latin typeface="Consolas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AF5EC"/>
                </a:solidFill>
                <a:latin typeface="Playfair Display"/>
              </a:rPr>
              <a:t>Major Theorists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D3C9D4"/>
                </a:solidFill>
                <a:latin typeface="Playfair Display"/>
              </a:rPr>
              <a:t>Three voices that shaped the theory and its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A79CB0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A79CB0"/>
                </a:solidFill>
                <a:latin typeface="Consolas"/>
              </a:rPr>
              <a:t>04</a:t>
            </a:r>
          </a:p>
        </p:txBody>
      </p:sp>
      <p:pic>
        <p:nvPicPr>
          <p:cNvPr id="9" name="Picture 8" descr="medalli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768111"/>
            <a:ext cx="792478" cy="7924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2116" y="1829071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750" b="1" i="0">
                <a:solidFill>
                  <a:srgbClr val="FAF5EC"/>
                </a:solidFill>
                <a:latin typeface="Playfair Display"/>
              </a:rPr>
              <a:t>Fritz Perls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2116" y="21033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0" i="0">
                <a:solidFill>
                  <a:srgbClr val="D3C9D4"/>
                </a:solidFill>
                <a:latin typeface="Consolas"/>
              </a:rPr>
              <a:t>1893 to 1970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78" y="2728229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250" b="1" i="0">
                <a:solidFill>
                  <a:srgbClr val="FAF5EC"/>
                </a:solidFill>
                <a:latin typeface="Verdana"/>
              </a:rPr>
              <a:t>Major founder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78" y="3045553"/>
            <a:ext cx="234848" cy="2348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9223" y="3048268"/>
            <a:ext cx="30865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D3C9D4"/>
                </a:solidFill>
                <a:latin typeface="Verdana"/>
              </a:rPr>
              <a:t>Awareness, experience and responsibility</a:t>
            </a:r>
          </a:p>
        </p:txBody>
      </p:sp>
      <p:pic>
        <p:nvPicPr>
          <p:cNvPr id="15" name="Picture 14" descr="medallion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3869" y="1768111"/>
            <a:ext cx="792478" cy="79247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03507" y="1829071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750" b="1" i="0">
                <a:solidFill>
                  <a:srgbClr val="FAF5EC"/>
                </a:solidFill>
                <a:latin typeface="Playfair Display"/>
              </a:rPr>
              <a:t>Laura Perls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07" y="21033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0" i="0">
                <a:solidFill>
                  <a:srgbClr val="D3C9D4"/>
                </a:solidFill>
                <a:latin typeface="Consolas"/>
              </a:rPr>
              <a:t>1905 to 1990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3869" y="2728229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250" b="1" i="0">
                <a:solidFill>
                  <a:srgbClr val="FAF5EC"/>
                </a:solidFill>
                <a:latin typeface="Verdana"/>
              </a:rPr>
              <a:t>Major contributor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3869" y="3045553"/>
            <a:ext cx="234848" cy="2348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00614" y="3048268"/>
            <a:ext cx="30865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D3C9D4"/>
                </a:solidFill>
                <a:latin typeface="Verdana"/>
              </a:rPr>
              <a:t>Contact, relationship and embodied experience</a:t>
            </a:r>
          </a:p>
        </p:txBody>
      </p:sp>
      <p:pic>
        <p:nvPicPr>
          <p:cNvPr id="21" name="Picture 20" descr="medallio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60" y="1768111"/>
            <a:ext cx="792478" cy="79247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884898" y="1829071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750" b="1" i="0">
                <a:solidFill>
                  <a:srgbClr val="FAF5EC"/>
                </a:solidFill>
                <a:latin typeface="Playfair Display"/>
              </a:rPr>
              <a:t>Paul Goodman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4898" y="2103390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0" i="0">
                <a:solidFill>
                  <a:srgbClr val="D3C9D4"/>
                </a:solidFill>
                <a:latin typeface="Consolas"/>
              </a:rPr>
              <a:t>1911 to 1972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60" y="2728229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250" b="1" i="0">
                <a:solidFill>
                  <a:srgbClr val="FAF5EC"/>
                </a:solidFill>
                <a:latin typeface="Verdana"/>
              </a:rPr>
              <a:t>Co author of the 1951 text</a:t>
            </a:r>
          </a:p>
        </p:txBody>
      </p:sp>
      <p:pic>
        <p:nvPicPr>
          <p:cNvPr id="25" name="Picture 24" descr="badge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60" y="3045553"/>
            <a:ext cx="234848" cy="2348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82005" y="3048268"/>
            <a:ext cx="30865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D3C9D4"/>
                </a:solidFill>
                <a:latin typeface="Verdana"/>
              </a:rPr>
              <a:t>Shaped the theoretical formulation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5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7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7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77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7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8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77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78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79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7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80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1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80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17" presetID="22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8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23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814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29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8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3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82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38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8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44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84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5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859" presetID="22" presetClass="entr" presetSubtype="0" fill="hold" grpId="0" nodeType="afterEffect">
                      <p:stCondLst>
                        <p:cond delay="710"/>
                      </p:stCondLst>
                      <p:childTnLst>
                        <p:set>
                          <p:cBhvr>
                            <p:cTn id="8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65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856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7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8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7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86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83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8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88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92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98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901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9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07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910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9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16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922" presetID="22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9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28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919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31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37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943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4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94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52" presetID="10" presetClass="entr" presetSubtype="0" fill="hold" grpId="0" nodeType="afterEffect">
                      <p:stCondLst>
                        <p:cond delay="1010"/>
                      </p:stCondLst>
                      <p:childTnLst>
                        <p:set>
                          <p:cBhvr>
                            <p:cTn id="9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5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961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9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6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973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9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7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97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82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9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88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F4C57E"/>
                </a:solidFill>
                <a:latin typeface="Consolas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AF5EC"/>
                </a:solidFill>
                <a:latin typeface="Playfair Display"/>
              </a:rPr>
              <a:t>Core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D3C9D4"/>
                </a:solidFill>
                <a:latin typeface="Playfair Display"/>
              </a:rPr>
              <a:t>Seven beliefs that hold the whole approach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A79CB0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A79CB0"/>
                </a:solidFill>
                <a:latin typeface="Consolas"/>
              </a:rPr>
              <a:t>05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706389"/>
            <a:ext cx="255269" cy="2552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9644" y="1707151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AF5EC"/>
                </a:solidFill>
                <a:latin typeface="Verdana"/>
              </a:rPr>
              <a:t>People are best understood as whole persons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286361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9644" y="2287123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AF5EC"/>
                </a:solidFill>
                <a:latin typeface="Verdana"/>
              </a:rPr>
              <a:t>Human experience is influenced by the environment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39982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9644" y="3140744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AF5EC"/>
                </a:solidFill>
                <a:latin typeface="Verdana"/>
              </a:rPr>
              <a:t>Awareness is central to psychological growth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19954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44" y="3720716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AF5EC"/>
                </a:solidFill>
                <a:latin typeface="Verdana"/>
              </a:rPr>
              <a:t>Experience unfolds in the present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1706389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631" y="1707151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AF5EC"/>
                </a:solidFill>
                <a:latin typeface="Verdana"/>
              </a:rPr>
              <a:t>People have capacity for choice and self regulation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286361"/>
            <a:ext cx="255269" cy="25526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3631" y="2287123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AF5EC"/>
                </a:solidFill>
                <a:latin typeface="Verdana"/>
              </a:rPr>
              <a:t>Healthy functioning involves meaningful contact</a:t>
            </a:r>
          </a:p>
        </p:txBody>
      </p:sp>
      <p:pic>
        <p:nvPicPr>
          <p:cNvPr id="21" name="Picture 2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866333"/>
            <a:ext cx="255269" cy="25526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3631" y="2867095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AF5EC"/>
                </a:solidFill>
                <a:latin typeface="Verdana"/>
              </a:rPr>
              <a:t>Psychological difficulties may involve interruptions in awareness or contact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9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9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0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0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00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1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02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0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2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01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03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0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3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03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0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4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05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0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5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04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60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0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6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07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0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7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06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81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0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8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09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0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09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0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1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0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11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1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11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23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1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135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1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4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13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4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1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5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156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1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6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15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65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11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7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177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1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8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17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86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11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9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2F7F4"/>
                </a:solidFill>
                <a:latin typeface="Playfair Display"/>
              </a:rPr>
              <a:t>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ADC4C7"/>
                </a:solidFill>
                <a:latin typeface="Playfair Display"/>
              </a:rPr>
              <a:t>The central concept in Gestalt therapy.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84A3AA"/>
                </a:solidFill>
                <a:latin typeface="Consolas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1707151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84DCC6"/>
                </a:solidFill>
                <a:latin typeface="Consolas"/>
              </a:rPr>
              <a:t>NOTICING</a:t>
            </a:r>
          </a:p>
        </p:txBody>
      </p:sp>
      <p:pic>
        <p:nvPicPr>
          <p:cNvPr id="10" name="Picture 9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966707"/>
            <a:ext cx="234848" cy="234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9223" y="1966231"/>
            <a:ext cx="13766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2F7F4"/>
                </a:solidFill>
                <a:latin typeface="Verdana"/>
              </a:rPr>
              <a:t>Thoughts</a:t>
            </a:r>
          </a:p>
        </p:txBody>
      </p:sp>
      <p:pic>
        <p:nvPicPr>
          <p:cNvPr id="12" name="Picture 11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1966707"/>
            <a:ext cx="234848" cy="2348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32778" y="1966231"/>
            <a:ext cx="13766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2F7F4"/>
                </a:solidFill>
                <a:latin typeface="Verdana"/>
              </a:rPr>
              <a:t>Feelings</a:t>
            </a:r>
          </a:p>
        </p:txBody>
      </p:sp>
      <p:pic>
        <p:nvPicPr>
          <p:cNvPr id="14" name="Picture 13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1966707"/>
            <a:ext cx="234848" cy="2348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6334" y="1966231"/>
            <a:ext cx="13766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2F7F4"/>
                </a:solidFill>
                <a:latin typeface="Verdana"/>
              </a:rPr>
              <a:t>Bodily sensations</a:t>
            </a:r>
          </a:p>
        </p:txBody>
      </p:sp>
      <p:pic>
        <p:nvPicPr>
          <p:cNvPr id="16" name="Picture 15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1966707"/>
            <a:ext cx="234848" cy="234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59889" y="1966231"/>
            <a:ext cx="13766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2F7F4"/>
                </a:solidFill>
                <a:latin typeface="Verdana"/>
              </a:rPr>
              <a:t>Behaviour</a:t>
            </a:r>
          </a:p>
        </p:txBody>
      </p:sp>
      <p:pic>
        <p:nvPicPr>
          <p:cNvPr id="18" name="Picture 17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1966707"/>
            <a:ext cx="234848" cy="2348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73445" y="1966231"/>
            <a:ext cx="13766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2F7F4"/>
                </a:solidFill>
                <a:latin typeface="Verdana"/>
              </a:rPr>
              <a:t>Needs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78" y="2514869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84DCC6"/>
                </a:solidFill>
                <a:latin typeface="Consolas"/>
              </a:rPr>
              <a:t>THE PROCESS</a:t>
            </a:r>
          </a:p>
        </p:txBody>
      </p:sp>
      <p:pic>
        <p:nvPicPr>
          <p:cNvPr id="21" name="Picture 2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72567"/>
            <a:ext cx="265480" cy="265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39644" y="2773949"/>
            <a:ext cx="89727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2F7F4"/>
                </a:solidFill>
                <a:latin typeface="Verdana"/>
              </a:rPr>
              <a:t>Focuses on present experience</a:t>
            </a:r>
          </a:p>
        </p:txBody>
      </p:sp>
      <p:pic>
        <p:nvPicPr>
          <p:cNvPr id="23" name="Picture 2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91927"/>
            <a:ext cx="265480" cy="2654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39644" y="3193309"/>
            <a:ext cx="89727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2F7F4"/>
                </a:solidFill>
                <a:latin typeface="Verdana"/>
              </a:rPr>
              <a:t>Creates opportunities for choice and 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58" y="3810788"/>
            <a:ext cx="196871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600" b="1" i="0" spc="80">
                <a:solidFill>
                  <a:srgbClr val="F2F7F4"/>
                </a:solidFill>
                <a:latin typeface="Verdana"/>
              </a:rPr>
              <a:t>Awareness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0231" y="3810788"/>
            <a:ext cx="196871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600" b="1" i="0" spc="80">
                <a:solidFill>
                  <a:srgbClr val="F2F7F4"/>
                </a:solidFill>
                <a:latin typeface="Verdana"/>
              </a:rPr>
              <a:t>Choice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1304" y="3810788"/>
            <a:ext cx="196871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600" b="1" i="0" spc="80">
                <a:solidFill>
                  <a:srgbClr val="F2F7F4"/>
                </a:solidFill>
                <a:latin typeface="Verdana"/>
              </a:rPr>
              <a:t>Change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9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0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20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21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22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2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3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22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3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2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24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252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2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58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264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2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0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261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73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2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285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2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91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282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94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2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0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306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13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12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1303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1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13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21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1327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13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33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1324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36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13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42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1348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3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54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1345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57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3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6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36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13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7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378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13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84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375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87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13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9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1399" presetID="10" presetClass="entr" presetSubtype="0" fill="hold" grpId="0" nodeType="afterEffect">
                      <p:stCondLst>
                        <p:cond delay="1380"/>
                      </p:stCondLst>
                      <p:childTnLst>
                        <p:set>
                          <p:cBhvr>
                            <p:cTn id="14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05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1396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408" presetID="10" presetClass="entr" presetSubtype="0" fill="hold" grpId="0" nodeType="afterEffect">
                      <p:stCondLst>
                        <p:cond delay="1450"/>
                      </p:stCondLst>
                      <p:childTnLst>
                        <p:set>
                          <p:cBhvr>
                            <p:cTn id="14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14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417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14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3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1426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14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32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1435" presetID="10" presetClass="entr" presetSubtype="0" fill="hold" grpId="0" nodeType="afterEffect">
                      <p:stCondLst>
                        <p:cond delay="1880"/>
                      </p:stCondLst>
                      <p:childTnLst>
                        <p:set>
                          <p:cBhvr>
                            <p:cTn id="1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41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2F7F4"/>
                </a:solidFill>
                <a:latin typeface="Playfair Display"/>
              </a:rPr>
              <a:t>The Here and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ADC4C7"/>
                </a:solidFill>
                <a:latin typeface="Playfair Display"/>
              </a:rPr>
              <a:t>Change happens in the present moment.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84A3AA"/>
                </a:solidFill>
                <a:latin typeface="Consola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1707151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84DCC6"/>
                </a:solidFill>
                <a:latin typeface="Consolas"/>
              </a:rPr>
              <a:t>THE FOCUS</a:t>
            </a:r>
          </a:p>
        </p:txBody>
      </p:sp>
      <p:pic>
        <p:nvPicPr>
          <p:cNvPr id="10" name="Picture 9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965469"/>
            <a:ext cx="255269" cy="2552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644" y="1966231"/>
            <a:ext cx="46202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Focuses on the client's present experience</a:t>
            </a:r>
          </a:p>
        </p:txBody>
      </p:sp>
      <p:pic>
        <p:nvPicPr>
          <p:cNvPr id="12" name="Picture 11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84176"/>
            <a:ext cx="255269" cy="25526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9644" y="2484938"/>
            <a:ext cx="46202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Includes thoughts, emotions, bodily sensations and behaviour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64" y="1707151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84DCC6"/>
                </a:solidFill>
                <a:latin typeface="Consolas"/>
              </a:rPr>
              <a:t>THE PAST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1965469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6031" y="1966231"/>
            <a:ext cx="41538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Past experiences are explored through their current impact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2757825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26031" y="2758587"/>
            <a:ext cx="41538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The therapeutic relationship offers present moment awareness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39163"/>
            <a:ext cx="275691" cy="27569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9644" y="3641163"/>
            <a:ext cx="93613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50" b="0" i="0">
                <a:solidFill>
                  <a:srgbClr val="F2F7F4"/>
                </a:solidFill>
                <a:latin typeface="Verdana"/>
              </a:rPr>
              <a:t>Encourages direct experience rather than excessive intellectual analysis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4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45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46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6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47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4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47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8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4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49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4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9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50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5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0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513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5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51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22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5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2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534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5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53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4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5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55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5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5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564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5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56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73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5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585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15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9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58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94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5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0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60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6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1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60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1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6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2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2F7F4"/>
                </a:solidFill>
                <a:latin typeface="Playfair Display"/>
              </a:rPr>
              <a:t>Figure and 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ADC4C7"/>
                </a:solidFill>
                <a:latin typeface="Playfair Display"/>
              </a:rPr>
              <a:t>One element steps forward from its context.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84A3AA"/>
                </a:solidFill>
                <a:latin typeface="Consolas"/>
              </a:rPr>
              <a:t>08</a:t>
            </a:r>
          </a:p>
        </p:txBody>
      </p:sp>
      <p:pic>
        <p:nvPicPr>
          <p:cNvPr id="9" name="Picture 8" descr="r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316" y="1859551"/>
            <a:ext cx="3276592" cy="3276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98316" y="2911108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150" b="1" i="0" spc="193">
                <a:solidFill>
                  <a:srgbClr val="F2F7F4"/>
                </a:solidFill>
                <a:latin typeface="Consolas"/>
              </a:rPr>
              <a:t>FIGURE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8316" y="3124468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050" b="0" i="1">
                <a:solidFill>
                  <a:srgbClr val="ADC4C7"/>
                </a:solidFill>
                <a:latin typeface="Playfair Display"/>
              </a:rPr>
              <a:t>what steps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8316" y="4557024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950" b="1" i="0" spc="241">
                <a:solidFill>
                  <a:srgbClr val="ADC4C7"/>
                </a:solidFill>
                <a:latin typeface="Consolas"/>
              </a:rPr>
              <a:t>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66" y="1676671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2150" b="1" i="0">
                <a:solidFill>
                  <a:srgbClr val="F2F7F4"/>
                </a:solidFill>
                <a:latin typeface="Playfair Display"/>
              </a:rPr>
              <a:t>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66" y="2177281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250" b="0" i="0">
                <a:solidFill>
                  <a:srgbClr val="ADC4C7"/>
                </a:solidFill>
                <a:latin typeface="Verdana"/>
              </a:rPr>
              <a:t>What is most prominent in awareness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66" y="275450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2150" b="1" i="0">
                <a:solidFill>
                  <a:srgbClr val="F2F7F4"/>
                </a:solidFill>
                <a:latin typeface="Playfair Display"/>
              </a:rPr>
              <a:t>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66" y="3255114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250" b="0" i="0">
                <a:solidFill>
                  <a:srgbClr val="ADC4C7"/>
                </a:solidFill>
                <a:latin typeface="Verdana"/>
              </a:rPr>
              <a:t>The surrounding context and experiences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3590212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16432" y="3603738"/>
            <a:ext cx="39984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2F7F4"/>
                </a:solidFill>
                <a:latin typeface="Verdana"/>
              </a:rPr>
              <a:t>Needs and concerns move between figure and ground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4191627"/>
            <a:ext cx="255269" cy="25526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16432" y="4205152"/>
            <a:ext cx="39984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2F7F4"/>
                </a:solidFill>
                <a:latin typeface="Verdana"/>
              </a:rPr>
              <a:t>The figure changes as circumstances change</a:t>
            </a:r>
          </a:p>
        </p:txBody>
      </p:sp>
      <p:pic>
        <p:nvPicPr>
          <p:cNvPr id="21" name="Picture 20" descr="badge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4553599"/>
            <a:ext cx="255269" cy="25526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16432" y="4567124"/>
            <a:ext cx="39984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2F7F4"/>
                </a:solidFill>
                <a:latin typeface="Verdana"/>
              </a:rPr>
              <a:t>Awareness reveals what matters most right now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6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6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6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6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6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6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6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6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684" presetID="23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6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90" dur="70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681" dur="520" fill="hold"/>
                            <p:tgtEl>
                              <p:spTgt spid="9"/>
                            </p:tgtEl>
                          </p:cBhvr>
                          <p:from x="92000" y="92000"/>
                          <p:to x="100000" y="100000"/>
                        </p:animScale>
                      </p:childTnLst>
                    </p:cTn>
                  </p:par>
                  <p:par>
                    <p:cTn id="1696" presetID="22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6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02" dur="620"/>
                            <p:tgtEl>
                              <p:spTgt spid="13"/>
                            </p:tgtEl>
                          </p:cBhvr>
                        </p:animEffect>
                        <p:anim calcmode="lin" valueType="num">
                          <p:cBhvr additive="base">
                            <p:cTn id="1693" dur="520" fill="hold"/>
                            <p:tgtEl>
                              <p:spTgt spid="1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05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7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1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714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726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32" dur="620"/>
                            <p:tgtEl>
                              <p:spTgt spid="15"/>
                            </p:tgtEl>
                          </p:cBhvr>
                        </p:animEffect>
                        <p:anim calcmode="lin" valueType="num">
                          <p:cBhvr additive="base">
                            <p:cTn id="1723" dur="520" fill="hold"/>
                            <p:tgtEl>
                              <p:spTgt spid="1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35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7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41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74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7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753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7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9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765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7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7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76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74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17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8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78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7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9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78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9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7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0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807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18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1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80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16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18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2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2500" b="1" i="0">
                <a:solidFill>
                  <a:srgbClr val="F2F7F4"/>
                </a:solidFill>
                <a:latin typeface="Playfair Display"/>
              </a:rPr>
              <a:t>Contact and the Contact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01009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ADC4C7"/>
                </a:solidFill>
                <a:latin typeface="Playfair Display"/>
              </a:rPr>
              <a:t>Where the person and the world meet.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84A3AA"/>
                </a:solidFill>
                <a:latin typeface="Consolas"/>
              </a:rPr>
              <a:t>09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584268"/>
            <a:ext cx="255269" cy="2552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9644" y="1585030"/>
            <a:ext cx="89727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Contact is the interaction between the individual and the environment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041711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9644" y="2042473"/>
            <a:ext cx="89727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The contact boundary is the point at which the two meet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99154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9644" y="2499916"/>
            <a:ext cx="89727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Healthy contact addresses needs while keeping a sense of self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56596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44" y="2957358"/>
            <a:ext cx="89727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Contact involves engaging, responding and withdrawing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14039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9644" y="3414801"/>
            <a:ext cx="89727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Relationships, culture and circumstances influence contact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78" y="3947529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350" b="1" i="0" spc="80">
                <a:solidFill>
                  <a:srgbClr val="F2F7F4"/>
                </a:solidFill>
                <a:latin typeface="Verdana"/>
              </a:rPr>
              <a:t>Individual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71" y="3947529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350" b="1" i="0" spc="80">
                <a:solidFill>
                  <a:srgbClr val="F2F7F4"/>
                </a:solidFill>
                <a:latin typeface="Verdana"/>
              </a:rPr>
              <a:t>Contact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0265" y="3947529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350" b="1" i="0" spc="80">
                <a:solidFill>
                  <a:srgbClr val="F2F7F4"/>
                </a:solidFill>
                <a:latin typeface="Verdana"/>
              </a:rPr>
              <a:t>Environment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2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8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3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83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84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85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8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6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85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6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8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87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8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88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8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9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88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9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8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0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90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9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1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90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1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2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92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9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92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3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9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4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94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9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5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94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5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9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6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96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9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7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96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78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9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8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98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9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9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996" presetID="10" presetClass="entr" presetSubtype="0" fill="hold" grpId="0" nodeType="afterEffect">
                      <p:stCondLst>
                        <p:cond delay="1440"/>
                      </p:stCondLst>
                      <p:childTnLst>
                        <p:set>
                          <p:cBhvr>
                            <p:cTn id="19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0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005" presetID="10" presetClass="entr" presetSubtype="0" fill="hold" grpId="0" nodeType="afterEffect">
                      <p:stCondLst>
                        <p:cond delay="1580"/>
                      </p:stCondLst>
                      <p:childTnLst>
                        <p:set>
                          <p:cBhvr>
                            <p:cTn id="20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1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2F7F4"/>
                </a:solidFill>
                <a:latin typeface="Playfair Display"/>
              </a:rPr>
              <a:t>Unfinished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ADC4C7"/>
                </a:solidFill>
                <a:latin typeface="Playfair Display"/>
              </a:rPr>
              <a:t>Unresolved experience keeps its hold on the present.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84A3AA"/>
                </a:solidFill>
                <a:latin typeface="Consolas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1707151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84DCC6"/>
                </a:solidFill>
                <a:latin typeface="Consolas"/>
              </a:rPr>
              <a:t>MAY INCLUDE</a:t>
            </a:r>
          </a:p>
        </p:txBody>
      </p:sp>
      <p:pic>
        <p:nvPicPr>
          <p:cNvPr id="10" name="Picture 9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985138"/>
            <a:ext cx="234848" cy="234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9223" y="1981471"/>
            <a:ext cx="13766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50" b="0" i="0">
                <a:solidFill>
                  <a:srgbClr val="F2F7F4"/>
                </a:solidFill>
                <a:latin typeface="Verdana"/>
              </a:rPr>
              <a:t>Grief</a:t>
            </a:r>
          </a:p>
        </p:txBody>
      </p:sp>
      <p:pic>
        <p:nvPicPr>
          <p:cNvPr id="12" name="Picture 11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1985138"/>
            <a:ext cx="234848" cy="2348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32778" y="1981471"/>
            <a:ext cx="13766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50" b="0" i="0">
                <a:solidFill>
                  <a:srgbClr val="F2F7F4"/>
                </a:solidFill>
                <a:latin typeface="Verdana"/>
              </a:rPr>
              <a:t>Anger</a:t>
            </a:r>
          </a:p>
        </p:txBody>
      </p:sp>
      <p:pic>
        <p:nvPicPr>
          <p:cNvPr id="14" name="Picture 13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1985138"/>
            <a:ext cx="234848" cy="2348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6334" y="1981471"/>
            <a:ext cx="13766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50" b="0" i="0">
                <a:solidFill>
                  <a:srgbClr val="F2F7F4"/>
                </a:solidFill>
                <a:latin typeface="Verdana"/>
              </a:rPr>
              <a:t>Guilt</a:t>
            </a:r>
          </a:p>
        </p:txBody>
      </p:sp>
      <p:pic>
        <p:nvPicPr>
          <p:cNvPr id="16" name="Picture 15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1985138"/>
            <a:ext cx="234848" cy="234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59889" y="1981471"/>
            <a:ext cx="13766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50" b="0" i="0">
                <a:solidFill>
                  <a:srgbClr val="F2F7F4"/>
                </a:solidFill>
                <a:latin typeface="Verdana"/>
              </a:rPr>
              <a:t>Resentment</a:t>
            </a:r>
          </a:p>
        </p:txBody>
      </p:sp>
      <p:pic>
        <p:nvPicPr>
          <p:cNvPr id="18" name="Picture 17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1985138"/>
            <a:ext cx="234848" cy="2348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73445" y="1981471"/>
            <a:ext cx="13766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50" b="0" i="0">
                <a:solidFill>
                  <a:srgbClr val="F2F7F4"/>
                </a:solidFill>
                <a:latin typeface="Verdana"/>
              </a:rPr>
              <a:t>Unmet needs</a:t>
            </a:r>
          </a:p>
        </p:txBody>
      </p:sp>
      <p:pic>
        <p:nvPicPr>
          <p:cNvPr id="20" name="Picture 19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590307"/>
            <a:ext cx="255269" cy="25526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39644" y="2591069"/>
            <a:ext cx="89727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Can remain psychologically active in the present</a:t>
            </a:r>
          </a:p>
        </p:txBody>
      </p:sp>
      <p:pic>
        <p:nvPicPr>
          <p:cNvPr id="22" name="Picture 21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09014"/>
            <a:ext cx="255269" cy="25526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39644" y="3109776"/>
            <a:ext cx="89727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May interfere with healthy contact</a:t>
            </a:r>
          </a:p>
        </p:txBody>
      </p:sp>
      <p:pic>
        <p:nvPicPr>
          <p:cNvPr id="24" name="Picture 23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27722"/>
            <a:ext cx="255269" cy="25526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39644" y="3628484"/>
            <a:ext cx="89727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Therapy promotes awareness and processing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1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02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03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3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04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0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04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05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0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06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0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6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07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0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7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083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0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8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208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092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20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9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104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21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1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210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1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21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1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2125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21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31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2122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34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21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2146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21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52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2143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5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21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61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167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21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73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2164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7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1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82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18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94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2185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9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2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03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209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15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2206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18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2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24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2230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22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6" dur="420"/>
                            <p:tgtEl>
                              <p:spTgt spid="24"/>
                            </p:tgtEl>
                          </p:cBhvr>
                        </p:animEffect>
                        <p:animScale>
                          <p:cBhvr>
                            <p:cTn id="2227" dur="520" fill="hold"/>
                            <p:tgtEl>
                              <p:spTgt spid="2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39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22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45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84DCC6"/>
                </a:solidFill>
                <a:latin typeface="Consolas"/>
              </a:rPr>
              <a:t>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2900" b="1" i="0">
                <a:solidFill>
                  <a:srgbClr val="F2F7F4"/>
                </a:solidFill>
                <a:latin typeface="Playfair Display"/>
              </a:rPr>
              <a:t>Personal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6207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ADC4C7"/>
                </a:solidFill>
                <a:latin typeface="Playfair Display"/>
              </a:rPr>
              <a:t>Owning your choices, without blame.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84A3AA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84A3AA"/>
                </a:solidFill>
                <a:latin typeface="Consolas"/>
              </a:rPr>
              <a:t>11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645329"/>
            <a:ext cx="255269" cy="2552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9644" y="1646091"/>
            <a:ext cx="50865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Recognising one's own choices and responses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64036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9644" y="2164798"/>
            <a:ext cx="50865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Promotes agency and ownership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82744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9644" y="2683506"/>
            <a:ext cx="50865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Encourages authentic decision making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01451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44" y="3202213"/>
            <a:ext cx="508655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2F7F4"/>
                </a:solidFill>
                <a:latin typeface="Verdana"/>
              </a:rPr>
              <a:t>Uses language that reflects personal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78" y="3719701"/>
            <a:ext cx="51297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4628"/>
              </a:lnSpc>
              <a:buNone/>
            </a:pPr>
            <a:r>
              <a:rPr sz="900" b="1" i="0" spc="177">
                <a:solidFill>
                  <a:srgbClr val="84DCC6"/>
                </a:solidFill>
                <a:latin typeface="Consolas"/>
              </a:rPr>
              <a:t>RESPONSIBILITY IS OWNERSHIP  NOT BLAME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864" y="1600371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84DCC6"/>
                </a:solidFill>
                <a:latin typeface="Consolas"/>
              </a:rPr>
              <a:t>LANGUAGE IN PRACTICE</a:t>
            </a:r>
          </a:p>
        </p:txBody>
      </p:sp>
      <p:pic>
        <p:nvPicPr>
          <p:cNvPr id="19" name="Picture 18" descr="badgee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864" y="1920410"/>
            <a:ext cx="306323" cy="30632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29383" y="1889930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450" b="0" i="1">
                <a:solidFill>
                  <a:srgbClr val="ADC4C7"/>
                </a:solidFill>
                <a:latin typeface="Playfair Display"/>
              </a:rPr>
              <a:t>“You make me angry.”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383" y="2226695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50" b="0" i="0">
                <a:solidFill>
                  <a:srgbClr val="84A3AA"/>
                </a:solidFill>
                <a:latin typeface="Consolas"/>
              </a:rPr>
              <a:t>blames the other person</a:t>
            </a:r>
          </a:p>
        </p:txBody>
      </p:sp>
      <p:pic>
        <p:nvPicPr>
          <p:cNvPr id="22" name="Picture 21" descr="badgemi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8864" y="2669416"/>
            <a:ext cx="306323" cy="306323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629383" y="2638936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450" b="0" i="1">
                <a:solidFill>
                  <a:srgbClr val="F2F7F4"/>
                </a:solidFill>
                <a:latin typeface="Playfair Display"/>
              </a:rPr>
              <a:t>“I notice that I become angry when…”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383" y="2975701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50" b="0" i="0">
                <a:solidFill>
                  <a:srgbClr val="84A3AA"/>
                </a:solidFill>
                <a:latin typeface="Consolas"/>
              </a:rPr>
              <a:t>owns the experience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4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2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5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25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2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6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26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2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7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27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2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8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27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28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2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9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29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2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0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30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3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1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30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17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3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329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3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3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32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3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3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4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34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23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5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35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3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6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35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71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3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77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368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80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23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86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389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23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95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401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24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07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398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10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24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1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41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24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2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431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4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37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2428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4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4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6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449" presetID="10" presetClass="entr" presetSubtype="0" fill="hold" grpId="0" nodeType="afterEffect">
                      <p:stCondLst>
                        <p:cond delay="1130"/>
                      </p:stCondLst>
                      <p:childTnLst>
                        <p:set>
                          <p:cBhvr>
                            <p:cTn id="24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55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2458" presetID="10" presetClass="entr" presetSubtype="0" fill="hold" grpId="0" nodeType="afterEffect">
                      <p:stCondLst>
                        <p:cond delay="1210"/>
                      </p:stCondLst>
                      <p:childTnLst>
                        <p:set>
                          <p:cBhvr>
                            <p:cTn id="24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64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F2A98A"/>
                </a:solidFill>
                <a:latin typeface="Consolas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2500" b="1" i="0">
                <a:solidFill>
                  <a:srgbClr val="FBF3EE"/>
                </a:solidFill>
                <a:latin typeface="Playfair Display"/>
              </a:rPr>
              <a:t>Role of the Gestalt Counsellor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01009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D2B9BC"/>
                </a:solidFill>
                <a:latin typeface="Playfair Display"/>
              </a:rPr>
              <a:t>A companion in the client's present experience.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A98B93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A98B93"/>
                </a:solidFill>
                <a:latin typeface="Consolas"/>
              </a:rPr>
              <a:t>12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584268"/>
            <a:ext cx="255269" cy="2552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9644" y="1585030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Facilitates awareness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64240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9644" y="2165002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Focuses on present experience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44212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9644" y="2744974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Observes verbal and non verbal behaviour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24184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44" y="3324946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Uses the therapeutic relationship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1584268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631" y="1585030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Encourages authentic expression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164240"/>
            <a:ext cx="255269" cy="25526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3631" y="2165002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Explores interruptions in contact</a:t>
            </a:r>
          </a:p>
        </p:txBody>
      </p:sp>
      <p:pic>
        <p:nvPicPr>
          <p:cNvPr id="21" name="Picture 2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744212"/>
            <a:ext cx="255269" cy="25526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3631" y="2744974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Promotes responsibility and choice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6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4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7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47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4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8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48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4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9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49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5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0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49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50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5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1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51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5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2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52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5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52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3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5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4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54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5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5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54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5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25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6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56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5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7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56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7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25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8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59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25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9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58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9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26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0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611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26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1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60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20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26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6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32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6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38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629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41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26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47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653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26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59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2650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62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26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68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F2A98A"/>
                </a:solidFill>
                <a:latin typeface="Consolas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2500" b="1" i="0">
                <a:solidFill>
                  <a:srgbClr val="FBF3EE"/>
                </a:solidFill>
                <a:latin typeface="Playfair Display"/>
              </a:rPr>
              <a:t>Gestalt Therapeutic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01009"/>
            <a:ext cx="85496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D2B9BC"/>
                </a:solidFill>
                <a:latin typeface="Playfair Display"/>
              </a:rPr>
              <a:t>Nine experiments that turn talking into experiencing.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A98B93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A98B93"/>
                </a:solidFill>
                <a:latin typeface="Consolas"/>
              </a:rPr>
              <a:t>13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584268"/>
            <a:ext cx="255269" cy="2552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9644" y="1585030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Empty chair technique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1584268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21035" y="1585030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Two chair dialogue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1584268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2426" y="1585030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Exaggeration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056037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44" y="2056799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Staying with the feeling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2056037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21035" y="2056799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Role play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2056037"/>
            <a:ext cx="255269" cy="25526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2426" y="2056799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Body awareness</a:t>
            </a:r>
          </a:p>
        </p:txBody>
      </p:sp>
      <p:pic>
        <p:nvPicPr>
          <p:cNvPr id="21" name="Picture 2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527805"/>
            <a:ext cx="255269" cy="25526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39644" y="2528567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“I” statements</a:t>
            </a:r>
          </a:p>
        </p:txBody>
      </p:sp>
      <p:pic>
        <p:nvPicPr>
          <p:cNvPr id="23" name="Picture 2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2527805"/>
            <a:ext cx="255269" cy="25526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21035" y="2528567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Dream work</a:t>
            </a:r>
          </a:p>
        </p:txBody>
      </p:sp>
      <p:pic>
        <p:nvPicPr>
          <p:cNvPr id="25" name="Picture 2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2527805"/>
            <a:ext cx="255269" cy="25526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02426" y="2528567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Here and now questioning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7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6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7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68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6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8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68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6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9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70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7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0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69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71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7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71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7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2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73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7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3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72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40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27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4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752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27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5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74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61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27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6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773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27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7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77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78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7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8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794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27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0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79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03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28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0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815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28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2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81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24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28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83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28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4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83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45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28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5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857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28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6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285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66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28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7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2878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28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84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2875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87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28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93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289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9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05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2896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908" presetID="10" presetClass="entr" presetSubtype="0" fill="hold" grpId="0" nodeType="afterEffect">
                      <p:stCondLst>
                        <p:cond delay="1240"/>
                      </p:stCondLst>
                      <p:childTnLst>
                        <p:set>
                          <p:cBhvr>
                            <p:cTn id="29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14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F2A98A"/>
                </a:solidFill>
                <a:latin typeface="Consolas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BF3EE"/>
                </a:solidFill>
                <a:latin typeface="Playfair Display"/>
              </a:rPr>
              <a:t>Empty Chair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D2B9BC"/>
                </a:solidFill>
                <a:latin typeface="Playfair Display"/>
              </a:rPr>
              <a:t>Speaking to the person who is not in the room.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A98B93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A98B93"/>
                </a:solidFill>
                <a:latin typeface="Consolas"/>
              </a:rPr>
              <a:t>14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706389"/>
            <a:ext cx="255269" cy="2552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9644" y="1707151"/>
            <a:ext cx="57083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The client imagines another person in the empty chair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63832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9644" y="2164594"/>
            <a:ext cx="57083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Speaks directly to the imagined person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21275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9644" y="2622037"/>
            <a:ext cx="57083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Brings unresolved experience into present awareness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78717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44" y="3079479"/>
            <a:ext cx="57083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Facilitates expression of unfinished emotions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36160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9644" y="3536922"/>
            <a:ext cx="57083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May open new awareness and perspectives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82" y="1554752"/>
            <a:ext cx="155447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0579"/>
              </a:lnSpc>
              <a:buNone/>
            </a:pPr>
            <a:r>
              <a:rPr sz="5950" b="1" i="0">
                <a:solidFill>
                  <a:srgbClr val="F2A98A"/>
                </a:solidFill>
                <a:latin typeface="Playfair Display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21" y="2337179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550" b="0" i="1">
                <a:solidFill>
                  <a:srgbClr val="FBF3EE"/>
                </a:solidFill>
                <a:latin typeface="Playfair Display"/>
              </a:rPr>
              <a:t>Imagine your father is sitting in that chair. What would you want him to hear from you?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21" y="3429147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09">
                <a:solidFill>
                  <a:srgbClr val="A98B93"/>
                </a:solidFill>
                <a:latin typeface="Consolas"/>
              </a:rPr>
              <a:t>EXAMPLE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4069650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F2A98A"/>
                </a:solidFill>
                <a:latin typeface="Consolas"/>
              </a:rPr>
              <a:t>THE 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8" y="4313490"/>
            <a:ext cx="232809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300" b="1" i="0" spc="80">
                <a:solidFill>
                  <a:srgbClr val="FBF3EE"/>
                </a:solidFill>
                <a:latin typeface="Verdana"/>
              </a:rPr>
              <a:t>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1608" y="4313490"/>
            <a:ext cx="232809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300" b="1" i="0" spc="80">
                <a:solidFill>
                  <a:srgbClr val="FBF3EE"/>
                </a:solidFill>
                <a:latin typeface="Verdana"/>
              </a:rPr>
              <a:t>Imagined person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1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9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92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3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93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4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94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9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5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94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95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9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6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96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9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7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97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9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8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97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98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9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9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99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0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0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99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0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0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1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01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0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2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01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2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0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3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04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0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03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4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0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5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06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0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6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05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7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0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7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307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0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8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091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0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97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3088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00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1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0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109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1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15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118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31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24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127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31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3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F2A98A"/>
                </a:solidFill>
                <a:latin typeface="Consolas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2500" b="1" i="0">
                <a:solidFill>
                  <a:srgbClr val="FBF3EE"/>
                </a:solidFill>
                <a:latin typeface="Playfair Display"/>
              </a:rPr>
              <a:t>Other Experiential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01009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D2B9BC"/>
                </a:solidFill>
                <a:latin typeface="Playfair Display"/>
              </a:rPr>
              <a:t>What each experiment is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A98B93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A98B93"/>
                </a:solidFill>
                <a:latin typeface="Consolas"/>
              </a:rPr>
              <a:t>15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584268"/>
            <a:ext cx="255269" cy="2552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0909" y="1585030"/>
            <a:ext cx="36250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1" i="0">
                <a:solidFill>
                  <a:srgbClr val="FBF3EE"/>
                </a:solidFill>
                <a:latin typeface="Verdana"/>
              </a:rPr>
              <a:t>Two chair dialogue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1584268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4896" y="1585030"/>
            <a:ext cx="393593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D2B9BC"/>
                </a:solidFill>
                <a:latin typeface="Verdana"/>
              </a:rPr>
              <a:t>Explore opposing parts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025557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0909" y="2026319"/>
            <a:ext cx="36250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1" i="0">
                <a:solidFill>
                  <a:srgbClr val="FBF3EE"/>
                </a:solidFill>
                <a:latin typeface="Verdana"/>
              </a:rPr>
              <a:t>Exaggeration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025557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4896" y="2026319"/>
            <a:ext cx="393593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D2B9BC"/>
                </a:solidFill>
                <a:latin typeface="Verdana"/>
              </a:rPr>
              <a:t>Increase awareness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66845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00909" y="2467607"/>
            <a:ext cx="36250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1" i="0">
                <a:solidFill>
                  <a:srgbClr val="FBF3EE"/>
                </a:solidFill>
                <a:latin typeface="Verdana"/>
              </a:rPr>
              <a:t>Staying with the feeling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466845"/>
            <a:ext cx="255269" cy="25526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4896" y="2467607"/>
            <a:ext cx="393593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D2B9BC"/>
                </a:solidFill>
                <a:latin typeface="Verdana"/>
              </a:rPr>
              <a:t>Explore emerging emotions</a:t>
            </a:r>
          </a:p>
        </p:txBody>
      </p:sp>
      <p:pic>
        <p:nvPicPr>
          <p:cNvPr id="21" name="Picture 2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08133"/>
            <a:ext cx="255269" cy="25526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00909" y="2908895"/>
            <a:ext cx="36250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1" i="0">
                <a:solidFill>
                  <a:srgbClr val="FBF3EE"/>
                </a:solidFill>
                <a:latin typeface="Verdana"/>
              </a:rPr>
              <a:t>Body awareness</a:t>
            </a:r>
          </a:p>
        </p:txBody>
      </p:sp>
      <p:pic>
        <p:nvPicPr>
          <p:cNvPr id="23" name="Picture 2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908133"/>
            <a:ext cx="255269" cy="25526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534896" y="2908895"/>
            <a:ext cx="393593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D2B9BC"/>
                </a:solidFill>
                <a:latin typeface="Verdana"/>
              </a:rPr>
              <a:t>Notice physical experience</a:t>
            </a:r>
          </a:p>
        </p:txBody>
      </p:sp>
      <p:pic>
        <p:nvPicPr>
          <p:cNvPr id="25" name="Picture 2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49422"/>
            <a:ext cx="255269" cy="25526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00909" y="3350184"/>
            <a:ext cx="36250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1" i="0">
                <a:solidFill>
                  <a:srgbClr val="FBF3EE"/>
                </a:solidFill>
                <a:latin typeface="Verdana"/>
              </a:rPr>
              <a:t>“I” statements</a:t>
            </a:r>
          </a:p>
        </p:txBody>
      </p:sp>
      <p:pic>
        <p:nvPicPr>
          <p:cNvPr id="27" name="Picture 2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349422"/>
            <a:ext cx="255269" cy="25526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34896" y="3350184"/>
            <a:ext cx="393593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D2B9BC"/>
                </a:solidFill>
                <a:latin typeface="Verdana"/>
              </a:rPr>
              <a:t>Own personal experience</a:t>
            </a:r>
          </a:p>
        </p:txBody>
      </p:sp>
      <p:pic>
        <p:nvPicPr>
          <p:cNvPr id="29" name="Picture 2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90710"/>
            <a:ext cx="255269" cy="25526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00909" y="3791472"/>
            <a:ext cx="36250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1" i="0">
                <a:solidFill>
                  <a:srgbClr val="FBF3EE"/>
                </a:solidFill>
                <a:latin typeface="Verdana"/>
              </a:rPr>
              <a:t>Dream work</a:t>
            </a:r>
          </a:p>
        </p:txBody>
      </p:sp>
      <p:pic>
        <p:nvPicPr>
          <p:cNvPr id="31" name="Picture 3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90710"/>
            <a:ext cx="255269" cy="25526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34896" y="3791472"/>
            <a:ext cx="393593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D2B9BC"/>
                </a:solidFill>
                <a:latin typeface="Verdana"/>
              </a:rPr>
              <a:t>Explore present meaning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3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1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4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14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1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5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1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1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6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16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7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16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7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1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8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18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1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9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19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1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02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193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0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2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1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20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17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2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2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229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32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3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22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38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32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4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250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2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24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59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32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6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271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32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7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26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80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2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86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29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2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98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289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01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3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07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31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33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19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310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2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3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2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33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3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0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3331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43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33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9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35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33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61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3352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6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3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70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337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82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3373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85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3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91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3397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3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03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3394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06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12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3418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4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24" dur="420"/>
                            <p:tgtEl>
                              <p:spTgt spid="31"/>
                            </p:tgtEl>
                          </p:cBhvr>
                        </p:animEffect>
                        <p:animScale>
                          <p:cBhvr>
                            <p:cTn id="3415" dur="520" fill="hold"/>
                            <p:tgtEl>
                              <p:spTgt spid="3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27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34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3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  <p:par>
                    <p:cTn id="3436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34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42" dur="52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F2A98A"/>
                </a:solidFill>
                <a:latin typeface="Consolas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2900" b="1" i="0">
                <a:solidFill>
                  <a:srgbClr val="FBF3EE"/>
                </a:solidFill>
                <a:latin typeface="Playfair Display"/>
              </a:rPr>
              <a:t>Application in Counselling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6207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D2B9BC"/>
                </a:solidFill>
                <a:latin typeface="Playfair Display"/>
              </a:rPr>
              <a:t>Gestalt therapy can be applied to the following areas.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A98B93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A98B93"/>
                </a:solidFill>
                <a:latin typeface="Consolas"/>
              </a:rPr>
              <a:t>16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645329"/>
            <a:ext cx="255269" cy="2552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9644" y="1646091"/>
            <a:ext cx="41538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Grief and loss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1645329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4033" y="1646091"/>
            <a:ext cx="41538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Relationship difficulties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086617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9644" y="2087379"/>
            <a:ext cx="41538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Anxiety and emotional distress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2086617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64033" y="2087379"/>
            <a:ext cx="41538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Unresolved anger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527906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9644" y="2528668"/>
            <a:ext cx="41538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Identity concerns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2527906"/>
            <a:ext cx="255269" cy="25526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64033" y="2528668"/>
            <a:ext cx="41538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Emotional expression difficulties</a:t>
            </a:r>
          </a:p>
        </p:txBody>
      </p:sp>
      <p:pic>
        <p:nvPicPr>
          <p:cNvPr id="21" name="Picture 2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69194"/>
            <a:ext cx="255269" cy="25526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39644" y="2969956"/>
            <a:ext cx="41538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Personal growth</a:t>
            </a:r>
          </a:p>
        </p:txBody>
      </p:sp>
      <p:pic>
        <p:nvPicPr>
          <p:cNvPr id="23" name="Picture 2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2969194"/>
            <a:ext cx="255269" cy="25526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64033" y="2969956"/>
            <a:ext cx="41538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BF3EE"/>
                </a:solidFill>
                <a:latin typeface="Verdana"/>
              </a:rPr>
              <a:t>Unresolved interpersonal experiences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3594124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F2A98A"/>
                </a:solidFill>
                <a:latin typeface="Consolas"/>
              </a:rPr>
              <a:t>THERAPEUTIC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478" y="3853203"/>
            <a:ext cx="197889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200" b="1" i="0" spc="80">
                <a:solidFill>
                  <a:srgbClr val="FBF3EE"/>
                </a:solidFill>
                <a:latin typeface="Verdana"/>
              </a:rPr>
              <a:t>Awareness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3530" y="3853203"/>
            <a:ext cx="197889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200" b="1" i="0" spc="80">
                <a:solidFill>
                  <a:srgbClr val="FBF3EE"/>
                </a:solidFill>
                <a:latin typeface="Verdana"/>
              </a:rPr>
              <a:t>Contact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94583" y="3853203"/>
            <a:ext cx="197889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200" b="1" i="0" spc="80">
                <a:solidFill>
                  <a:srgbClr val="FBF3EE"/>
                </a:solidFill>
                <a:latin typeface="Verdana"/>
              </a:rPr>
              <a:t>Responsibility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95635" y="3853203"/>
            <a:ext cx="197889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200" b="1" i="0" spc="80">
                <a:solidFill>
                  <a:srgbClr val="FBF3EE"/>
                </a:solidFill>
                <a:latin typeface="Verdana"/>
              </a:rPr>
              <a:t>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688" y="3853203"/>
            <a:ext cx="197889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6364"/>
              </a:lnSpc>
              <a:buNone/>
            </a:pPr>
            <a:r>
              <a:rPr sz="1200" b="1" i="0" spc="80">
                <a:solidFill>
                  <a:srgbClr val="FBF3EE"/>
                </a:solidFill>
                <a:latin typeface="Verdana"/>
              </a:rPr>
              <a:t>Growth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4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4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5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4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6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4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6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47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4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8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47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48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4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9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49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4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9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50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5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1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50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14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5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526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35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3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52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35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35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4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547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35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5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54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56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5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6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568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5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7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56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77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35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8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589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3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9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58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98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36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0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61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60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1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6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25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631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3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3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62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40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36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46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652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3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5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364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61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3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6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3670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6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76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3679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36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85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3688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36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94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3697" presetID="10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37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03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3706" presetID="10" presetClass="entr" presetSubtype="0" fill="hold" grpId="0" nodeType="afterEffect">
                      <p:stCondLst>
                        <p:cond delay="1820"/>
                      </p:stCondLst>
                      <p:childTnLst>
                        <p:set>
                          <p:cBhvr>
                            <p:cTn id="37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12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3715" presetID="10" presetClass="entr" presetSubtype="0" fill="hold" grpId="0" nodeType="afterEffect">
                      <p:stCondLst>
                        <p:cond delay="1960"/>
                      </p:stCondLst>
                      <p:childTnLst>
                        <p:set>
                          <p:cBhvr>
                            <p:cTn id="37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21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C3B4F5"/>
                </a:solidFill>
                <a:latin typeface="Consolas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2500" b="1" i="0">
                <a:solidFill>
                  <a:srgbClr val="F6F4FD"/>
                </a:solidFill>
                <a:latin typeface="Playfair Display"/>
              </a:rPr>
              <a:t>Strengths of Gestalt Therapy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01009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BCB8DA"/>
                </a:solidFill>
                <a:latin typeface="Playfair Display"/>
              </a:rPr>
              <a:t>What this approach does particularly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928FB5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928FB5"/>
                </a:solidFill>
                <a:latin typeface="Consolas"/>
              </a:rPr>
              <a:t>17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584268"/>
            <a:ext cx="255269" cy="2552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9644" y="1585030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Promotes self awareness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43819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9644" y="2144581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Focuses on lived experience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03369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9644" y="2704131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Encourages agency and responsibility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62920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44" y="3263682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Integrates mind, emotion and body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1584268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631" y="1585030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Considers person and environment interaction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143819"/>
            <a:ext cx="255269" cy="25526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3631" y="2144581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Encourages active client participation</a:t>
            </a:r>
          </a:p>
        </p:txBody>
      </p:sp>
      <p:pic>
        <p:nvPicPr>
          <p:cNvPr id="21" name="Picture 2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703369"/>
            <a:ext cx="255269" cy="25526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3631" y="2704131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Supports experiential emotional processing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7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7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7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7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7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7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7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7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7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78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90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781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93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37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99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805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3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1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80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14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38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826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38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3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82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35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38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4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847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3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5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84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56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38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6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868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38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7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86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77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38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8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889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38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9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88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98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39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04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910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9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6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3907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19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39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25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C3B4F5"/>
                </a:solidFill>
                <a:latin typeface="Consolas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2900" b="1" i="0">
                <a:solidFill>
                  <a:srgbClr val="F6F4FD"/>
                </a:solidFill>
                <a:latin typeface="Playfair Display"/>
              </a:rPr>
              <a:t>Limitations and Criticisms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16207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BCB8DA"/>
                </a:solidFill>
                <a:latin typeface="Playfair Display"/>
              </a:rPr>
              <a:t>Honest considerations for careful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928FB5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928FB5"/>
                </a:solidFill>
                <a:latin typeface="Consolas"/>
              </a:rPr>
              <a:t>18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645329"/>
            <a:ext cx="255269" cy="2552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9644" y="1646091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Some techniques may feel intense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204879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9644" y="2205641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Requires skilled and sensitive application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64430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9644" y="2765192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May challenge clients who prefer highly structured approaches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97629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44" y="3598391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Experiential techniques can be misused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1645329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631" y="1646091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Not every intervention suits every client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204879"/>
            <a:ext cx="255269" cy="25526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3631" y="2205641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Cultural context must be considered</a:t>
            </a:r>
          </a:p>
        </p:txBody>
      </p:sp>
      <p:pic>
        <p:nvPicPr>
          <p:cNvPr id="21" name="Picture 2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764430"/>
            <a:ext cx="255269" cy="25526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3631" y="2765192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300" b="0" i="0">
                <a:solidFill>
                  <a:srgbClr val="F6F4FD"/>
                </a:solidFill>
                <a:latin typeface="Verdana"/>
              </a:rPr>
              <a:t>Ethical boundaries are essential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2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9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3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93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9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4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94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9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5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95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9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6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95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96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9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7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97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9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8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988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9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9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98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97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0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0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009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40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1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00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18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40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2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030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40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02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39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0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4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051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40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57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048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60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40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66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07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0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78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069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81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0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87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093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0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9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09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02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1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0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11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41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0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111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23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41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9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C3B4F5"/>
                </a:solidFill>
                <a:latin typeface="Consolas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6F4FD"/>
                </a:solidFill>
                <a:latin typeface="Playfair Display"/>
              </a:rPr>
              <a:t>Case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85496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BCB8DA"/>
                </a:solidFill>
                <a:latin typeface="Playfair Display"/>
              </a:rPr>
              <a:t>A 20 year old undergraduate student on a scholarship.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928FB5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928FB5"/>
                </a:solidFill>
                <a:latin typeface="Consolas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1676671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09">
                <a:solidFill>
                  <a:srgbClr val="C3B4F5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1890031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150" b="1" i="0" spc="113">
                <a:solidFill>
                  <a:srgbClr val="F6F4FD"/>
                </a:solidFill>
                <a:latin typeface="Consolas"/>
              </a:rPr>
              <a:t>PRESENTING CONCERNS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176875"/>
            <a:ext cx="234848" cy="234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9644" y="2179590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Academic anxiety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578031"/>
            <a:ext cx="234848" cy="2348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9644" y="2580746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Fear of losing the scholarship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79187"/>
            <a:ext cx="234848" cy="2348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44" y="2981902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Fear of disappointing family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80343"/>
            <a:ext cx="234848" cy="2348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9644" y="3383057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Difficulty expressing emotions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81499"/>
            <a:ext cx="234848" cy="2348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9644" y="3784213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Pressure to maintain high grades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349" y="1676671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09">
                <a:solidFill>
                  <a:srgbClr val="C3B4F5"/>
                </a:solidFill>
                <a:latin typeface="Consola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349" y="1890031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150" b="1" i="0" spc="113">
                <a:solidFill>
                  <a:srgbClr val="F6F4FD"/>
                </a:solidFill>
                <a:latin typeface="Consolas"/>
              </a:rPr>
              <a:t>GESTALT CONCEPTUALISATION</a:t>
            </a:r>
          </a:p>
        </p:txBody>
      </p:sp>
      <p:pic>
        <p:nvPicPr>
          <p:cNvPr id="23" name="Picture 2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2176875"/>
            <a:ext cx="234848" cy="2348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51515" y="2179590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Anxiety becomes figure</a:t>
            </a:r>
          </a:p>
        </p:txBody>
      </p:sp>
      <p:pic>
        <p:nvPicPr>
          <p:cNvPr id="25" name="Picture 2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2578031"/>
            <a:ext cx="234848" cy="2348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751515" y="2580746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Possible introjected expectations</a:t>
            </a:r>
          </a:p>
        </p:txBody>
      </p:sp>
      <p:pic>
        <p:nvPicPr>
          <p:cNvPr id="27" name="Picture 2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2979187"/>
            <a:ext cx="234848" cy="2348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751515" y="2981902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Limited awareness of personal needs</a:t>
            </a:r>
          </a:p>
        </p:txBody>
      </p:sp>
      <p:pic>
        <p:nvPicPr>
          <p:cNvPr id="29" name="Picture 2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349" y="3380343"/>
            <a:ext cx="234848" cy="2348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51515" y="3383057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Interrupted contact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6220" y="1676671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1000" b="1" i="0" spc="209">
                <a:solidFill>
                  <a:srgbClr val="C3B4F5"/>
                </a:solidFill>
                <a:latin typeface="Consola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6220" y="1890031"/>
            <a:ext cx="34198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4298"/>
              </a:lnSpc>
              <a:buNone/>
            </a:pPr>
            <a:r>
              <a:rPr sz="1150" b="1" i="0" spc="113">
                <a:solidFill>
                  <a:srgbClr val="F6F4FD"/>
                </a:solidFill>
                <a:latin typeface="Consolas"/>
              </a:rPr>
              <a:t>POSSIBLE INTERVENTIONS</a:t>
            </a:r>
          </a:p>
        </p:txBody>
      </p:sp>
      <p:pic>
        <p:nvPicPr>
          <p:cNvPr id="33" name="Picture 3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2176875"/>
            <a:ext cx="234848" cy="2348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363386" y="2179590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Here and now exploration</a:t>
            </a:r>
          </a:p>
        </p:txBody>
      </p:sp>
      <p:pic>
        <p:nvPicPr>
          <p:cNvPr id="35" name="Picture 3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2578031"/>
            <a:ext cx="234848" cy="2348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63386" y="2580746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Body awareness</a:t>
            </a:r>
          </a:p>
        </p:txBody>
      </p:sp>
      <p:pic>
        <p:nvPicPr>
          <p:cNvPr id="37" name="Picture 3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2979187"/>
            <a:ext cx="234848" cy="2348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363386" y="2981902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Staying with the feeling</a:t>
            </a:r>
          </a:p>
        </p:txBody>
      </p:sp>
      <p:pic>
        <p:nvPicPr>
          <p:cNvPr id="39" name="Picture 3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3380343"/>
            <a:ext cx="234848" cy="23484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63386" y="3383057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“I” statements</a:t>
            </a:r>
          </a:p>
        </p:txBody>
      </p:sp>
      <p:pic>
        <p:nvPicPr>
          <p:cNvPr id="41" name="Picture 4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220" y="3781499"/>
            <a:ext cx="234848" cy="2348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363386" y="3784213"/>
            <a:ext cx="29880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50" b="0" i="0">
                <a:solidFill>
                  <a:srgbClr val="F6F4FD"/>
                </a:solidFill>
                <a:latin typeface="Verdana"/>
              </a:rPr>
              <a:t>Exploring introjected beliefs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3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1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3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14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1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4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15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1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5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16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1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6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15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17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1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7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180" presetID="10" presetClass="entr" presetSubtype="0" fill="hold" grpId="0" nodeType="afterEffect">
                      <p:stCondLst>
                        <p:cond delay="400"/>
                      </p:stCondLst>
                      <p:childTnLst>
                        <p:set>
                          <p:cBhvr>
                            <p:cTn id="41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86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418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1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9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201" presetID="22" presetClass="entr" presetSubtype="0" fill="hold" grpId="0" nodeType="afterEffect">
                      <p:stCondLst>
                        <p:cond delay="480"/>
                      </p:stCondLst>
                      <p:childTnLst>
                        <p:set>
                          <p:cBhvr>
                            <p:cTn id="42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07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4198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10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2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16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422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2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21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34" presetID="22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0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4231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43" presetID="10" presetClass="entr" presetSubtype="0" fill="hold" grpId="0" nodeType="afterEffect">
                      <p:stCondLst>
                        <p:cond delay="640"/>
                      </p:stCondLst>
                      <p:childTnLst>
                        <p:set>
                          <p:cBhvr>
                            <p:cTn id="42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9" dur="52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  <p:par>
                    <p:cTn id="4252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2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58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26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2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70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261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6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2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82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273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88" presetID="22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2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94" dur="620"/>
                            <p:tgtEl>
                              <p:spTgt spid="32"/>
                            </p:tgtEl>
                          </p:cBhvr>
                        </p:animEffect>
                        <p:anim calcmode="lin" valueType="num">
                          <p:cBhvr additive="base">
                            <p:cTn id="4285" dur="520" fill="hold"/>
                            <p:tgtEl>
                              <p:spTgt spid="3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97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3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0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306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43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12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31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3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2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31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30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43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6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327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42" presetID="10" presetClass="entr" presetSubtype="0" fill="hold" grpId="0" nodeType="afterEffect">
                      <p:stCondLst>
                        <p:cond delay="840"/>
                      </p:stCondLst>
                      <p:childTnLst>
                        <p:set>
                          <p:cBhvr>
                            <p:cTn id="43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48" dur="420"/>
                            <p:tgtEl>
                              <p:spTgt spid="33"/>
                            </p:tgtEl>
                          </p:cBhvr>
                        </p:animEffect>
                        <p:animScale>
                          <p:cBhvr>
                            <p:cTn id="4339" dur="520" fill="hold"/>
                            <p:tgtEl>
                              <p:spTgt spid="3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51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3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57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360" presetID="10" presetClass="entr" presetSubtype="0" fill="hold" grpId="0" nodeType="afterEffect">
                      <p:stCondLst>
                        <p:cond delay="890"/>
                      </p:stCondLst>
                      <p:childTnLst>
                        <p:set>
                          <p:cBhvr>
                            <p:cTn id="43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66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437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3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78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369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81" presetID="10" presetClass="entr" presetSubtype="0" fill="hold" grpId="0" nodeType="afterEffect">
                      <p:stCondLst>
                        <p:cond delay="910"/>
                      </p:stCondLst>
                      <p:childTnLst>
                        <p:set>
                          <p:cBhvr>
                            <p:cTn id="43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87" dur="520"/>
                            <p:tgtEl>
                              <p:spTgt spid="34"/>
                            </p:tgtEl>
                          </p:cBhvr>
                        </p:animEffect>
                      </p:childTnLst>
                    </p:cTn>
                  </p:par>
                  <p:par>
                    <p:cTn id="439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43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99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4390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05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44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11" dur="420"/>
                            <p:tgtEl>
                              <p:spTgt spid="35"/>
                            </p:tgtEl>
                          </p:cBhvr>
                        </p:animEffect>
                        <p:animScale>
                          <p:cBhvr>
                            <p:cTn id="4402" dur="520" fill="hold"/>
                            <p:tgtEl>
                              <p:spTgt spid="3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1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4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2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423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44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29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4435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41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432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44" presetID="10" presetClass="entr" presetSubtype="0" fill="hold" grpId="0" nodeType="afterEffect">
                      <p:stCondLst>
                        <p:cond delay="1010"/>
                      </p:stCondLst>
                      <p:childTnLst>
                        <p:set>
                          <p:cBhvr>
                            <p:cTn id="4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0" dur="520"/>
                            <p:tgtEl>
                              <p:spTgt spid="36"/>
                            </p:tgtEl>
                          </p:cBhvr>
                        </p:animEffect>
                      </p:childTnLst>
                    </p:cTn>
                  </p:par>
                  <p:par>
                    <p:cTn id="4456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44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62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4453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68" presetID="10" presetClass="entr" presetSubtype="0" fill="hold" grpId="0" nodeType="afterEffect">
                      <p:stCondLst>
                        <p:cond delay="1040"/>
                      </p:stCondLst>
                      <p:childTnLst>
                        <p:set>
                          <p:cBhvr>
                            <p:cTn id="44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74" dur="420"/>
                            <p:tgtEl>
                              <p:spTgt spid="37"/>
                            </p:tgtEl>
                          </p:cBhvr>
                        </p:animEffect>
                        <p:animScale>
                          <p:cBhvr>
                            <p:cTn id="4465" dur="520" fill="hold"/>
                            <p:tgtEl>
                              <p:spTgt spid="3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77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4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8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486" presetID="10" presetClass="entr" presetSubtype="0" fill="hold" grpId="0" nodeType="afterEffect">
                      <p:stCondLst>
                        <p:cond delay="1090"/>
                      </p:stCondLst>
                      <p:childTnLst>
                        <p:set>
                          <p:cBhvr>
                            <p:cTn id="44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92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  <p:par>
                    <p:cTn id="4495" presetID="10" presetClass="entr" presetSubtype="0" fill="hold" grpId="0" nodeType="afterEffect">
                      <p:stCondLst>
                        <p:cond delay="1110"/>
                      </p:stCondLst>
                      <p:childTnLst>
                        <p:set>
                          <p:cBhvr>
                            <p:cTn id="44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01" dur="520"/>
                            <p:tgtEl>
                              <p:spTgt spid="38"/>
                            </p:tgtEl>
                          </p:cBhvr>
                        </p:animEffect>
                      </p:childTnLst>
                    </p:cTn>
                  </p:par>
                  <p:par>
                    <p:cTn id="4507" presetID="10" presetClass="entr" presetSubtype="0" fill="hold" grpId="0" nodeType="afterEffect">
                      <p:stCondLst>
                        <p:cond delay="1140"/>
                      </p:stCondLst>
                      <p:childTnLst>
                        <p:set>
                          <p:cBhvr>
                            <p:cTn id="45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13" dur="420"/>
                            <p:tgtEl>
                              <p:spTgt spid="39"/>
                            </p:tgtEl>
                          </p:cBhvr>
                        </p:animEffect>
                        <p:animScale>
                          <p:cBhvr>
                            <p:cTn id="4504" dur="520" fill="hold"/>
                            <p:tgtEl>
                              <p:spTgt spid="3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16" presetID="10" presetClass="entr" presetSubtype="0" fill="hold" grpId="0" nodeType="afterEffect">
                      <p:stCondLst>
                        <p:cond delay="1210"/>
                      </p:stCondLst>
                      <p:childTnLst>
                        <p:set>
                          <p:cBhvr>
                            <p:cTn id="45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22" dur="520"/>
                            <p:tgtEl>
                              <p:spTgt spid="40"/>
                            </p:tgtEl>
                          </p:cBhvr>
                        </p:animEffect>
                      </p:childTnLst>
                    </p:cTn>
                  </p:par>
                  <p:par>
                    <p:cTn id="4528" presetID="10" presetClass="entr" presetSubtype="0" fill="hold" grpId="0" nodeType="afterEffect">
                      <p:stCondLst>
                        <p:cond delay="1240"/>
                      </p:stCondLst>
                      <p:childTnLst>
                        <p:set>
                          <p:cBhvr>
                            <p:cTn id="45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34" dur="420"/>
                            <p:tgtEl>
                              <p:spTgt spid="41"/>
                            </p:tgtEl>
                          </p:cBhvr>
                        </p:animEffect>
                        <p:animScale>
                          <p:cBhvr>
                            <p:cTn id="4525" dur="520" fill="hold"/>
                            <p:tgtEl>
                              <p:spTgt spid="4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37" presetID="10" presetClass="entr" presetSubtype="0" fill="hold" grpId="0" nodeType="afterEffect">
                      <p:stCondLst>
                        <p:cond delay="1310"/>
                      </p:stCondLst>
                      <p:childTnLst>
                        <p:set>
                          <p:cBhvr>
                            <p:cTn id="45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3" dur="520"/>
                            <p:tgtEl>
                              <p:spTgt spid="4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C3B4F5"/>
                </a:solidFill>
                <a:latin typeface="Consolas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6F4FD"/>
                </a:solidFill>
                <a:latin typeface="Playfair Display"/>
              </a:rPr>
              <a:t>Critical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BCB8DA"/>
                </a:solidFill>
                <a:latin typeface="Playfair Display"/>
              </a:rPr>
              <a:t>What the theory contributes and what it asks of the therapist.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928FB5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928FB5"/>
                </a:solidFill>
                <a:latin typeface="Consola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1707151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C3B4F5"/>
                </a:solidFill>
                <a:latin typeface="Consolas"/>
              </a:rPr>
              <a:t>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65" y="1707151"/>
            <a:ext cx="621790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900" b="1" i="0" spc="209">
                <a:solidFill>
                  <a:srgbClr val="C3B4F5"/>
                </a:solidFill>
                <a:latin typeface="Consolas"/>
              </a:rPr>
              <a:t>CONSIDERATIONS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959087"/>
            <a:ext cx="255269" cy="25526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9644" y="1966231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6F4FD"/>
                </a:solidFill>
                <a:latin typeface="Verdana"/>
              </a:rPr>
              <a:t>Holistic understanding of human experience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89216"/>
            <a:ext cx="255269" cy="2552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9644" y="2396359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6F4FD"/>
                </a:solidFill>
                <a:latin typeface="Verdana"/>
              </a:rPr>
              <a:t>Strong emphasis on awareness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19345"/>
            <a:ext cx="255269" cy="25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44" y="2826488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6F4FD"/>
                </a:solidFill>
                <a:latin typeface="Verdana"/>
              </a:rPr>
              <a:t>Integrates body, emotion and cognition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49474"/>
            <a:ext cx="255269" cy="2552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9644" y="3256617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6F4FD"/>
                </a:solidFill>
                <a:latin typeface="Verdana"/>
              </a:rPr>
              <a:t>Recognises person and environment interaction</a:t>
            </a:r>
          </a:p>
        </p:txBody>
      </p:sp>
      <p:pic>
        <p:nvPicPr>
          <p:cNvPr id="19" name="Picture 1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79602"/>
            <a:ext cx="255269" cy="25526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9644" y="3686746"/>
            <a:ext cx="43093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6F4FD"/>
                </a:solidFill>
                <a:latin typeface="Verdana"/>
              </a:rPr>
              <a:t>Promotes agency and authentic choice</a:t>
            </a:r>
          </a:p>
        </p:txBody>
      </p:sp>
      <p:pic>
        <p:nvPicPr>
          <p:cNvPr id="21" name="Picture 2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1959087"/>
            <a:ext cx="255269" cy="25526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3631" y="1966231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6F4FD"/>
                </a:solidFill>
                <a:latin typeface="Verdana"/>
              </a:rPr>
              <a:t>Cultural adaptation</a:t>
            </a:r>
          </a:p>
        </p:txBody>
      </p:sp>
      <p:pic>
        <p:nvPicPr>
          <p:cNvPr id="23" name="Picture 2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89216"/>
            <a:ext cx="255269" cy="25526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73631" y="2396359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6F4FD"/>
                </a:solidFill>
                <a:latin typeface="Verdana"/>
              </a:rPr>
              <a:t>Client readiness</a:t>
            </a:r>
          </a:p>
        </p:txBody>
      </p:sp>
      <p:pic>
        <p:nvPicPr>
          <p:cNvPr id="25" name="Picture 2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819345"/>
            <a:ext cx="255269" cy="25526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73631" y="2826488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6F4FD"/>
                </a:solidFill>
                <a:latin typeface="Verdana"/>
              </a:rPr>
              <a:t>Therapist competence</a:t>
            </a:r>
          </a:p>
        </p:txBody>
      </p:sp>
      <p:pic>
        <p:nvPicPr>
          <p:cNvPr id="27" name="Picture 2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249474"/>
            <a:ext cx="255269" cy="25526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73631" y="3256617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6F4FD"/>
                </a:solidFill>
                <a:latin typeface="Verdana"/>
              </a:rPr>
              <a:t>Appropriate use of experiential techniques</a:t>
            </a:r>
          </a:p>
        </p:txBody>
      </p:sp>
      <p:pic>
        <p:nvPicPr>
          <p:cNvPr id="29" name="Picture 2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679602"/>
            <a:ext cx="255269" cy="25526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3631" y="3686746"/>
            <a:ext cx="44647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200" b="0" i="0">
                <a:solidFill>
                  <a:srgbClr val="F6F4FD"/>
                </a:solidFill>
                <a:latin typeface="Verdana"/>
              </a:rPr>
              <a:t>Balance between present and past experience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4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5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5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5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5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6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56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5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7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57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5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8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57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58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5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9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59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5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0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60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6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09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461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6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2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61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2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6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3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63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6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4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63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4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6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5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65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666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6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72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663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75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6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81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687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6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9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68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99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7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05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696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08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1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71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2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72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7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3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72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4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7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47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738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50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7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75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7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65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771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7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77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768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80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7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86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4792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47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98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4789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01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48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07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4813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48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19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4810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22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48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28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F0CA84"/>
                </a:solidFill>
                <a:latin typeface="Consolas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7F4EC"/>
                </a:solidFill>
                <a:latin typeface="Playfair Display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22313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2231"/>
              </a:lnSpc>
              <a:buNone/>
            </a:pPr>
            <a:r>
              <a:rPr sz="1400" b="0" i="1">
                <a:solidFill>
                  <a:srgbClr val="B4BDD3"/>
                </a:solidFill>
                <a:latin typeface="Playfair Display"/>
              </a:rPr>
              <a:t>Greater awareness creates greater possibilities for choice and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8B95AE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8B95AE"/>
                </a:solidFill>
                <a:latin typeface="Consolas"/>
              </a:rPr>
              <a:t>21</a:t>
            </a:r>
          </a:p>
        </p:txBody>
      </p:sp>
      <p:pic>
        <p:nvPicPr>
          <p:cNvPr id="9" name="Picture 8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851812"/>
            <a:ext cx="265480" cy="265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3957" y="1783351"/>
            <a:ext cx="49743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9132"/>
              </a:lnSpc>
              <a:buNone/>
            </a:pPr>
            <a:r>
              <a:rPr sz="1700" b="1" i="0">
                <a:solidFill>
                  <a:srgbClr val="F7F4EC"/>
                </a:solidFill>
                <a:latin typeface="Playfair Display"/>
              </a:rPr>
              <a:t>Awareness</a:t>
            </a:r>
          </a:p>
        </p:txBody>
      </p:sp>
      <p:pic>
        <p:nvPicPr>
          <p:cNvPr id="11" name="Picture 10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30692"/>
            <a:ext cx="265480" cy="265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03957" y="2362232"/>
            <a:ext cx="49743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9132"/>
              </a:lnSpc>
              <a:buNone/>
            </a:pPr>
            <a:r>
              <a:rPr sz="1700" b="1" i="0">
                <a:solidFill>
                  <a:srgbClr val="F7F4EC"/>
                </a:solidFill>
                <a:latin typeface="Playfair Display"/>
              </a:rPr>
              <a:t>Here and now</a:t>
            </a:r>
          </a:p>
        </p:txBody>
      </p:sp>
      <p:pic>
        <p:nvPicPr>
          <p:cNvPr id="13" name="Picture 12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09573"/>
            <a:ext cx="265480" cy="265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3957" y="2941112"/>
            <a:ext cx="49743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9132"/>
              </a:lnSpc>
              <a:buNone/>
            </a:pPr>
            <a:r>
              <a:rPr sz="1700" b="1" i="0">
                <a:solidFill>
                  <a:srgbClr val="F7F4EC"/>
                </a:solidFill>
                <a:latin typeface="Playfair Display"/>
              </a:rPr>
              <a:t>Contact</a:t>
            </a:r>
          </a:p>
        </p:txBody>
      </p:sp>
      <p:pic>
        <p:nvPicPr>
          <p:cNvPr id="15" name="Picture 14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88453"/>
            <a:ext cx="265480" cy="265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3957" y="3519992"/>
            <a:ext cx="49743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9132"/>
              </a:lnSpc>
              <a:buNone/>
            </a:pPr>
            <a:r>
              <a:rPr sz="1700" b="1" i="0">
                <a:solidFill>
                  <a:srgbClr val="F7F4EC"/>
                </a:solidFill>
                <a:latin typeface="Playfair Display"/>
              </a:rPr>
              <a:t>Responsibility and choice</a:t>
            </a:r>
          </a:p>
        </p:txBody>
      </p:sp>
      <p:pic>
        <p:nvPicPr>
          <p:cNvPr id="17" name="Picture 16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68762"/>
            <a:ext cx="347166" cy="3471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03957" y="4098873"/>
            <a:ext cx="49743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9132"/>
              </a:lnSpc>
              <a:buNone/>
            </a:pPr>
            <a:r>
              <a:rPr sz="2000" b="1" i="0">
                <a:solidFill>
                  <a:srgbClr val="F7F4EC"/>
                </a:solidFill>
                <a:latin typeface="Playfair Display"/>
              </a:rP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61" y="3154948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4628"/>
              </a:lnSpc>
              <a:buNone/>
            </a:pPr>
            <a:r>
              <a:rPr sz="1350" b="0" i="1">
                <a:solidFill>
                  <a:srgbClr val="B4BDD3"/>
                </a:solidFill>
                <a:latin typeface="Playfair Display"/>
              </a:rPr>
              <a:t>Therapeutic change begins with noticing what is happening now.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3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8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3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84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8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84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8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5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86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8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6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85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87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8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7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87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8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8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89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8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9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88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03" presetID="22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9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09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4900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15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4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2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91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27" presetID="22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49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3" dur="620"/>
                            <p:tgtEl>
                              <p:spTgt spid="12"/>
                            </p:tgtEl>
                          </p:cBhvr>
                        </p:animEffect>
                        <p:anim calcmode="lin" valueType="num">
                          <p:cBhvr additive="base">
                            <p:cTn id="4924" dur="520" fill="hold"/>
                            <p:tgtEl>
                              <p:spTgt spid="1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39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9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4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93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51" presetID="22" presetClass="entr" presetSubtype="0" fill="hold" grpId="0" nodeType="afterEffect">
                      <p:stCondLst>
                        <p:cond delay="840"/>
                      </p:stCondLst>
                      <p:childTnLst>
                        <p:set>
                          <p:cBhvr>
                            <p:cTn id="49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57" dur="620"/>
                            <p:tgtEl>
                              <p:spTgt spid="14"/>
                            </p:tgtEl>
                          </p:cBhvr>
                        </p:animEffect>
                        <p:anim calcmode="lin" valueType="num">
                          <p:cBhvr additive="base">
                            <p:cTn id="4948" dur="520" fill="hold"/>
                            <p:tgtEl>
                              <p:spTgt spid="1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63" presetID="10" presetClass="entr" presetSubtype="0" fill="hold" grpId="0" nodeType="afterEffect">
                      <p:stCondLst>
                        <p:cond delay="930"/>
                      </p:stCondLst>
                      <p:childTnLst>
                        <p:set>
                          <p:cBhvr>
                            <p:cTn id="49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69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960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75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9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81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4972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987" presetID="10" presetClass="entr" presetSubtype="0" fill="hold" grpId="0" nodeType="afterEffect">
                      <p:stCondLst>
                        <p:cond delay="1090"/>
                      </p:stCondLst>
                      <p:childTnLst>
                        <p:set>
                          <p:cBhvr>
                            <p:cTn id="49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9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98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99" presetID="22" presetClass="entr" presetSubtype="0" fill="hold" grpId="0" nodeType="afterEffect">
                      <p:stCondLst>
                        <p:cond delay="1160"/>
                      </p:stCondLst>
                      <p:childTnLst>
                        <p:set>
                          <p:cBhvr>
                            <p:cTn id="50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05" dur="620"/>
                            <p:tgtEl>
                              <p:spTgt spid="18"/>
                            </p:tgtEl>
                          </p:cBhvr>
                        </p:animEffect>
                        <p:anim calcmode="lin" valueType="num">
                          <p:cBhvr additive="base">
                            <p:cTn id="4996" dur="52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011" presetID="22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50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17" dur="620"/>
                            <p:tgtEl>
                              <p:spTgt spid="19"/>
                            </p:tgtEl>
                          </p:cBhvr>
                        </p:animEffect>
                        <p:anim calcmode="lin" valueType="num">
                          <p:cBhvr additive="base">
                            <p:cTn id="5008" dur="52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8099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364"/>
              </a:lnSpc>
              <a:buNone/>
            </a:pPr>
            <a:r>
              <a:rPr sz="850" b="1" i="0" spc="257">
                <a:solidFill>
                  <a:srgbClr val="F0CA84"/>
                </a:solidFill>
                <a:latin typeface="Consolas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609598"/>
            <a:ext cx="97932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7438"/>
              </a:lnSpc>
              <a:buNone/>
            </a:pPr>
            <a:r>
              <a:rPr sz="3250" b="1" i="0">
                <a:solidFill>
                  <a:srgbClr val="F7F4EC"/>
                </a:solidFill>
                <a:latin typeface="Playfair Display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899" y="38099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700" b="1" i="0" spc="113">
                <a:solidFill>
                  <a:srgbClr val="8B95AE"/>
                </a:solidFill>
                <a:latin typeface="Consolas"/>
              </a:rPr>
              <a:t>PAN AFRICAN CHRISTIAN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36364"/>
              </a:lnSpc>
              <a:buNone/>
            </a:pPr>
            <a:r>
              <a:rPr sz="950" b="1" i="0" spc="161">
                <a:solidFill>
                  <a:srgbClr val="8B95AE"/>
                </a:solidFill>
                <a:latin typeface="Consolas"/>
              </a:rPr>
              <a:t>22</a:t>
            </a:r>
          </a:p>
        </p:txBody>
      </p:sp>
      <p:pic>
        <p:nvPicPr>
          <p:cNvPr id="8" name="Picture 7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263564"/>
            <a:ext cx="224637" cy="224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9223" y="1268850"/>
            <a:ext cx="930447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00" b="0" i="0">
                <a:solidFill>
                  <a:srgbClr val="B4BDD3"/>
                </a:solidFill>
                <a:latin typeface="Verdana"/>
              </a:rPr>
              <a:t>Brownell, P. (2010). Gestalt therapy: A guide to contemporary practice. Springer.</a:t>
            </a:r>
          </a:p>
        </p:txBody>
      </p:sp>
      <p:pic>
        <p:nvPicPr>
          <p:cNvPr id="10" name="Picture 9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627195"/>
            <a:ext cx="224637" cy="2246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9223" y="1632481"/>
            <a:ext cx="930447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00" b="0" i="0">
                <a:solidFill>
                  <a:srgbClr val="B4BDD3"/>
                </a:solidFill>
                <a:latin typeface="Verdana"/>
              </a:rPr>
              <a:t>Corey, G. (2024). Theory and practice of counseling and psychotherapy (11th ed.). Cengage.</a:t>
            </a:r>
          </a:p>
        </p:txBody>
      </p:sp>
      <p:pic>
        <p:nvPicPr>
          <p:cNvPr id="12" name="Picture 11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1990826"/>
            <a:ext cx="224637" cy="2246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9223" y="1996112"/>
            <a:ext cx="930447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00" b="0" i="0">
                <a:solidFill>
                  <a:srgbClr val="B4BDD3"/>
                </a:solidFill>
                <a:latin typeface="Verdana"/>
              </a:rPr>
              <a:t>Joyce, P., and Sills, C. (2014). Skills in Gestalt counselling and psychotherapy (3rd ed.). SAGE.</a:t>
            </a:r>
          </a:p>
        </p:txBody>
      </p:sp>
      <p:pic>
        <p:nvPicPr>
          <p:cNvPr id="14" name="Picture 13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4457"/>
            <a:ext cx="224637" cy="2246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9223" y="2359744"/>
            <a:ext cx="930447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00" b="0" i="0">
                <a:solidFill>
                  <a:srgbClr val="B4BDD3"/>
                </a:solidFill>
                <a:latin typeface="Verdana"/>
              </a:rPr>
              <a:t>Perls, F. S., Hefferline, R. F., and Goodman, P. (1951). Gestalt therapy: Excitement and growth in the human personality. Julian Press.</a:t>
            </a:r>
          </a:p>
        </p:txBody>
      </p:sp>
      <p:pic>
        <p:nvPicPr>
          <p:cNvPr id="16" name="Picture 15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48980"/>
            <a:ext cx="224637" cy="2246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19223" y="2954266"/>
            <a:ext cx="930447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00" b="0" i="0">
                <a:solidFill>
                  <a:srgbClr val="B4BDD3"/>
                </a:solidFill>
                <a:latin typeface="Verdana"/>
              </a:rPr>
              <a:t>Woldt, A. L., and Toman, S. M. (2005). Gestalt therapy: History, theory, and practice. SAGE.</a:t>
            </a:r>
          </a:p>
        </p:txBody>
      </p:sp>
      <p:pic>
        <p:nvPicPr>
          <p:cNvPr id="18" name="Picture 17" descr="badge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12611"/>
            <a:ext cx="224637" cy="2246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19223" y="3317897"/>
            <a:ext cx="930447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430"/>
              </a:lnSpc>
              <a:buNone/>
            </a:pPr>
            <a:r>
              <a:rPr sz="1100" b="0" i="0">
                <a:solidFill>
                  <a:srgbClr val="B4BDD3"/>
                </a:solidFill>
                <a:latin typeface="Verdana"/>
              </a:rPr>
              <a:t>Yontef, G., and Fuhr, R. (2005). Gestalt therapy theory of change. In Woldt and Toman (Eds.), Gestalt therapy: History, theory, and practice (pp. 81 to 100). SAGE.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20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0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6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02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0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35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03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0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44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050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0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56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047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062" presetID="10" presetClass="entr" presetSubtype="0" fill="hold" grpId="0" nodeType="afterEffect">
                      <p:stCondLst>
                        <p:cond delay="400"/>
                      </p:stCondLst>
                      <p:childTnLst>
                        <p:set>
                          <p:cBhvr>
                            <p:cTn id="50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68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5059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7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0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77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080" presetID="10" presetClass="entr" presetSubtype="0" fill="hold" grpId="0" nodeType="afterEffect">
                      <p:stCondLst>
                        <p:cond delay="470"/>
                      </p:stCondLst>
                      <p:childTnLst>
                        <p:set>
                          <p:cBhvr>
                            <p:cTn id="50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86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5092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0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98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5089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01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1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07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5113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1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19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5110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22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1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28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13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1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0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131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43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51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9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5155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51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61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5152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6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51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70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5176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1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82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5173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85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1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91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