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970" cy="6857983" type="screen4x3"/>
  <p:notesSz cx="6858000" cy="9144000"/>
  <p:embeddedFontLst>
    <p:embeddedFont>
      <p:font typeface="Poppins" charset="1" panose="00000500000000000000"/>
      <p:regular r:id="rIdFont1a"/>
      <p:bold r:id="rIdFont1b"/>
    </p:embeddedFont>
    <p:embeddedFont>
      <p:font typeface="Raleway" charset="1" panose="00000000000000000000"/>
      <p:regular r:id="rIdFont2a"/>
      <p:bold r:id="rIdFont2b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Font1a" Type="http://schemas.openxmlformats.org/officeDocument/2006/relationships/font" Target="fonts/font17.fntdata"/><Relationship Id="rIdFont1b" Type="http://schemas.openxmlformats.org/officeDocument/2006/relationships/font" Target="fonts/font19.fntdata"/><Relationship Id="rIdFont2a" Type="http://schemas.openxmlformats.org/officeDocument/2006/relationships/font" Target="fonts/font18.fntdata"/><Relationship Id="rIdFont2b" Type="http://schemas.openxmlformats.org/officeDocument/2006/relationships/font" Target="fonts/font16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6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png"/><Relationship Id="rId4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32.png"/><Relationship Id="rId4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8.png"/><Relationship Id="rId4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59435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281">
                <a:solidFill>
                  <a:srgbClr val="CFE9F8"/>
                </a:solidFill>
                <a:latin typeface="Poppins"/>
              </a:rPr>
              <a:t>GROUP 4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905826"/>
            <a:ext cx="87050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260"/>
              </a:lnSpc>
              <a:buNone/>
            </a:pPr>
            <a:r>
              <a:rPr sz="6600" b="1" i="0">
                <a:solidFill>
                  <a:srgbClr val="FFFFFF"/>
                </a:solidFill>
                <a:latin typeface="Raleway"/>
              </a:rPr>
              <a:t>GESTALT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802698"/>
            <a:ext cx="87050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260"/>
              </a:lnSpc>
              <a:buNone/>
            </a:pPr>
            <a:r>
              <a:rPr sz="6600" b="1" i="0">
                <a:solidFill>
                  <a:srgbClr val="FFFFFF"/>
                </a:solidFill>
                <a:latin typeface="Raleway"/>
              </a:rPr>
              <a:t>THEORY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8" y="2791009"/>
            <a:ext cx="792782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80"/>
              </a:lnSpc>
              <a:buNone/>
            </a:pPr>
            <a:r>
              <a:rPr sz="1250" b="1" i="0" spc="234">
                <a:solidFill>
                  <a:srgbClr val="CFE9F8"/>
                </a:solidFill>
                <a:latin typeface="Raleway"/>
              </a:rPr>
              <a:t>AND ITS APPLICATION TO COUNSELLING</a:t>
            </a:r>
          </a:p>
        </p:txBody>
      </p:sp>
      <p:pic>
        <p:nvPicPr>
          <p:cNvPr id="8" name="Picture 7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284395"/>
            <a:ext cx="297179" cy="2971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73477" y="3352975"/>
            <a:ext cx="388619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203">
                <a:solidFill>
                  <a:srgbClr val="B7D6E9"/>
                </a:solidFill>
                <a:latin typeface="Poppins"/>
              </a:rPr>
              <a:t>PRESENTED BY</a:t>
            </a:r>
          </a:p>
        </p:txBody>
      </p:sp>
      <p:pic>
        <p:nvPicPr>
          <p:cNvPr id="10" name="Picture 9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657774"/>
            <a:ext cx="247649" cy="24764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27757" y="3619674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10"/>
              </a:lnSpc>
              <a:buNone/>
            </a:pPr>
            <a:r>
              <a:rPr sz="1350" b="1" i="0">
                <a:solidFill>
                  <a:srgbClr val="FFFFFF"/>
                </a:solidFill>
                <a:latin typeface="Poppins"/>
              </a:rPr>
              <a:t>Josephine Biwott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2429" y="364253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0" i="0">
                <a:solidFill>
                  <a:srgbClr val="D8EBF7"/>
                </a:solidFill>
                <a:latin typeface="Poppins"/>
              </a:rPr>
              <a:t>MACP/35996/0/26</a:t>
            </a:r>
          </a:p>
        </p:txBody>
      </p:sp>
      <p:pic>
        <p:nvPicPr>
          <p:cNvPr id="13" name="Picture 12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947334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27757" y="3909234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10"/>
              </a:lnSpc>
              <a:buNone/>
            </a:pPr>
            <a:r>
              <a:rPr sz="1350" b="1" i="0">
                <a:solidFill>
                  <a:srgbClr val="FFFFFF"/>
                </a:solidFill>
                <a:latin typeface="Poppins"/>
              </a:rPr>
              <a:t>Cynthia Cherono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2429" y="393209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0" i="0">
                <a:solidFill>
                  <a:srgbClr val="D8EBF7"/>
                </a:solidFill>
                <a:latin typeface="Poppins"/>
              </a:rPr>
              <a:t>MACP/35785/4/26</a:t>
            </a:r>
          </a:p>
        </p:txBody>
      </p:sp>
      <p:pic>
        <p:nvPicPr>
          <p:cNvPr id="16" name="Picture 15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236893"/>
            <a:ext cx="247649" cy="24764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27757" y="4198793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10"/>
              </a:lnSpc>
              <a:buNone/>
            </a:pPr>
            <a:r>
              <a:rPr sz="1350" b="1" i="0">
                <a:solidFill>
                  <a:srgbClr val="FFFFFF"/>
                </a:solidFill>
                <a:latin typeface="Poppins"/>
              </a:rPr>
              <a:t>Yvonne Juliet Awuor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82429" y="4221653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0" i="0">
                <a:solidFill>
                  <a:srgbClr val="D8EBF7"/>
                </a:solidFill>
                <a:latin typeface="Poppins"/>
              </a:rPr>
              <a:t>MALD/36547/4/26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9981" y="3276592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203">
                <a:solidFill>
                  <a:srgbClr val="CFE9F8"/>
                </a:solidFill>
                <a:latin typeface="Poppins"/>
              </a:rPr>
              <a:t>COURSE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19981" y="3542339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00"/>
              </a:lnSpc>
              <a:buNone/>
            </a:pPr>
            <a:r>
              <a:rPr sz="1150" b="0" i="0">
                <a:solidFill>
                  <a:srgbClr val="FFFFFF"/>
                </a:solidFill>
                <a:latin typeface="Poppins"/>
              </a:rPr>
              <a:t>MCP504 Theories of Counseling and Psychotherapy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19981" y="4208254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203">
                <a:solidFill>
                  <a:srgbClr val="CFE9F8"/>
                </a:solidFill>
                <a:latin typeface="Poppins"/>
              </a:rPr>
              <a:t>INSTITUTION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9981" y="4474001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00"/>
              </a:lnSpc>
              <a:buNone/>
            </a:pPr>
            <a:r>
              <a:rPr sz="1150" b="0" i="0">
                <a:solidFill>
                  <a:srgbClr val="FFFFFF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9981" y="4898398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203">
                <a:solidFill>
                  <a:srgbClr val="CFE9F8"/>
                </a:solidFill>
                <a:latin typeface="Poppins"/>
              </a:rPr>
              <a:t>LECTURER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19981" y="5164146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00"/>
              </a:lnSpc>
              <a:buNone/>
            </a:pPr>
            <a:r>
              <a:rPr sz="1150" b="0" i="0">
                <a:solidFill>
                  <a:srgbClr val="FFFFFF"/>
                </a:solidFill>
                <a:latin typeface="Poppins"/>
              </a:rPr>
              <a:t>Dr. Lucy Gachenia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478" y="623314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0" i="0" spc="234">
                <a:solidFill>
                  <a:srgbClr val="B7D6E9"/>
                </a:solidFill>
                <a:latin typeface="Poppins"/>
              </a:rPr>
              <a:t>AWARENESS    PRESENCE    CONTACT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9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15" presetID="22" presetClass="entr" presetSubtype="0" fill="hold" grpId="0" nodeType="afterEffect">
                      <p:stCondLst>
                        <p:cond delay="300"/>
                      </p:stCondLst>
                      <p:childTnLst>
                        <p:set>
                          <p:cBhvr>
                            <p:cTn id="1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1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0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36" presetID="22" presetClass="entr" presetSubtype="0" fill="hold" grpId="0" nodeType="afterEffect">
                      <p:stCondLst>
                        <p:cond delay="460"/>
                      </p:stCondLst>
                      <p:childTnLst>
                        <p:set>
                          <p:cBhvr>
                            <p:cTn id="1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2" dur="620"/>
                            <p:tgtEl>
                              <p:spTgt spid="6"/>
                            </p:tgtEl>
                          </p:cBhvr>
                        </p:animEffect>
                        <p:anim calcmode="lin" valueType="num">
                          <p:cBhvr additive="base">
                            <p:cTn id="133" dur="520" fill="hold"/>
                            <p:tgtEl>
                              <p:spTgt spid="6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45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1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1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57" presetID="10" presetClass="entr" presetSubtype="0" fill="hold" grpId="0" nodeType="afterEffect">
                      <p:stCondLst>
                        <p:cond delay="760"/>
                      </p:stCondLst>
                      <p:childTnLst>
                        <p:set>
                          <p:cBhvr>
                            <p:cTn id="1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3" dur="420"/>
                            <p:tgtEl>
                              <p:spTgt spid="8"/>
                            </p:tgtEl>
                          </p:cBhvr>
                        </p:animEffect>
                        <p:animScale>
                          <p:cBhvr>
                            <p:cTn id="154" dur="520" fill="hold"/>
                            <p:tgtEl>
                              <p:spTgt spid="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66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1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2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178" presetID="10" presetClass="entr" presetSubtype="0" fill="hold" grpId="0" nodeType="afterEffect">
                      <p:stCondLst>
                        <p:cond delay="940"/>
                      </p:stCondLst>
                      <p:childTnLst>
                        <p:set>
                          <p:cBhvr>
                            <p:cTn id="1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4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175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87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1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3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96" presetID="10" presetClass="entr" presetSubtype="0" fill="hold" grpId="0" nodeType="afterEffect">
                      <p:stCondLst>
                        <p:cond delay="1060"/>
                      </p:stCondLst>
                      <p:childTnLst>
                        <p:set>
                          <p:cBhvr>
                            <p:cTn id="1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2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08" presetID="10" presetClass="entr" presetSubtype="0" fill="hold" grpId="0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2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4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05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7" presetID="10" presetClass="entr" presetSubtype="0" fill="hold" grpId="0" nodeType="afterEffect">
                      <p:stCondLst>
                        <p:cond delay="1140"/>
                      </p:stCondLst>
                      <p:childTnLst>
                        <p:set>
                          <p:cBhvr>
                            <p:cTn id="2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3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26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2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2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238" presetID="10" presetClass="entr" presetSubtype="0" fill="hold" grpId="0" nodeType="afterEffect">
                      <p:stCondLst>
                        <p:cond delay="1220"/>
                      </p:stCondLst>
                      <p:childTnLst>
                        <p:set>
                          <p:cBhvr>
                            <p:cTn id="2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4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235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47" presetID="10" presetClass="entr" presetSubtype="0" fill="hold" grpId="0" nodeType="afterEffect">
                      <p:stCondLst>
                        <p:cond delay="1280"/>
                      </p:stCondLst>
                      <p:childTnLst>
                        <p:set>
                          <p:cBhvr>
                            <p:cTn id="2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3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256" presetID="10" presetClass="entr" presetSubtype="0" fill="hold" grpId="0" nodeType="afterEffect">
                      <p:stCondLst>
                        <p:cond delay="1340"/>
                      </p:stCondLst>
                      <p:childTnLst>
                        <p:set>
                          <p:cBhvr>
                            <p:cTn id="2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2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65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2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1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277" presetID="22" presetClass="entr" presetSubtype="0" fill="hold" grpId="0" nodeType="afterEffect">
                      <p:stCondLst>
                        <p:cond delay="1560"/>
                      </p:stCondLst>
                      <p:childTnLst>
                        <p:set>
                          <p:cBhvr>
                            <p:cTn id="2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3" dur="620"/>
                            <p:tgtEl>
                              <p:spTgt spid="20"/>
                            </p:tgtEl>
                          </p:cBhvr>
                        </p:animEffect>
                        <p:anim calcmode="lin" valueType="num">
                          <p:cBhvr additive="base">
                            <p:cTn id="274" dur="520" fill="hold"/>
                            <p:tgtEl>
                              <p:spTgt spid="2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86" presetID="10" presetClass="entr" presetSubtype="0" fill="hold" grpId="0" nodeType="afterEffect">
                      <p:stCondLst>
                        <p:cond delay="1620"/>
                      </p:stCondLst>
                      <p:childTnLst>
                        <p:set>
                          <p:cBhvr>
                            <p:cTn id="2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2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298" presetID="22" presetClass="entr" presetSubtype="0" fill="hold" grpId="0" nodeType="afterEffect">
                      <p:stCondLst>
                        <p:cond delay="1680"/>
                      </p:stCondLst>
                      <p:childTnLst>
                        <p:set>
                          <p:cBhvr>
                            <p:cTn id="3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4" dur="620"/>
                            <p:tgtEl>
                              <p:spTgt spid="22"/>
                            </p:tgtEl>
                          </p:cBhvr>
                        </p:animEffect>
                        <p:anim calcmode="lin" valueType="num">
                          <p:cBhvr additive="base">
                            <p:cTn id="295" dur="520" fill="hold"/>
                            <p:tgtEl>
                              <p:spTgt spid="2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07" presetID="10" presetClass="entr" presetSubtype="0" fill="hold" grpId="0" nodeType="afterEffect">
                      <p:stCondLst>
                        <p:cond delay="1740"/>
                      </p:stCondLst>
                      <p:childTnLst>
                        <p:set>
                          <p:cBhvr>
                            <p:cTn id="3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3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319" presetID="22" presetClass="entr" presetSubtype="0" fill="hold" grpId="0" nodeType="afterEffect">
                      <p:stCondLst>
                        <p:cond delay="1800"/>
                      </p:stCondLst>
                      <p:childTnLst>
                        <p:set>
                          <p:cBhvr>
                            <p:cTn id="3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5" dur="620"/>
                            <p:tgtEl>
                              <p:spTgt spid="24"/>
                            </p:tgtEl>
                          </p:cBhvr>
                        </p:animEffect>
                        <p:anim calcmode="lin" valueType="num">
                          <p:cBhvr additive="base">
                            <p:cTn id="316" dur="520" fill="hold"/>
                            <p:tgtEl>
                              <p:spTgt spid="24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28" presetID="10" presetClass="entr" presetSubtype="0" fill="hold" grpId="0" nodeType="afterEffect">
                      <p:stCondLst>
                        <p:cond delay="2000"/>
                      </p:stCondLst>
                      <p:childTnLst>
                        <p:set>
                          <p:cBhvr>
                            <p:cTn id="3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4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02</a:t>
            </a:r>
            <a:r>
              <a:rPr sz="1050" b="1" i="0" spc="203">
                <a:solidFill>
                  <a:srgbClr val="5F7E97"/>
                </a:solidFill>
                <a:latin typeface="Poppins"/>
              </a:rPr>
              <a:t>    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An experiential and humanistic approach to counselling.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56">
                <a:solidFill>
                  <a:srgbClr val="8FA9BC"/>
                </a:solidFill>
                <a:latin typeface="Poppins"/>
              </a:rPr>
              <a:t>02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30462"/>
            <a:ext cx="257555" cy="2575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6875" y="2285994"/>
            <a:ext cx="654185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Emphasizes awareness, present experience and contact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98094"/>
            <a:ext cx="257555" cy="25755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36875" y="3353626"/>
            <a:ext cx="654185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Understands individuals within their environment and relationships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65726"/>
            <a:ext cx="257555" cy="25755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36875" y="4421258"/>
            <a:ext cx="654185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Encourages personal responsibility, choice and authentic living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533358"/>
            <a:ext cx="257555" cy="25755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36875" y="5488890"/>
            <a:ext cx="654185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Focuses on the client's experience in the here and now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37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3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4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2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5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1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67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3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64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76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2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8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1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97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4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3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394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6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4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2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418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4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4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15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27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4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3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39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5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36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8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4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4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60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4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6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57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69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47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5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03</a:t>
            </a:r>
            <a:r>
              <a:rPr sz="1050" b="1" i="0" spc="203">
                <a:solidFill>
                  <a:srgbClr val="5F7E97"/>
                </a:solidFill>
                <a:latin typeface="Poppins"/>
              </a:rPr>
              <a:t>    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200"/>
              </a:lnSpc>
              <a:buNone/>
            </a:pPr>
            <a:r>
              <a:rPr sz="5050" b="1" i="0">
                <a:solidFill>
                  <a:srgbClr val="4595C2"/>
                </a:solidFill>
                <a:latin typeface="Raleway"/>
              </a:rPr>
              <a:t>HISTORICAL 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600516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 therapy that grew out of the 1940s and 1950s.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56">
                <a:solidFill>
                  <a:srgbClr val="8FA9BC"/>
                </a:solidFill>
                <a:latin typeface="Poppins"/>
              </a:rPr>
              <a:t>03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679894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2636061"/>
            <a:ext cx="874330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1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Emerged during the 1940s and 1950s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220185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3176353"/>
            <a:ext cx="874330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1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Developed partly in response to limitations perceived in traditional psychoanalysis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78" y="3698356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203">
                <a:solidFill>
                  <a:srgbClr val="4595C2"/>
                </a:solidFill>
                <a:latin typeface="Poppins"/>
              </a:rPr>
              <a:t>INFLUENCED BY</a:t>
            </a:r>
          </a:p>
        </p:txBody>
      </p:sp>
      <p:pic>
        <p:nvPicPr>
          <p:cNvPr id="14" name="Picture 1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980311"/>
            <a:ext cx="227837" cy="22783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87498" y="3942196"/>
            <a:ext cx="255058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Gestalt psychology</a:t>
            </a:r>
          </a:p>
        </p:txBody>
      </p:sp>
      <p:pic>
        <p:nvPicPr>
          <p:cNvPr id="16" name="Picture 1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70" y="3980311"/>
            <a:ext cx="227837" cy="22783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235490" y="3942196"/>
            <a:ext cx="255058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Phenomenology</a:t>
            </a:r>
          </a:p>
        </p:txBody>
      </p:sp>
      <p:pic>
        <p:nvPicPr>
          <p:cNvPr id="18" name="Picture 1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8463" y="3980311"/>
            <a:ext cx="227837" cy="22783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283483" y="3942196"/>
            <a:ext cx="255058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Existential philosophy</a:t>
            </a:r>
          </a:p>
        </p:txBody>
      </p:sp>
      <p:pic>
        <p:nvPicPr>
          <p:cNvPr id="20" name="Picture 1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368962"/>
            <a:ext cx="227837" cy="22783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87498" y="4330846"/>
            <a:ext cx="255058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Field theory</a:t>
            </a:r>
          </a:p>
        </p:txBody>
      </p:sp>
      <p:pic>
        <p:nvPicPr>
          <p:cNvPr id="22" name="Picture 2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70" y="4368962"/>
            <a:ext cx="227837" cy="22783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35490" y="4330846"/>
            <a:ext cx="255058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Holistic approaches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478" y="4917616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203">
                <a:solidFill>
                  <a:srgbClr val="4595C2"/>
                </a:solidFill>
                <a:latin typeface="Poppins"/>
              </a:rPr>
              <a:t>INTELLECTUAL ROOTS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18" y="5161456"/>
            <a:ext cx="22769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930"/>
              </a:lnSpc>
              <a:buNone/>
            </a:pPr>
            <a:r>
              <a:rPr sz="1150" b="1" i="0" spc="78">
                <a:solidFill>
                  <a:srgbClr val="33506B"/>
                </a:solidFill>
                <a:latin typeface="Poppins"/>
              </a:rPr>
              <a:t>Gestalt psychology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24784" y="5161456"/>
            <a:ext cx="22769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930"/>
              </a:lnSpc>
              <a:buNone/>
            </a:pPr>
            <a:r>
              <a:rPr sz="1150" b="1" i="0" spc="78">
                <a:solidFill>
                  <a:srgbClr val="33506B"/>
                </a:solidFill>
                <a:latin typeface="Poppins"/>
              </a:rPr>
              <a:t>Phenomenology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18049" y="5161456"/>
            <a:ext cx="22769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930"/>
              </a:lnSpc>
              <a:buNone/>
            </a:pPr>
            <a:r>
              <a:rPr sz="1150" b="1" i="0" spc="78">
                <a:solidFill>
                  <a:srgbClr val="33506B"/>
                </a:solidFill>
                <a:latin typeface="Poppins"/>
              </a:rPr>
              <a:t>Existentialism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11314" y="5161456"/>
            <a:ext cx="22769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930"/>
              </a:lnSpc>
              <a:buNone/>
            </a:pPr>
            <a:r>
              <a:rPr sz="1150" b="1" i="0" spc="78">
                <a:solidFill>
                  <a:srgbClr val="33506B"/>
                </a:solidFill>
                <a:latin typeface="Poppins"/>
              </a:rPr>
              <a:t>Field theory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04580" y="5161456"/>
            <a:ext cx="22769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930"/>
              </a:lnSpc>
              <a:buNone/>
            </a:pPr>
            <a:r>
              <a:rPr sz="1150" b="1" i="0" spc="78">
                <a:solidFill>
                  <a:srgbClr val="33506B"/>
                </a:solidFill>
                <a:latin typeface="Poppins"/>
              </a:rPr>
              <a:t>Gestalt therapy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78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4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87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3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9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2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508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5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4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505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17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5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3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526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2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538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5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4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535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47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5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3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559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5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5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556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68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5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4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577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5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3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589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5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5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586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98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6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4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610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6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6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607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19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6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5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631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6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7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628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40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6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6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652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6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8" dur="420"/>
                            <p:tgtEl>
                              <p:spTgt spid="20"/>
                            </p:tgtEl>
                          </p:cBhvr>
                        </p:animEffect>
                        <p:animScale>
                          <p:cBhvr>
                            <p:cTn id="649" dur="520" fill="hold"/>
                            <p:tgtEl>
                              <p:spTgt spid="2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61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6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7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673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6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9" dur="420"/>
                            <p:tgtEl>
                              <p:spTgt spid="22"/>
                            </p:tgtEl>
                          </p:cBhvr>
                        </p:animEffect>
                        <p:animScale>
                          <p:cBhvr>
                            <p:cTn id="670" dur="520" fill="hold"/>
                            <p:tgtEl>
                              <p:spTgt spid="2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82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6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8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691" presetID="10" presetClass="entr" presetSubtype="0" fill="hold" grpId="0" nodeType="afterEffect">
                      <p:stCondLst>
                        <p:cond delay="1600"/>
                      </p:stCondLst>
                      <p:childTnLst>
                        <p:set>
                          <p:cBhvr>
                            <p:cTn id="6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97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700" presetID="10" presetClass="entr" presetSubtype="0" fill="hold" grpId="0" nodeType="afterEffect">
                      <p:stCondLst>
                        <p:cond delay="1700"/>
                      </p:stCondLst>
                      <p:childTnLst>
                        <p:set>
                          <p:cBhvr>
                            <p:cTn id="7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06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709" presetID="10" presetClass="entr" presetSubtype="0" fill="hold" grpId="0" nodeType="afterEffect">
                      <p:stCondLst>
                        <p:cond delay="1840"/>
                      </p:stCondLst>
                      <p:childTnLst>
                        <p:set>
                          <p:cBhvr>
                            <p:cTn id="7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15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718" presetID="10" presetClass="entr" presetSubtype="0" fill="hold" grpId="0" nodeType="afterEffect">
                      <p:stCondLst>
                        <p:cond delay="1980"/>
                      </p:stCondLst>
                      <p:childTnLst>
                        <p:set>
                          <p:cBhvr>
                            <p:cTn id="7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24" dur="52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  <p:par>
                    <p:cTn id="727" presetID="10" presetClass="entr" presetSubtype="0" fill="hold" grpId="0" nodeType="afterEffect">
                      <p:stCondLst>
                        <p:cond delay="2120"/>
                      </p:stCondLst>
                      <p:childTnLst>
                        <p:set>
                          <p:cBhvr>
                            <p:cTn id="7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33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736" presetID="10" presetClass="entr" presetSubtype="0" fill="hold" grpId="0" nodeType="afterEffect">
                      <p:stCondLst>
                        <p:cond delay="2260"/>
                      </p:stCondLst>
                      <p:childTnLst>
                        <p:set>
                          <p:cBhvr>
                            <p:cTn id="7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42" dur="520"/>
                            <p:tgtEl>
                              <p:spTgt spid="29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04</a:t>
            </a:r>
            <a:r>
              <a:rPr sz="1050" b="1" i="0" spc="203">
                <a:solidFill>
                  <a:srgbClr val="5F7E97"/>
                </a:solidFill>
                <a:latin typeface="Poppins"/>
              </a:rPr>
              <a:t>    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MAJOR THEORISTS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Three voices that shaped the theory and its practice.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56">
                <a:solidFill>
                  <a:srgbClr val="8FA9BC"/>
                </a:solidFill>
                <a:latin typeface="Poppins"/>
              </a:rPr>
              <a:t>04</a:t>
            </a:r>
          </a:p>
        </p:txBody>
      </p:sp>
      <p:pic>
        <p:nvPicPr>
          <p:cNvPr id="9" name="Picture 8" descr="medallion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834300"/>
            <a:ext cx="1188717" cy="118871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48835" y="2971459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370"/>
              </a:lnSpc>
              <a:buNone/>
            </a:pPr>
            <a:r>
              <a:rPr sz="2050" b="1" i="0">
                <a:solidFill>
                  <a:srgbClr val="4595C2"/>
                </a:solidFill>
                <a:latin typeface="Raleway"/>
              </a:rPr>
              <a:t>FRITZ PERLS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35" y="3306739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80"/>
              </a:lnSpc>
              <a:buNone/>
            </a:pPr>
            <a:r>
              <a:rPr sz="1250" b="1" i="0" spc="125">
                <a:solidFill>
                  <a:srgbClr val="4595C2"/>
                </a:solidFill>
                <a:latin typeface="Raleway"/>
              </a:rPr>
              <a:t>1893 TO 1970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35" y="3596298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9"/>
              </a:lnSpc>
              <a:buNone/>
            </a:pPr>
            <a:r>
              <a:rPr sz="1250" b="1" i="0">
                <a:solidFill>
                  <a:srgbClr val="5F7E97"/>
                </a:solidFill>
                <a:latin typeface="Poppins"/>
              </a:rPr>
              <a:t>Major founder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478" y="4744392"/>
            <a:ext cx="257555" cy="25755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36875" y="4708815"/>
            <a:ext cx="296656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Awareness, experience and responsibility</a:t>
            </a:r>
          </a:p>
        </p:txBody>
      </p:sp>
      <p:pic>
        <p:nvPicPr>
          <p:cNvPr id="15" name="Picture 14" descr="medallion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3869" y="2834300"/>
            <a:ext cx="1188717" cy="118871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30226" y="2971459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370"/>
              </a:lnSpc>
              <a:buNone/>
            </a:pPr>
            <a:r>
              <a:rPr sz="2050" b="1" i="0">
                <a:solidFill>
                  <a:srgbClr val="4595C2"/>
                </a:solidFill>
                <a:latin typeface="Raleway"/>
              </a:rPr>
              <a:t>LAURA PERLS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0226" y="3306739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80"/>
              </a:lnSpc>
              <a:buNone/>
            </a:pPr>
            <a:r>
              <a:rPr sz="1250" b="1" i="0" spc="125">
                <a:solidFill>
                  <a:srgbClr val="4595C2"/>
                </a:solidFill>
                <a:latin typeface="Raleway"/>
              </a:rPr>
              <a:t>1905 TO 1990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30226" y="3596298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9"/>
              </a:lnSpc>
              <a:buNone/>
            </a:pPr>
            <a:r>
              <a:rPr sz="1250" b="1" i="0">
                <a:solidFill>
                  <a:srgbClr val="5F7E97"/>
                </a:solidFill>
                <a:latin typeface="Poppins"/>
              </a:rPr>
              <a:t>Major contributor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3869" y="4744392"/>
            <a:ext cx="257555" cy="25755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818266" y="4708815"/>
            <a:ext cx="296656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Contact, relationship and embodied experience</a:t>
            </a:r>
          </a:p>
        </p:txBody>
      </p:sp>
      <p:pic>
        <p:nvPicPr>
          <p:cNvPr id="21" name="Picture 20" descr="medallion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5260" y="2834300"/>
            <a:ext cx="1188717" cy="118871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11617" y="2971459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370"/>
              </a:lnSpc>
              <a:buNone/>
            </a:pPr>
            <a:r>
              <a:rPr sz="2050" b="1" i="0">
                <a:solidFill>
                  <a:srgbClr val="4595C2"/>
                </a:solidFill>
                <a:latin typeface="Raleway"/>
              </a:rPr>
              <a:t>PAUL GOODMAN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1617" y="3306739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80"/>
              </a:lnSpc>
              <a:buNone/>
            </a:pPr>
            <a:r>
              <a:rPr sz="1250" b="1" i="0" spc="125">
                <a:solidFill>
                  <a:srgbClr val="4595C2"/>
                </a:solidFill>
                <a:latin typeface="Raleway"/>
              </a:rPr>
              <a:t>1911 TO 1972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11617" y="3596298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9"/>
              </a:lnSpc>
              <a:buNone/>
            </a:pPr>
            <a:r>
              <a:rPr sz="1250" b="1" i="0">
                <a:solidFill>
                  <a:srgbClr val="5F7E97"/>
                </a:solidFill>
                <a:latin typeface="Poppins"/>
              </a:rPr>
              <a:t>Co author of the 1951 text</a:t>
            </a:r>
          </a:p>
        </p:txBody>
      </p:sp>
      <p:pic>
        <p:nvPicPr>
          <p:cNvPr id="25" name="Picture 24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60" y="4744392"/>
            <a:ext cx="257555" cy="25755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399657" y="4708815"/>
            <a:ext cx="296656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Shaped the theoretical formulation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4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5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75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7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6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76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7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6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77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7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8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77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78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7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9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79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7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9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80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8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11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802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817" presetID="22" presetClass="entr" presetSubtype="0" fill="hold" grpId="0" nodeType="afterEffect">
                      <p:stCondLst>
                        <p:cond delay="550"/>
                      </p:stCondLst>
                      <p:childTnLst>
                        <p:set>
                          <p:cBhvr>
                            <p:cTn id="8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23" dur="620"/>
                            <p:tgtEl>
                              <p:spTgt spid="10"/>
                            </p:tgtEl>
                          </p:cBhvr>
                        </p:animEffect>
                        <p:anim calcmode="lin" valueType="num">
                          <p:cBhvr additive="base">
                            <p:cTn id="814" dur="52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829" presetID="10" presetClass="entr" presetSubtype="0" fill="hold" grpId="0" nodeType="afterEffect">
                      <p:stCondLst>
                        <p:cond delay="610"/>
                      </p:stCondLst>
                      <p:childTnLst>
                        <p:set>
                          <p:cBhvr>
                            <p:cTn id="8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35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826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838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8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44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847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8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53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859" presetID="22" presetClass="entr" presetSubtype="0" fill="hold" grpId="0" nodeType="afterEffect">
                      <p:stCondLst>
                        <p:cond delay="710"/>
                      </p:stCondLst>
                      <p:childTnLst>
                        <p:set>
                          <p:cBhvr>
                            <p:cTn id="8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65" dur="620"/>
                            <p:tgtEl>
                              <p:spTgt spid="16"/>
                            </p:tgtEl>
                          </p:cBhvr>
                        </p:animEffect>
                        <p:anim calcmode="lin" valueType="num">
                          <p:cBhvr additive="base">
                            <p:cTn id="856" dur="520" fill="hold"/>
                            <p:tgtEl>
                              <p:spTgt spid="16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871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8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77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868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883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8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89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880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892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8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98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901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9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07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910" presetID="10" presetClass="entr" presetSubtype="0" fill="hold" grpId="0" nodeType="afterEffect">
                      <p:stCondLst>
                        <p:cond delay="860"/>
                      </p:stCondLst>
                      <p:childTnLst>
                        <p:set>
                          <p:cBhvr>
                            <p:cTn id="9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16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922" presetID="22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9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28" dur="620"/>
                            <p:tgtEl>
                              <p:spTgt spid="22"/>
                            </p:tgtEl>
                          </p:cBhvr>
                        </p:animEffect>
                        <p:anim calcmode="lin" valueType="num">
                          <p:cBhvr additive="base">
                            <p:cTn id="919" dur="520" fill="hold"/>
                            <p:tgtEl>
                              <p:spTgt spid="2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31" presetID="10" presetClass="entr" presetSubtype="0" fill="hold" grpId="0" nodeType="afterEffect">
                      <p:stCondLst>
                        <p:cond delay="940"/>
                      </p:stCondLst>
                      <p:childTnLst>
                        <p:set>
                          <p:cBhvr>
                            <p:cTn id="9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37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943" presetID="10" presetClass="entr" presetSubtype="0" fill="hold" grpId="0" nodeType="afterEffect">
                      <p:stCondLst>
                        <p:cond delay="940"/>
                      </p:stCondLst>
                      <p:childTnLst>
                        <p:set>
                          <p:cBhvr>
                            <p:cTn id="9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49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940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952" presetID="10" presetClass="entr" presetSubtype="0" fill="hold" grpId="0" nodeType="afterEffect">
                      <p:stCondLst>
                        <p:cond delay="1010"/>
                      </p:stCondLst>
                      <p:childTnLst>
                        <p:set>
                          <p:cBhvr>
                            <p:cTn id="9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58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961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9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67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973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9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79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970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982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9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88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05</a:t>
            </a:r>
            <a:r>
              <a:rPr sz="1050" b="1" i="0" spc="203">
                <a:solidFill>
                  <a:srgbClr val="5F7E97"/>
                </a:solidFill>
                <a:latin typeface="Poppins"/>
              </a:rPr>
              <a:t>    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CORE ASSUMPTIONS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Seven beliefs that hold the whole approach together.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56">
                <a:solidFill>
                  <a:srgbClr val="8FA9BC"/>
                </a:solidFill>
                <a:latin typeface="Poppins"/>
              </a:rPr>
              <a:t>05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25381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2285994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People are best understood as whole persons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54903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3315516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Human experience is influenced by the environment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668937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4629551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Awareness is central to psychological growth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698459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5659072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Experience unfolds in the present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325381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46173" y="2285994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People have capacity for choice and self regulation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011920"/>
            <a:ext cx="24764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46173" y="3972533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Healthy functioning involves meaningful contact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413946"/>
            <a:ext cx="247649" cy="24764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546173" y="5374559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Psychological difficulties may involve interruptions in awareness or contact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91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9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97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00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0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06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009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0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15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021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0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27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018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030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0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36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039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0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45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051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0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57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1048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060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10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66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1072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10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78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1069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081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10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87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1093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10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99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1090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02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11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08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114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11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20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1111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23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11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29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135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11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4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113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44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11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5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156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11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62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1153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65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11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71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1177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11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83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1174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86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11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92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06</a:t>
            </a:r>
            <a:r>
              <a:rPr sz="1050" b="1" i="0" spc="203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AWARENESS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The central concept in Gestalt therapy.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56">
                <a:solidFill>
                  <a:srgbClr val="8FA9BC"/>
                </a:solidFill>
                <a:latin typeface="Poppins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357141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203">
                <a:solidFill>
                  <a:srgbClr val="4595C2"/>
                </a:solidFill>
                <a:latin typeface="Poppins"/>
              </a:rPr>
              <a:t>NOTICING</a:t>
            </a:r>
          </a:p>
        </p:txBody>
      </p:sp>
      <p:pic>
        <p:nvPicPr>
          <p:cNvPr id="10" name="Picture 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654336"/>
            <a:ext cx="227837" cy="2278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7498" y="2616221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Thoughts</a:t>
            </a:r>
          </a:p>
        </p:txBody>
      </p:sp>
      <p:pic>
        <p:nvPicPr>
          <p:cNvPr id="12" name="Picture 1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6033" y="2654336"/>
            <a:ext cx="227837" cy="2278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001053" y="2616221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Feelings</a:t>
            </a:r>
          </a:p>
        </p:txBody>
      </p:sp>
      <p:pic>
        <p:nvPicPr>
          <p:cNvPr id="14" name="Picture 1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589" y="2654336"/>
            <a:ext cx="227837" cy="22783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14609" y="2616221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Bodily sensations</a:t>
            </a:r>
          </a:p>
        </p:txBody>
      </p:sp>
      <p:pic>
        <p:nvPicPr>
          <p:cNvPr id="16" name="Picture 1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144" y="2654336"/>
            <a:ext cx="227837" cy="22783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28164" y="2616221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Behaviour</a:t>
            </a:r>
          </a:p>
        </p:txBody>
      </p:sp>
      <p:pic>
        <p:nvPicPr>
          <p:cNvPr id="18" name="Picture 1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00" y="2654336"/>
            <a:ext cx="227837" cy="22783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41720" y="2616221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Needs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478" y="3164859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203">
                <a:solidFill>
                  <a:srgbClr val="4595C2"/>
                </a:solidFill>
                <a:latin typeface="Poppins"/>
              </a:rPr>
              <a:t>THE PROCESS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463961"/>
            <a:ext cx="257555" cy="25755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12187" y="3423939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1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Focuses on present experience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14818"/>
            <a:ext cx="257555" cy="25755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12187" y="4374795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1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Creates opportunities for choice and change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58" y="5523771"/>
            <a:ext cx="19319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760"/>
              </a:lnSpc>
              <a:buNone/>
            </a:pPr>
            <a:r>
              <a:rPr sz="1650" b="1" i="0" spc="78">
                <a:solidFill>
                  <a:srgbClr val="33506B"/>
                </a:solidFill>
                <a:latin typeface="Poppins"/>
              </a:rPr>
              <a:t>Awareness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4214" y="5523771"/>
            <a:ext cx="19319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760"/>
              </a:lnSpc>
              <a:buNone/>
            </a:pPr>
            <a:r>
              <a:rPr sz="1650" b="1" i="0" spc="78">
                <a:solidFill>
                  <a:srgbClr val="33506B"/>
                </a:solidFill>
                <a:latin typeface="Poppins"/>
              </a:rPr>
              <a:t>Choice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9271" y="5523771"/>
            <a:ext cx="19319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760"/>
              </a:lnSpc>
              <a:buNone/>
            </a:pPr>
            <a:r>
              <a:rPr sz="1650" b="1" i="0" spc="78">
                <a:solidFill>
                  <a:srgbClr val="33506B"/>
                </a:solidFill>
                <a:latin typeface="Poppins"/>
              </a:rPr>
              <a:t>Change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9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1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0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20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20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1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21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2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1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22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2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3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22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3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2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4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24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2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4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252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2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58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1264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12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70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1261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273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12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79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285" presetID="10" presetClass="entr" presetSubtype="0" fill="hold" grpId="0" nodeType="afterEffect">
                      <p:stCondLst>
                        <p:cond delay="680"/>
                      </p:stCondLst>
                      <p:childTnLst>
                        <p:set>
                          <p:cBhvr>
                            <p:cTn id="12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91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1282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294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12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00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1306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13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12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1303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315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13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21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1327" presetID="10" presetClass="entr" presetSubtype="0" fill="hold" grpId="0" nodeType="afterEffect">
                      <p:stCondLst>
                        <p:cond delay="880"/>
                      </p:stCondLst>
                      <p:childTnLst>
                        <p:set>
                          <p:cBhvr>
                            <p:cTn id="13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33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1324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336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13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42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1348" presetID="10" presetClass="entr" presetSubtype="0" fill="hold" grpId="0" nodeType="afterEffect">
                      <p:stCondLst>
                        <p:cond delay="980"/>
                      </p:stCondLst>
                      <p:childTnLst>
                        <p:set>
                          <p:cBhvr>
                            <p:cTn id="13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54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1345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357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13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63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1366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13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72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1378" presetID="10" presetClass="entr" presetSubtype="0" fill="hold" grpId="0" nodeType="afterEffect">
                      <p:stCondLst>
                        <p:cond delay="1280"/>
                      </p:stCondLst>
                      <p:childTnLst>
                        <p:set>
                          <p:cBhvr>
                            <p:cTn id="13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84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1375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387" presetID="10" presetClass="entr" presetSubtype="0" fill="hold" grpId="0" nodeType="afterEffect">
                      <p:stCondLst>
                        <p:cond delay="1350"/>
                      </p:stCondLst>
                      <p:childTnLst>
                        <p:set>
                          <p:cBhvr>
                            <p:cTn id="13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93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1399" presetID="10" presetClass="entr" presetSubtype="0" fill="hold" grpId="0" nodeType="afterEffect">
                      <p:stCondLst>
                        <p:cond delay="1380"/>
                      </p:stCondLst>
                      <p:childTnLst>
                        <p:set>
                          <p:cBhvr>
                            <p:cTn id="14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05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1396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408" presetID="10" presetClass="entr" presetSubtype="0" fill="hold" grpId="0" nodeType="afterEffect">
                      <p:stCondLst>
                        <p:cond delay="1450"/>
                      </p:stCondLst>
                      <p:childTnLst>
                        <p:set>
                          <p:cBhvr>
                            <p:cTn id="14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14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1417" presetID="10" presetClass="entr" presetSubtype="0" fill="hold" grpId="0" nodeType="afterEffect">
                      <p:stCondLst>
                        <p:cond delay="1600"/>
                      </p:stCondLst>
                      <p:childTnLst>
                        <p:set>
                          <p:cBhvr>
                            <p:cTn id="14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23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1426" presetID="10" presetClass="entr" presetSubtype="0" fill="hold" grpId="0" nodeType="afterEffect">
                      <p:stCondLst>
                        <p:cond delay="1740"/>
                      </p:stCondLst>
                      <p:childTnLst>
                        <p:set>
                          <p:cBhvr>
                            <p:cTn id="14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32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1435" presetID="10" presetClass="entr" presetSubtype="0" fill="hold" grpId="0" nodeType="afterEffect">
                      <p:stCondLst>
                        <p:cond delay="1880"/>
                      </p:stCondLst>
                      <p:childTnLst>
                        <p:set>
                          <p:cBhvr>
                            <p:cTn id="14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41" dur="52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07</a:t>
            </a:r>
            <a:r>
              <a:rPr sz="1050" b="1" i="0" spc="203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THE HERE AND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Change happens in the present moment.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56">
                <a:solidFill>
                  <a:srgbClr val="8FA9BC"/>
                </a:solidFill>
                <a:latin typeface="Poppins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334189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203">
                <a:solidFill>
                  <a:srgbClr val="4595C2"/>
                </a:solidFill>
                <a:latin typeface="Poppins"/>
              </a:rPr>
              <a:t>THE FOCUS</a:t>
            </a:r>
          </a:p>
        </p:txBody>
      </p:sp>
      <p:pic>
        <p:nvPicPr>
          <p:cNvPr id="10" name="Picture 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632655"/>
            <a:ext cx="247649" cy="24764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12187" y="2593268"/>
            <a:ext cx="45462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Focuses on the client's present experience</a:t>
            </a:r>
          </a:p>
        </p:txBody>
      </p:sp>
      <p:pic>
        <p:nvPicPr>
          <p:cNvPr id="12" name="Picture 1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42988"/>
            <a:ext cx="247649" cy="24764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12187" y="4403602"/>
            <a:ext cx="45462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Includes thoughts, emotions, bodily sensations and behaviour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8864" y="2334189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203">
                <a:solidFill>
                  <a:srgbClr val="4595C2"/>
                </a:solidFill>
                <a:latin typeface="Poppins"/>
              </a:rPr>
              <a:t>THE PAST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864" y="2632655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98573" y="2593268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Past experiences are explored through their current impact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864" y="4442988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98573" y="4403602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The therapeutic relationship offers present moment awareness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701009"/>
            <a:ext cx="267461" cy="26746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12187" y="5660351"/>
            <a:ext cx="92873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Encourages direct experience rather than excessive intellectual analysis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4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4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5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45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4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5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46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4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6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47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47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8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47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48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4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8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49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4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9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501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5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07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1513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15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19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1510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522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15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28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534" presetID="10" presetClass="entr" presetSubtype="0" fill="hold" grpId="0" nodeType="afterEffect">
                      <p:stCondLst>
                        <p:cond delay="680"/>
                      </p:stCondLst>
                      <p:childTnLst>
                        <p:set>
                          <p:cBhvr>
                            <p:cTn id="15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40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1531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543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15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49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1552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15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58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564" presetID="10" presetClass="entr" presetSubtype="0" fill="hold" grpId="0" nodeType="afterEffect">
                      <p:stCondLst>
                        <p:cond delay="980"/>
                      </p:stCondLst>
                      <p:childTnLst>
                        <p:set>
                          <p:cBhvr>
                            <p:cTn id="15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70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1561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573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15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79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585" presetID="10" presetClass="entr" presetSubtype="0" fill="hold" grpId="0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15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9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158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594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15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0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606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16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12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1603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615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16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21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08</a:t>
            </a:r>
            <a:r>
              <a:rPr sz="1050" b="1" i="0" spc="203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FIGURE AND 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One element steps forward from its context.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56">
                <a:solidFill>
                  <a:srgbClr val="8FA9BC"/>
                </a:solidFill>
                <a:latin typeface="Poppins"/>
              </a:rPr>
              <a:t>08</a:t>
            </a:r>
          </a:p>
        </p:txBody>
      </p:sp>
      <p:pic>
        <p:nvPicPr>
          <p:cNvPr id="9" name="Picture 8" descr="figure_g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8316" y="2438394"/>
            <a:ext cx="3276592" cy="32765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98316" y="3489951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00"/>
              </a:lnSpc>
              <a:buNone/>
            </a:pPr>
            <a:r>
              <a:rPr sz="1200" b="1" i="0" spc="187">
                <a:solidFill>
                  <a:srgbClr val="33506B"/>
                </a:solidFill>
                <a:latin typeface="Poppins"/>
              </a:rPr>
              <a:t>FIGURE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98316" y="3703311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80"/>
              </a:lnSpc>
              <a:buNone/>
            </a:pPr>
            <a:r>
              <a:rPr sz="1250" b="0" i="0">
                <a:solidFill>
                  <a:srgbClr val="5F7E97"/>
                </a:solidFill>
                <a:latin typeface="Raleway"/>
              </a:rPr>
              <a:t>what steps forward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8316" y="5135867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730"/>
              </a:lnSpc>
              <a:buNone/>
            </a:pPr>
            <a:r>
              <a:rPr sz="1050" b="1" i="0" spc="234">
                <a:solidFill>
                  <a:srgbClr val="5F7E97"/>
                </a:solidFill>
                <a:latin typeface="Poppins"/>
              </a:rPr>
              <a:t>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66" y="2255514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010"/>
              </a:lnSpc>
              <a:buNone/>
            </a:pPr>
            <a:r>
              <a:rPr sz="2450" b="1" i="0">
                <a:solidFill>
                  <a:srgbClr val="4595C2"/>
                </a:solidFill>
                <a:latin typeface="Raleway"/>
              </a:rPr>
              <a:t>FIGURE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66" y="2810439"/>
            <a:ext cx="42359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10"/>
              </a:lnSpc>
              <a:buNone/>
            </a:pPr>
            <a:r>
              <a:rPr sz="1300" b="0" i="0">
                <a:solidFill>
                  <a:srgbClr val="5F7E97"/>
                </a:solidFill>
                <a:latin typeface="Poppins"/>
              </a:rPr>
              <a:t>What is most prominent in awareness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66" y="3397873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010"/>
              </a:lnSpc>
              <a:buNone/>
            </a:pPr>
            <a:r>
              <a:rPr sz="2450" b="1" i="0">
                <a:solidFill>
                  <a:srgbClr val="4595C2"/>
                </a:solidFill>
                <a:latin typeface="Raleway"/>
              </a:rPr>
              <a:t>GROUND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66" y="3952798"/>
            <a:ext cx="42359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10"/>
              </a:lnSpc>
              <a:buNone/>
            </a:pPr>
            <a:r>
              <a:rPr sz="1300" b="0" i="0">
                <a:solidFill>
                  <a:srgbClr val="5F7E97"/>
                </a:solidFill>
                <a:latin typeface="Poppins"/>
              </a:rPr>
              <a:t>The surrounding context and experiences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66" y="4333237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88974" y="4311632"/>
            <a:ext cx="3924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Needs and concerns move between figure and ground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66" y="4979267"/>
            <a:ext cx="24764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88974" y="4957663"/>
            <a:ext cx="3924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The figure changes as circumstances change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66" y="5376349"/>
            <a:ext cx="247649" cy="24764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88974" y="5354744"/>
            <a:ext cx="3924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Awareness reveals what matters most right now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2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6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3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63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6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3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64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6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4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65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6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6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65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66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6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6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67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6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7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684" presetID="23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6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90" dur="70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1681" dur="520" fill="hold"/>
                            <p:tgtEl>
                              <p:spTgt spid="9"/>
                            </p:tgtEl>
                          </p:cBhvr>
                          <p:from x="92000" y="92000"/>
                          <p:to x="100000" y="100000"/>
                        </p:animScale>
                      </p:childTnLst>
                    </p:cTn>
                  </p:par>
                  <p:par>
                    <p:cTn id="1696" presetID="22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16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02" dur="620"/>
                            <p:tgtEl>
                              <p:spTgt spid="13"/>
                            </p:tgtEl>
                          </p:cBhvr>
                        </p:animEffect>
                        <p:anim calcmode="lin" valueType="num">
                          <p:cBhvr additive="base">
                            <p:cTn id="1693" dur="520" fill="hold"/>
                            <p:tgtEl>
                              <p:spTgt spid="13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705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17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11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714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17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2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1726" presetID="22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17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32" dur="620"/>
                            <p:tgtEl>
                              <p:spTgt spid="15"/>
                            </p:tgtEl>
                          </p:cBhvr>
                        </p:animEffect>
                        <p:anim calcmode="lin" valueType="num">
                          <p:cBhvr additive="base">
                            <p:cTn id="1723" dur="520" fill="hold"/>
                            <p:tgtEl>
                              <p:spTgt spid="1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735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17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41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744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17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50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753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17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59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1765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17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7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176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774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177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8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786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17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92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1783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795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17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01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1807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18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13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1804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816" presetID="10" presetClass="entr" presetSubtype="0" fill="hold" grpId="0" nodeType="afterEffect">
                      <p:stCondLst>
                        <p:cond delay="1570"/>
                      </p:stCondLst>
                      <p:childTnLst>
                        <p:set>
                          <p:cBhvr>
                            <p:cTn id="18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22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09</a:t>
            </a:r>
            <a:r>
              <a:rPr sz="1050" b="1" i="0" spc="203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CONTACT AND THE CONTACT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2128238"/>
            <a:ext cx="81610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Where the person and the world meet.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56">
                <a:solidFill>
                  <a:srgbClr val="8FA9BC"/>
                </a:solidFill>
                <a:latin typeface="Poppins"/>
              </a:rPr>
              <a:t>09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698121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2658734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Contact is the interaction between the individual and the environment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33906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3294519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The contact boundary is the point at which the two meet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969691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3930304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Healthy contact addresses needs while keeping a sense of self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605475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4566089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Contact involves engaging, responding and withdrawing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241260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12187" y="5201873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Relationships, culture and circumstances influence contact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78" y="5745466"/>
            <a:ext cx="2580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340"/>
              </a:lnSpc>
              <a:buNone/>
            </a:pPr>
            <a:r>
              <a:rPr sz="1400" b="1" i="0" spc="78">
                <a:solidFill>
                  <a:srgbClr val="33506B"/>
                </a:solidFill>
                <a:latin typeface="Poppins"/>
              </a:rPr>
              <a:t>Individual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9471" y="5745466"/>
            <a:ext cx="2580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340"/>
              </a:lnSpc>
              <a:buNone/>
            </a:pPr>
            <a:r>
              <a:rPr sz="1400" b="1" i="0" spc="78">
                <a:solidFill>
                  <a:srgbClr val="33506B"/>
                </a:solidFill>
                <a:latin typeface="Poppins"/>
              </a:rPr>
              <a:t>Contact boundary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50265" y="5745466"/>
            <a:ext cx="2580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340"/>
              </a:lnSpc>
              <a:buNone/>
            </a:pPr>
            <a:r>
              <a:rPr sz="1400" b="1" i="0" spc="78">
                <a:solidFill>
                  <a:srgbClr val="33506B"/>
                </a:solidFill>
                <a:latin typeface="Poppins"/>
              </a:rPr>
              <a:t>Environment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2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8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3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83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8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4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84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8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4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85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8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6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85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86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8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7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87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8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7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885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8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91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1882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894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18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0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1906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19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12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1903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915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19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21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1927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19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33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1924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936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19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42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948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19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54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1945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957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19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63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969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197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75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1966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978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19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84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987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19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93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1996" presetID="10" presetClass="entr" presetSubtype="0" fill="hold" grpId="0" nodeType="afterEffect">
                      <p:stCondLst>
                        <p:cond delay="1440"/>
                      </p:stCondLst>
                      <p:childTnLst>
                        <p:set>
                          <p:cBhvr>
                            <p:cTn id="19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02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005" presetID="10" presetClass="entr" presetSubtype="0" fill="hold" grpId="0" nodeType="afterEffect">
                      <p:stCondLst>
                        <p:cond delay="1580"/>
                      </p:stCondLst>
                      <p:childTnLst>
                        <p:set>
                          <p:cBhvr>
                            <p:cTn id="20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11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10</a:t>
            </a:r>
            <a:r>
              <a:rPr sz="1050" b="1" i="0" spc="203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UNFINISHED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Unresolved experience keeps its hold on the present.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56">
                <a:solidFill>
                  <a:srgbClr val="8FA9BC"/>
                </a:solidFill>
                <a:latin typeface="Poppins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28599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203">
                <a:solidFill>
                  <a:srgbClr val="4595C2"/>
                </a:solidFill>
                <a:latin typeface="Poppins"/>
              </a:rPr>
              <a:t>MAY INCLUDE</a:t>
            </a:r>
          </a:p>
        </p:txBody>
      </p:sp>
      <p:pic>
        <p:nvPicPr>
          <p:cNvPr id="10" name="Picture 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602875"/>
            <a:ext cx="227837" cy="2278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7498" y="2560314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0"/>
              </a:lnSpc>
              <a:buNone/>
            </a:pPr>
            <a:r>
              <a:rPr sz="1300" b="0" i="0">
                <a:solidFill>
                  <a:srgbClr val="33506B"/>
                </a:solidFill>
                <a:latin typeface="Poppins"/>
              </a:rPr>
              <a:t>Grief</a:t>
            </a:r>
          </a:p>
        </p:txBody>
      </p:sp>
      <p:pic>
        <p:nvPicPr>
          <p:cNvPr id="12" name="Picture 1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6033" y="2602875"/>
            <a:ext cx="227837" cy="2278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001053" y="2560314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0"/>
              </a:lnSpc>
              <a:buNone/>
            </a:pPr>
            <a:r>
              <a:rPr sz="1300" b="0" i="0">
                <a:solidFill>
                  <a:srgbClr val="33506B"/>
                </a:solidFill>
                <a:latin typeface="Poppins"/>
              </a:rPr>
              <a:t>Anger</a:t>
            </a:r>
          </a:p>
        </p:txBody>
      </p:sp>
      <p:pic>
        <p:nvPicPr>
          <p:cNvPr id="14" name="Picture 1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589" y="2602875"/>
            <a:ext cx="227837" cy="22783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14609" y="2560314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0"/>
              </a:lnSpc>
              <a:buNone/>
            </a:pPr>
            <a:r>
              <a:rPr sz="1300" b="0" i="0">
                <a:solidFill>
                  <a:srgbClr val="33506B"/>
                </a:solidFill>
                <a:latin typeface="Poppins"/>
              </a:rPr>
              <a:t>Guilt</a:t>
            </a:r>
          </a:p>
        </p:txBody>
      </p:sp>
      <p:pic>
        <p:nvPicPr>
          <p:cNvPr id="16" name="Picture 1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144" y="2602875"/>
            <a:ext cx="227837" cy="22783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28164" y="2560314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0"/>
              </a:lnSpc>
              <a:buNone/>
            </a:pPr>
            <a:r>
              <a:rPr sz="1300" b="0" i="0">
                <a:solidFill>
                  <a:srgbClr val="33506B"/>
                </a:solidFill>
                <a:latin typeface="Poppins"/>
              </a:rPr>
              <a:t>Resentment</a:t>
            </a:r>
          </a:p>
        </p:txBody>
      </p:sp>
      <p:pic>
        <p:nvPicPr>
          <p:cNvPr id="18" name="Picture 1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00" y="2602875"/>
            <a:ext cx="227837" cy="22783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41720" y="2560314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0"/>
              </a:lnSpc>
              <a:buNone/>
            </a:pPr>
            <a:r>
              <a:rPr sz="1300" b="0" i="0">
                <a:solidFill>
                  <a:srgbClr val="33506B"/>
                </a:solidFill>
                <a:latin typeface="Poppins"/>
              </a:rPr>
              <a:t>Unmet needs</a:t>
            </a:r>
          </a:p>
        </p:txBody>
      </p:sp>
      <p:pic>
        <p:nvPicPr>
          <p:cNvPr id="20" name="Picture 1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209299"/>
            <a:ext cx="247649" cy="24764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212187" y="3169912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Can remain psychologically active in the present</a:t>
            </a:r>
          </a:p>
        </p:txBody>
      </p:sp>
      <p:pic>
        <p:nvPicPr>
          <p:cNvPr id="22" name="Picture 2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377679"/>
            <a:ext cx="247649" cy="24764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12187" y="4338292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May interfere with healthy contact</a:t>
            </a:r>
          </a:p>
        </p:txBody>
      </p:sp>
      <p:pic>
        <p:nvPicPr>
          <p:cNvPr id="24" name="Picture 2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546059"/>
            <a:ext cx="247649" cy="24764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212187" y="5506673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Therapy promotes awareness and processing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1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0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2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02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0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2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03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0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3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04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0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5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04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05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0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5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06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0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6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071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0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77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2083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20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89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2080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092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20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98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2104" presetID="10" presetClass="entr" presetSubtype="0" fill="hold" grpId="0" nodeType="afterEffect">
                      <p:stCondLst>
                        <p:cond delay="680"/>
                      </p:stCondLst>
                      <p:childTnLst>
                        <p:set>
                          <p:cBhvr>
                            <p:cTn id="210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10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2101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13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21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19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2125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21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31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2122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34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21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40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2146" presetID="10" presetClass="entr" presetSubtype="0" fill="hold" grpId="0" nodeType="afterEffect">
                      <p:stCondLst>
                        <p:cond delay="880"/>
                      </p:stCondLst>
                      <p:childTnLst>
                        <p:set>
                          <p:cBhvr>
                            <p:cTn id="21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52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2143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55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21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61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2167" presetID="10" presetClass="entr" presetSubtype="0" fill="hold" grpId="0" nodeType="afterEffect">
                      <p:stCondLst>
                        <p:cond delay="980"/>
                      </p:stCondLst>
                      <p:childTnLst>
                        <p:set>
                          <p:cBhvr>
                            <p:cTn id="21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73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2164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76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21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82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2188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21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94" dur="420"/>
                            <p:tgtEl>
                              <p:spTgt spid="20"/>
                            </p:tgtEl>
                          </p:cBhvr>
                        </p:animEffect>
                        <p:animScale>
                          <p:cBhvr>
                            <p:cTn id="2185" dur="520" fill="hold"/>
                            <p:tgtEl>
                              <p:spTgt spid="2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97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22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03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2209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22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15" dur="420"/>
                            <p:tgtEl>
                              <p:spTgt spid="22"/>
                            </p:tgtEl>
                          </p:cBhvr>
                        </p:animEffect>
                        <p:animScale>
                          <p:cBhvr>
                            <p:cTn id="2206" dur="520" fill="hold"/>
                            <p:tgtEl>
                              <p:spTgt spid="2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218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22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24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2230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22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36" dur="420"/>
                            <p:tgtEl>
                              <p:spTgt spid="24"/>
                            </p:tgtEl>
                          </p:cBhvr>
                        </p:animEffect>
                        <p:animScale>
                          <p:cBhvr>
                            <p:cTn id="2227" dur="520" fill="hold"/>
                            <p:tgtEl>
                              <p:spTgt spid="2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239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22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45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11</a:t>
            </a:r>
            <a:r>
              <a:rPr sz="1050" b="1" i="0" spc="203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200"/>
              </a:lnSpc>
              <a:buNone/>
            </a:pPr>
            <a:r>
              <a:rPr sz="5050" b="1" i="0">
                <a:solidFill>
                  <a:srgbClr val="4595C2"/>
                </a:solidFill>
                <a:latin typeface="Raleway"/>
              </a:rPr>
              <a:t>PERSONAL RESPONSIBILITY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600516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Owning your choices, without blame.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56">
                <a:solidFill>
                  <a:srgbClr val="8FA9BC"/>
                </a:solidFill>
                <a:latin typeface="Poppins"/>
              </a:rPr>
              <a:t>11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25381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2285994"/>
            <a:ext cx="501256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Recognising one's own choices and responses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246541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3207154"/>
            <a:ext cx="501256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Promotes agency and ownership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167701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4128314"/>
            <a:ext cx="501256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Encourages authentic decision making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088860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5049474"/>
            <a:ext cx="501256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Uses language that reflects personal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478" y="5577826"/>
            <a:ext cx="512977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39"/>
              </a:lnSpc>
              <a:buNone/>
            </a:pPr>
            <a:r>
              <a:rPr sz="1050" b="1" i="0" spc="172">
                <a:solidFill>
                  <a:srgbClr val="4595C2"/>
                </a:solidFill>
                <a:latin typeface="Poppins"/>
              </a:rPr>
              <a:t>RESPONSIBILITY IS OWNERSHIP  NOT BLAME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8864" y="2240274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203">
                <a:solidFill>
                  <a:srgbClr val="4595C2"/>
                </a:solidFill>
                <a:latin typeface="Poppins"/>
              </a:rPr>
              <a:t>LANGUAGE IN PRACTICE</a:t>
            </a:r>
          </a:p>
        </p:txBody>
      </p:sp>
      <p:pic>
        <p:nvPicPr>
          <p:cNvPr id="19" name="Picture 18" descr="mark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8864" y="2560314"/>
            <a:ext cx="297179" cy="29717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629383" y="2529834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40"/>
              </a:lnSpc>
              <a:buNone/>
            </a:pPr>
            <a:r>
              <a:rPr sz="1750" b="0" i="0">
                <a:solidFill>
                  <a:srgbClr val="5F7E97"/>
                </a:solidFill>
                <a:latin typeface="Raleway"/>
              </a:rPr>
              <a:t>“You make me angry.”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383" y="2929006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0" i="0">
                <a:solidFill>
                  <a:srgbClr val="8FA9BC"/>
                </a:solidFill>
                <a:latin typeface="Poppins"/>
              </a:rPr>
              <a:t>blames the other person</a:t>
            </a:r>
          </a:p>
        </p:txBody>
      </p:sp>
      <p:pic>
        <p:nvPicPr>
          <p:cNvPr id="22" name="Picture 2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864" y="3371727"/>
            <a:ext cx="297179" cy="29717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629383" y="3341247"/>
            <a:ext cx="45079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40"/>
              </a:lnSpc>
              <a:buNone/>
            </a:pPr>
            <a:r>
              <a:rPr sz="1750" b="0" i="0">
                <a:solidFill>
                  <a:srgbClr val="33506B"/>
                </a:solidFill>
                <a:latin typeface="Raleway"/>
              </a:rPr>
              <a:t>“I notice that I become angry when…”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383" y="3740420"/>
            <a:ext cx="45079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0" i="0">
                <a:solidFill>
                  <a:srgbClr val="8FA9BC"/>
                </a:solidFill>
                <a:latin typeface="Poppins"/>
              </a:rPr>
              <a:t>owns the experience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248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2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54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257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2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63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26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2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72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278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2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84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275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287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2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93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296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2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02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308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3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14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2305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317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23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23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329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23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35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2326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338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23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44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347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23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53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359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23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65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356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371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23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77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2368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380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23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86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389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23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95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401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24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07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2398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410" presetID="10" presetClass="entr" presetSubtype="0" fill="hold" grpId="0" nodeType="afterEffect">
                      <p:stCondLst>
                        <p:cond delay="860"/>
                      </p:stCondLst>
                      <p:childTnLst>
                        <p:set>
                          <p:cBhvr>
                            <p:cTn id="24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16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2419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24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25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2431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24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37" dur="420"/>
                            <p:tgtEl>
                              <p:spTgt spid="22"/>
                            </p:tgtEl>
                          </p:cBhvr>
                        </p:animEffect>
                        <p:animScale>
                          <p:cBhvr>
                            <p:cTn id="2428" dur="520" fill="hold"/>
                            <p:tgtEl>
                              <p:spTgt spid="2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440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24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46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2449" presetID="10" presetClass="entr" presetSubtype="0" fill="hold" grpId="0" nodeType="afterEffect">
                      <p:stCondLst>
                        <p:cond delay="1130"/>
                      </p:stCondLst>
                      <p:childTnLst>
                        <p:set>
                          <p:cBhvr>
                            <p:cTn id="24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55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2458" presetID="10" presetClass="entr" presetSubtype="0" fill="hold" grpId="0" nodeType="afterEffect">
                      <p:stCondLst>
                        <p:cond delay="1210"/>
                      </p:stCondLst>
                      <p:childTnLst>
                        <p:set>
                          <p:cBhvr>
                            <p:cTn id="24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64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12</a:t>
            </a:r>
            <a:r>
              <a:rPr sz="1050" b="1" i="0" spc="203">
                <a:solidFill>
                  <a:srgbClr val="5F7E97"/>
                </a:solidFill>
                <a:latin typeface="Poppins"/>
              </a:rPr>
              <a:t>    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ROLE OF THE GESTALT COUNSELLOR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407018"/>
            <a:ext cx="81610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 companion in the client's present experience.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56">
                <a:solidFill>
                  <a:srgbClr val="8FA9BC"/>
                </a:solidFill>
                <a:latin typeface="Poppins"/>
              </a:rPr>
              <a:t>12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25381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2285994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Facilitates awareness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98940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3359554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Focuses on present experience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72500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4433113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Observes verbal and non verbal behaviour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546059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5506673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Uses the therapeutic relationship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325381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46173" y="2285994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Encourages authentic expression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398940"/>
            <a:ext cx="24764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46173" y="3359554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Explores interruptions in contact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472500"/>
            <a:ext cx="247649" cy="24764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546173" y="4433113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Promotes responsibility and choice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67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4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73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47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4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82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48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4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91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497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5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03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494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506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5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12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51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5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21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527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5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33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2524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536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25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42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548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25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54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2545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557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25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63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569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257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75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566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578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25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84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590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259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96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2587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599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26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05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2611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26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17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2608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620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26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26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632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26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38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2629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641" presetID="10" presetClass="entr" presetSubtype="0" fill="hold" grpId="0" nodeType="afterEffect">
                      <p:stCondLst>
                        <p:cond delay="1120"/>
                      </p:stCondLst>
                      <p:childTnLst>
                        <p:set>
                          <p:cBhvr>
                            <p:cTn id="26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47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653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26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59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2650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662" presetID="10" presetClass="entr" presetSubtype="0" fill="hold" grpId="0" nodeType="afterEffect">
                      <p:stCondLst>
                        <p:cond delay="1220"/>
                      </p:stCondLst>
                      <p:childTnLst>
                        <p:set>
                          <p:cBhvr>
                            <p:cTn id="26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68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13</a:t>
            </a:r>
            <a:r>
              <a:rPr sz="1050" b="1" i="0" spc="203">
                <a:solidFill>
                  <a:srgbClr val="5F7E97"/>
                </a:solidFill>
                <a:latin typeface="Poppins"/>
              </a:rPr>
              <a:t>    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GESTALT THERAPEUTIC TECHNIQUES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407018"/>
            <a:ext cx="85496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Nine experiments that turn talking into experiencing.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56">
                <a:solidFill>
                  <a:srgbClr val="8FA9BC"/>
                </a:solidFill>
                <a:latin typeface="Poppins"/>
              </a:rPr>
              <a:t>13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708326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2668939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Empty chair technique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869" y="2708326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93578" y="2668939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Two chair dialogue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60" y="2708326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74969" y="2668939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Exaggeration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983436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3944050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Staying with the feeling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869" y="3983436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793578" y="3944050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Role play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60" y="3983436"/>
            <a:ext cx="24764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74969" y="3944050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Body awareness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258547"/>
            <a:ext cx="247649" cy="24764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12187" y="5219160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“I” statements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869" y="5258547"/>
            <a:ext cx="247649" cy="24764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793578" y="5219160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Dream work</a:t>
            </a:r>
          </a:p>
        </p:txBody>
      </p:sp>
      <p:pic>
        <p:nvPicPr>
          <p:cNvPr id="25" name="Picture 2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60" y="5258547"/>
            <a:ext cx="247649" cy="24764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374969" y="5219160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Here and now questioning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671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6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77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68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6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86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689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6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95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701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7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07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698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710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7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16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719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7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25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731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7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37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2728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740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27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46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752" presetID="10" presetClass="entr" presetSubtype="0" fill="hold" grpId="0" nodeType="afterEffect">
                      <p:stCondLst>
                        <p:cond delay="540"/>
                      </p:stCondLst>
                      <p:childTnLst>
                        <p:set>
                          <p:cBhvr>
                            <p:cTn id="27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58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2749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761" presetID="10" presetClass="entr" presetSubtype="0" fill="hold" grpId="0" nodeType="afterEffect">
                      <p:stCondLst>
                        <p:cond delay="610"/>
                      </p:stCondLst>
                      <p:childTnLst>
                        <p:set>
                          <p:cBhvr>
                            <p:cTn id="27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67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773" presetID="10" presetClass="entr" presetSubtype="0" fill="hold" grpId="0" nodeType="afterEffect">
                      <p:stCondLst>
                        <p:cond delay="630"/>
                      </p:stCondLst>
                      <p:childTnLst>
                        <p:set>
                          <p:cBhvr>
                            <p:cTn id="27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79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770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782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27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88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794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27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00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2791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03" presetID="10" presetClass="entr" presetSubtype="0" fill="hold" grpId="0" nodeType="afterEffect">
                      <p:stCondLst>
                        <p:cond delay="790"/>
                      </p:stCondLst>
                      <p:childTnLst>
                        <p:set>
                          <p:cBhvr>
                            <p:cTn id="28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09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2815" presetID="10" presetClass="entr" presetSubtype="0" fill="hold" grpId="0" nodeType="afterEffect">
                      <p:stCondLst>
                        <p:cond delay="810"/>
                      </p:stCondLst>
                      <p:childTnLst>
                        <p:set>
                          <p:cBhvr>
                            <p:cTn id="28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2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281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24" presetID="10" presetClass="entr" presetSubtype="0" fill="hold" grpId="0" nodeType="afterEffect">
                      <p:stCondLst>
                        <p:cond delay="880"/>
                      </p:stCondLst>
                      <p:childTnLst>
                        <p:set>
                          <p:cBhvr>
                            <p:cTn id="28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3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836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28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42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2833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45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28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51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857" presetID="10" presetClass="entr" presetSubtype="0" fill="hold" grpId="0" nodeType="afterEffect">
                      <p:stCondLst>
                        <p:cond delay="990"/>
                      </p:stCondLst>
                      <p:childTnLst>
                        <p:set>
                          <p:cBhvr>
                            <p:cTn id="28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63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2854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66" presetID="10" presetClass="entr" presetSubtype="0" fill="hold" grpId="0" nodeType="afterEffect">
                      <p:stCondLst>
                        <p:cond delay="1060"/>
                      </p:stCondLst>
                      <p:childTnLst>
                        <p:set>
                          <p:cBhvr>
                            <p:cTn id="28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72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2878" presetID="10" presetClass="entr" presetSubtype="0" fill="hold" grpId="0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28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84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2875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87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28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93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2899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29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05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2896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908" presetID="10" presetClass="entr" presetSubtype="0" fill="hold" grpId="0" nodeType="afterEffect">
                      <p:stCondLst>
                        <p:cond delay="1240"/>
                      </p:stCondLst>
                      <p:childTnLst>
                        <p:set>
                          <p:cBhvr>
                            <p:cTn id="29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14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14</a:t>
            </a:r>
            <a:r>
              <a:rPr sz="1050" b="1" i="0" spc="203">
                <a:solidFill>
                  <a:srgbClr val="5F7E97"/>
                </a:solidFill>
                <a:latin typeface="Poppins"/>
              </a:rPr>
              <a:t>    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EMPTY CHAIR TECHNIQUE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Speaking to the person who is not in the room.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56">
                <a:solidFill>
                  <a:srgbClr val="8FA9BC"/>
                </a:solidFill>
                <a:latin typeface="Poppins"/>
              </a:rPr>
              <a:t>14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25381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2285994"/>
            <a:ext cx="56343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The client imagines another person in the empty chair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832093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2792706"/>
            <a:ext cx="56343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Speaks directly to the imagined person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38804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3299418"/>
            <a:ext cx="56343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Brings unresolved experience into present awareness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845516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3806129"/>
            <a:ext cx="56343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Facilitates expression of unfinished emotions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352228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12187" y="4312841"/>
            <a:ext cx="56343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May open new awareness and perspectives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82" y="2133595"/>
            <a:ext cx="155447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009"/>
              </a:lnSpc>
              <a:buNone/>
            </a:pPr>
            <a:r>
              <a:rPr sz="7200" b="1" i="0">
                <a:solidFill>
                  <a:srgbClr val="4595C2"/>
                </a:solidFill>
                <a:latin typeface="Raleway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21" y="3069961"/>
            <a:ext cx="40416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70"/>
              </a:lnSpc>
              <a:buNone/>
            </a:pPr>
            <a:r>
              <a:rPr sz="1900" b="0" i="0">
                <a:solidFill>
                  <a:srgbClr val="33506B"/>
                </a:solidFill>
                <a:latin typeface="Raleway"/>
              </a:rPr>
              <a:t>Imagine your father is sitting in that chair. What would you want him to hear from you?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21" y="4370994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203">
                <a:solidFill>
                  <a:srgbClr val="8FA9BC"/>
                </a:solidFill>
                <a:latin typeface="Poppins"/>
              </a:rPr>
              <a:t>EXAMPLE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478" y="4856433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203">
                <a:solidFill>
                  <a:srgbClr val="4595C2"/>
                </a:solidFill>
                <a:latin typeface="Poppins"/>
              </a:rPr>
              <a:t>THE SETUP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198" y="5100273"/>
            <a:ext cx="226953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210"/>
              </a:lnSpc>
              <a:buNone/>
            </a:pPr>
            <a:r>
              <a:rPr sz="1350" b="1" i="0" spc="78">
                <a:solidFill>
                  <a:srgbClr val="33506B"/>
                </a:solidFill>
                <a:latin typeface="Poppins"/>
              </a:rPr>
              <a:t>Client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24192" y="5100273"/>
            <a:ext cx="226953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210"/>
              </a:lnSpc>
              <a:buNone/>
            </a:pPr>
            <a:r>
              <a:rPr sz="1350" b="1" i="0" spc="78">
                <a:solidFill>
                  <a:srgbClr val="33506B"/>
                </a:solidFill>
                <a:latin typeface="Poppins"/>
              </a:rPr>
              <a:t>Imagined person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17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9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23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92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9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32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93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9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41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947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9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53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944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956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9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62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96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9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71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977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9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83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2974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986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29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92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998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30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04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2995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007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30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13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3019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30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25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3016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028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30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34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3040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30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46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3037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049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30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55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3061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30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67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3058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070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307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76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3079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308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85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3091" presetID="22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30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97" dur="620"/>
                            <p:tgtEl>
                              <p:spTgt spid="20"/>
                            </p:tgtEl>
                          </p:cBhvr>
                        </p:animEffect>
                        <p:anim calcmode="lin" valueType="num">
                          <p:cBhvr additive="base">
                            <p:cTn id="3088" dur="520" fill="hold"/>
                            <p:tgtEl>
                              <p:spTgt spid="2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100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31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06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3109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31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15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3118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31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24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3127" presetID="10" presetClass="entr" presetSubtype="0" fill="hold" grpId="0" nodeType="afterEffect">
                      <p:stCondLst>
                        <p:cond delay="1540"/>
                      </p:stCondLst>
                      <p:childTnLst>
                        <p:set>
                          <p:cBhvr>
                            <p:cTn id="31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33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15</a:t>
            </a:r>
            <a:r>
              <a:rPr sz="1050" b="1" i="0" spc="203">
                <a:solidFill>
                  <a:srgbClr val="5F7E97"/>
                </a:solidFill>
                <a:latin typeface="Poppins"/>
              </a:rPr>
              <a:t>    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OTHER EXPERIENTIAL TECHNIQUES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40701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What each experiment is for.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56">
                <a:solidFill>
                  <a:srgbClr val="8FA9BC"/>
                </a:solidFill>
                <a:latin typeface="Poppins"/>
              </a:rPr>
              <a:t>15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96013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86253" y="2356627"/>
            <a:ext cx="353798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Two chair dialogue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396013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20239" y="2356627"/>
            <a:ext cx="384888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Explore opposing parts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054778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86253" y="3015391"/>
            <a:ext cx="353798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Exaggeration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054778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20239" y="3015391"/>
            <a:ext cx="384888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Increase awareness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713542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86253" y="3674156"/>
            <a:ext cx="353798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Staying with the feeling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713542"/>
            <a:ext cx="24764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620239" y="3674156"/>
            <a:ext cx="384888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Explore emerging emotions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372307"/>
            <a:ext cx="247649" cy="24764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86253" y="4332920"/>
            <a:ext cx="353798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Body awareness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372307"/>
            <a:ext cx="247649" cy="24764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620239" y="4332920"/>
            <a:ext cx="384888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Notice physical experience</a:t>
            </a:r>
          </a:p>
        </p:txBody>
      </p:sp>
      <p:pic>
        <p:nvPicPr>
          <p:cNvPr id="25" name="Picture 2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031071"/>
            <a:ext cx="247649" cy="24764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286253" y="4991684"/>
            <a:ext cx="353798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“I” statements</a:t>
            </a:r>
          </a:p>
        </p:txBody>
      </p:sp>
      <p:pic>
        <p:nvPicPr>
          <p:cNvPr id="27" name="Picture 2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031071"/>
            <a:ext cx="247649" cy="2476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620239" y="4991684"/>
            <a:ext cx="384888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Own personal experience</a:t>
            </a:r>
          </a:p>
        </p:txBody>
      </p:sp>
      <p:pic>
        <p:nvPicPr>
          <p:cNvPr id="29" name="Picture 2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689836"/>
            <a:ext cx="247649" cy="247649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86253" y="5650449"/>
            <a:ext cx="353798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Dream work</a:t>
            </a:r>
          </a:p>
        </p:txBody>
      </p:sp>
      <p:pic>
        <p:nvPicPr>
          <p:cNvPr id="31" name="Picture 3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689836"/>
            <a:ext cx="247649" cy="24764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620239" y="5650449"/>
            <a:ext cx="384888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Explore present meaning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13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1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42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14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1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51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15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1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60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166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1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72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163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175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1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81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18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1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90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196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1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02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3193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08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32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14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3205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17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32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23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3229" presetID="10" presetClass="entr" presetSubtype="0" fill="hold" grpId="0" nodeType="afterEffect">
                      <p:stCondLst>
                        <p:cond delay="550"/>
                      </p:stCondLst>
                      <p:childTnLst>
                        <p:set>
                          <p:cBhvr>
                            <p:cTn id="32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35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3226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38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32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44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3250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32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56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3247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59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32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65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3271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32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77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3268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80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32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86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3292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32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98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3289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01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33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07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3313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33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19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3310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22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33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28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3334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33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40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3331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43" presetID="10" presetClass="entr" presetSubtype="0" fill="hold" grpId="0" nodeType="afterEffect">
                      <p:stCondLst>
                        <p:cond delay="820"/>
                      </p:stCondLst>
                      <p:childTnLst>
                        <p:set>
                          <p:cBhvr>
                            <p:cTn id="33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49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3355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33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61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3352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64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33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70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3376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33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82" dur="420"/>
                            <p:tgtEl>
                              <p:spTgt spid="27"/>
                            </p:tgtEl>
                          </p:cBhvr>
                        </p:animEffect>
                        <p:animScale>
                          <p:cBhvr>
                            <p:cTn id="3373" dur="520" fill="hold"/>
                            <p:tgtEl>
                              <p:spTgt spid="2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85" presetID="10" presetClass="entr" presetSubtype="0" fill="hold" grpId="0" nodeType="afterEffect">
                      <p:stCondLst>
                        <p:cond delay="920"/>
                      </p:stCondLst>
                      <p:childTnLst>
                        <p:set>
                          <p:cBhvr>
                            <p:cTn id="33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91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3397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34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03" dur="420"/>
                            <p:tgtEl>
                              <p:spTgt spid="29"/>
                            </p:tgtEl>
                          </p:cBhvr>
                        </p:animEffect>
                        <p:animScale>
                          <p:cBhvr>
                            <p:cTn id="3394" dur="520" fill="hold"/>
                            <p:tgtEl>
                              <p:spTgt spid="2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406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34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12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3418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34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24" dur="420"/>
                            <p:tgtEl>
                              <p:spTgt spid="31"/>
                            </p:tgtEl>
                          </p:cBhvr>
                        </p:animEffect>
                        <p:animScale>
                          <p:cBhvr>
                            <p:cTn id="3415" dur="520" fill="hold"/>
                            <p:tgtEl>
                              <p:spTgt spid="3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427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34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33" dur="520"/>
                            <p:tgtEl>
                              <p:spTgt spid="30"/>
                            </p:tgtEl>
                          </p:cBhvr>
                        </p:animEffect>
                      </p:childTnLst>
                    </p:cTn>
                  </p:par>
                  <p:par>
                    <p:cTn id="3436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34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42" dur="520"/>
                            <p:tgtEl>
                              <p:spTgt spid="3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16</a:t>
            </a:r>
            <a:r>
              <a:rPr sz="1050" b="1" i="0" spc="203">
                <a:solidFill>
                  <a:srgbClr val="5F7E97"/>
                </a:solidFill>
                <a:latin typeface="Poppins"/>
              </a:rPr>
              <a:t>    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370"/>
              </a:lnSpc>
              <a:buNone/>
            </a:pPr>
            <a:r>
              <a:rPr sz="4450" b="1" i="0">
                <a:solidFill>
                  <a:srgbClr val="4595C2"/>
                </a:solidFill>
                <a:latin typeface="Raleway"/>
              </a:rPr>
              <a:t>APPLICATION IN COUNSELLING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494972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Gestalt therapy can be applied to the following areas.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56">
                <a:solidFill>
                  <a:srgbClr val="8FA9BC"/>
                </a:solidFill>
                <a:latin typeface="Poppins"/>
              </a:rPr>
              <a:t>16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90326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2350939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Grief and loss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6" y="2390326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36575" y="2350939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Relationship difficulties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079948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3040561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Anxiety and emotional distress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6" y="3079948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36575" y="3040561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Unresolved anger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769570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12187" y="3730183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Identity concerns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6" y="3769570"/>
            <a:ext cx="24764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936575" y="3730183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Emotional expression difficulties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59192"/>
            <a:ext cx="247649" cy="24764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12187" y="4419805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Personal growth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6" y="4459192"/>
            <a:ext cx="247649" cy="24764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936575" y="4419805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Unresolved interpersonal experiences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478" y="5292306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203">
                <a:solidFill>
                  <a:srgbClr val="4595C2"/>
                </a:solidFill>
                <a:latin typeface="Poppins"/>
              </a:rPr>
              <a:t>THERAPEUTIC MOVEMENT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478" y="5551386"/>
            <a:ext cx="191174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70"/>
              </a:lnSpc>
              <a:buNone/>
            </a:pPr>
            <a:r>
              <a:rPr sz="1250" b="1" i="0" spc="78">
                <a:solidFill>
                  <a:srgbClr val="33506B"/>
                </a:solidFill>
                <a:latin typeface="Poppins"/>
              </a:rPr>
              <a:t>Awareness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27702" y="5551386"/>
            <a:ext cx="191174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70"/>
              </a:lnSpc>
              <a:buNone/>
            </a:pPr>
            <a:r>
              <a:rPr sz="1250" b="1" i="0" spc="78">
                <a:solidFill>
                  <a:srgbClr val="33506B"/>
                </a:solidFill>
                <a:latin typeface="Poppins"/>
              </a:rPr>
              <a:t>Contact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2926" y="5551386"/>
            <a:ext cx="191174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70"/>
              </a:lnSpc>
              <a:buNone/>
            </a:pPr>
            <a:r>
              <a:rPr sz="1250" b="1" i="0" spc="78">
                <a:solidFill>
                  <a:srgbClr val="33506B"/>
                </a:solidFill>
                <a:latin typeface="Poppins"/>
              </a:rPr>
              <a:t>Responsibility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8150" y="5551386"/>
            <a:ext cx="191174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70"/>
              </a:lnSpc>
              <a:buNone/>
            </a:pPr>
            <a:r>
              <a:rPr sz="1250" b="1" i="0" spc="78">
                <a:solidFill>
                  <a:srgbClr val="33506B"/>
                </a:solidFill>
                <a:latin typeface="Poppins"/>
              </a:rPr>
              <a:t>Choice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3374" y="5551386"/>
            <a:ext cx="191174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70"/>
              </a:lnSpc>
              <a:buNone/>
            </a:pPr>
            <a:r>
              <a:rPr sz="1250" b="1" i="0" spc="78">
                <a:solidFill>
                  <a:srgbClr val="33506B"/>
                </a:solidFill>
                <a:latin typeface="Poppins"/>
              </a:rPr>
              <a:t>Growth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44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4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5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45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4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6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46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4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6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47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4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8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47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48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4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9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49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4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9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50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5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11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3502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514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35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2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3526" presetID="10" presetClass="entr" presetSubtype="0" fill="hold" grpId="0" nodeType="afterEffect">
                      <p:stCondLst>
                        <p:cond delay="540"/>
                      </p:stCondLst>
                      <p:childTnLst>
                        <p:set>
                          <p:cBhvr>
                            <p:cTn id="35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32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3523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535" presetID="10" presetClass="entr" presetSubtype="0" fill="hold" grpId="0" nodeType="afterEffect">
                      <p:stCondLst>
                        <p:cond delay="610"/>
                      </p:stCondLst>
                      <p:childTnLst>
                        <p:set>
                          <p:cBhvr>
                            <p:cTn id="35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41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3547" presetID="10" presetClass="entr" presetSubtype="0" fill="hold" grpId="0" nodeType="afterEffect">
                      <p:stCondLst>
                        <p:cond delay="630"/>
                      </p:stCondLst>
                      <p:childTnLst>
                        <p:set>
                          <p:cBhvr>
                            <p:cTn id="35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53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3544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556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35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62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3568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35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74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3565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577" presetID="10" presetClass="entr" presetSubtype="0" fill="hold" grpId="0" nodeType="afterEffect">
                      <p:stCondLst>
                        <p:cond delay="790"/>
                      </p:stCondLst>
                      <p:childTnLst>
                        <p:set>
                          <p:cBhvr>
                            <p:cTn id="35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83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3589" presetID="10" presetClass="entr" presetSubtype="0" fill="hold" grpId="0" nodeType="afterEffect">
                      <p:stCondLst>
                        <p:cond delay="810"/>
                      </p:stCondLst>
                      <p:childTnLst>
                        <p:set>
                          <p:cBhvr>
                            <p:cTn id="35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95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3586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598" presetID="10" presetClass="entr" presetSubtype="0" fill="hold" grpId="0" nodeType="afterEffect">
                      <p:stCondLst>
                        <p:cond delay="880"/>
                      </p:stCondLst>
                      <p:childTnLst>
                        <p:set>
                          <p:cBhvr>
                            <p:cTn id="36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04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3610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36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16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3607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619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36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25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3631" presetID="10" presetClass="entr" presetSubtype="0" fill="hold" grpId="0" nodeType="afterEffect">
                      <p:stCondLst>
                        <p:cond delay="990"/>
                      </p:stCondLst>
                      <p:childTnLst>
                        <p:set>
                          <p:cBhvr>
                            <p:cTn id="36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37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3628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640" presetID="10" presetClass="entr" presetSubtype="0" fill="hold" grpId="0" nodeType="afterEffect">
                      <p:stCondLst>
                        <p:cond delay="1060"/>
                      </p:stCondLst>
                      <p:childTnLst>
                        <p:set>
                          <p:cBhvr>
                            <p:cTn id="36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46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3652" presetID="10" presetClass="entr" presetSubtype="0" fill="hold" grpId="0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36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58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3649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661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36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67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3670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367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76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3679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368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85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3688" presetID="10" presetClass="entr" presetSubtype="0" fill="hold" grpId="0" nodeType="afterEffect">
                      <p:stCondLst>
                        <p:cond delay="1540"/>
                      </p:stCondLst>
                      <p:childTnLst>
                        <p:set>
                          <p:cBhvr>
                            <p:cTn id="36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94" dur="52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  <p:par>
                    <p:cTn id="3697" presetID="10" presetClass="entr" presetSubtype="0" fill="hold" grpId="0" nodeType="afterEffect">
                      <p:stCondLst>
                        <p:cond delay="1680"/>
                      </p:stCondLst>
                      <p:childTnLst>
                        <p:set>
                          <p:cBhvr>
                            <p:cTn id="37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03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3706" presetID="10" presetClass="entr" presetSubtype="0" fill="hold" grpId="0" nodeType="afterEffect">
                      <p:stCondLst>
                        <p:cond delay="1820"/>
                      </p:stCondLst>
                      <p:childTnLst>
                        <p:set>
                          <p:cBhvr>
                            <p:cTn id="37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12" dur="520"/>
                            <p:tgtEl>
                              <p:spTgt spid="29"/>
                            </p:tgtEl>
                          </p:cBhvr>
                        </p:animEffect>
                      </p:childTnLst>
                    </p:cTn>
                  </p:par>
                  <p:par>
                    <p:cTn id="3715" presetID="10" presetClass="entr" presetSubtype="0" fill="hold" grpId="0" nodeType="afterEffect">
                      <p:stCondLst>
                        <p:cond delay="1960"/>
                      </p:stCondLst>
                      <p:childTnLst>
                        <p:set>
                          <p:cBhvr>
                            <p:cTn id="37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21" dur="520"/>
                            <p:tgtEl>
                              <p:spTgt spid="3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17</a:t>
            </a:r>
            <a:r>
              <a:rPr sz="1050" b="1" i="0" spc="203">
                <a:solidFill>
                  <a:srgbClr val="5F7E97"/>
                </a:solidFill>
                <a:latin typeface="Poppins"/>
              </a:rPr>
              <a:t>    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STRENGTHS OF GESTALT THERAPY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40701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What this approach does particularly well.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56">
                <a:solidFill>
                  <a:srgbClr val="8FA9BC"/>
                </a:solidFill>
                <a:latin typeface="Poppins"/>
              </a:rPr>
              <a:t>17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25381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2285994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Promotes self awareness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449740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3410354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Focuses on lived experience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574100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4534713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Encourages agency and responsibility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698459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5659072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Integrates mind, emotion and body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325381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46173" y="2285994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Considers person and environment interaction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794954"/>
            <a:ext cx="24764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46173" y="3755567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Encourages active client participation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264526"/>
            <a:ext cx="247649" cy="24764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546173" y="5225139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Supports experiential emotional processing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72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7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3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73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7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3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74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7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4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75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7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6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75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76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7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6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77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7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7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78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7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90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3781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793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37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99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3805" presetID="10" presetClass="entr" presetSubtype="0" fill="hold" grpId="0" nodeType="afterEffect">
                      <p:stCondLst>
                        <p:cond delay="550"/>
                      </p:stCondLst>
                      <p:childTnLst>
                        <p:set>
                          <p:cBhvr>
                            <p:cTn id="38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11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3802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14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38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20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3826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38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32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3823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35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38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41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3847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38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53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3844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56" presetID="10" presetClass="entr" presetSubtype="0" fill="hold" grpId="0" nodeType="afterEffect">
                      <p:stCondLst>
                        <p:cond delay="820"/>
                      </p:stCondLst>
                      <p:childTnLst>
                        <p:set>
                          <p:cBhvr>
                            <p:cTn id="38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62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3868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38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74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3865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77" presetID="10" presetClass="entr" presetSubtype="0" fill="hold" grpId="0" nodeType="afterEffect">
                      <p:stCondLst>
                        <p:cond delay="920"/>
                      </p:stCondLst>
                      <p:childTnLst>
                        <p:set>
                          <p:cBhvr>
                            <p:cTn id="38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83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3889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38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95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3886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98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39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04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3910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39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16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3907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919" presetID="10" presetClass="entr" presetSubtype="0" fill="hold" grpId="0" nodeType="afterEffect">
                      <p:stCondLst>
                        <p:cond delay="1120"/>
                      </p:stCondLst>
                      <p:childTnLst>
                        <p:set>
                          <p:cBhvr>
                            <p:cTn id="39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25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18</a:t>
            </a:r>
            <a:r>
              <a:rPr sz="1050" b="1" i="0" spc="203">
                <a:solidFill>
                  <a:srgbClr val="5F7E97"/>
                </a:solidFill>
                <a:latin typeface="Poppins"/>
              </a:rPr>
              <a:t>    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200"/>
              </a:lnSpc>
              <a:buNone/>
            </a:pPr>
            <a:r>
              <a:rPr sz="5050" b="1" i="0">
                <a:solidFill>
                  <a:srgbClr val="4595C2"/>
                </a:solidFill>
                <a:latin typeface="Raleway"/>
              </a:rPr>
              <a:t>LIMITATIONS AND CRITICISMS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600516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Honest considerations for careful practice.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56">
                <a:solidFill>
                  <a:srgbClr val="8FA9BC"/>
                </a:solidFill>
                <a:latin typeface="Poppins"/>
              </a:rPr>
              <a:t>18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25381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2285994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Some techniques may feel intense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29503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3290116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Requires skilled and sensitive application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333624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4294238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May challenge clients who prefer highly structured approaches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622259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5582872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Experiential techniques can be misused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325381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46173" y="2285994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Not every intervention suits every client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794954"/>
            <a:ext cx="24764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46173" y="3755567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Cultural context must be considered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264526"/>
            <a:ext cx="247649" cy="24764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546173" y="5225139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Ethical boundaries are essential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928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9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34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937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9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43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94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9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52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958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9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64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955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967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9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73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976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9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82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988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9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94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3985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997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40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03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4009" presetID="10" presetClass="entr" presetSubtype="0" fill="hold" grpId="0" nodeType="afterEffect">
                      <p:stCondLst>
                        <p:cond delay="550"/>
                      </p:stCondLst>
                      <p:childTnLst>
                        <p:set>
                          <p:cBhvr>
                            <p:cTn id="40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15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006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18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40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24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030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40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36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027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39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40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45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051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40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57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048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60" presetID="10" presetClass="entr" presetSubtype="0" fill="hold" grpId="0" nodeType="afterEffect">
                      <p:stCondLst>
                        <p:cond delay="820"/>
                      </p:stCondLst>
                      <p:childTnLst>
                        <p:set>
                          <p:cBhvr>
                            <p:cTn id="40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66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4072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40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78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4069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81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40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87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4093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40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99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4090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102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41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08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4114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41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20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4111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123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41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29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19</a:t>
            </a:r>
            <a:r>
              <a:rPr sz="1050" b="1" i="0" spc="203">
                <a:solidFill>
                  <a:srgbClr val="5F7E97"/>
                </a:solidFill>
                <a:latin typeface="Poppins"/>
              </a:rPr>
              <a:t>    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CASE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85496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 20 year old undergraduate student on a scholarship.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56">
                <a:solidFill>
                  <a:srgbClr val="8FA9BC"/>
                </a:solidFill>
                <a:latin typeface="Poppins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24027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730"/>
              </a:lnSpc>
              <a:buNone/>
            </a:pPr>
            <a:r>
              <a:rPr sz="1650" b="1" i="0">
                <a:solidFill>
                  <a:srgbClr val="4595C2"/>
                </a:solidFill>
                <a:latin typeface="Raleway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8" y="2484114"/>
            <a:ext cx="34198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10"/>
              </a:lnSpc>
              <a:buNone/>
            </a:pPr>
            <a:r>
              <a:rPr sz="1050" b="1" i="0" spc="94">
                <a:solidFill>
                  <a:srgbClr val="4595C2"/>
                </a:solidFill>
                <a:latin typeface="Poppins"/>
              </a:rPr>
              <a:t>PRESENTING CONCERNS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792103"/>
            <a:ext cx="227837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2758433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Academic anxiety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523931"/>
            <a:ext cx="227837" cy="22783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3490261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Fear of losing the scholarship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255759"/>
            <a:ext cx="227837" cy="22783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4222089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Fear of disappointing family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987587"/>
            <a:ext cx="227837" cy="22783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12187" y="4953917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Difficulty expressing emotions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719415"/>
            <a:ext cx="227837" cy="22783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12187" y="5685745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Pressure to maintain high grades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4349" y="224027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730"/>
              </a:lnSpc>
              <a:buNone/>
            </a:pPr>
            <a:r>
              <a:rPr sz="1650" b="1" i="0">
                <a:solidFill>
                  <a:srgbClr val="4595C2"/>
                </a:solidFill>
                <a:latin typeface="Raleway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4349" y="2484114"/>
            <a:ext cx="34198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10"/>
              </a:lnSpc>
              <a:buNone/>
            </a:pPr>
            <a:r>
              <a:rPr sz="1050" b="1" i="0" spc="94">
                <a:solidFill>
                  <a:srgbClr val="4595C2"/>
                </a:solidFill>
                <a:latin typeface="Poppins"/>
              </a:rPr>
              <a:t>GESTALT CONCEPTUALISATION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349" y="2792103"/>
            <a:ext cx="227837" cy="227837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824058" y="2758433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Anxiety becomes figure</a:t>
            </a:r>
          </a:p>
        </p:txBody>
      </p:sp>
      <p:pic>
        <p:nvPicPr>
          <p:cNvPr id="25" name="Picture 2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349" y="3681927"/>
            <a:ext cx="227837" cy="22783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824058" y="3648257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Possible introjected expectations</a:t>
            </a:r>
          </a:p>
        </p:txBody>
      </p:sp>
      <p:pic>
        <p:nvPicPr>
          <p:cNvPr id="27" name="Picture 2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349" y="4571751"/>
            <a:ext cx="227837" cy="22783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824058" y="4538081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Limited awareness of personal needs</a:t>
            </a:r>
          </a:p>
        </p:txBody>
      </p:sp>
      <p:pic>
        <p:nvPicPr>
          <p:cNvPr id="29" name="Picture 2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349" y="5719415"/>
            <a:ext cx="227837" cy="227837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824058" y="5685745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Interrupted contact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6220" y="224027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730"/>
              </a:lnSpc>
              <a:buNone/>
            </a:pPr>
            <a:r>
              <a:rPr sz="1650" b="1" i="0">
                <a:solidFill>
                  <a:srgbClr val="4595C2"/>
                </a:solidFill>
                <a:latin typeface="Raleway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6220" y="2484114"/>
            <a:ext cx="34198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10"/>
              </a:lnSpc>
              <a:buNone/>
            </a:pPr>
            <a:r>
              <a:rPr sz="1050" b="1" i="0" spc="94">
                <a:solidFill>
                  <a:srgbClr val="4595C2"/>
                </a:solidFill>
                <a:latin typeface="Poppins"/>
              </a:rPr>
              <a:t>POSSIBLE INTERVENTIONS</a:t>
            </a:r>
          </a:p>
        </p:txBody>
      </p:sp>
      <p:pic>
        <p:nvPicPr>
          <p:cNvPr id="33" name="Picture 3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220" y="2792103"/>
            <a:ext cx="227837" cy="227837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435929" y="2758433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Here and now exploration</a:t>
            </a:r>
          </a:p>
        </p:txBody>
      </p:sp>
      <p:pic>
        <p:nvPicPr>
          <p:cNvPr id="35" name="Picture 3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220" y="3523931"/>
            <a:ext cx="227837" cy="227837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435929" y="3490261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Body awareness</a:t>
            </a:r>
          </a:p>
        </p:txBody>
      </p:sp>
      <p:pic>
        <p:nvPicPr>
          <p:cNvPr id="37" name="Picture 3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220" y="4255759"/>
            <a:ext cx="227837" cy="2278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435929" y="4222089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Staying with the feeling</a:t>
            </a:r>
          </a:p>
        </p:txBody>
      </p:sp>
      <p:pic>
        <p:nvPicPr>
          <p:cNvPr id="39" name="Picture 3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220" y="4987587"/>
            <a:ext cx="227837" cy="22783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435929" y="4953917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“I” statements</a:t>
            </a:r>
          </a:p>
        </p:txBody>
      </p:sp>
      <p:pic>
        <p:nvPicPr>
          <p:cNvPr id="41" name="Picture 4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220" y="5719415"/>
            <a:ext cx="227837" cy="22783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435929" y="5685745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Exploring introjected beliefs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13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1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38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141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1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47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15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1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56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4162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41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68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4159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171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41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77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4180" presetID="10" presetClass="entr" presetSubtype="0" fill="hold" grpId="0" nodeType="afterEffect">
                      <p:stCondLst>
                        <p:cond delay="400"/>
                      </p:stCondLst>
                      <p:childTnLst>
                        <p:set>
                          <p:cBhvr>
                            <p:cTn id="41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86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4189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1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95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4201" presetID="22" presetClass="entr" presetSubtype="0" fill="hold" grpId="0" nodeType="afterEffect">
                      <p:stCondLst>
                        <p:cond delay="480"/>
                      </p:stCondLst>
                      <p:childTnLst>
                        <p:set>
                          <p:cBhvr>
                            <p:cTn id="42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07" dur="620"/>
                            <p:tgtEl>
                              <p:spTgt spid="10"/>
                            </p:tgtEl>
                          </p:cBhvr>
                        </p:animEffect>
                        <p:anim calcmode="lin" valueType="num">
                          <p:cBhvr additive="base">
                            <p:cTn id="4198" dur="52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210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42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16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4222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42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28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219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234" presetID="22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42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40" dur="620"/>
                            <p:tgtEl>
                              <p:spTgt spid="22"/>
                            </p:tgtEl>
                          </p:cBhvr>
                        </p:animEffect>
                        <p:anim calcmode="lin" valueType="num">
                          <p:cBhvr additive="base">
                            <p:cTn id="4231" dur="520" fill="hold"/>
                            <p:tgtEl>
                              <p:spTgt spid="2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243" presetID="10" presetClass="entr" presetSubtype="0" fill="hold" grpId="0" nodeType="afterEffect">
                      <p:stCondLst>
                        <p:cond delay="640"/>
                      </p:stCondLst>
                      <p:childTnLst>
                        <p:set>
                          <p:cBhvr>
                            <p:cTn id="42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49" dur="520"/>
                            <p:tgtEl>
                              <p:spTgt spid="31"/>
                            </p:tgtEl>
                          </p:cBhvr>
                        </p:animEffect>
                      </p:childTnLst>
                    </p:cTn>
                  </p:par>
                  <p:par>
                    <p:cTn id="4252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42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58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264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2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70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261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276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42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82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4273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288" presetID="22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42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94" dur="620"/>
                            <p:tgtEl>
                              <p:spTgt spid="32"/>
                            </p:tgtEl>
                          </p:cBhvr>
                        </p:animEffect>
                        <p:anim calcmode="lin" valueType="num">
                          <p:cBhvr additive="base">
                            <p:cTn id="4285" dur="520" fill="hold"/>
                            <p:tgtEl>
                              <p:spTgt spid="3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297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43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03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306" presetID="10" presetClass="entr" presetSubtype="0" fill="hold" grpId="0" nodeType="afterEffect">
                      <p:stCondLst>
                        <p:cond delay="790"/>
                      </p:stCondLst>
                      <p:childTnLst>
                        <p:set>
                          <p:cBhvr>
                            <p:cTn id="43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12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4318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43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24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315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30" presetID="10" presetClass="entr" presetSubtype="0" fill="hold" grpId="0" nodeType="afterEffect">
                      <p:stCondLst>
                        <p:cond delay="820"/>
                      </p:stCondLst>
                      <p:childTnLst>
                        <p:set>
                          <p:cBhvr>
                            <p:cTn id="43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36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4327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42" presetID="10" presetClass="entr" presetSubtype="0" fill="hold" grpId="0" nodeType="afterEffect">
                      <p:stCondLst>
                        <p:cond delay="840"/>
                      </p:stCondLst>
                      <p:childTnLst>
                        <p:set>
                          <p:cBhvr>
                            <p:cTn id="43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48" dur="420"/>
                            <p:tgtEl>
                              <p:spTgt spid="33"/>
                            </p:tgtEl>
                          </p:cBhvr>
                        </p:animEffect>
                        <p:animScale>
                          <p:cBhvr>
                            <p:cTn id="4339" dur="520" fill="hold"/>
                            <p:tgtEl>
                              <p:spTgt spid="3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51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43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57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4360" presetID="10" presetClass="entr" presetSubtype="0" fill="hold" grpId="0" nodeType="afterEffect">
                      <p:stCondLst>
                        <p:cond delay="890"/>
                      </p:stCondLst>
                      <p:childTnLst>
                        <p:set>
                          <p:cBhvr>
                            <p:cTn id="43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66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4372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43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78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4369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81" presetID="10" presetClass="entr" presetSubtype="0" fill="hold" grpId="0" nodeType="afterEffect">
                      <p:stCondLst>
                        <p:cond delay="910"/>
                      </p:stCondLst>
                      <p:childTnLst>
                        <p:set>
                          <p:cBhvr>
                            <p:cTn id="43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87" dur="520"/>
                            <p:tgtEl>
                              <p:spTgt spid="34"/>
                            </p:tgtEl>
                          </p:cBhvr>
                        </p:animEffect>
                      </p:childTnLst>
                    </p:cTn>
                  </p:par>
                  <p:par>
                    <p:cTn id="4393" presetID="10" presetClass="entr" presetSubtype="0" fill="hold" grpId="0" nodeType="afterEffect">
                      <p:stCondLst>
                        <p:cond delay="920"/>
                      </p:stCondLst>
                      <p:childTnLst>
                        <p:set>
                          <p:cBhvr>
                            <p:cTn id="43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99" dur="420"/>
                            <p:tgtEl>
                              <p:spTgt spid="27"/>
                            </p:tgtEl>
                          </p:cBhvr>
                        </p:animEffect>
                        <p:animScale>
                          <p:cBhvr>
                            <p:cTn id="4390" dur="520" fill="hold"/>
                            <p:tgtEl>
                              <p:spTgt spid="2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05" presetID="10" presetClass="entr" presetSubtype="0" fill="hold" grpId="0" nodeType="afterEffect">
                      <p:stCondLst>
                        <p:cond delay="940"/>
                      </p:stCondLst>
                      <p:childTnLst>
                        <p:set>
                          <p:cBhvr>
                            <p:cTn id="44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11" dur="420"/>
                            <p:tgtEl>
                              <p:spTgt spid="35"/>
                            </p:tgtEl>
                          </p:cBhvr>
                        </p:animEffect>
                        <p:animScale>
                          <p:cBhvr>
                            <p:cTn id="4402" dur="520" fill="hold"/>
                            <p:tgtEl>
                              <p:spTgt spid="3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14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44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2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4423" presetID="10" presetClass="entr" presetSubtype="0" fill="hold" grpId="0" nodeType="afterEffect">
                      <p:stCondLst>
                        <p:cond delay="990"/>
                      </p:stCondLst>
                      <p:childTnLst>
                        <p:set>
                          <p:cBhvr>
                            <p:cTn id="44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29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4435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44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41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4432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44" presetID="10" presetClass="entr" presetSubtype="0" fill="hold" grpId="0" nodeType="afterEffect">
                      <p:stCondLst>
                        <p:cond delay="1010"/>
                      </p:stCondLst>
                      <p:childTnLst>
                        <p:set>
                          <p:cBhvr>
                            <p:cTn id="44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50" dur="520"/>
                            <p:tgtEl>
                              <p:spTgt spid="36"/>
                            </p:tgtEl>
                          </p:cBhvr>
                        </p:animEffect>
                      </p:childTnLst>
                    </p:cTn>
                  </p:par>
                  <p:par>
                    <p:cTn id="4456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44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62" dur="420"/>
                            <p:tgtEl>
                              <p:spTgt spid="29"/>
                            </p:tgtEl>
                          </p:cBhvr>
                        </p:animEffect>
                        <p:animScale>
                          <p:cBhvr>
                            <p:cTn id="4453" dur="520" fill="hold"/>
                            <p:tgtEl>
                              <p:spTgt spid="2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68" presetID="10" presetClass="entr" presetSubtype="0" fill="hold" grpId="0" nodeType="afterEffect">
                      <p:stCondLst>
                        <p:cond delay="1040"/>
                      </p:stCondLst>
                      <p:childTnLst>
                        <p:set>
                          <p:cBhvr>
                            <p:cTn id="44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74" dur="420"/>
                            <p:tgtEl>
                              <p:spTgt spid="37"/>
                            </p:tgtEl>
                          </p:cBhvr>
                        </p:animEffect>
                        <p:animScale>
                          <p:cBhvr>
                            <p:cTn id="4465" dur="520" fill="hold"/>
                            <p:tgtEl>
                              <p:spTgt spid="3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77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44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83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4486" presetID="10" presetClass="entr" presetSubtype="0" fill="hold" grpId="0" nodeType="afterEffect">
                      <p:stCondLst>
                        <p:cond delay="1090"/>
                      </p:stCondLst>
                      <p:childTnLst>
                        <p:set>
                          <p:cBhvr>
                            <p:cTn id="44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92" dur="520"/>
                            <p:tgtEl>
                              <p:spTgt spid="30"/>
                            </p:tgtEl>
                          </p:cBhvr>
                        </p:animEffect>
                      </p:childTnLst>
                    </p:cTn>
                  </p:par>
                  <p:par>
                    <p:cTn id="4495" presetID="10" presetClass="entr" presetSubtype="0" fill="hold" grpId="0" nodeType="afterEffect">
                      <p:stCondLst>
                        <p:cond delay="1110"/>
                      </p:stCondLst>
                      <p:childTnLst>
                        <p:set>
                          <p:cBhvr>
                            <p:cTn id="44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01" dur="520"/>
                            <p:tgtEl>
                              <p:spTgt spid="38"/>
                            </p:tgtEl>
                          </p:cBhvr>
                        </p:animEffect>
                      </p:childTnLst>
                    </p:cTn>
                  </p:par>
                  <p:par>
                    <p:cTn id="4507" presetID="10" presetClass="entr" presetSubtype="0" fill="hold" grpId="0" nodeType="afterEffect">
                      <p:stCondLst>
                        <p:cond delay="1140"/>
                      </p:stCondLst>
                      <p:childTnLst>
                        <p:set>
                          <p:cBhvr>
                            <p:cTn id="45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13" dur="420"/>
                            <p:tgtEl>
                              <p:spTgt spid="39"/>
                            </p:tgtEl>
                          </p:cBhvr>
                        </p:animEffect>
                        <p:animScale>
                          <p:cBhvr>
                            <p:cTn id="4504" dur="520" fill="hold"/>
                            <p:tgtEl>
                              <p:spTgt spid="3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516" presetID="10" presetClass="entr" presetSubtype="0" fill="hold" grpId="0" nodeType="afterEffect">
                      <p:stCondLst>
                        <p:cond delay="1210"/>
                      </p:stCondLst>
                      <p:childTnLst>
                        <p:set>
                          <p:cBhvr>
                            <p:cTn id="45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22" dur="520"/>
                            <p:tgtEl>
                              <p:spTgt spid="40"/>
                            </p:tgtEl>
                          </p:cBhvr>
                        </p:animEffect>
                      </p:childTnLst>
                    </p:cTn>
                  </p:par>
                  <p:par>
                    <p:cTn id="4528" presetID="10" presetClass="entr" presetSubtype="0" fill="hold" grpId="0" nodeType="afterEffect">
                      <p:stCondLst>
                        <p:cond delay="1240"/>
                      </p:stCondLst>
                      <p:childTnLst>
                        <p:set>
                          <p:cBhvr>
                            <p:cTn id="45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34" dur="420"/>
                            <p:tgtEl>
                              <p:spTgt spid="41"/>
                            </p:tgtEl>
                          </p:cBhvr>
                        </p:animEffect>
                        <p:animScale>
                          <p:cBhvr>
                            <p:cTn id="4525" dur="520" fill="hold"/>
                            <p:tgtEl>
                              <p:spTgt spid="4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537" presetID="10" presetClass="entr" presetSubtype="0" fill="hold" grpId="0" nodeType="afterEffect">
                      <p:stCondLst>
                        <p:cond delay="1310"/>
                      </p:stCondLst>
                      <p:childTnLst>
                        <p:set>
                          <p:cBhvr>
                            <p:cTn id="45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43" dur="520"/>
                            <p:tgtEl>
                              <p:spTgt spid="4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20</a:t>
            </a:r>
            <a:r>
              <a:rPr sz="1050" b="1" i="0" spc="203">
                <a:solidFill>
                  <a:srgbClr val="5F7E97"/>
                </a:solidFill>
                <a:latin typeface="Poppins"/>
              </a:rPr>
              <a:t>    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CRITICAL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What the theory contributes and what it asks of the therapist.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56">
                <a:solidFill>
                  <a:srgbClr val="8FA9BC"/>
                </a:solidFill>
                <a:latin typeface="Poppins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362756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203">
                <a:solidFill>
                  <a:srgbClr val="4595C2"/>
                </a:solidFill>
                <a:latin typeface="Poppins"/>
              </a:rPr>
              <a:t>CONTRIBUTIONS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65" y="2362756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203">
                <a:solidFill>
                  <a:srgbClr val="4595C2"/>
                </a:solidFill>
                <a:latin typeface="Poppins"/>
              </a:rPr>
              <a:t>CONSIDERATIONS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652331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2621835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Holistic understanding of human experience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409591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3379095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Strong emphasis on awareness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166851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4136356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Integrates body, emotion and cognition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924111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12187" y="4893616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Recognises person and environment interaction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681372"/>
            <a:ext cx="24764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12187" y="5650876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Promotes agency and authentic choice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652331"/>
            <a:ext cx="247649" cy="24764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546173" y="2621835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Cultural adaptation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409591"/>
            <a:ext cx="247649" cy="24764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546173" y="3379095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Client readiness</a:t>
            </a:r>
          </a:p>
        </p:txBody>
      </p:sp>
      <p:pic>
        <p:nvPicPr>
          <p:cNvPr id="25" name="Picture 2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166851"/>
            <a:ext cx="247649" cy="24764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546173" y="4136356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Therapist competence</a:t>
            </a:r>
          </a:p>
        </p:txBody>
      </p:sp>
      <p:pic>
        <p:nvPicPr>
          <p:cNvPr id="27" name="Picture 2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924111"/>
            <a:ext cx="247649" cy="2476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546173" y="4893616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Appropriate use of experiential techniques</a:t>
            </a:r>
          </a:p>
        </p:txBody>
      </p:sp>
      <p:pic>
        <p:nvPicPr>
          <p:cNvPr id="29" name="Picture 2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681372"/>
            <a:ext cx="247649" cy="247649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546173" y="5650876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Balance between present and past experience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54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5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52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55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5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61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56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5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70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4576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45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82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4573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585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45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91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459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5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00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460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6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09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4615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46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21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612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624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46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30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636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46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42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633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645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46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51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654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6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6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4666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6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72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663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675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46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81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4687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46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93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4684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699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47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05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4696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08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47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14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4717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47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23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4729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47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35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4726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41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47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47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4738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50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47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56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4759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47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65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4771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47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77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4768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80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47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86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4792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47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98" dur="420"/>
                            <p:tgtEl>
                              <p:spTgt spid="27"/>
                            </p:tgtEl>
                          </p:cBhvr>
                        </p:animEffect>
                        <p:animScale>
                          <p:cBhvr>
                            <p:cTn id="4789" dur="520" fill="hold"/>
                            <p:tgtEl>
                              <p:spTgt spid="2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801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48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07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4813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48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19" dur="420"/>
                            <p:tgtEl>
                              <p:spTgt spid="29"/>
                            </p:tgtEl>
                          </p:cBhvr>
                        </p:animEffect>
                        <p:animScale>
                          <p:cBhvr>
                            <p:cTn id="4810" dur="520" fill="hold"/>
                            <p:tgtEl>
                              <p:spTgt spid="2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822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48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28" dur="520"/>
                            <p:tgtEl>
                              <p:spTgt spid="3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CFE9F8"/>
                </a:solidFill>
                <a:latin typeface="Raleway"/>
              </a:rPr>
              <a:t>21</a:t>
            </a:r>
            <a:r>
              <a:rPr sz="1050" b="1" i="0" spc="203">
                <a:solidFill>
                  <a:srgbClr val="D8EBF7"/>
                </a:solidFill>
                <a:latin typeface="Poppins"/>
              </a:rPr>
              <a:t>     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FFFFFF"/>
                </a:solidFill>
                <a:latin typeface="Raleway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D8EBF7"/>
                </a:solidFill>
                <a:latin typeface="Poppins"/>
              </a:rPr>
              <a:t>Greater awareness creates greater possibilities for choice and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09">
                <a:solidFill>
                  <a:srgbClr val="B7D6E9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56">
                <a:solidFill>
                  <a:srgbClr val="B7D6E9"/>
                </a:solidFill>
                <a:latin typeface="Poppins"/>
              </a:rPr>
              <a:t>21</a:t>
            </a:r>
          </a:p>
        </p:txBody>
      </p:sp>
      <p:pic>
        <p:nvPicPr>
          <p:cNvPr id="9" name="Picture 8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428930"/>
            <a:ext cx="257555" cy="2575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03957" y="2325465"/>
            <a:ext cx="54406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90"/>
              </a:lnSpc>
              <a:buNone/>
            </a:pPr>
            <a:r>
              <a:rPr sz="2050" b="1" i="0">
                <a:solidFill>
                  <a:srgbClr val="FFFFFF"/>
                </a:solidFill>
                <a:latin typeface="Raleway"/>
              </a:rPr>
              <a:t>AWARENESS</a:t>
            </a:r>
          </a:p>
        </p:txBody>
      </p:sp>
      <p:pic>
        <p:nvPicPr>
          <p:cNvPr id="11" name="Picture 10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270251"/>
            <a:ext cx="257555" cy="25755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03957" y="3166786"/>
            <a:ext cx="54406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90"/>
              </a:lnSpc>
              <a:buNone/>
            </a:pPr>
            <a:r>
              <a:rPr sz="2050" b="1" i="0">
                <a:solidFill>
                  <a:srgbClr val="FFFFFF"/>
                </a:solidFill>
                <a:latin typeface="Raleway"/>
              </a:rPr>
              <a:t>HERE AND NOW</a:t>
            </a:r>
          </a:p>
        </p:txBody>
      </p:sp>
      <p:pic>
        <p:nvPicPr>
          <p:cNvPr id="13" name="Picture 12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111571"/>
            <a:ext cx="257555" cy="25755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3957" y="4008106"/>
            <a:ext cx="54406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90"/>
              </a:lnSpc>
              <a:buNone/>
            </a:pPr>
            <a:r>
              <a:rPr sz="2050" b="1" i="0">
                <a:solidFill>
                  <a:srgbClr val="FFFFFF"/>
                </a:solidFill>
                <a:latin typeface="Raleway"/>
              </a:rPr>
              <a:t>CONTACT</a:t>
            </a:r>
          </a:p>
        </p:txBody>
      </p:sp>
      <p:pic>
        <p:nvPicPr>
          <p:cNvPr id="15" name="Picture 14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952892"/>
            <a:ext cx="257555" cy="25755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03957" y="4849427"/>
            <a:ext cx="54406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90"/>
              </a:lnSpc>
              <a:buNone/>
            </a:pPr>
            <a:r>
              <a:rPr sz="2050" b="1" i="0">
                <a:solidFill>
                  <a:srgbClr val="FFFFFF"/>
                </a:solidFill>
                <a:latin typeface="Raleway"/>
              </a:rPr>
              <a:t>RESPONSIBILITY AND CHOICE</a:t>
            </a:r>
          </a:p>
        </p:txBody>
      </p:sp>
      <p:pic>
        <p:nvPicPr>
          <p:cNvPr id="17" name="Picture 16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609877"/>
            <a:ext cx="336803" cy="33680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03957" y="5498316"/>
            <a:ext cx="54406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800"/>
              </a:lnSpc>
              <a:buNone/>
            </a:pPr>
            <a:r>
              <a:rPr sz="2450" b="1" i="0">
                <a:solidFill>
                  <a:srgbClr val="FFFFFF"/>
                </a:solidFill>
                <a:latin typeface="Raleway"/>
              </a:rPr>
              <a:t>GROWTH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61" y="4731555"/>
            <a:ext cx="40416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  <a:buNone/>
            </a:pPr>
            <a:r>
              <a:rPr sz="1650" b="0" i="0">
                <a:solidFill>
                  <a:srgbClr val="FFFFFF"/>
                </a:solidFill>
                <a:latin typeface="Raleway"/>
              </a:rPr>
              <a:t>Therapeutic change begins with noticing what is happening now.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831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8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37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84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8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46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849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8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55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4861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48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67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4858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870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487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76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4879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88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85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4891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8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97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4888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03" presetID="22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49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09" dur="620"/>
                            <p:tgtEl>
                              <p:spTgt spid="10"/>
                            </p:tgtEl>
                          </p:cBhvr>
                        </p:animEffect>
                        <p:anim calcmode="lin" valueType="num">
                          <p:cBhvr additive="base">
                            <p:cTn id="4900" dur="52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915" presetID="10" presetClass="entr" presetSubtype="0" fill="hold" grpId="0" nodeType="afterEffect">
                      <p:stCondLst>
                        <p:cond delay="610"/>
                      </p:stCondLst>
                      <p:childTnLst>
                        <p:set>
                          <p:cBhvr>
                            <p:cTn id="49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21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912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27" presetID="22" presetClass="entr" presetSubtype="0" fill="hold" grpId="0" nodeType="afterEffect">
                      <p:stCondLst>
                        <p:cond delay="680"/>
                      </p:stCondLst>
                      <p:childTnLst>
                        <p:set>
                          <p:cBhvr>
                            <p:cTn id="49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33" dur="620"/>
                            <p:tgtEl>
                              <p:spTgt spid="12"/>
                            </p:tgtEl>
                          </p:cBhvr>
                        </p:animEffect>
                        <p:anim calcmode="lin" valueType="num">
                          <p:cBhvr additive="base">
                            <p:cTn id="4924" dur="520" fill="hold"/>
                            <p:tgtEl>
                              <p:spTgt spid="1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939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49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45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936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51" presetID="22" presetClass="entr" presetSubtype="0" fill="hold" grpId="0" nodeType="afterEffect">
                      <p:stCondLst>
                        <p:cond delay="840"/>
                      </p:stCondLst>
                      <p:childTnLst>
                        <p:set>
                          <p:cBhvr>
                            <p:cTn id="49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57" dur="620"/>
                            <p:tgtEl>
                              <p:spTgt spid="14"/>
                            </p:tgtEl>
                          </p:cBhvr>
                        </p:animEffect>
                        <p:anim calcmode="lin" valueType="num">
                          <p:cBhvr additive="base">
                            <p:cTn id="4948" dur="520" fill="hold"/>
                            <p:tgtEl>
                              <p:spTgt spid="14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963" presetID="10" presetClass="entr" presetSubtype="0" fill="hold" grpId="0" nodeType="afterEffect">
                      <p:stCondLst>
                        <p:cond delay="930"/>
                      </p:stCondLst>
                      <p:childTnLst>
                        <p:set>
                          <p:cBhvr>
                            <p:cTn id="49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69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960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75" presetID="22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49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81" dur="620"/>
                            <p:tgtEl>
                              <p:spTgt spid="16"/>
                            </p:tgtEl>
                          </p:cBhvr>
                        </p:animEffect>
                        <p:anim calcmode="lin" valueType="num">
                          <p:cBhvr additive="base">
                            <p:cTn id="4972" dur="520" fill="hold"/>
                            <p:tgtEl>
                              <p:spTgt spid="16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987" presetID="10" presetClass="entr" presetSubtype="0" fill="hold" grpId="0" nodeType="afterEffect">
                      <p:stCondLst>
                        <p:cond delay="1090"/>
                      </p:stCondLst>
                      <p:childTnLst>
                        <p:set>
                          <p:cBhvr>
                            <p:cTn id="49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93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4984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99" presetID="22" presetClass="entr" presetSubtype="0" fill="hold" grpId="0" nodeType="afterEffect">
                      <p:stCondLst>
                        <p:cond delay="1160"/>
                      </p:stCondLst>
                      <p:childTnLst>
                        <p:set>
                          <p:cBhvr>
                            <p:cTn id="50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05" dur="620"/>
                            <p:tgtEl>
                              <p:spTgt spid="18"/>
                            </p:tgtEl>
                          </p:cBhvr>
                        </p:animEffect>
                        <p:anim calcmode="lin" valueType="num">
                          <p:cBhvr additive="base">
                            <p:cTn id="4996" dur="52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011" presetID="22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50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17" dur="620"/>
                            <p:tgtEl>
                              <p:spTgt spid="19"/>
                            </p:tgtEl>
                          </p:cBhvr>
                        </p:animEffect>
                        <p:anim calcmode="lin" valueType="num">
                          <p:cBhvr additive="base">
                            <p:cTn id="5008" dur="520" fill="hold"/>
                            <p:tgtEl>
                              <p:spTgt spid="19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22</a:t>
            </a:r>
            <a:r>
              <a:rPr sz="1050" b="1" i="0" spc="203">
                <a:solidFill>
                  <a:srgbClr val="5F7E97"/>
                </a:solidFill>
                <a:latin typeface="Poppins"/>
              </a:rPr>
              <a:t>     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09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56">
                <a:solidFill>
                  <a:srgbClr val="8FA9BC"/>
                </a:solidFill>
                <a:latin typeface="Poppins"/>
              </a:rPr>
              <a:t>22</a:t>
            </a:r>
          </a:p>
        </p:txBody>
      </p:sp>
      <p:pic>
        <p:nvPicPr>
          <p:cNvPr id="8" name="Picture 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238384"/>
            <a:ext cx="217931" cy="2179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7498" y="2209794"/>
            <a:ext cx="923483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Brownell, P. (2010). Gestalt therapy: A guide to contemporary practice. Springer.</a:t>
            </a:r>
          </a:p>
        </p:txBody>
      </p:sp>
      <p:pic>
        <p:nvPicPr>
          <p:cNvPr id="10" name="Picture 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856347"/>
            <a:ext cx="217931" cy="21793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7498" y="2827758"/>
            <a:ext cx="923483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Corey, G. (2024). Theory and practice of counseling and psychotherapy (11th ed.). Cengage.</a:t>
            </a:r>
          </a:p>
        </p:txBody>
      </p:sp>
      <p:pic>
        <p:nvPicPr>
          <p:cNvPr id="12" name="Picture 1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474310"/>
            <a:ext cx="217931" cy="21793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87498" y="3445721"/>
            <a:ext cx="923483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Joyce, P., and Sills, C. (2014). Skills in Gestalt counselling and psychotherapy (3rd ed.). SAGE.</a:t>
            </a:r>
          </a:p>
        </p:txBody>
      </p:sp>
      <p:pic>
        <p:nvPicPr>
          <p:cNvPr id="14" name="Picture 1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092274"/>
            <a:ext cx="217931" cy="21793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87498" y="4063685"/>
            <a:ext cx="923483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Perls, F. S., Hefferline, R. F., and Goodman, P. (1951). Gestalt therapy: Excitement and growth in the human personality. Julian Press.</a:t>
            </a:r>
          </a:p>
        </p:txBody>
      </p:sp>
      <p:pic>
        <p:nvPicPr>
          <p:cNvPr id="16" name="Picture 1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950295"/>
            <a:ext cx="217931" cy="21793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87498" y="4921706"/>
            <a:ext cx="923483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Woldt, A. L., and Toman, S. M. (2005). Gestalt therapy: History, theory, and practice. SAGE.</a:t>
            </a:r>
          </a:p>
        </p:txBody>
      </p:sp>
      <p:pic>
        <p:nvPicPr>
          <p:cNvPr id="18" name="Picture 1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568258"/>
            <a:ext cx="217931" cy="21793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87498" y="5539669"/>
            <a:ext cx="923483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Yontef, G., and Fuhr, R. (2005). Gestalt therapy theory of change. In Woldt and Toman (Eds.), Gestalt therapy: History, theory, and practice (pp. 81 to 100). SAGE.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020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50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26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5029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0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35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5038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0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44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5050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50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56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5047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062" presetID="10" presetClass="entr" presetSubtype="0" fill="hold" grpId="0" nodeType="afterEffect">
                      <p:stCondLst>
                        <p:cond delay="400"/>
                      </p:stCondLst>
                      <p:childTnLst>
                        <p:set>
                          <p:cBhvr>
                            <p:cTn id="50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68" dur="420"/>
                            <p:tgtEl>
                              <p:spTgt spid="8"/>
                            </p:tgtEl>
                          </p:cBhvr>
                        </p:animEffect>
                        <p:animScale>
                          <p:cBhvr>
                            <p:cTn id="5059" dur="520" fill="hold"/>
                            <p:tgtEl>
                              <p:spTgt spid="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071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0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77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5080" presetID="10" presetClass="entr" presetSubtype="0" fill="hold" grpId="0" nodeType="afterEffect">
                      <p:stCondLst>
                        <p:cond delay="470"/>
                      </p:stCondLst>
                      <p:childTnLst>
                        <p:set>
                          <p:cBhvr>
                            <p:cTn id="50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86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5092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50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98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5089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01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51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07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5113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51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19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5110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22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51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28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5134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51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40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5131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43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51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49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5155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51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61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5152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64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51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70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5176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51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82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5173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85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51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91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