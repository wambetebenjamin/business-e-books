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70" cy="6857983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670558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150" b="1" i="0" spc="281">
                <a:solidFill>
                  <a:srgbClr val="F0CA84"/>
                </a:solidFill>
                <a:latin typeface="Consolas"/>
              </a:rPr>
              <a:t>GROUP 4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1006417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306"/>
              </a:lnSpc>
              <a:buNone/>
            </a:pPr>
            <a:r>
              <a:rPr sz="7000" b="1" i="0">
                <a:solidFill>
                  <a:srgbClr val="F7F4EC"/>
                </a:solidFill>
                <a:latin typeface="Cambria"/>
              </a:rPr>
              <a:t>Gestalt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965010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306"/>
              </a:lnSpc>
              <a:buNone/>
            </a:pPr>
            <a:r>
              <a:rPr sz="7000" b="1" i="0">
                <a:solidFill>
                  <a:srgbClr val="F7F4EC"/>
                </a:solidFill>
                <a:latin typeface="Cambria"/>
              </a:rPr>
              <a:t>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3015044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350" b="1" i="0" spc="265">
                <a:solidFill>
                  <a:srgbClr val="F0CA84"/>
                </a:solidFill>
                <a:latin typeface="Consolas"/>
              </a:rPr>
              <a:t>AND ITS APPLICATION TO COUNSELLING</a:t>
            </a:r>
          </a:p>
        </p:txBody>
      </p:sp>
      <p:pic>
        <p:nvPicPr>
          <p:cNvPr id="8" name="Picture 7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28798"/>
            <a:ext cx="297179" cy="2971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73477" y="3597378"/>
            <a:ext cx="388619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03">
                <a:solidFill>
                  <a:srgbClr val="8B95AE"/>
                </a:solidFill>
                <a:latin typeface="Consolas"/>
              </a:rPr>
              <a:t>PRESENTED BY</a:t>
            </a:r>
          </a:p>
        </p:txBody>
      </p:sp>
      <p:pic>
        <p:nvPicPr>
          <p:cNvPr id="10" name="Picture 9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02177"/>
            <a:ext cx="247649" cy="2476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7757" y="386407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550" b="1" i="0">
                <a:solidFill>
                  <a:srgbClr val="F7F4EC"/>
                </a:solidFill>
                <a:latin typeface="Calibri"/>
              </a:rPr>
              <a:t>Josephine Biwott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2429" y="3886937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0" i="0">
                <a:solidFill>
                  <a:srgbClr val="B4BDD3"/>
                </a:solidFill>
                <a:latin typeface="Consolas"/>
              </a:rPr>
              <a:t>MACP/35996/0/26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91736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7757" y="4153636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550" b="1" i="0">
                <a:solidFill>
                  <a:srgbClr val="F7F4EC"/>
                </a:solidFill>
                <a:latin typeface="Calibri"/>
              </a:rPr>
              <a:t>Cynthia Cherono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2429" y="4176496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0" i="0">
                <a:solidFill>
                  <a:srgbClr val="B4BDD3"/>
                </a:solidFill>
                <a:latin typeface="Consolas"/>
              </a:rPr>
              <a:t>MACP/35785/4/26</a:t>
            </a:r>
          </a:p>
        </p:txBody>
      </p:sp>
      <p:pic>
        <p:nvPicPr>
          <p:cNvPr id="16" name="Picture 15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81296"/>
            <a:ext cx="247649" cy="2476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7757" y="4443196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550" b="1" i="0">
                <a:solidFill>
                  <a:srgbClr val="F7F4EC"/>
                </a:solidFill>
                <a:latin typeface="Calibri"/>
              </a:rPr>
              <a:t>Yvonne Juliet Awuor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29" y="4466056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0" i="0">
                <a:solidFill>
                  <a:srgbClr val="B4BDD3"/>
                </a:solidFill>
                <a:latin typeface="Consolas"/>
              </a:rPr>
              <a:t>MALD/36547/4/26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981" y="3276592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03">
                <a:solidFill>
                  <a:srgbClr val="F0CA84"/>
                </a:solidFill>
                <a:latin typeface="Consolas"/>
              </a:rPr>
              <a:t>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9981" y="3536178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350" b="0" i="0">
                <a:solidFill>
                  <a:srgbClr val="F7F4EC"/>
                </a:solidFill>
                <a:latin typeface="Calibri"/>
              </a:rPr>
              <a:t>MCP504 Theories of Counseling and Psychotherapy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9981" y="4280726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03">
                <a:solidFill>
                  <a:srgbClr val="F0CA84"/>
                </a:solidFill>
                <a:latin typeface="Consolas"/>
              </a:rPr>
              <a:t>INSTITUTION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81" y="4540312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350" b="0" i="0">
                <a:solidFill>
                  <a:srgbClr val="F7F4EC"/>
                </a:solidFill>
                <a:latin typeface="Calibri"/>
              </a:rPr>
              <a:t>Pan African Christian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9981" y="5004026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03">
                <a:solidFill>
                  <a:srgbClr val="F0CA84"/>
                </a:solidFill>
                <a:latin typeface="Consolas"/>
              </a:rPr>
              <a:t>LECTURER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9981" y="5263612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350" b="0" i="0">
                <a:solidFill>
                  <a:srgbClr val="F7F4EC"/>
                </a:solidFill>
                <a:latin typeface="Calibri"/>
              </a:rPr>
              <a:t>Dr. Lucy Gachenia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623314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0" i="0" spc="234">
                <a:solidFill>
                  <a:srgbClr val="8B95AE"/>
                </a:solidFill>
                <a:latin typeface="Consolas"/>
              </a:rPr>
              <a:t>AWARENESS    PRESENCE    CONTACT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15" presetID="22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36" presetID="22" presetClass="entr" presetSubtype="0" fill="hold" grpId="0" nodeType="afterEffect">
                      <p:stCondLst>
                        <p:cond delay="460"/>
                      </p:stCondLst>
                      <p:childTnLst>
                        <p:set>
                          <p:cBhvr>
                            <p:cTn id="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" dur="620"/>
                            <p:tgtEl>
                              <p:spTgt spid="6"/>
                            </p:tgtEl>
                          </p:cBhvr>
                        </p:animEffect>
                        <p:anim calcmode="lin" valueType="num">
                          <p:cBhvr additive="base">
                            <p:cTn id="133" dur="520" fill="hold"/>
                            <p:tgtEl>
                              <p:spTgt spid="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5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57" presetID="10" presetClass="entr" presetSubtype="0" fill="hold" grpId="0" nodeType="afterEffect">
                      <p:stCondLst>
                        <p:cond delay="760"/>
                      </p:stCondLst>
                      <p:childTnLst>
                        <p:set>
                          <p:cBhvr>
                            <p:cTn id="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154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6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78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75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9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0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0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2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38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35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2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56" presetID="10" presetClass="entr" presetSubtype="0" fill="hold" grpId="0" nodeType="afterEffect">
                      <p:stCondLst>
                        <p:cond delay="1340"/>
                      </p:stCondLst>
                      <p:childTnLst>
                        <p:set>
                          <p:cBhvr>
                            <p:cTn id="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77" presetID="22" presetClass="entr" presetSubtype="0" fill="hold" grpId="0" nodeType="afterEffect">
                      <p:stCondLst>
                        <p:cond delay="1560"/>
                      </p:stCondLst>
                      <p:childTnLst>
                        <p:set>
                          <p:cBhvr>
                            <p:cTn id="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274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86" presetID="10" presetClass="entr" presetSubtype="0" fill="hold" grpId="0" nodeType="afterEffect">
                      <p:stCondLst>
                        <p:cond delay="1620"/>
                      </p:stCondLst>
                      <p:childTnLst>
                        <p:set>
                          <p:cBhvr>
                            <p:cTn id="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98" presetID="22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295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07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9" presetID="22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3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" dur="620"/>
                            <p:tgtEl>
                              <p:spTgt spid="24"/>
                            </p:tgtEl>
                          </p:cBhvr>
                        </p:animEffect>
                        <p:anim calcmode="lin" valueType="num">
                          <p:cBhvr additive="base">
                            <p:cTn id="316" dur="520" fill="hold"/>
                            <p:tgtEl>
                              <p:spTgt spid="2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28" presetID="10" presetClass="entr" presetSubtype="0" fill="hold" grpId="0" nodeType="afterEffect">
                      <p:stCondLst>
                        <p:cond delay="2000"/>
                      </p:stCondLst>
                      <p:childTnLst>
                        <p:set>
                          <p:cBhvr>
                            <p:cTn id="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4C57E"/>
                </a:solidFill>
                <a:latin typeface="Consolas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AF5EC"/>
                </a:solidFill>
                <a:latin typeface="Cambria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D3C9D4"/>
                </a:solidFill>
                <a:latin typeface="Cambria"/>
              </a:rPr>
              <a:t>An experiential and humanistic approach to counselling.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A79CB0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A79CB0"/>
                </a:solidFill>
                <a:latin typeface="Consolas"/>
              </a:rPr>
              <a:t>02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880980"/>
            <a:ext cx="257555" cy="2575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6875" y="1879170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650" b="0" i="0">
                <a:solidFill>
                  <a:srgbClr val="FAF5EC"/>
                </a:solidFill>
                <a:latin typeface="Calibri"/>
              </a:rPr>
              <a:t>Emphasizes awareness, present experience and contact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67816"/>
            <a:ext cx="257555" cy="25755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6875" y="3066007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650" b="0" i="0">
                <a:solidFill>
                  <a:srgbClr val="FAF5EC"/>
                </a:solidFill>
                <a:latin typeface="Calibri"/>
              </a:rPr>
              <a:t>Understands individuals within their environment and relationships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54653"/>
            <a:ext cx="257555" cy="2575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36875" y="4252843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650" b="0" i="0">
                <a:solidFill>
                  <a:srgbClr val="FAF5EC"/>
                </a:solidFill>
                <a:latin typeface="Calibri"/>
              </a:rPr>
              <a:t>Encourages personal responsibility, choice and authentic living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441489"/>
            <a:ext cx="257555" cy="2575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36875" y="5439680"/>
            <a:ext cx="65418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650" b="0" i="0">
                <a:solidFill>
                  <a:srgbClr val="FAF5EC"/>
                </a:solidFill>
                <a:latin typeface="Calibri"/>
              </a:rPr>
              <a:t>Focuses on the client's experience in the here and 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6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6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1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1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3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4C57E"/>
                </a:solidFill>
                <a:latin typeface="Consolas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AF5EC"/>
                </a:solidFill>
                <a:latin typeface="Cambria"/>
              </a:rPr>
              <a:t>Historical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D3C9D4"/>
                </a:solidFill>
                <a:latin typeface="Cambria"/>
              </a:rPr>
              <a:t>A therapy that grew out of the 1940s and 1950s.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A79CB0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A79CB0"/>
                </a:solidFill>
                <a:latin typeface="Consolas"/>
              </a:rPr>
              <a:t>03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881599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879170"/>
            <a:ext cx="874330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600" b="0" i="0">
                <a:solidFill>
                  <a:srgbClr val="FAF5EC"/>
                </a:solidFill>
                <a:latin typeface="Calibri"/>
              </a:rPr>
              <a:t>Emerged during the 1940s and 1950s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69654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467225"/>
            <a:ext cx="874330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600" b="0" i="0">
                <a:solidFill>
                  <a:srgbClr val="FAF5EC"/>
                </a:solidFill>
                <a:latin typeface="Calibri"/>
              </a:rPr>
              <a:t>Developed partly in response to limitations perceived in traditional psychoanalysis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3036992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F4C57E"/>
                </a:solidFill>
                <a:latin typeface="Consolas"/>
              </a:rPr>
              <a:t>INFLUENCED BY</a:t>
            </a:r>
          </a:p>
        </p:txBody>
      </p:sp>
      <p:pic>
        <p:nvPicPr>
          <p:cNvPr id="14" name="Picture 13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81308"/>
            <a:ext cx="227837" cy="2278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87498" y="3280831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AF5EC"/>
                </a:solidFill>
                <a:latin typeface="Calibri"/>
              </a:rPr>
              <a:t>Gestalt psychology</a:t>
            </a:r>
          </a:p>
        </p:txBody>
      </p:sp>
      <p:pic>
        <p:nvPicPr>
          <p:cNvPr id="16" name="Picture 15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3281308"/>
            <a:ext cx="227837" cy="2278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35490" y="3280831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AF5EC"/>
                </a:solidFill>
                <a:latin typeface="Calibri"/>
              </a:rPr>
              <a:t>Phenomenology</a:t>
            </a:r>
          </a:p>
        </p:txBody>
      </p:sp>
      <p:pic>
        <p:nvPicPr>
          <p:cNvPr id="18" name="Picture 17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463" y="3281308"/>
            <a:ext cx="227837" cy="2278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3483" y="3280831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AF5EC"/>
                </a:solidFill>
                <a:latin typeface="Calibri"/>
              </a:rPr>
              <a:t>Existential philosophy</a:t>
            </a:r>
          </a:p>
        </p:txBody>
      </p:sp>
      <p:pic>
        <p:nvPicPr>
          <p:cNvPr id="20" name="Picture 19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13380"/>
            <a:ext cx="227837" cy="2278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7498" y="3712903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AF5EC"/>
                </a:solidFill>
                <a:latin typeface="Calibri"/>
              </a:rPr>
              <a:t>Field theory</a:t>
            </a:r>
          </a:p>
        </p:txBody>
      </p:sp>
      <p:pic>
        <p:nvPicPr>
          <p:cNvPr id="22" name="Picture 21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3713380"/>
            <a:ext cx="227837" cy="22783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35490" y="3712903"/>
            <a:ext cx="255058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AF5EC"/>
                </a:solidFill>
                <a:latin typeface="Calibri"/>
              </a:rPr>
              <a:t>Holistic approaches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78" y="4343095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F4C57E"/>
                </a:solidFill>
                <a:latin typeface="Consolas"/>
              </a:rPr>
              <a:t>INTELLECTUAL ROOTS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8" y="4586934"/>
            <a:ext cx="214983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50" b="1" i="0" spc="78">
                <a:solidFill>
                  <a:srgbClr val="FAF5EC"/>
                </a:solidFill>
                <a:latin typeface="Calibri"/>
              </a:rPr>
              <a:t>Gestalt psychology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00155" y="4586934"/>
            <a:ext cx="214983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50" b="1" i="0" spc="78">
                <a:solidFill>
                  <a:srgbClr val="FAF5EC"/>
                </a:solidFill>
                <a:latin typeface="Calibri"/>
              </a:rPr>
              <a:t>Phenomenology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8792" y="4586934"/>
            <a:ext cx="214983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50" b="1" i="0" spc="78">
                <a:solidFill>
                  <a:srgbClr val="FAF5EC"/>
                </a:solidFill>
                <a:latin typeface="Calibri"/>
              </a:rPr>
              <a:t>Existentialism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7430" y="4586934"/>
            <a:ext cx="214983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50" b="1" i="0" spc="78">
                <a:solidFill>
                  <a:srgbClr val="FAF5EC"/>
                </a:solidFill>
                <a:latin typeface="Calibri"/>
              </a:rPr>
              <a:t>Field theory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6067" y="4586934"/>
            <a:ext cx="214983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50" b="1" i="0" spc="78">
                <a:solidFill>
                  <a:srgbClr val="FAF5EC"/>
                </a:solidFill>
                <a:latin typeface="Calibri"/>
              </a:rPr>
              <a:t>Gestalt therapy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0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1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3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7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8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8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8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1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607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3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2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5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4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7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670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8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691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700" presetID="10" presetClass="entr" presetSubtype="0" fill="hold" grpId="0" nodeType="afterEffect">
                      <p:stCondLst>
                        <p:cond delay="1700"/>
                      </p:stCondLst>
                      <p:childTnLst>
                        <p:set>
                          <p:cBhvr>
                            <p:cTn id="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709" presetID="10" presetClass="entr" presetSubtype="0" fill="hold" grpId="0" nodeType="afterEffect">
                      <p:stCondLst>
                        <p:cond delay="1840"/>
                      </p:stCondLst>
                      <p:childTnLst>
                        <p:set>
                          <p:cBhvr>
                            <p:cTn id="7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1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718" presetID="10" presetClass="entr" presetSubtype="0" fill="hold" grpId="0" nodeType="afterEffect">
                      <p:stCondLst>
                        <p:cond delay="1980"/>
                      </p:stCondLst>
                      <p:childTnLst>
                        <p:set>
                          <p:cBhvr>
                            <p:cTn id="7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2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27" presetID="10" presetClass="entr" presetSubtype="0" fill="hold" grpId="0" nodeType="afterEffect">
                      <p:stCondLst>
                        <p:cond delay="2120"/>
                      </p:stCondLst>
                      <p:childTnLst>
                        <p:set>
                          <p:cBhvr>
                            <p:cTn id="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3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736" presetID="10" presetClass="entr" presetSubtype="0" fill="hold" grpId="0" nodeType="afterEffect">
                      <p:stCondLst>
                        <p:cond delay="2260"/>
                      </p:stCondLst>
                      <p:childTnLst>
                        <p:set>
                          <p:cBhvr>
                            <p:cTn id="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4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4C57E"/>
                </a:solidFill>
                <a:latin typeface="Consolas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AF5EC"/>
                </a:solidFill>
                <a:latin typeface="Cambria"/>
              </a:rPr>
              <a:t>Major Theorists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D3C9D4"/>
                </a:solidFill>
                <a:latin typeface="Cambria"/>
              </a:rPr>
              <a:t>Three voices that shaped the theory and its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A79CB0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A79CB0"/>
                </a:solidFill>
                <a:latin typeface="Consolas"/>
              </a:rPr>
              <a:t>04</a:t>
            </a:r>
          </a:p>
        </p:txBody>
      </p:sp>
      <p:pic>
        <p:nvPicPr>
          <p:cNvPr id="9" name="Picture 8" descr="medalli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940130"/>
            <a:ext cx="792478" cy="7924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2116" y="20010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2150" b="1" i="0">
                <a:solidFill>
                  <a:srgbClr val="FAF5EC"/>
                </a:solidFill>
                <a:latin typeface="Cambria"/>
              </a:rPr>
              <a:t>Fritz Perls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2116" y="2275409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100" b="0" i="0">
                <a:solidFill>
                  <a:srgbClr val="D3C9D4"/>
                </a:solidFill>
                <a:latin typeface="Consolas"/>
              </a:rPr>
              <a:t>1893 to 1970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8" y="2900248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500" b="1" i="0">
                <a:solidFill>
                  <a:srgbClr val="FAF5EC"/>
                </a:solidFill>
                <a:latin typeface="Calibri"/>
              </a:rPr>
              <a:t>Major founder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8" y="3217572"/>
            <a:ext cx="227837" cy="2278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7498" y="3220287"/>
            <a:ext cx="301692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D3C9D4"/>
                </a:solidFill>
                <a:latin typeface="Calibri"/>
              </a:rPr>
              <a:t>Awareness, experience and responsibility</a:t>
            </a:r>
          </a:p>
        </p:txBody>
      </p:sp>
      <p:pic>
        <p:nvPicPr>
          <p:cNvPr id="15" name="Picture 14" descr="medalli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3869" y="1940130"/>
            <a:ext cx="792478" cy="79247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03507" y="20010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2150" b="1" i="0">
                <a:solidFill>
                  <a:srgbClr val="FAF5EC"/>
                </a:solidFill>
                <a:latin typeface="Cambria"/>
              </a:rPr>
              <a:t>Laura Perls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07" y="2275409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100" b="0" i="0">
                <a:solidFill>
                  <a:srgbClr val="D3C9D4"/>
                </a:solidFill>
                <a:latin typeface="Consolas"/>
              </a:rPr>
              <a:t>1905 to 1990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3869" y="2900248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500" b="1" i="0">
                <a:solidFill>
                  <a:srgbClr val="FAF5EC"/>
                </a:solidFill>
                <a:latin typeface="Calibri"/>
              </a:rPr>
              <a:t>Major contributor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869" y="3217572"/>
            <a:ext cx="227837" cy="2278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68889" y="3220287"/>
            <a:ext cx="301692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D3C9D4"/>
                </a:solidFill>
                <a:latin typeface="Calibri"/>
              </a:rPr>
              <a:t>Contact, relationship and embodied experience</a:t>
            </a:r>
          </a:p>
        </p:txBody>
      </p:sp>
      <p:pic>
        <p:nvPicPr>
          <p:cNvPr id="21" name="Picture 20" descr="medalli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60" y="1940130"/>
            <a:ext cx="792478" cy="79247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884898" y="20010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2150" b="1" i="0">
                <a:solidFill>
                  <a:srgbClr val="FAF5EC"/>
                </a:solidFill>
                <a:latin typeface="Cambria"/>
              </a:rPr>
              <a:t>Paul Goodman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4898" y="2275409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100" b="0" i="0">
                <a:solidFill>
                  <a:srgbClr val="D3C9D4"/>
                </a:solidFill>
                <a:latin typeface="Consolas"/>
              </a:rPr>
              <a:t>1911 to 1972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60" y="2900248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500" b="1" i="0">
                <a:solidFill>
                  <a:srgbClr val="FAF5EC"/>
                </a:solidFill>
                <a:latin typeface="Calibri"/>
              </a:rPr>
              <a:t>Co author of the 1951 text</a:t>
            </a:r>
          </a:p>
        </p:txBody>
      </p:sp>
      <p:pic>
        <p:nvPicPr>
          <p:cNvPr id="25" name="Picture 24" descr="tick_n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60" y="3217572"/>
            <a:ext cx="227837" cy="22783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50280" y="3220287"/>
            <a:ext cx="301692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D3C9D4"/>
                </a:solidFill>
                <a:latin typeface="Calibri"/>
              </a:rPr>
              <a:t>Shaped the theoretical formulation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7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7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7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7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7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7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8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8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17" presetID="22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8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23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814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2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8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3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82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3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8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44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84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859" presetID="22" presetClass="entr" presetSubtype="0" fill="hold" grpId="0" nodeType="afterEffect">
                      <p:stCondLst>
                        <p:cond delay="710"/>
                      </p:stCondLst>
                      <p:childTnLst>
                        <p:set>
                          <p:cBhvr>
                            <p:cTn id="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65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856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8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8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8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88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92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98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901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9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1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922" presetID="22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28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919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31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37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943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4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94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52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9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5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961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9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97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9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9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8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9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8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4C57E"/>
                </a:solidFill>
                <a:latin typeface="Consolas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AF5EC"/>
                </a:solidFill>
                <a:latin typeface="Cambria"/>
              </a:rPr>
              <a:t>Core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D3C9D4"/>
                </a:solidFill>
                <a:latin typeface="Cambria"/>
              </a:rPr>
              <a:t>Seven beliefs that hold the whole approach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A79CB0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A79CB0"/>
                </a:solidFill>
                <a:latin typeface="Consolas"/>
              </a:rPr>
              <a:t>05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878408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879170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AF5EC"/>
                </a:solidFill>
                <a:latin typeface="Calibri"/>
              </a:rPr>
              <a:t>People are best understood as whole persons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12660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013422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AF5EC"/>
                </a:solidFill>
                <a:latin typeface="Calibri"/>
              </a:rPr>
              <a:t>Human experience is influenced by the environment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77742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478504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AF5EC"/>
                </a:solidFill>
                <a:latin typeface="Calibri"/>
              </a:rPr>
              <a:t>Awareness is central to psychological growth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11994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612756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AF5EC"/>
                </a:solidFill>
                <a:latin typeface="Calibri"/>
              </a:rPr>
              <a:t>Experience unfolds in the present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878408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1879170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AF5EC"/>
                </a:solidFill>
                <a:latin typeface="Calibri"/>
              </a:rPr>
              <a:t>People have capacity for choice and self regulation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394297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339505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AF5EC"/>
                </a:solidFill>
                <a:latin typeface="Calibri"/>
              </a:rPr>
              <a:t>Healthy functioning involves meaningful contact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910185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4910947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AF5EC"/>
                </a:solidFill>
                <a:latin typeface="Calibri"/>
              </a:rPr>
              <a:t>Psychological difficulties may involve interruptions in awareness or contact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9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0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00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1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02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0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2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01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03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3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3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4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05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5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04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60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6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07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7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06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8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8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09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09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0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0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11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11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23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135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1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4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13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4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1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5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15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1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6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15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65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11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7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177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1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8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17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86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11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9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2F7F4"/>
                </a:solidFill>
                <a:latin typeface="Cambria"/>
              </a:rPr>
              <a:t>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ADC4C7"/>
                </a:solidFill>
                <a:latin typeface="Cambria"/>
              </a:rPr>
              <a:t>The central concept in Gestalt therapy.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84A3AA"/>
                </a:solidFill>
                <a:latin typeface="Consola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879170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84DCC6"/>
                </a:solidFill>
                <a:latin typeface="Consolas"/>
              </a:rPr>
              <a:t>NOTICING</a:t>
            </a:r>
          </a:p>
        </p:txBody>
      </p:sp>
      <p:pic>
        <p:nvPicPr>
          <p:cNvPr id="10" name="Picture 9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38726"/>
            <a:ext cx="227837" cy="2278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7498" y="213825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2F7F4"/>
                </a:solidFill>
                <a:latin typeface="Calibri"/>
              </a:rPr>
              <a:t>Thoughts</a:t>
            </a:r>
          </a:p>
        </p:txBody>
      </p:sp>
      <p:pic>
        <p:nvPicPr>
          <p:cNvPr id="12" name="Picture 11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138726"/>
            <a:ext cx="227837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01053" y="213825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2F7F4"/>
                </a:solidFill>
                <a:latin typeface="Calibri"/>
              </a:rPr>
              <a:t>Feelings</a:t>
            </a:r>
          </a:p>
        </p:txBody>
      </p:sp>
      <p:pic>
        <p:nvPicPr>
          <p:cNvPr id="14" name="Picture 13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138726"/>
            <a:ext cx="227837" cy="2278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14609" y="213825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2F7F4"/>
                </a:solidFill>
                <a:latin typeface="Calibri"/>
              </a:rPr>
              <a:t>Bodily sensations</a:t>
            </a:r>
          </a:p>
        </p:txBody>
      </p:sp>
      <p:pic>
        <p:nvPicPr>
          <p:cNvPr id="16" name="Picture 15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138726"/>
            <a:ext cx="227837" cy="2278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8164" y="213825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2F7F4"/>
                </a:solidFill>
                <a:latin typeface="Calibri"/>
              </a:rPr>
              <a:t>Behaviour</a:t>
            </a:r>
          </a:p>
        </p:txBody>
      </p:sp>
      <p:pic>
        <p:nvPicPr>
          <p:cNvPr id="18" name="Picture 17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138726"/>
            <a:ext cx="227837" cy="2278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41720" y="213825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2F7F4"/>
                </a:solidFill>
                <a:latin typeface="Calibri"/>
              </a:rPr>
              <a:t>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78" y="2686888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84DCC6"/>
                </a:solidFill>
                <a:latin typeface="Consolas"/>
              </a:rPr>
              <a:t>THE PROCESS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44586"/>
            <a:ext cx="257555" cy="25755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2187" y="2945968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600" b="0" i="0">
                <a:solidFill>
                  <a:srgbClr val="F2F7F4"/>
                </a:solidFill>
                <a:latin typeface="Calibri"/>
              </a:rPr>
              <a:t>Focuses on present experience</a:t>
            </a:r>
          </a:p>
        </p:txBody>
      </p:sp>
      <p:pic>
        <p:nvPicPr>
          <p:cNvPr id="23" name="Picture 2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22914"/>
            <a:ext cx="257555" cy="25755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2187" y="3424295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600" b="0" i="0">
                <a:solidFill>
                  <a:srgbClr val="F2F7F4"/>
                </a:solidFill>
                <a:latin typeface="Calibri"/>
              </a:rPr>
              <a:t>Creates opportunities for choice and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58" y="4100741"/>
            <a:ext cx="183714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950" b="1" i="0" spc="78">
                <a:solidFill>
                  <a:srgbClr val="F2F7F4"/>
                </a:solidFill>
                <a:latin typeface="Calibri"/>
              </a:rPr>
              <a:t>Awareness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240" y="4100741"/>
            <a:ext cx="183714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950" b="1" i="0" spc="78">
                <a:solidFill>
                  <a:srgbClr val="F2F7F4"/>
                </a:solidFill>
                <a:latin typeface="Calibri"/>
              </a:rPr>
              <a:t>Choice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323" y="4100741"/>
            <a:ext cx="183714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950" b="1" i="0" spc="78">
                <a:solidFill>
                  <a:srgbClr val="F2F7F4"/>
                </a:solidFill>
                <a:latin typeface="Calibri"/>
              </a:rPr>
              <a:t>Change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9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0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20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21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22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2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3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22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3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24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25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58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26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0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261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73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2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285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2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91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282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94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2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0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306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1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12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1303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1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13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21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1327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13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33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1324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36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13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42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348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3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54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1345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57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3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6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36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13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7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378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13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8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37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8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13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9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1399" presetID="10" presetClass="entr" presetSubtype="0" fill="hold" grpId="0" nodeType="afterEffect">
                      <p:stCondLst>
                        <p:cond delay="1380"/>
                      </p:stCondLst>
                      <p:childTnLst>
                        <p:set>
                          <p:cBhvr>
                            <p:cTn id="14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05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1396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408" presetID="10" presetClass="entr" presetSubtype="0" fill="hold" grpId="0" nodeType="afterEffect">
                      <p:stCondLst>
                        <p:cond delay="1450"/>
                      </p:stCondLst>
                      <p:childTnLst>
                        <p:set>
                          <p:cBhvr>
                            <p:cTn id="14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1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417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1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1426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1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1435" presetID="10" presetClass="entr" presetSubtype="0" fill="hold" grpId="0" nodeType="afterEffect">
                      <p:stCondLst>
                        <p:cond delay="1880"/>
                      </p:stCondLst>
                      <p:childTnLst>
                        <p:set>
                          <p:cBhvr>
                            <p:cTn id="1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41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2F7F4"/>
                </a:solidFill>
                <a:latin typeface="Cambria"/>
              </a:rPr>
              <a:t>The Here and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ADC4C7"/>
                </a:solidFill>
                <a:latin typeface="Cambria"/>
              </a:rPr>
              <a:t>Change happens in the present moment.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84A3AA"/>
                </a:solidFill>
                <a:latin typeface="Consola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879170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84DCC6"/>
                </a:solidFill>
                <a:latin typeface="Consolas"/>
              </a:rPr>
              <a:t>THE FOCUS</a:t>
            </a:r>
          </a:p>
        </p:txBody>
      </p:sp>
      <p:pic>
        <p:nvPicPr>
          <p:cNvPr id="10" name="Picture 9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37488"/>
            <a:ext cx="247649" cy="2476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2187" y="2138250"/>
            <a:ext cx="45462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Focuses on the client's present experience</a:t>
            </a:r>
          </a:p>
        </p:txBody>
      </p:sp>
      <p:pic>
        <p:nvPicPr>
          <p:cNvPr id="12" name="Picture 11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02744"/>
            <a:ext cx="247649" cy="2476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12187" y="3503506"/>
            <a:ext cx="45462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Includes thoughts, emotions, bodily sensations and behaviour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64" y="1879170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84DCC6"/>
                </a:solidFill>
                <a:latin typeface="Consolas"/>
              </a:rPr>
              <a:t>THE PAST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2137488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8573" y="2138250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Past experiences are explored through their current impact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3502744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8573" y="3503506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The therapeutic relationship offers present moment awareness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98443"/>
            <a:ext cx="267461" cy="2674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2187" y="4500444"/>
            <a:ext cx="92873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650" b="0" i="0">
                <a:solidFill>
                  <a:srgbClr val="F2F7F4"/>
                </a:solidFill>
                <a:latin typeface="Calibri"/>
              </a:rPr>
              <a:t>Encourages direct experience rather than excessive intellectual analysis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4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46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6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47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47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8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4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4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50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5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51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5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51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2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5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53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5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53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4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5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55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5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5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564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56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73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5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585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1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9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58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94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0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60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6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1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60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1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2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2F7F4"/>
                </a:solidFill>
                <a:latin typeface="Cambria"/>
              </a:rPr>
              <a:t>Figure and 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ADC4C7"/>
                </a:solidFill>
                <a:latin typeface="Cambria"/>
              </a:rPr>
              <a:t>One element steps forward from its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84A3AA"/>
                </a:solidFill>
                <a:latin typeface="Consolas"/>
              </a:rPr>
              <a:t>08</a:t>
            </a:r>
          </a:p>
        </p:txBody>
      </p:sp>
      <p:pic>
        <p:nvPicPr>
          <p:cNvPr id="9" name="Picture 8" descr="figure_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16" y="2031570"/>
            <a:ext cx="3276592" cy="3276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98316" y="308312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400" b="1" i="0" spc="187">
                <a:solidFill>
                  <a:srgbClr val="F2F7F4"/>
                </a:solidFill>
                <a:latin typeface="Consolas"/>
              </a:rPr>
              <a:t>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8316" y="329648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250" b="0" i="1">
                <a:solidFill>
                  <a:srgbClr val="ADC4C7"/>
                </a:solidFill>
                <a:latin typeface="Cambria"/>
              </a:rPr>
              <a:t>what steps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8316" y="4729043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150" b="1" i="0" spc="234">
                <a:solidFill>
                  <a:srgbClr val="ADC4C7"/>
                </a:solidFill>
                <a:latin typeface="Consolas"/>
              </a:rPr>
              <a:t>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66" y="1848690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2600" b="1" i="0">
                <a:solidFill>
                  <a:srgbClr val="F2F7F4"/>
                </a:solidFill>
                <a:latin typeface="Cambria"/>
              </a:rPr>
              <a:t>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66" y="2444352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500" b="0" i="0">
                <a:solidFill>
                  <a:srgbClr val="ADC4C7"/>
                </a:solidFill>
                <a:latin typeface="Calibri"/>
              </a:rPr>
              <a:t>What is most prominent in awareness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66" y="3075315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2600" b="1" i="0">
                <a:solidFill>
                  <a:srgbClr val="F2F7F4"/>
                </a:solidFill>
                <a:latin typeface="Cambria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66" y="3670976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500" b="0" i="0">
                <a:solidFill>
                  <a:srgbClr val="ADC4C7"/>
                </a:solidFill>
                <a:latin typeface="Calibri"/>
              </a:rPr>
              <a:t>The surrounding context and experiences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059814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88974" y="4073340"/>
            <a:ext cx="3924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2F7F4"/>
                </a:solidFill>
                <a:latin typeface="Calibri"/>
              </a:rPr>
              <a:t>Needs and concerns move between figure and ground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786898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88974" y="4800423"/>
            <a:ext cx="3924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2F7F4"/>
                </a:solidFill>
                <a:latin typeface="Calibri"/>
              </a:rPr>
              <a:t>The figure changes as circumstances change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5224506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88974" y="5238031"/>
            <a:ext cx="3924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2F7F4"/>
                </a:solidFill>
                <a:latin typeface="Calibri"/>
              </a:rPr>
              <a:t>Awareness reveals what matters most right 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6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6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6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6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6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6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684" presetID="23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90" dur="70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681" dur="520" fill="hold"/>
                            <p:tgtEl>
                              <p:spTgt spid="9"/>
                            </p:tgtEl>
                          </p:cBhvr>
                          <p:from x="92000" y="92000"/>
                          <p:to x="100000" y="100000"/>
                        </p:animScale>
                      </p:childTnLst>
                    </p:cTn>
                  </p:par>
                  <p:par>
                    <p:cTn id="1696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6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02" dur="620"/>
                            <p:tgtEl>
                              <p:spTgt spid="13"/>
                            </p:tgtEl>
                          </p:cBhvr>
                        </p:animEffect>
                        <p:anim calcmode="lin" valueType="num">
                          <p:cBhvr additive="base">
                            <p:cTn id="1693" dur="520" fill="hold"/>
                            <p:tgtEl>
                              <p:spTgt spid="1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0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7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1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71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72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32" dur="620"/>
                            <p:tgtEl>
                              <p:spTgt spid="15"/>
                            </p:tgtEl>
                          </p:cBhvr>
                        </p:animEffect>
                        <p:anim calcmode="lin" valueType="num">
                          <p:cBhvr additive="base">
                            <p:cTn id="1723" dur="520" fill="hold"/>
                            <p:tgtEl>
                              <p:spTgt spid="1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35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4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74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7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7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7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765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7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7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76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74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17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8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78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7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9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78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9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7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0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80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18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1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80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16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18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2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050" b="1" i="0">
                <a:solidFill>
                  <a:srgbClr val="F2F7F4"/>
                </a:solidFill>
                <a:latin typeface="Cambria"/>
              </a:rPr>
              <a:t>Contact and the Contact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87770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ADC4C7"/>
                </a:solidFill>
                <a:latin typeface="Cambria"/>
              </a:rPr>
              <a:t>Where the person and the world meet.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84A3AA"/>
                </a:solidFill>
                <a:latin typeface="Consolas"/>
              </a:rPr>
              <a:t>09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30770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731532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Contact is the interaction between the individual and the environment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586776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587538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The contact boundary is the point at which the two meet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42782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443544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Healthy contact addresses needs while keeping a sense of self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9878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4299551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Contact involves engaging, responding and withdrawing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54795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5155557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Relationships, culture and circumstances influence contact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78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650" b="1" i="0" spc="78">
                <a:solidFill>
                  <a:srgbClr val="F2F7F4"/>
                </a:solidFill>
                <a:latin typeface="Calibri"/>
              </a:rPr>
              <a:t>Individual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71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650" b="1" i="0" spc="78">
                <a:solidFill>
                  <a:srgbClr val="F2F7F4"/>
                </a:solidFill>
                <a:latin typeface="Calibri"/>
              </a:rPr>
              <a:t>Contact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0265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650" b="1" i="0" spc="78">
                <a:solidFill>
                  <a:srgbClr val="F2F7F4"/>
                </a:solidFill>
                <a:latin typeface="Calibri"/>
              </a:rPr>
              <a:t>Environment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2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3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83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84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85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8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6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85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6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8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87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88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8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9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88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9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0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90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9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1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90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1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2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92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92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3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4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94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9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5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94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5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9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6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96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9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7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96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78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9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8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98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9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996" presetID="10" presetClass="entr" presetSubtype="0" fill="hold" grpId="0" nodeType="afterEffect">
                      <p:stCondLst>
                        <p:cond delay="1440"/>
                      </p:stCondLst>
                      <p:childTnLst>
                        <p:set>
                          <p:cBhvr>
                            <p:cTn id="19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0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005" presetID="10" presetClass="entr" presetSubtype="0" fill="hold" grpId="0" nodeType="afterEffect">
                      <p:stCondLst>
                        <p:cond delay="1580"/>
                      </p:stCondLst>
                      <p:childTnLst>
                        <p:set>
                          <p:cBhvr>
                            <p:cTn id="20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1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2F7F4"/>
                </a:solidFill>
                <a:latin typeface="Cambria"/>
              </a:rPr>
              <a:t>Unfinished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ADC4C7"/>
                </a:solidFill>
                <a:latin typeface="Cambria"/>
              </a:rPr>
              <a:t>Unresolved experience keeps its hold on the present.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84A3AA"/>
                </a:solidFill>
                <a:latin typeface="Consolas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879170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84DCC6"/>
                </a:solidFill>
                <a:latin typeface="Consolas"/>
              </a:rPr>
              <a:t>MAY INCLUDE</a:t>
            </a:r>
          </a:p>
        </p:txBody>
      </p:sp>
      <p:pic>
        <p:nvPicPr>
          <p:cNvPr id="10" name="Picture 9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57157"/>
            <a:ext cx="227837" cy="2278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7498" y="215349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00" b="0" i="0">
                <a:solidFill>
                  <a:srgbClr val="F2F7F4"/>
                </a:solidFill>
                <a:latin typeface="Calibri"/>
              </a:rPr>
              <a:t>Grief</a:t>
            </a:r>
          </a:p>
        </p:txBody>
      </p:sp>
      <p:pic>
        <p:nvPicPr>
          <p:cNvPr id="12" name="Picture 11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157157"/>
            <a:ext cx="227837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01053" y="215349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00" b="0" i="0">
                <a:solidFill>
                  <a:srgbClr val="F2F7F4"/>
                </a:solidFill>
                <a:latin typeface="Calibri"/>
              </a:rPr>
              <a:t>Anger</a:t>
            </a:r>
          </a:p>
        </p:txBody>
      </p:sp>
      <p:pic>
        <p:nvPicPr>
          <p:cNvPr id="14" name="Picture 13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157157"/>
            <a:ext cx="227837" cy="2278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14609" y="215349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00" b="0" i="0">
                <a:solidFill>
                  <a:srgbClr val="F2F7F4"/>
                </a:solidFill>
                <a:latin typeface="Calibri"/>
              </a:rPr>
              <a:t>Guilt</a:t>
            </a:r>
          </a:p>
        </p:txBody>
      </p:sp>
      <p:pic>
        <p:nvPicPr>
          <p:cNvPr id="16" name="Picture 15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157157"/>
            <a:ext cx="227837" cy="2278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8164" y="215349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00" b="0" i="0">
                <a:solidFill>
                  <a:srgbClr val="F2F7F4"/>
                </a:solidFill>
                <a:latin typeface="Calibri"/>
              </a:rPr>
              <a:t>Resentment</a:t>
            </a:r>
          </a:p>
        </p:txBody>
      </p:sp>
      <p:pic>
        <p:nvPicPr>
          <p:cNvPr id="18" name="Picture 17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157157"/>
            <a:ext cx="227837" cy="2278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41720" y="2153490"/>
            <a:ext cx="13070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00" b="0" i="0">
                <a:solidFill>
                  <a:srgbClr val="F2F7F4"/>
                </a:solidFill>
                <a:latin typeface="Calibri"/>
              </a:rPr>
              <a:t>Unmet needs</a:t>
            </a:r>
          </a:p>
        </p:txBody>
      </p:sp>
      <p:pic>
        <p:nvPicPr>
          <p:cNvPr id="20" name="Picture 19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62326"/>
            <a:ext cx="247649" cy="2476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12187" y="2763088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Can remain psychologically active in the present</a:t>
            </a:r>
          </a:p>
        </p:txBody>
      </p:sp>
      <p:pic>
        <p:nvPicPr>
          <p:cNvPr id="22" name="Picture 21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10960"/>
            <a:ext cx="247649" cy="2476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12187" y="4111722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May interfere with healthy contact</a:t>
            </a:r>
          </a:p>
        </p:txBody>
      </p:sp>
      <p:pic>
        <p:nvPicPr>
          <p:cNvPr id="24" name="Picture 23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459594"/>
            <a:ext cx="247649" cy="2476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12187" y="5460356"/>
            <a:ext cx="88987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Therapy promotes awareness and 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1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02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03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3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04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04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05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06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6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07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0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7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08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0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208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09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20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9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10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21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210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1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21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2125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21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31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2122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34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21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146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21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52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143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5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21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61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167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21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73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2164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1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82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18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94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2185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9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03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20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1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20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1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23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22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6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2227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39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22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45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500" b="1" i="0">
                <a:solidFill>
                  <a:srgbClr val="F2F7F4"/>
                </a:solidFill>
                <a:latin typeface="Cambria"/>
              </a:rPr>
              <a:t>Personal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61589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ADC4C7"/>
                </a:solidFill>
                <a:latin typeface="Cambria"/>
              </a:rPr>
              <a:t>Owning your choices, without blame.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84A3AA"/>
                </a:solidFill>
                <a:latin typeface="Consolas"/>
              </a:rPr>
              <a:t>11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804589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805351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Recognising one's own choices and responses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70524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871286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Promotes agency and ownership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36460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3937222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Encourages authentic decision making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02396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003158"/>
            <a:ext cx="501256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2F7F4"/>
                </a:solidFill>
                <a:latin typeface="Calibri"/>
              </a:rPr>
              <a:t>Uses language that reflects personal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78" y="5577826"/>
            <a:ext cx="51297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4628"/>
              </a:lnSpc>
              <a:buNone/>
            </a:pPr>
            <a:r>
              <a:rPr sz="1100" b="1" i="0" spc="172">
                <a:solidFill>
                  <a:srgbClr val="84DCC6"/>
                </a:solidFill>
                <a:latin typeface="Consolas"/>
              </a:rPr>
              <a:t>RESPONSIBILITY IS OWNERSHIP  NOT BLAME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864" y="1759631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84DCC6"/>
                </a:solidFill>
                <a:latin typeface="Consolas"/>
              </a:rPr>
              <a:t>LANGUAGE IN PRACTICE</a:t>
            </a:r>
          </a:p>
        </p:txBody>
      </p:sp>
      <p:pic>
        <p:nvPicPr>
          <p:cNvPr id="19" name="Picture 18" descr="mark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64" y="2079670"/>
            <a:ext cx="297179" cy="29717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9383" y="2049190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750" b="0" i="1">
                <a:solidFill>
                  <a:srgbClr val="ADC4C7"/>
                </a:solidFill>
                <a:latin typeface="Cambria"/>
              </a:rPr>
              <a:t>“You make me angry.”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383" y="2448363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150" b="0" i="0">
                <a:solidFill>
                  <a:srgbClr val="84A3AA"/>
                </a:solidFill>
                <a:latin typeface="Consolas"/>
              </a:rPr>
              <a:t>blames the other person</a:t>
            </a:r>
          </a:p>
        </p:txBody>
      </p:sp>
      <p:pic>
        <p:nvPicPr>
          <p:cNvPr id="22" name="Picture 21" descr="tick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8864" y="2891084"/>
            <a:ext cx="297179" cy="29717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29383" y="2860604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750" b="0" i="1">
                <a:solidFill>
                  <a:srgbClr val="F2F7F4"/>
                </a:solidFill>
                <a:latin typeface="Cambria"/>
              </a:rPr>
              <a:t>“I notice that I become angry when…”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383" y="3259777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150" b="0" i="0">
                <a:solidFill>
                  <a:srgbClr val="84A3AA"/>
                </a:solidFill>
                <a:latin typeface="Consolas"/>
              </a:rPr>
              <a:t>owns the experience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4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2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5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25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2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6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26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2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7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27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2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8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27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28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2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9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29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2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0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30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3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1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30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1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3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32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3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3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32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3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3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4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34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3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35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3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6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35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71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3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7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36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8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3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86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389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23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9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401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24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0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39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24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41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24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2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431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4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37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428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4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4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6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449" presetID="10" presetClass="entr" presetSubtype="0" fill="hold" grpId="0" nodeType="afterEffect">
                      <p:stCondLst>
                        <p:cond delay="1130"/>
                      </p:stCondLst>
                      <p:childTnLst>
                        <p:set>
                          <p:cBhvr>
                            <p:cTn id="24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55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458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24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6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050" b="1" i="0">
                <a:solidFill>
                  <a:srgbClr val="FBF3EE"/>
                </a:solidFill>
                <a:latin typeface="Cambria"/>
              </a:rPr>
              <a:t>Role of the Gestalt Counsellor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87770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D2B9BC"/>
                </a:solidFill>
                <a:latin typeface="Cambria"/>
              </a:rPr>
              <a:t>A companion in the client's present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A98B93"/>
                </a:solidFill>
                <a:latin typeface="Consolas"/>
              </a:rPr>
              <a:t>12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30770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731532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Facilitates awareness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73711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974473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Focuses on present experience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16653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217415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Observes verbal and non verbal behaviour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459594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460356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Uses the therapeutic relationship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730770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1731532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Encourages authentic expression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246658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3247420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Explores interruptions in contact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762547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476330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Promotes responsibility and choice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6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4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7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47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8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48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9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49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5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0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49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50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1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51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2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52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5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52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3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5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4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54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5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5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54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5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5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56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5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7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56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7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5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8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59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2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9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58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9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2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0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611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26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1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60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20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2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32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6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38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629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41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2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47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6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26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5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265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62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6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68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050" b="1" i="0">
                <a:solidFill>
                  <a:srgbClr val="FBF3EE"/>
                </a:solidFill>
                <a:latin typeface="Cambria"/>
              </a:rPr>
              <a:t>Gestalt Therapeutic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87770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D2B9BC"/>
                </a:solidFill>
                <a:latin typeface="Cambria"/>
              </a:rPr>
              <a:t>Nine experiments that turn talking into experiencing.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A98B93"/>
                </a:solidFill>
                <a:latin typeface="Consolas"/>
              </a:rPr>
              <a:t>13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30770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731532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Empty chair technique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1730770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93578" y="1731532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Two chair dialogue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1730770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74969" y="1731532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Exaggeration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259718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226048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Staying with the feeling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2259718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93578" y="226048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Role play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2259718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74969" y="2260480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Body awareness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88667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2187" y="278942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“I” statements</a:t>
            </a:r>
          </a:p>
        </p:txBody>
      </p:sp>
      <p:pic>
        <p:nvPicPr>
          <p:cNvPr id="23" name="Picture 2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2788667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93578" y="278942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Dream work</a:t>
            </a:r>
          </a:p>
        </p:txBody>
      </p:sp>
      <p:pic>
        <p:nvPicPr>
          <p:cNvPr id="25" name="Picture 2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2788667"/>
            <a:ext cx="247649" cy="2476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74969" y="278942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Here and now questioning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7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6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7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68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6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8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68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6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9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70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7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0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69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1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71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2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73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3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72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40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2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4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752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27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5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74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61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27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6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773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27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7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77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8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7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8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794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2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79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03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28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815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28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2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81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24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28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83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28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4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83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45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28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5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857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28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6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285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6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28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7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287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8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84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2875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87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28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93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289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9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05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2896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908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29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14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BF3EE"/>
                </a:solidFill>
                <a:latin typeface="Cambria"/>
              </a:rPr>
              <a:t>Empty Chair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D2B9BC"/>
                </a:solidFill>
                <a:latin typeface="Cambria"/>
              </a:rPr>
              <a:t>Speaking to the person who is not in the room.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A98B93"/>
                </a:solidFill>
                <a:latin typeface="Consolas"/>
              </a:rPr>
              <a:t>14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878408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879170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The client imagines another person in the empty chair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31436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432198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Speaks directly to the imagined person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84464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2985226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Brings unresolved experience into present awareness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37491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3538253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Facilitates expression of unfinished emotions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90519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4091281"/>
            <a:ext cx="56343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May open new awareness and perspectives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82" y="1726771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0579"/>
              </a:lnSpc>
              <a:buNone/>
            </a:pPr>
            <a:r>
              <a:rPr sz="7200" b="1" i="0">
                <a:solidFill>
                  <a:srgbClr val="F2A98A"/>
                </a:solidFill>
                <a:latin typeface="Cambria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21" y="2663137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900" b="0" i="1">
                <a:solidFill>
                  <a:srgbClr val="FBF3EE"/>
                </a:solidFill>
                <a:latin typeface="Cambria"/>
              </a:rPr>
              <a:t>Imagine your father is sitting in that chair. What would you want him to hear from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21" y="3964170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03">
                <a:solidFill>
                  <a:srgbClr val="A98B93"/>
                </a:solidFill>
                <a:latin typeface="Consolas"/>
              </a:rPr>
              <a:t>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681190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F2A98A"/>
                </a:solidFill>
                <a:latin typeface="Consolas"/>
              </a:rPr>
              <a:t>THE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8" y="4925029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550" b="1" i="0" spc="78">
                <a:solidFill>
                  <a:srgbClr val="FBF3EE"/>
                </a:solidFill>
                <a:latin typeface="Calibri"/>
              </a:rPr>
              <a:t>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4192" y="4925029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550" b="1" i="0" spc="78">
                <a:solidFill>
                  <a:srgbClr val="FBF3EE"/>
                </a:solidFill>
                <a:latin typeface="Calibri"/>
              </a:rPr>
              <a:t>Imagined person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1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9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92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3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93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4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94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9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94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95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9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6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96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9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7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97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9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8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97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98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9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9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99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0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0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99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0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0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1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01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0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2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01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2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0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3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04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0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03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4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0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5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06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0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6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05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7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0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07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0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8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091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97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3088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00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1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0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109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1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15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118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1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27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31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3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050" b="1" i="0">
                <a:solidFill>
                  <a:srgbClr val="FBF3EE"/>
                </a:solidFill>
                <a:latin typeface="Cambria"/>
              </a:rPr>
              <a:t>Other Experiential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8777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D2B9BC"/>
                </a:solidFill>
                <a:latin typeface="Cambria"/>
              </a:rPr>
              <a:t>What each experiment is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A98B93"/>
                </a:solidFill>
                <a:latin typeface="Consolas"/>
              </a:rPr>
              <a:t>15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30770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6253" y="1731532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1" i="0">
                <a:solidFill>
                  <a:srgbClr val="FBF3EE"/>
                </a:solidFill>
                <a:latin typeface="Calibri"/>
              </a:rPr>
              <a:t>Two chair dialogue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730770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20239" y="1731532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D2B9BC"/>
                </a:solidFill>
                <a:latin typeface="Calibri"/>
              </a:rPr>
              <a:t>Explore opposing parts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229238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86253" y="2230000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1" i="0">
                <a:solidFill>
                  <a:srgbClr val="FBF3EE"/>
                </a:solidFill>
                <a:latin typeface="Calibri"/>
              </a:rPr>
              <a:t>Exaggeration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229238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0239" y="2230000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D2B9BC"/>
                </a:solidFill>
                <a:latin typeface="Calibri"/>
              </a:rPr>
              <a:t>Increase awareness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27707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86253" y="2728469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1" i="0">
                <a:solidFill>
                  <a:srgbClr val="FBF3EE"/>
                </a:solidFill>
                <a:latin typeface="Calibri"/>
              </a:rPr>
              <a:t>Staying with the feeling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727707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0239" y="2728469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D2B9BC"/>
                </a:solidFill>
                <a:latin typeface="Calibri"/>
              </a:rPr>
              <a:t>Explore emerging emotions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26176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6253" y="3226938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1" i="0">
                <a:solidFill>
                  <a:srgbClr val="FBF3EE"/>
                </a:solidFill>
                <a:latin typeface="Calibri"/>
              </a:rPr>
              <a:t>Body awareness</a:t>
            </a:r>
          </a:p>
        </p:txBody>
      </p:sp>
      <p:pic>
        <p:nvPicPr>
          <p:cNvPr id="23" name="Picture 2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226176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20239" y="3226938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D2B9BC"/>
                </a:solidFill>
                <a:latin typeface="Calibri"/>
              </a:rPr>
              <a:t>Notice physical experience</a:t>
            </a:r>
          </a:p>
        </p:txBody>
      </p:sp>
      <p:pic>
        <p:nvPicPr>
          <p:cNvPr id="25" name="Picture 2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24644"/>
            <a:ext cx="247649" cy="2476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86253" y="3725406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1" i="0">
                <a:solidFill>
                  <a:srgbClr val="FBF3EE"/>
                </a:solidFill>
                <a:latin typeface="Calibri"/>
              </a:rPr>
              <a:t>“I” statements</a:t>
            </a:r>
          </a:p>
        </p:txBody>
      </p:sp>
      <p:pic>
        <p:nvPicPr>
          <p:cNvPr id="27" name="Picture 2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24644"/>
            <a:ext cx="247649" cy="2476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620239" y="3725406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D2B9BC"/>
                </a:solidFill>
                <a:latin typeface="Calibri"/>
              </a:rPr>
              <a:t>Own personal experience</a:t>
            </a:r>
          </a:p>
        </p:txBody>
      </p:sp>
      <p:pic>
        <p:nvPicPr>
          <p:cNvPr id="29" name="Picture 2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23113"/>
            <a:ext cx="247649" cy="24764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86253" y="4223875"/>
            <a:ext cx="353798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1" i="0">
                <a:solidFill>
                  <a:srgbClr val="FBF3EE"/>
                </a:solidFill>
                <a:latin typeface="Calibri"/>
              </a:rPr>
              <a:t>Dream work</a:t>
            </a:r>
          </a:p>
        </p:txBody>
      </p:sp>
      <p:pic>
        <p:nvPicPr>
          <p:cNvPr id="31" name="Picture 3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223113"/>
            <a:ext cx="247649" cy="2476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620239" y="4223875"/>
            <a:ext cx="384888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D2B9BC"/>
                </a:solidFill>
                <a:latin typeface="Calibri"/>
              </a:rPr>
              <a:t>Explore present meaning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3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4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14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1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6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16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7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16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7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1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8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18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9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19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0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19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0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1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20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17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2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229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32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3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22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38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3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4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250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2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24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59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32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6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271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2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7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26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80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2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8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29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2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98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289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01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3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0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31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3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1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31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2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3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2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33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0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331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43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33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9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35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61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3352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6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3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70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37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82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3373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85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3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91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397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03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3394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0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12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3418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24" dur="420"/>
                            <p:tgtEl>
                              <p:spTgt spid="31"/>
                            </p:tgtEl>
                          </p:cBhvr>
                        </p:animEffect>
                        <p:animScale>
                          <p:cBhvr>
                            <p:cTn id="3415" dur="520" fill="hold"/>
                            <p:tgtEl>
                              <p:spTgt spid="3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27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3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3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3436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34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42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500" b="1" i="0">
                <a:solidFill>
                  <a:srgbClr val="FBF3EE"/>
                </a:solidFill>
                <a:latin typeface="Cambria"/>
              </a:rPr>
              <a:t>Application in Counselling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61589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D2B9BC"/>
                </a:solidFill>
                <a:latin typeface="Cambria"/>
              </a:rPr>
              <a:t>Gestalt therapy can be applied to the following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A98B93"/>
                </a:solidFill>
                <a:latin typeface="Consolas"/>
              </a:rPr>
              <a:t>16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804589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805351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Grief and loss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1804589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36575" y="1805351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Relationship difficulties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03058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2303820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Anxiety and emotional distress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2303058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36575" y="2303820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Unresolved anger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01526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2802288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Identity concerns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2801526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6575" y="2802288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Emotional expression difficulties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99995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2187" y="3300757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Personal growth</a:t>
            </a:r>
          </a:p>
        </p:txBody>
      </p:sp>
      <p:pic>
        <p:nvPicPr>
          <p:cNvPr id="23" name="Picture 2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299995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36575" y="3300757"/>
            <a:ext cx="40798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BF3EE"/>
                </a:solidFill>
                <a:latin typeface="Calibri"/>
              </a:rPr>
              <a:t>Unresolved interpersonal experiences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3982105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F2A98A"/>
                </a:solidFill>
                <a:latin typeface="Consolas"/>
              </a:rPr>
              <a:t>THERAPEUTIC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78" y="4241184"/>
            <a:ext cx="1880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450" b="1" i="0" spc="78">
                <a:solidFill>
                  <a:srgbClr val="FBF3EE"/>
                </a:solidFill>
                <a:latin typeface="Calibri"/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3" y="4241184"/>
            <a:ext cx="1880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450" b="1" i="0" spc="78">
                <a:solidFill>
                  <a:srgbClr val="FBF3EE"/>
                </a:solidFill>
                <a:latin typeface="Calibri"/>
              </a:rPr>
              <a:t>Contact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2468" y="4241184"/>
            <a:ext cx="1880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450" b="1" i="0" spc="78">
                <a:solidFill>
                  <a:srgbClr val="FBF3EE"/>
                </a:solidFill>
                <a:latin typeface="Calibri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464" y="4241184"/>
            <a:ext cx="1880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450" b="1" i="0" spc="78">
                <a:solidFill>
                  <a:srgbClr val="FBF3EE"/>
                </a:solidFill>
                <a:latin typeface="Calibri"/>
              </a:rPr>
              <a:t>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59" y="4241184"/>
            <a:ext cx="1880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450" b="1" i="0" spc="78">
                <a:solidFill>
                  <a:srgbClr val="FBF3EE"/>
                </a:solidFill>
                <a:latin typeface="Calibri"/>
              </a:rPr>
              <a:t>Growth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4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4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4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4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4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4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4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4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5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5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5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14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5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526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3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3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52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35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35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4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547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3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5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54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5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5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6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568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7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56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77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3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8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589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3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9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58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98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3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0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61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60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1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2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631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3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3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62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40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3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4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652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3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5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64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61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3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67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6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3679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6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8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688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36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9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3697" presetID="10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7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0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3706" presetID="10" presetClass="entr" presetSubtype="0" fill="hold" grpId="0" nodeType="afterEffect">
                      <p:stCondLst>
                        <p:cond delay="1820"/>
                      </p:stCondLst>
                      <p:childTnLst>
                        <p:set>
                          <p:cBhvr>
                            <p:cTn id="37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1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3715" presetID="10" presetClass="entr" presetSubtype="0" fill="hold" grpId="0" nodeType="afterEffect">
                      <p:stCondLst>
                        <p:cond delay="1960"/>
                      </p:stCondLst>
                      <p:childTnLst>
                        <p:set>
                          <p:cBhvr>
                            <p:cTn id="37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21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C3B4F5"/>
                </a:solidFill>
                <a:latin typeface="Consolas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050" b="1" i="0">
                <a:solidFill>
                  <a:srgbClr val="F6F4FD"/>
                </a:solidFill>
                <a:latin typeface="Cambria"/>
              </a:rPr>
              <a:t>Strengths of Gestalt Therapy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8777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BCB8DA"/>
                </a:solidFill>
                <a:latin typeface="Cambria"/>
              </a:rPr>
              <a:t>What this approach does particularly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928FB5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928FB5"/>
                </a:solidFill>
                <a:latin typeface="Consolas"/>
              </a:rPr>
              <a:t>17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30770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731532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Promotes self awareness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24511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3025273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Focuses on lived experience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18253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319015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Encourages agency and responsibility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11994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612756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Integrates mind, emotion and body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730770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1731532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Considers person and environment interaction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246658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3247420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Encourages active client participation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762547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476330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Supports experiential emotional 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7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7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7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7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7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7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7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78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78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93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9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805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3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1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80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14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38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826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8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3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82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35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8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4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847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5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84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56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38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6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868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8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7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86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77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38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8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889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8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9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88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98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39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04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91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6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907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19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39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25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C3B4F5"/>
                </a:solidFill>
                <a:latin typeface="Consolas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500" b="1" i="0">
                <a:solidFill>
                  <a:srgbClr val="F6F4FD"/>
                </a:solidFill>
                <a:latin typeface="Cambria"/>
              </a:rPr>
              <a:t>Limitations and Criticisms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61589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BCB8DA"/>
                </a:solidFill>
                <a:latin typeface="Cambria"/>
              </a:rPr>
              <a:t>Honest considerations for careful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928FB5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928FB5"/>
                </a:solidFill>
                <a:latin typeface="Consolas"/>
              </a:rPr>
              <a:t>18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804589"/>
            <a:ext cx="247649" cy="24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2187" y="1805351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Some techniques may feel intense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38048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938810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Requires skilled and sensitive application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71506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4072268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May challenge clients who prefer highly structured approaches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35794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5536556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Experiential techniques can be misused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804589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46173" y="1805351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Not every intervention suits every client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320477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46173" y="3321239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Cultural context must be considered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836366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4837128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0">
                <a:solidFill>
                  <a:srgbClr val="F6F4FD"/>
                </a:solidFill>
                <a:latin typeface="Calibri"/>
              </a:rPr>
              <a:t>Ethical boundaries are essential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2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9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3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93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4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9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5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95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9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6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95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96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9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7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97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9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8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8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9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9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8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97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0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009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4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1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00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1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40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2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030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4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02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39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4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05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4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5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04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0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6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07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78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069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81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8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093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9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09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02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0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11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4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0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111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23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9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C3B4F5"/>
                </a:solidFill>
                <a:latin typeface="Consolas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6F4FD"/>
                </a:solidFill>
                <a:latin typeface="Cambria"/>
              </a:rPr>
              <a:t>Case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BCB8DA"/>
                </a:solidFill>
                <a:latin typeface="Cambria"/>
              </a:rPr>
              <a:t>A 20 year old undergraduate student on a scholarship.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928FB5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928FB5"/>
                </a:solidFill>
                <a:latin typeface="Consolas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8486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200" b="1" i="0" spc="203">
                <a:solidFill>
                  <a:srgbClr val="C3B4F5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062050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350" b="1" i="0" spc="109">
                <a:solidFill>
                  <a:srgbClr val="F6F4FD"/>
                </a:solidFill>
                <a:latin typeface="Consolas"/>
              </a:rPr>
              <a:t>PRESENTING CONCERNS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48894"/>
            <a:ext cx="22783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35160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Academic anxiety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33874"/>
            <a:ext cx="227837" cy="2278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2836588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Fear of losing the scholarship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18853"/>
            <a:ext cx="227837" cy="2278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3321568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Fear of disappointing family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03833"/>
            <a:ext cx="227837" cy="22783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380654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Difficulty expressing emotions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88812"/>
            <a:ext cx="227837" cy="2278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2187" y="429152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Pressure to maintain high 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349" y="18486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200" b="1" i="0" spc="203">
                <a:solidFill>
                  <a:srgbClr val="C3B4F5"/>
                </a:solidFill>
                <a:latin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349" y="2062050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350" b="1" i="0" spc="109">
                <a:solidFill>
                  <a:srgbClr val="F6F4FD"/>
                </a:solidFill>
                <a:latin typeface="Consolas"/>
              </a:rPr>
              <a:t>GESTALT CONCEPTUALISATION</a:t>
            </a:r>
          </a:p>
        </p:txBody>
      </p:sp>
      <p:pic>
        <p:nvPicPr>
          <p:cNvPr id="23" name="Picture 2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2348894"/>
            <a:ext cx="227837" cy="22783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824058" y="235160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Anxiety becomes figure</a:t>
            </a:r>
          </a:p>
        </p:txBody>
      </p:sp>
      <p:pic>
        <p:nvPicPr>
          <p:cNvPr id="25" name="Picture 2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2833874"/>
            <a:ext cx="227837" cy="22783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24058" y="2836588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Possible introjected expectations</a:t>
            </a:r>
          </a:p>
        </p:txBody>
      </p:sp>
      <p:pic>
        <p:nvPicPr>
          <p:cNvPr id="27" name="Picture 2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3318853"/>
            <a:ext cx="227837" cy="22783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24058" y="3321568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Limited awareness of personal needs</a:t>
            </a:r>
          </a:p>
        </p:txBody>
      </p:sp>
      <p:pic>
        <p:nvPicPr>
          <p:cNvPr id="29" name="Picture 2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3803833"/>
            <a:ext cx="227837" cy="22783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824058" y="380654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Interrupted contact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6220" y="18486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200" b="1" i="0" spc="203">
                <a:solidFill>
                  <a:srgbClr val="C3B4F5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6220" y="2062050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350" b="1" i="0" spc="109">
                <a:solidFill>
                  <a:srgbClr val="F6F4FD"/>
                </a:solidFill>
                <a:latin typeface="Consolas"/>
              </a:rPr>
              <a:t>POSSIBLE INTERVENTIONS</a:t>
            </a:r>
          </a:p>
        </p:txBody>
      </p:sp>
      <p:pic>
        <p:nvPicPr>
          <p:cNvPr id="33" name="Picture 3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2348894"/>
            <a:ext cx="227837" cy="22783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35929" y="2351609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Here and now exploration</a:t>
            </a:r>
          </a:p>
        </p:txBody>
      </p:sp>
      <p:pic>
        <p:nvPicPr>
          <p:cNvPr id="35" name="Picture 3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2833874"/>
            <a:ext cx="227837" cy="22783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35929" y="2836588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Body awareness</a:t>
            </a:r>
          </a:p>
        </p:txBody>
      </p:sp>
      <p:pic>
        <p:nvPicPr>
          <p:cNvPr id="37" name="Picture 3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3318853"/>
            <a:ext cx="227837" cy="2278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435929" y="3321568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Staying with the feeling</a:t>
            </a:r>
          </a:p>
        </p:txBody>
      </p:sp>
      <p:pic>
        <p:nvPicPr>
          <p:cNvPr id="39" name="Picture 3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3803833"/>
            <a:ext cx="227837" cy="22783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435929" y="380654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“I” statements</a:t>
            </a:r>
          </a:p>
        </p:txBody>
      </p:sp>
      <p:pic>
        <p:nvPicPr>
          <p:cNvPr id="41" name="Picture 4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4288812"/>
            <a:ext cx="227837" cy="22783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435929" y="4291527"/>
            <a:ext cx="29140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00" b="0" i="0">
                <a:solidFill>
                  <a:srgbClr val="F6F4FD"/>
                </a:solidFill>
                <a:latin typeface="Calibri"/>
              </a:rPr>
              <a:t>Exploring introjected beliefs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3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1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3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14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1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4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1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1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5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16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1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6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15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17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1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7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180" presetID="10" presetClass="entr" presetSubtype="0" fill="hold" grpId="0" nodeType="afterEffect">
                      <p:stCondLst>
                        <p:cond delay="400"/>
                      </p:stCondLst>
                      <p:childTnLst>
                        <p:set>
                          <p:cBhvr>
                            <p:cTn id="41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8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418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1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9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201" presetID="22" presetClass="entr" presetSubtype="0" fill="hold" grpId="0" nodeType="afterEffect">
                      <p:stCondLst>
                        <p:cond delay="480"/>
                      </p:stCondLst>
                      <p:childTnLst>
                        <p:set>
                          <p:cBhvr>
                            <p:cTn id="42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07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4198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10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2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1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422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2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21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34" presetID="22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0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4231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43" presetID="10" presetClass="entr" presetSubtype="0" fill="hold" grpId="0" nodeType="afterEffect">
                      <p:stCondLst>
                        <p:cond delay="640"/>
                      </p:stCondLst>
                      <p:childTnLst>
                        <p:set>
                          <p:cBhvr>
                            <p:cTn id="4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9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  <p:par>
                    <p:cTn id="4252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5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26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7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26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6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2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82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273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88" presetID="22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2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94" dur="620"/>
                            <p:tgtEl>
                              <p:spTgt spid="32"/>
                            </p:tgtEl>
                          </p:cBhvr>
                        </p:animEffect>
                        <p:anim calcmode="lin" valueType="num">
                          <p:cBhvr additive="base">
                            <p:cTn id="4285" dur="520" fill="hold"/>
                            <p:tgtEl>
                              <p:spTgt spid="3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97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3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0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306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4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12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31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3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2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31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30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3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6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327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42" presetID="10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43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48" dur="420"/>
                            <p:tgtEl>
                              <p:spTgt spid="33"/>
                            </p:tgtEl>
                          </p:cBhvr>
                        </p:animEffect>
                        <p:animScale>
                          <p:cBhvr>
                            <p:cTn id="4339" dur="520" fill="hold"/>
                            <p:tgtEl>
                              <p:spTgt spid="3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51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3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57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360" presetID="10" presetClass="entr" presetSubtype="0" fill="hold" grpId="0" nodeType="afterEffect">
                      <p:stCondLst>
                        <p:cond delay="890"/>
                      </p:stCondLst>
                      <p:childTnLst>
                        <p:set>
                          <p:cBhvr>
                            <p:cTn id="43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6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37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3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78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369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81" presetID="10" presetClass="entr" presetSubtype="0" fill="hold" grpId="0" nodeType="afterEffect">
                      <p:stCondLst>
                        <p:cond delay="910"/>
                      </p:stCondLst>
                      <p:childTnLst>
                        <p:set>
                          <p:cBhvr>
                            <p:cTn id="43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87" dur="52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  <p:par>
                    <p:cTn id="439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43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99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390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05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44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11" dur="420"/>
                            <p:tgtEl>
                              <p:spTgt spid="35"/>
                            </p:tgtEl>
                          </p:cBhvr>
                        </p:animEffect>
                        <p:animScale>
                          <p:cBhvr>
                            <p:cTn id="4402" dur="520" fill="hold"/>
                            <p:tgtEl>
                              <p:spTgt spid="3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1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4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423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44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9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435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4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43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44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4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0" dur="520"/>
                            <p:tgtEl>
                              <p:spTgt spid="36"/>
                            </p:tgtEl>
                          </p:cBhvr>
                        </p:animEffect>
                      </p:childTnLst>
                    </p:cTn>
                  </p:par>
                  <p:par>
                    <p:cTn id="4456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4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62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453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68" presetID="10" presetClass="entr" presetSubtype="0" fill="hold" grpId="0" nodeType="afterEffect">
                      <p:stCondLst>
                        <p:cond delay="1040"/>
                      </p:stCondLst>
                      <p:childTnLst>
                        <p:set>
                          <p:cBhvr>
                            <p:cTn id="44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74" dur="420"/>
                            <p:tgtEl>
                              <p:spTgt spid="37"/>
                            </p:tgtEl>
                          </p:cBhvr>
                        </p:animEffect>
                        <p:animScale>
                          <p:cBhvr>
                            <p:cTn id="4465" dur="520" fill="hold"/>
                            <p:tgtEl>
                              <p:spTgt spid="3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77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4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486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44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92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4495" presetID="10" presetClass="entr" presetSubtype="0" fill="hold" grpId="0" nodeType="afterEffect">
                      <p:stCondLst>
                        <p:cond delay="1110"/>
                      </p:stCondLst>
                      <p:childTnLst>
                        <p:set>
                          <p:cBhvr>
                            <p:cTn id="44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01" dur="520"/>
                            <p:tgtEl>
                              <p:spTgt spid="38"/>
                            </p:tgtEl>
                          </p:cBhvr>
                        </p:animEffect>
                      </p:childTnLst>
                    </p:cTn>
                  </p:par>
                  <p:par>
                    <p:cTn id="450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45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13" dur="420"/>
                            <p:tgtEl>
                              <p:spTgt spid="39"/>
                            </p:tgtEl>
                          </p:cBhvr>
                        </p:animEffect>
                        <p:animScale>
                          <p:cBhvr>
                            <p:cTn id="4504" dur="520" fill="hold"/>
                            <p:tgtEl>
                              <p:spTgt spid="3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16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45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22" dur="520"/>
                            <p:tgtEl>
                              <p:spTgt spid="40"/>
                            </p:tgtEl>
                          </p:cBhvr>
                        </p:animEffect>
                      </p:childTnLst>
                    </p:cTn>
                  </p:par>
                  <p:par>
                    <p:cTn id="4528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45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34" dur="420"/>
                            <p:tgtEl>
                              <p:spTgt spid="41"/>
                            </p:tgtEl>
                          </p:cBhvr>
                        </p:animEffect>
                        <p:animScale>
                          <p:cBhvr>
                            <p:cTn id="4525" dur="520" fill="hold"/>
                            <p:tgtEl>
                              <p:spTgt spid="4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37" presetID="10" presetClass="entr" presetSubtype="0" fill="hold" grpId="0" nodeType="afterEffect">
                      <p:stCondLst>
                        <p:cond delay="1310"/>
                      </p:stCondLst>
                      <p:childTnLst>
                        <p:set>
                          <p:cBhvr>
                            <p:cTn id="45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3" dur="520"/>
                            <p:tgtEl>
                              <p:spTgt spid="4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C3B4F5"/>
                </a:solidFill>
                <a:latin typeface="Consolas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6F4FD"/>
                </a:solidFill>
                <a:latin typeface="Cambria"/>
              </a:rPr>
              <a:t>Critical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BCB8DA"/>
                </a:solidFill>
                <a:latin typeface="Cambria"/>
              </a:rPr>
              <a:t>What the theory contributes and what it asks of the therapist.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928FB5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928FB5"/>
                </a:solidFill>
                <a:latin typeface="Consola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879170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C3B4F5"/>
                </a:solidFill>
                <a:latin typeface="Consolas"/>
              </a:rPr>
              <a:t>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65" y="1879170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50" b="1" i="0" spc="203">
                <a:solidFill>
                  <a:srgbClr val="C3B4F5"/>
                </a:solidFill>
                <a:latin typeface="Consolas"/>
              </a:rPr>
              <a:t>CONSIDERATIONS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31106"/>
            <a:ext cx="247649" cy="2476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2187" y="2138250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Holistic understanding of human experience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51112"/>
            <a:ext cx="247649" cy="2476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2187" y="2658256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Strong emphasis on awareness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71119"/>
            <a:ext cx="247649" cy="2476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2187" y="3178263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Integrates body, emotion and cognition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91125"/>
            <a:ext cx="247649" cy="247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12187" y="3698269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Recognises person and environment interaction</a:t>
            </a:r>
          </a:p>
        </p:txBody>
      </p:sp>
      <p:pic>
        <p:nvPicPr>
          <p:cNvPr id="19" name="Picture 1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11132"/>
            <a:ext cx="247649" cy="24764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2187" y="4218276"/>
            <a:ext cx="42353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Promotes agency and authentic choice</a:t>
            </a:r>
          </a:p>
        </p:txBody>
      </p:sp>
      <p:pic>
        <p:nvPicPr>
          <p:cNvPr id="21" name="Picture 2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131106"/>
            <a:ext cx="247649" cy="2476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46173" y="2138250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Cultural adaptation</a:t>
            </a:r>
          </a:p>
        </p:txBody>
      </p:sp>
      <p:pic>
        <p:nvPicPr>
          <p:cNvPr id="23" name="Picture 2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651112"/>
            <a:ext cx="247649" cy="2476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546173" y="2658256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Client readiness</a:t>
            </a:r>
          </a:p>
        </p:txBody>
      </p:sp>
      <p:pic>
        <p:nvPicPr>
          <p:cNvPr id="25" name="Picture 2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171119"/>
            <a:ext cx="247649" cy="2476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46173" y="3178263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Therapist competence</a:t>
            </a:r>
          </a:p>
        </p:txBody>
      </p:sp>
      <p:pic>
        <p:nvPicPr>
          <p:cNvPr id="27" name="Picture 2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691125"/>
            <a:ext cx="247649" cy="24764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6173" y="3698269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Appropriate use of experiential techniques</a:t>
            </a:r>
          </a:p>
        </p:txBody>
      </p:sp>
      <p:pic>
        <p:nvPicPr>
          <p:cNvPr id="29" name="Picture 2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211132"/>
            <a:ext cx="247649" cy="24764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46173" y="4218276"/>
            <a:ext cx="43907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450" b="0" i="0">
                <a:solidFill>
                  <a:srgbClr val="F6F4FD"/>
                </a:solidFill>
                <a:latin typeface="Calibri"/>
              </a:rPr>
              <a:t>Balance between present and past experience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4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5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5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5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5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6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56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7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57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5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8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57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58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9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59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60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6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9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461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2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61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2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3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63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6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4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63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4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6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5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5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66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6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72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663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75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6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81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687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68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7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05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696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08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1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71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2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72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7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3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72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4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7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47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738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5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7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75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7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65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77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7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77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768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80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7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86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79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47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98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789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0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8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07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813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48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19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810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22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48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28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0CA84"/>
                </a:solidFill>
                <a:latin typeface="Consola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7F4EC"/>
                </a:solidFill>
                <a:latin typeface="Cambria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33540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700" b="0" i="1">
                <a:solidFill>
                  <a:srgbClr val="B4BDD3"/>
                </a:solidFill>
                <a:latin typeface="Cambria"/>
              </a:rPr>
              <a:t>Greater awareness creates greater possibilities for choice and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8B95AE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8B95AE"/>
                </a:solidFill>
                <a:latin typeface="Consolas"/>
              </a:rPr>
              <a:t>21</a:t>
            </a:r>
          </a:p>
        </p:txBody>
      </p:sp>
      <p:pic>
        <p:nvPicPr>
          <p:cNvPr id="9" name="Picture 8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058835"/>
            <a:ext cx="257555" cy="2575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3957" y="1955370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2050" b="1" i="0">
                <a:solidFill>
                  <a:srgbClr val="F7F4EC"/>
                </a:solidFill>
                <a:latin typeface="Cambria"/>
              </a:rPr>
              <a:t>Awareness</a:t>
            </a:r>
          </a:p>
        </p:txBody>
      </p:sp>
      <p:pic>
        <p:nvPicPr>
          <p:cNvPr id="11" name="Picture 10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07724"/>
            <a:ext cx="257555" cy="25755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03957" y="2604259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2050" b="1" i="0">
                <a:solidFill>
                  <a:srgbClr val="F7F4EC"/>
                </a:solidFill>
                <a:latin typeface="Cambria"/>
              </a:rPr>
              <a:t>Here and now</a:t>
            </a:r>
          </a:p>
        </p:txBody>
      </p:sp>
      <p:pic>
        <p:nvPicPr>
          <p:cNvPr id="13" name="Picture 12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56613"/>
            <a:ext cx="257555" cy="2575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3957" y="3253148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2050" b="1" i="0">
                <a:solidFill>
                  <a:srgbClr val="F7F4EC"/>
                </a:solidFill>
                <a:latin typeface="Cambria"/>
              </a:rPr>
              <a:t>Contact</a:t>
            </a:r>
          </a:p>
        </p:txBody>
      </p:sp>
      <p:pic>
        <p:nvPicPr>
          <p:cNvPr id="15" name="Picture 14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05502"/>
            <a:ext cx="257555" cy="2575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3957" y="3902037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2050" b="1" i="0">
                <a:solidFill>
                  <a:srgbClr val="F7F4EC"/>
                </a:solidFill>
                <a:latin typeface="Cambria"/>
              </a:rPr>
              <a:t>Responsibility and choice</a:t>
            </a:r>
          </a:p>
        </p:txBody>
      </p:sp>
      <p:pic>
        <p:nvPicPr>
          <p:cNvPr id="17" name="Picture 16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62487"/>
            <a:ext cx="336803" cy="3368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03957" y="4550926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2450" b="1" i="0">
                <a:solidFill>
                  <a:srgbClr val="F7F4EC"/>
                </a:solidFill>
                <a:latin typeface="Cambria"/>
              </a:rP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61" y="3326967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4628"/>
              </a:lnSpc>
              <a:buNone/>
            </a:pPr>
            <a:r>
              <a:rPr sz="1600" b="0" i="1">
                <a:solidFill>
                  <a:srgbClr val="B4BDD3"/>
                </a:solidFill>
                <a:latin typeface="Cambria"/>
              </a:rPr>
              <a:t>Therapeutic change begins with noticing what is happening now.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3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3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4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8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84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8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5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86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8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6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85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87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8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7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87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8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8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89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8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9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88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03" presetID="22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9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9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4900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15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4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2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91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27" presetID="22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4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3" dur="620"/>
                            <p:tgtEl>
                              <p:spTgt spid="12"/>
                            </p:tgtEl>
                          </p:cBhvr>
                        </p:animEffect>
                        <p:anim calcmode="lin" valueType="num">
                          <p:cBhvr additive="base">
                            <p:cTn id="4924" dur="520" fill="hold"/>
                            <p:tgtEl>
                              <p:spTgt spid="1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39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9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9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51" presetID="22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49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57" dur="620"/>
                            <p:tgtEl>
                              <p:spTgt spid="14"/>
                            </p:tgtEl>
                          </p:cBhvr>
                        </p:animEffect>
                        <p:anim calcmode="lin" valueType="num">
                          <p:cBhvr additive="base">
                            <p:cTn id="4948" dur="520" fill="hold"/>
                            <p:tgtEl>
                              <p:spTgt spid="1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63" presetID="10" presetClass="entr" presetSubtype="0" fill="hold" grpId="0" nodeType="afterEffect">
                      <p:stCondLst>
                        <p:cond delay="930"/>
                      </p:stCondLst>
                      <p:childTnLst>
                        <p:set>
                          <p:cBhvr>
                            <p:cTn id="49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9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960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75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9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81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4972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87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4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9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98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99" presetID="22" presetClass="entr" presetSubtype="0" fill="hold" grpId="0" nodeType="afterEffect">
                      <p:stCondLst>
                        <p:cond delay="1160"/>
                      </p:stCondLst>
                      <p:childTnLst>
                        <p:set>
                          <p:cBhvr>
                            <p:cTn id="50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05" dur="620"/>
                            <p:tgtEl>
                              <p:spTgt spid="18"/>
                            </p:tgtEl>
                          </p:cBhvr>
                        </p:animEffect>
                        <p:anim calcmode="lin" valueType="num">
                          <p:cBhvr additive="base">
                            <p:cTn id="4996" dur="52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11" presetID="22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50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17" dur="620"/>
                            <p:tgtEl>
                              <p:spTgt spid="19"/>
                            </p:tgtEl>
                          </p:cBhvr>
                        </p:animEffect>
                        <p:anim calcmode="lin" valueType="num">
                          <p:cBhvr additive="base">
                            <p:cTn id="5008" dur="52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50">
                <a:solidFill>
                  <a:srgbClr val="F0CA84"/>
                </a:solidFill>
                <a:latin typeface="Consola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950" b="1" i="0">
                <a:solidFill>
                  <a:srgbClr val="F7F4EC"/>
                </a:solidFill>
                <a:latin typeface="Cambria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850" b="1" i="0" spc="109">
                <a:solidFill>
                  <a:srgbClr val="8B95AE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1150" b="1" i="0" spc="156">
                <a:solidFill>
                  <a:srgbClr val="8B95AE"/>
                </a:solidFill>
                <a:latin typeface="Consolas"/>
              </a:rPr>
              <a:t>22</a:t>
            </a:r>
          </a:p>
        </p:txBody>
      </p:sp>
      <p:pic>
        <p:nvPicPr>
          <p:cNvPr id="8" name="Picture 7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375842"/>
            <a:ext cx="217931" cy="2179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7498" y="1381128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B4BDD3"/>
                </a:solidFill>
                <a:latin typeface="Calibri"/>
              </a:rPr>
              <a:t>Brownell, P. (2010). Gestalt therapy: A guide to contemporary practice. Springer.</a:t>
            </a:r>
          </a:p>
        </p:txBody>
      </p:sp>
      <p:pic>
        <p:nvPicPr>
          <p:cNvPr id="10" name="Picture 9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36091"/>
            <a:ext cx="217931" cy="21793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7498" y="2141377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B4BDD3"/>
                </a:solidFill>
                <a:latin typeface="Calibri"/>
              </a:rPr>
              <a:t>Corey, G. (2024). Theory and practice of counseling and psychotherapy (11th ed.). Cengage.</a:t>
            </a:r>
          </a:p>
        </p:txBody>
      </p:sp>
      <p:pic>
        <p:nvPicPr>
          <p:cNvPr id="12" name="Picture 11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96340"/>
            <a:ext cx="217931" cy="2179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87498" y="2901626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B4BDD3"/>
                </a:solidFill>
                <a:latin typeface="Calibri"/>
              </a:rPr>
              <a:t>Joyce, P., and Sills, C. (2014). Skills in Gestalt counselling and psychotherapy (3rd ed.). SAGE.</a:t>
            </a:r>
          </a:p>
        </p:txBody>
      </p:sp>
      <p:pic>
        <p:nvPicPr>
          <p:cNvPr id="14" name="Picture 13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56589"/>
            <a:ext cx="217931" cy="21793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87498" y="3661876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B4BDD3"/>
                </a:solidFill>
                <a:latin typeface="Calibri"/>
              </a:rPr>
              <a:t>Perls, F. S., Hefferline, R. F., and Goodman, P. (1951). Gestalt therapy: Excitement and growth in the human personality. Julian Press.</a:t>
            </a:r>
          </a:p>
        </p:txBody>
      </p:sp>
      <p:pic>
        <p:nvPicPr>
          <p:cNvPr id="16" name="Picture 15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95975"/>
            <a:ext cx="217931" cy="21793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7498" y="4701262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B4BDD3"/>
                </a:solidFill>
                <a:latin typeface="Calibri"/>
              </a:rPr>
              <a:t>Woldt, A. L., and Toman, S. M. (2005). Gestalt therapy: History, theory, and practice. SAGE.</a:t>
            </a:r>
          </a:p>
        </p:txBody>
      </p:sp>
      <p:pic>
        <p:nvPicPr>
          <p:cNvPr id="18" name="Picture 17" descr="tick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456224"/>
            <a:ext cx="217931" cy="21793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7498" y="5461511"/>
            <a:ext cx="923483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B4BDD3"/>
                </a:solidFill>
                <a:latin typeface="Calibri"/>
              </a:rPr>
              <a:t>Yontef, G., and Fuhr, R. (2005). Gestalt therapy theory of change. In Woldt and Toman (Eds.), Gestalt therapy: History, theory, and practice (pp. 81 to 100). SAGE.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2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0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02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0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3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03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0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44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05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0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4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62" presetID="10" presetClass="entr" presetSubtype="0" fill="hold" grpId="0" nodeType="afterEffect">
                      <p:stCondLst>
                        <p:cond delay="400"/>
                      </p:stCondLst>
                      <p:childTnLst>
                        <p:set>
                          <p:cBhvr>
                            <p:cTn id="5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68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5059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7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7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080" presetID="10" presetClass="entr" presetSubtype="0" fill="hold" grpId="0" nodeType="afterEffect">
                      <p:stCondLst>
                        <p:cond delay="470"/>
                      </p:stCondLst>
                      <p:childTnLst>
                        <p:set>
                          <p:cBhvr>
                            <p:cTn id="50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8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09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0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98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5089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01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1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0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113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1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19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5110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22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1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28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13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1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0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131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43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1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9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515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1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61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5152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6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51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70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517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1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82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5173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85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1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9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