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bg-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Business-e-books/presentations/gestalt-theory-counselling/assets/scrim-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2" descr="/home/user/Business-e-books/presentations/gestalt-theory-counselling/assets/scrim-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26">
              <a:alpha val="45000"/>
            </a:srgbClr>
          </a:solidFill>
          <a:ln/>
        </p:spPr>
      </p:sp>
      <p:sp>
        <p:nvSpPr>
          <p:cNvPr id="6" name="Text 1"/>
          <p:cNvSpPr/>
          <p:nvPr/>
        </p:nvSpPr>
        <p:spPr>
          <a:xfrm>
            <a:off x="621792" y="640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20" kern="0" dirty="0">
                <a:solidFill>
                  <a:srgbClr val="B08D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4 PRESENTATION  ·  MCP504</a:t>
            </a:r>
            <a:endParaRPr lang="en-US" sz="1050" dirty="0"/>
          </a:p>
        </p:txBody>
      </p:sp>
      <p:sp>
        <p:nvSpPr>
          <p:cNvPr id="7" name="Text 2"/>
          <p:cNvSpPr/>
          <p:nvPr/>
        </p:nvSpPr>
        <p:spPr>
          <a:xfrm>
            <a:off x="566928" y="914400"/>
            <a:ext cx="8778240" cy="868680"/>
          </a:xfrm>
          <a:prstGeom prst="rect">
            <a:avLst/>
          </a:prstGeom>
          <a:noFill/>
          <a:ln/>
          <a:effectLst>
            <a:outerShdw sx="100000" sy="100000" kx="0" ky="0" algn="bl" rotWithShape="0" blurRad="127000" dist="381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300" b="1" dirty="0">
                <a:solidFill>
                  <a:srgbClr val="F3EF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GESTALT THEORY</a:t>
            </a:r>
            <a:endParaRPr lang="en-US" sz="4300" dirty="0"/>
          </a:p>
        </p:txBody>
      </p:sp>
      <p:sp>
        <p:nvSpPr>
          <p:cNvPr id="8" name="Text 3"/>
          <p:cNvSpPr/>
          <p:nvPr/>
        </p:nvSpPr>
        <p:spPr>
          <a:xfrm>
            <a:off x="603504" y="181051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D9CF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ITS APPLICATION TO COUNSELLING</a:t>
            </a:r>
            <a:endParaRPr lang="en-US" sz="2000" dirty="0"/>
          </a:p>
        </p:txBody>
      </p:sp>
      <p:sp>
        <p:nvSpPr>
          <p:cNvPr id="9" name="Shape 4"/>
          <p:cNvSpPr/>
          <p:nvPr/>
        </p:nvSpPr>
        <p:spPr>
          <a:xfrm>
            <a:off x="621792" y="2450592"/>
            <a:ext cx="1188720" cy="41148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10" name="Shape 5"/>
          <p:cNvSpPr/>
          <p:nvPr/>
        </p:nvSpPr>
        <p:spPr>
          <a:xfrm>
            <a:off x="603504" y="2834640"/>
            <a:ext cx="6355080" cy="1883664"/>
          </a:xfrm>
          <a:prstGeom prst="roundRect">
            <a:avLst>
              <a:gd name="adj" fmla="val 4369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C9D4C6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868680" y="3017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B08D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PRESENTED BY  ·  GROUP 4 MEMBERS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868680" y="334670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Josephine Biwott</a:t>
            </a:r>
            <a:pPr indent="0" marL="0">
              <a:buNone/>
            </a:pPr>
            <a:r>
              <a:rPr lang="en-US" sz="1200" dirty="0">
                <a:solidFill>
                  <a:srgbClr val="B7C2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MACP/35996/0/26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868680" y="375818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Cynthia Cherono</a:t>
            </a:r>
            <a:pPr indent="0" marL="0">
              <a:buNone/>
            </a:pPr>
            <a:r>
              <a:rPr lang="en-US" sz="1200" dirty="0">
                <a:solidFill>
                  <a:srgbClr val="B7C2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MACP/35785/4/26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868680" y="416966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Yvonne Juliet Awuor</a:t>
            </a:r>
            <a:pPr indent="0" marL="0">
              <a:buNone/>
            </a:pPr>
            <a:r>
              <a:rPr lang="en-US" sz="1200" dirty="0">
                <a:solidFill>
                  <a:srgbClr val="B7C2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MALD/36547/4/26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03504" y="51389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B08D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</a:t>
            </a:r>
            <a:endParaRPr lang="en-US" sz="850" dirty="0"/>
          </a:p>
        </p:txBody>
      </p:sp>
      <p:sp>
        <p:nvSpPr>
          <p:cNvPr id="16" name="Text 11"/>
          <p:cNvSpPr/>
          <p:nvPr/>
        </p:nvSpPr>
        <p:spPr>
          <a:xfrm>
            <a:off x="603504" y="541324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MCP504 · Theories of Counseling and Psychotherapy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5029200" y="51389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B08D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5029200" y="5413248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 African Christian University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8458200" y="5138928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B08D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LECTURER</a:t>
            </a:r>
            <a:endParaRPr lang="en-US" sz="850" dirty="0"/>
          </a:p>
        </p:txBody>
      </p:sp>
      <p:sp>
        <p:nvSpPr>
          <p:cNvPr id="20" name="Text 15"/>
          <p:cNvSpPr/>
          <p:nvPr/>
        </p:nvSpPr>
        <p:spPr>
          <a:xfrm>
            <a:off x="8458200" y="5413248"/>
            <a:ext cx="3127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Lucy Gachenia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621792" y="5029200"/>
            <a:ext cx="10963656" cy="10973"/>
          </a:xfrm>
          <a:prstGeom prst="rect">
            <a:avLst/>
          </a:prstGeom>
          <a:solidFill>
            <a:srgbClr val="6E7F72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side-int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0"/>
            <a:ext cx="4236415" cy="6355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914132" y="0"/>
            <a:ext cx="41148" cy="6355080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4" name="Shape 1"/>
          <p:cNvSpPr/>
          <p:nvPr/>
        </p:nvSpPr>
        <p:spPr>
          <a:xfrm>
            <a:off x="603504" y="566928"/>
            <a:ext cx="502920" cy="50292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5" name="Text 2"/>
          <p:cNvSpPr/>
          <p:nvPr/>
        </p:nvSpPr>
        <p:spPr>
          <a:xfrm>
            <a:off x="603504" y="685800"/>
            <a:ext cx="6949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326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INTRODUCTION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03504" y="1572768"/>
            <a:ext cx="69037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1300"/>
              </a:spcAft>
              <a:buSzPct val="100000"/>
              <a:buChar char="–"/>
            </a:pPr>
            <a:r>
              <a:rPr lang="en-US" sz="150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Experiential and humanistic approach to counselling</a:t>
            </a:r>
            <a:endParaRPr lang="en-US" sz="1500" dirty="0"/>
          </a:p>
          <a:p>
            <a:pPr marL="139700" indent="-139700">
              <a:lnSpc>
                <a:spcPct val="114000"/>
              </a:lnSpc>
              <a:spcAft>
                <a:spcPts val="1300"/>
              </a:spcAft>
              <a:buSzPct val="100000"/>
              <a:buChar char="–"/>
            </a:pPr>
            <a:r>
              <a:rPr lang="en-US" sz="150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Emphasizes </a:t>
            </a:r>
            <a:pPr indent="0" marL="0">
              <a:buNone/>
            </a:pPr>
            <a:r>
              <a:rPr lang="en-US" sz="1500" b="1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awareness, present experience and contact</a:t>
            </a:r>
            <a:endParaRPr lang="en-US" sz="1500" dirty="0"/>
          </a:p>
          <a:p>
            <a:pPr marL="139700" indent="-139700">
              <a:lnSpc>
                <a:spcPct val="114000"/>
              </a:lnSpc>
              <a:spcAft>
                <a:spcPts val="1300"/>
              </a:spcAft>
              <a:buSzPct val="100000"/>
              <a:buChar char="–"/>
            </a:pPr>
            <a:r>
              <a:rPr lang="en-US" sz="150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Understands individuals within their </a:t>
            </a:r>
            <a:pPr indent="0" marL="0">
              <a:buNone/>
            </a:pPr>
            <a:r>
              <a:rPr lang="en-US" sz="1500" b="1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and relationships</a:t>
            </a:r>
            <a:endParaRPr lang="en-US" sz="1500" dirty="0"/>
          </a:p>
          <a:p>
            <a:pPr marL="139700" indent="-139700">
              <a:lnSpc>
                <a:spcPct val="114000"/>
              </a:lnSpc>
              <a:spcAft>
                <a:spcPts val="1300"/>
              </a:spcAft>
              <a:buSzPct val="100000"/>
              <a:buChar char="–"/>
            </a:pPr>
            <a:r>
              <a:rPr lang="en-US" sz="150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Encourages personal responsibility, choice and authentic living</a:t>
            </a:r>
            <a:endParaRPr lang="en-US" sz="1500" dirty="0"/>
          </a:p>
          <a:p>
            <a:pPr marL="139700" indent="-139700">
              <a:lnSpc>
                <a:spcPct val="114000"/>
              </a:lnSpc>
              <a:spcAft>
                <a:spcPts val="1300"/>
              </a:spcAft>
              <a:buSzPct val="100000"/>
              <a:buChar char="–"/>
            </a:pPr>
            <a:r>
              <a:rPr lang="en-US" sz="150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Focuses on the client's experience in the </a:t>
            </a:r>
            <a:pPr indent="0" marL="0">
              <a:buNone/>
            </a:pPr>
            <a:r>
              <a:rPr lang="en-US" sz="1500" b="1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here-and-now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03504" y="59436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C7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(Perls et al., 1951; Joyce &amp; Sills, 2014)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DD6C4"/>
          </a:solidFill>
          <a:ln/>
        </p:spPr>
      </p:sp>
      <p:sp>
        <p:nvSpPr>
          <p:cNvPr id="9" name="Text 6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C7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strip-histo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108960" cy="6355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108960" y="0"/>
            <a:ext cx="41148" cy="6355080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4" name="Shape 1"/>
          <p:cNvSpPr/>
          <p:nvPr/>
        </p:nvSpPr>
        <p:spPr>
          <a:xfrm>
            <a:off x="3520440" y="566928"/>
            <a:ext cx="502920" cy="50292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5" name="Text 2"/>
          <p:cNvSpPr/>
          <p:nvPr/>
        </p:nvSpPr>
        <p:spPr>
          <a:xfrm>
            <a:off x="3520440" y="68580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326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HISTORICAL BACKGROUND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3520440" y="1481328"/>
            <a:ext cx="802843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4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Emerged during the </a:t>
            </a:r>
            <a:pPr indent="0" marL="0">
              <a:buNone/>
            </a:pPr>
            <a:r>
              <a:rPr lang="en-US" sz="1450" b="1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1940s and 1950s</a:t>
            </a:r>
            <a:endParaRPr lang="en-US" sz="14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4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Developed partly in response to limitations perceived in </a:t>
            </a:r>
            <a:pPr indent="0" marL="0">
              <a:buNone/>
            </a:pPr>
            <a:r>
              <a:rPr lang="en-US" sz="1450" b="1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psychoanalysis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3520440" y="28712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20" kern="0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INFLUENCED BY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520440" y="3182112"/>
            <a:ext cx="2395728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DD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3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Gestalt psychology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099048" y="3182112"/>
            <a:ext cx="210312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DD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3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Phenomenology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8385048" y="3182112"/>
            <a:ext cx="2615184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DD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3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Existential philosophy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3520440" y="3767328"/>
            <a:ext cx="16916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DD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3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theory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394960" y="3767328"/>
            <a:ext cx="21488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DD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3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Holistic approaches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520440" y="4434840"/>
            <a:ext cx="8028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4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Emphasized </a:t>
            </a:r>
            <a:pPr indent="0" marL="0">
              <a:buNone/>
            </a:pPr>
            <a:r>
              <a:rPr lang="en-US" sz="1450" b="1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experience, awareness and contact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3520440" y="5029200"/>
            <a:ext cx="8065008" cy="1097280"/>
          </a:xfrm>
          <a:prstGeom prst="roundRect">
            <a:avLst>
              <a:gd name="adj" fmla="val 7500"/>
            </a:avLst>
          </a:prstGeom>
          <a:solidFill>
            <a:srgbClr val="173226"/>
          </a:solidFill>
          <a:ln/>
        </p:spPr>
      </p:sp>
      <p:sp>
        <p:nvSpPr>
          <p:cNvPr id="15" name="Text 12"/>
          <p:cNvSpPr/>
          <p:nvPr/>
        </p:nvSpPr>
        <p:spPr>
          <a:xfrm>
            <a:off x="3703320" y="51572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B08D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INTELLECTUAL ROOTS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3703320" y="5440680"/>
            <a:ext cx="7699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Gestalt Psychology</a:t>
            </a:r>
            <a:pPr algn="l" indent="0" marL="0">
              <a:buNone/>
            </a:pPr>
            <a:r>
              <a:rPr lang="en-US" sz="1100" b="1" dirty="0">
                <a:solidFill>
                  <a:srgbClr val="B08D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algn="l" indent="0" marL="0">
              <a:buNone/>
            </a:pPr>
            <a:r>
              <a:rPr lang="en-US" sz="1100" b="1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Phenomenology</a:t>
            </a:r>
            <a:pPr algn="l" indent="0" marL="0">
              <a:buNone/>
            </a:pPr>
            <a:r>
              <a:rPr lang="en-US" sz="1100" b="1" dirty="0">
                <a:solidFill>
                  <a:srgbClr val="B08D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algn="l" indent="0" marL="0">
              <a:buNone/>
            </a:pPr>
            <a:r>
              <a:rPr lang="en-US" sz="1100" b="1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Existentialism</a:t>
            </a:r>
            <a:pPr algn="l" indent="0" marL="0">
              <a:buNone/>
            </a:pPr>
            <a:r>
              <a:rPr lang="en-US" sz="1100" b="1" dirty="0">
                <a:solidFill>
                  <a:srgbClr val="B08D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algn="l" indent="0" marL="0">
              <a:buNone/>
            </a:pPr>
            <a:r>
              <a:rPr lang="en-US" sz="1100" b="1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Theory</a:t>
            </a:r>
            <a:pPr algn="l" indent="0" marL="0">
              <a:buNone/>
            </a:pPr>
            <a:r>
              <a:rPr lang="en-US" sz="1100" b="1" dirty="0">
                <a:solidFill>
                  <a:srgbClr val="B08D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algn="l" indent="0" marL="0">
              <a:buNone/>
            </a:pPr>
            <a:r>
              <a:rPr lang="en-US" sz="1100" b="1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Gestalt Therapy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520440" y="6263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C7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(Perls et al., 1951; Woldt &amp; Toman, 2005)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DD6C4"/>
          </a:solidFill>
          <a:ln/>
        </p:spPr>
      </p:sp>
      <p:sp>
        <p:nvSpPr>
          <p:cNvPr id="19" name="Text 16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C7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banner-theoris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2011680"/>
          </a:xfrm>
          <a:prstGeom prst="rect">
            <a:avLst/>
          </a:prstGeom>
        </p:spPr>
      </p:pic>
      <p:pic>
        <p:nvPicPr>
          <p:cNvPr id="3" name="Image 1" descr="/home/user/Business-e-books/presentations/gestalt-theory-counselling/assets/scrim-bott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0116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0"/>
            <a:ext cx="12191695" cy="2011680"/>
          </a:xfrm>
          <a:prstGeom prst="rect">
            <a:avLst/>
          </a:prstGeom>
          <a:solidFill>
            <a:srgbClr val="173226">
              <a:alpha val="58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603504" y="566928"/>
            <a:ext cx="502920" cy="50292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6" name="Text 2"/>
          <p:cNvSpPr/>
          <p:nvPr/>
        </p:nvSpPr>
        <p:spPr>
          <a:xfrm>
            <a:off x="603504" y="685800"/>
            <a:ext cx="9144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3EF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MAJOR THEORISTS</a:t>
            </a:r>
            <a:endParaRPr lang="en-US" sz="2700" dirty="0"/>
          </a:p>
        </p:txBody>
      </p:sp>
      <p:sp>
        <p:nvSpPr>
          <p:cNvPr id="7" name="Shape 3"/>
          <p:cNvSpPr/>
          <p:nvPr/>
        </p:nvSpPr>
        <p:spPr>
          <a:xfrm>
            <a:off x="0" y="2011680"/>
            <a:ext cx="12191695" cy="32004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8" name="Shape 4"/>
          <p:cNvSpPr/>
          <p:nvPr/>
        </p:nvSpPr>
        <p:spPr>
          <a:xfrm>
            <a:off x="603504" y="2395728"/>
            <a:ext cx="3508553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4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03504" y="2395728"/>
            <a:ext cx="3508553" cy="82296"/>
          </a:xfrm>
          <a:prstGeom prst="rect">
            <a:avLst/>
          </a:prstGeom>
          <a:solidFill>
            <a:srgbClr val="26513E"/>
          </a:solidFill>
          <a:ln/>
        </p:spPr>
      </p:sp>
      <p:sp>
        <p:nvSpPr>
          <p:cNvPr id="10" name="Shape 6"/>
          <p:cNvSpPr/>
          <p:nvPr/>
        </p:nvSpPr>
        <p:spPr>
          <a:xfrm>
            <a:off x="877824" y="2697480"/>
            <a:ext cx="676656" cy="676656"/>
          </a:xfrm>
          <a:prstGeom prst="ellipse">
            <a:avLst/>
          </a:prstGeom>
          <a:solidFill>
            <a:srgbClr val="EFEADA"/>
          </a:solidFill>
          <a:ln w="12700">
            <a:solidFill>
              <a:srgbClr val="C7CFBC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77824" y="2697480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5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FP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1700784" y="2761488"/>
            <a:ext cx="227411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26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Fritz Perls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1700784" y="3108960"/>
            <a:ext cx="22741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1893–1970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77824" y="3611880"/>
            <a:ext cx="2959913" cy="11887"/>
          </a:xfrm>
          <a:prstGeom prst="rect">
            <a:avLst/>
          </a:prstGeom>
          <a:solidFill>
            <a:srgbClr val="DDD6C4"/>
          </a:solidFill>
          <a:ln/>
        </p:spPr>
      </p:sp>
      <p:sp>
        <p:nvSpPr>
          <p:cNvPr id="15" name="Text 11"/>
          <p:cNvSpPr/>
          <p:nvPr/>
        </p:nvSpPr>
        <p:spPr>
          <a:xfrm>
            <a:off x="877824" y="3767328"/>
            <a:ext cx="29599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 founder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877824" y="4434840"/>
            <a:ext cx="295991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Awareness, experience and responsibility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340657" y="2395728"/>
            <a:ext cx="3508553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4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340657" y="2395728"/>
            <a:ext cx="3508553" cy="82296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19" name="Shape 15"/>
          <p:cNvSpPr/>
          <p:nvPr/>
        </p:nvSpPr>
        <p:spPr>
          <a:xfrm>
            <a:off x="4614977" y="2697480"/>
            <a:ext cx="676656" cy="676656"/>
          </a:xfrm>
          <a:prstGeom prst="ellipse">
            <a:avLst/>
          </a:prstGeom>
          <a:solidFill>
            <a:srgbClr val="EFEADA"/>
          </a:solidFill>
          <a:ln w="12700">
            <a:solidFill>
              <a:srgbClr val="C7CFBC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614977" y="2697480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5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LP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5437937" y="2761488"/>
            <a:ext cx="227411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26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Laura Perls</a:t>
            </a:r>
            <a:endParaRPr lang="en-US" sz="1650" dirty="0"/>
          </a:p>
        </p:txBody>
      </p:sp>
      <p:sp>
        <p:nvSpPr>
          <p:cNvPr id="22" name="Text 18"/>
          <p:cNvSpPr/>
          <p:nvPr/>
        </p:nvSpPr>
        <p:spPr>
          <a:xfrm>
            <a:off x="5437937" y="3108960"/>
            <a:ext cx="22741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1905–1990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4614977" y="3611880"/>
            <a:ext cx="2959913" cy="11887"/>
          </a:xfrm>
          <a:prstGeom prst="rect">
            <a:avLst/>
          </a:prstGeom>
          <a:solidFill>
            <a:srgbClr val="DDD6C4"/>
          </a:solidFill>
          <a:ln/>
        </p:spPr>
      </p:sp>
      <p:sp>
        <p:nvSpPr>
          <p:cNvPr id="24" name="Text 20"/>
          <p:cNvSpPr/>
          <p:nvPr/>
        </p:nvSpPr>
        <p:spPr>
          <a:xfrm>
            <a:off x="4614977" y="3767328"/>
            <a:ext cx="29599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8F7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 contributor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4614977" y="4434840"/>
            <a:ext cx="295991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Contact, relationship and embodied experience</a:t>
            </a:r>
            <a:endParaRPr lang="en-US" sz="1250" dirty="0"/>
          </a:p>
        </p:txBody>
      </p:sp>
      <p:sp>
        <p:nvSpPr>
          <p:cNvPr id="26" name="Shape 22"/>
          <p:cNvSpPr/>
          <p:nvPr/>
        </p:nvSpPr>
        <p:spPr>
          <a:xfrm>
            <a:off x="8077810" y="2395728"/>
            <a:ext cx="3508553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4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077810" y="2395728"/>
            <a:ext cx="3508553" cy="82296"/>
          </a:xfrm>
          <a:prstGeom prst="rect">
            <a:avLst/>
          </a:prstGeom>
          <a:solidFill>
            <a:srgbClr val="A6512E"/>
          </a:solidFill>
          <a:ln/>
        </p:spPr>
      </p:sp>
      <p:sp>
        <p:nvSpPr>
          <p:cNvPr id="28" name="Shape 24"/>
          <p:cNvSpPr/>
          <p:nvPr/>
        </p:nvSpPr>
        <p:spPr>
          <a:xfrm>
            <a:off x="8352130" y="2697480"/>
            <a:ext cx="676656" cy="676656"/>
          </a:xfrm>
          <a:prstGeom prst="ellipse">
            <a:avLst/>
          </a:prstGeom>
          <a:solidFill>
            <a:srgbClr val="EFEADA"/>
          </a:solidFill>
          <a:ln w="12700">
            <a:solidFill>
              <a:srgbClr val="C7CFBC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8352130" y="2697480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5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PG</a:t>
            </a:r>
            <a:endParaRPr lang="en-US" sz="1500" dirty="0"/>
          </a:p>
        </p:txBody>
      </p:sp>
      <p:sp>
        <p:nvSpPr>
          <p:cNvPr id="30" name="Text 26"/>
          <p:cNvSpPr/>
          <p:nvPr/>
        </p:nvSpPr>
        <p:spPr>
          <a:xfrm>
            <a:off x="9175090" y="2761488"/>
            <a:ext cx="227411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26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Paul Goodman</a:t>
            </a:r>
            <a:endParaRPr lang="en-US" sz="1650" dirty="0"/>
          </a:p>
        </p:txBody>
      </p:sp>
      <p:sp>
        <p:nvSpPr>
          <p:cNvPr id="31" name="Text 27"/>
          <p:cNvSpPr/>
          <p:nvPr/>
        </p:nvSpPr>
        <p:spPr>
          <a:xfrm>
            <a:off x="9175090" y="3108960"/>
            <a:ext cx="22741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1911–1972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8352130" y="3611880"/>
            <a:ext cx="2959913" cy="11887"/>
          </a:xfrm>
          <a:prstGeom prst="rect">
            <a:avLst/>
          </a:prstGeom>
          <a:solidFill>
            <a:srgbClr val="DDD6C4"/>
          </a:solidFill>
          <a:ln/>
        </p:spPr>
      </p:sp>
      <p:sp>
        <p:nvSpPr>
          <p:cNvPr id="33" name="Text 29"/>
          <p:cNvSpPr/>
          <p:nvPr/>
        </p:nvSpPr>
        <p:spPr>
          <a:xfrm>
            <a:off x="8352130" y="3767328"/>
            <a:ext cx="29599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A65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Co-author of Gestalt Therapy (1951)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8352130" y="4434840"/>
            <a:ext cx="295991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 contributor to theoretical formulation</a:t>
            </a:r>
            <a:endParaRPr lang="en-US" sz="1250" dirty="0"/>
          </a:p>
        </p:txBody>
      </p:sp>
      <p:sp>
        <p:nvSpPr>
          <p:cNvPr id="35" name="Text 31"/>
          <p:cNvSpPr/>
          <p:nvPr/>
        </p:nvSpPr>
        <p:spPr>
          <a:xfrm>
            <a:off x="603504" y="60807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C7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(Perls et al., 1951; Woldt &amp; Toman, 2005)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DD6C4"/>
          </a:solidFill>
          <a:ln/>
        </p:spPr>
      </p:sp>
      <p:sp>
        <p:nvSpPr>
          <p:cNvPr id="37" name="Text 33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C7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38" name="Text 34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3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bg-assumption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Business-e-books/presentations/gestalt-theory-counselling/assets/scrim-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26">
              <a:alpha val="62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603504" y="566928"/>
            <a:ext cx="502920" cy="50292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6" name="Text 2"/>
          <p:cNvSpPr/>
          <p:nvPr/>
        </p:nvSpPr>
        <p:spPr>
          <a:xfrm>
            <a:off x="603504" y="685800"/>
            <a:ext cx="10515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3EF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ASSUMPTIONS OF GESTALT THERAPY</a:t>
            </a:r>
            <a:endParaRPr lang="en-US" sz="2700" dirty="0"/>
          </a:p>
        </p:txBody>
      </p:sp>
      <p:sp>
        <p:nvSpPr>
          <p:cNvPr id="7" name="Shape 3"/>
          <p:cNvSpPr/>
          <p:nvPr/>
        </p:nvSpPr>
        <p:spPr>
          <a:xfrm>
            <a:off x="603504" y="1691640"/>
            <a:ext cx="5577840" cy="2788920"/>
          </a:xfrm>
          <a:prstGeom prst="roundRect">
            <a:avLst>
              <a:gd name="adj" fmla="val 295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C9D4C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41248" y="192024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900"/>
              </a:spcAft>
              <a:buSzPct val="100000"/>
              <a:buChar char="–"/>
            </a:pPr>
            <a:r>
              <a:rPr lang="en-US" sz="1350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are best understood as whole persons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900"/>
              </a:spcAft>
              <a:buSzPct val="100000"/>
              <a:buChar char="–"/>
            </a:pPr>
            <a:r>
              <a:rPr lang="en-US" sz="1350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experience is influenced by the environment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900"/>
              </a:spcAft>
              <a:buSzPct val="100000"/>
              <a:buChar char="–"/>
            </a:pPr>
            <a:r>
              <a:rPr lang="en-US" sz="1350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 is central to psychological growth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900"/>
              </a:spcAft>
              <a:buSzPct val="100000"/>
              <a:buChar char="–"/>
            </a:pPr>
            <a:r>
              <a:rPr lang="en-US" sz="1350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 unfolds in the present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6400800" y="1691640"/>
            <a:ext cx="5166360" cy="2788920"/>
          </a:xfrm>
          <a:prstGeom prst="roundRect">
            <a:avLst>
              <a:gd name="adj" fmla="val 295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C9D4C6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638544" y="1920240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900"/>
              </a:spcAft>
              <a:buSzPct val="100000"/>
              <a:buChar char="–"/>
            </a:pPr>
            <a:r>
              <a:rPr lang="en-US" sz="1350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have capacity for choice and self-regulation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900"/>
              </a:spcAft>
              <a:buSzPct val="100000"/>
              <a:buChar char="–"/>
            </a:pPr>
            <a:r>
              <a:rPr lang="en-US" sz="1350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Healthy functioning involves meaningful contact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900"/>
              </a:spcAft>
              <a:buSzPct val="100000"/>
              <a:buChar char="–"/>
            </a:pPr>
            <a:r>
              <a:rPr lang="en-US" sz="1350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Psychological difficulties may involve interruptions in awareness or contact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03504" y="5989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B7C2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(Perls et al., 1951; Brownell, 2010; Joyce &amp; Sills, 2014)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3E5647"/>
          </a:solidFill>
          <a:ln/>
        </p:spPr>
      </p:sp>
      <p:sp>
        <p:nvSpPr>
          <p:cNvPr id="13" name="Text 9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FA3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4" name="Text 10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side-awarenes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0"/>
            <a:ext cx="4053535" cy="6355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097012" y="0"/>
            <a:ext cx="41148" cy="6355080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4" name="Shape 1"/>
          <p:cNvSpPr/>
          <p:nvPr/>
        </p:nvSpPr>
        <p:spPr>
          <a:xfrm>
            <a:off x="603504" y="566928"/>
            <a:ext cx="502920" cy="50292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5" name="Text 2"/>
          <p:cNvSpPr/>
          <p:nvPr/>
        </p:nvSpPr>
        <p:spPr>
          <a:xfrm>
            <a:off x="603504" y="685800"/>
            <a:ext cx="6949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326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AWARENESS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03504" y="146304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concept in Gestalt therapy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03504" y="19933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20" kern="0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NOTICING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03504" y="2286000"/>
            <a:ext cx="1600200" cy="457200"/>
          </a:xfrm>
          <a:prstGeom prst="roundRect">
            <a:avLst>
              <a:gd name="adj" fmla="val 14000"/>
            </a:avLst>
          </a:prstGeom>
          <a:solidFill>
            <a:srgbClr val="E7EBDD"/>
          </a:solidFill>
          <a:ln w="12700">
            <a:solidFill>
              <a:srgbClr val="C7CFB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Thoughts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2386584" y="2286000"/>
            <a:ext cx="1600200" cy="457200"/>
          </a:xfrm>
          <a:prstGeom prst="roundRect">
            <a:avLst>
              <a:gd name="adj" fmla="val 14000"/>
            </a:avLst>
          </a:prstGeom>
          <a:solidFill>
            <a:srgbClr val="E7EBDD"/>
          </a:solidFill>
          <a:ln w="12700">
            <a:solidFill>
              <a:srgbClr val="C7CFB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Feelings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03504" y="2862072"/>
            <a:ext cx="2377440" cy="457200"/>
          </a:xfrm>
          <a:prstGeom prst="roundRect">
            <a:avLst>
              <a:gd name="adj" fmla="val 14000"/>
            </a:avLst>
          </a:prstGeom>
          <a:solidFill>
            <a:srgbClr val="E7EBDD"/>
          </a:solidFill>
          <a:ln w="12700">
            <a:solidFill>
              <a:srgbClr val="C7CFB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Bodily sensations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3163824" y="2862072"/>
            <a:ext cx="1600200" cy="457200"/>
          </a:xfrm>
          <a:prstGeom prst="roundRect">
            <a:avLst>
              <a:gd name="adj" fmla="val 14000"/>
            </a:avLst>
          </a:prstGeom>
          <a:solidFill>
            <a:srgbClr val="E7EBDD"/>
          </a:solidFill>
          <a:ln w="12700">
            <a:solidFill>
              <a:srgbClr val="C7CFB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Behaviour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03504" y="3438144"/>
            <a:ext cx="1188720" cy="457200"/>
          </a:xfrm>
          <a:prstGeom prst="roundRect">
            <a:avLst>
              <a:gd name="adj" fmla="val 14000"/>
            </a:avLst>
          </a:prstGeom>
          <a:solidFill>
            <a:srgbClr val="E7EBDD"/>
          </a:solidFill>
          <a:ln w="12700">
            <a:solidFill>
              <a:srgbClr val="C7CFB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03504" y="409651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Focuses on present experience</a:t>
            </a:r>
            <a:endParaRPr lang="en-US" sz="1300" dirty="0"/>
          </a:p>
          <a:p>
            <a:pPr marL="139700" indent="-139700">
              <a:lnSpc>
                <a:spcPct val="114000"/>
              </a:lnSpc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Creates opportunities for choice and change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03504" y="49560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20" kern="0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PROCESS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03504" y="5266944"/>
            <a:ext cx="2240280" cy="566928"/>
          </a:xfrm>
          <a:prstGeom prst="roundRect">
            <a:avLst>
              <a:gd name="adj" fmla="val 11290"/>
            </a:avLst>
          </a:prstGeom>
          <a:solidFill>
            <a:srgbClr val="173226"/>
          </a:solidFill>
          <a:ln w="12700">
            <a:solidFill>
              <a:srgbClr val="17322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2889504" y="5266944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7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3493008" y="5266944"/>
            <a:ext cx="1737360" cy="566928"/>
          </a:xfrm>
          <a:prstGeom prst="roundRect">
            <a:avLst>
              <a:gd name="adj" fmla="val 11290"/>
            </a:avLst>
          </a:prstGeom>
          <a:solidFill>
            <a:srgbClr val="26513E"/>
          </a:solidFill>
          <a:ln w="12700">
            <a:solidFill>
              <a:srgbClr val="26513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CHOICE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5276088" y="5266944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7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5879592" y="5266944"/>
            <a:ext cx="1828800" cy="566928"/>
          </a:xfrm>
          <a:prstGeom prst="roundRect">
            <a:avLst>
              <a:gd name="adj" fmla="val 11290"/>
            </a:avLst>
          </a:prstGeom>
          <a:solidFill>
            <a:srgbClr val="B08D3C"/>
          </a:solidFill>
          <a:ln w="12700">
            <a:solidFill>
              <a:srgbClr val="B08D3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03504" y="5989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C7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(Perls et al., 1951; Joyce &amp; Sills, 2014)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DD6C4"/>
          </a:solidFill>
          <a:ln/>
        </p:spPr>
      </p:sp>
      <p:sp>
        <p:nvSpPr>
          <p:cNvPr id="22" name="Text 19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C7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side-heren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0"/>
            <a:ext cx="4053535" cy="6355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097012" y="0"/>
            <a:ext cx="41148" cy="6355080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4" name="Shape 1"/>
          <p:cNvSpPr/>
          <p:nvPr/>
        </p:nvSpPr>
        <p:spPr>
          <a:xfrm>
            <a:off x="603504" y="566928"/>
            <a:ext cx="502920" cy="50292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5" name="Text 2"/>
          <p:cNvSpPr/>
          <p:nvPr/>
        </p:nvSpPr>
        <p:spPr>
          <a:xfrm>
            <a:off x="603504" y="685800"/>
            <a:ext cx="6949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326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HERE-AND-NOW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03504" y="1572768"/>
            <a:ext cx="72237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Focuses on the client's </a:t>
            </a:r>
            <a:pPr indent="0" marL="0">
              <a:buNone/>
            </a:pPr>
            <a:r>
              <a:rPr lang="en-US" sz="1500" b="1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 experience</a:t>
            </a:r>
            <a:endParaRPr lang="en-US" sz="1500" dirty="0"/>
          </a:p>
          <a:p>
            <a:pPr marL="139700" indent="-139700">
              <a:lnSpc>
                <a:spcPct val="114000"/>
              </a:lnSpc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 experiences are explored through their </a:t>
            </a:r>
            <a:pPr indent="0" marL="0">
              <a:buNone/>
            </a:pPr>
            <a:r>
              <a:rPr lang="en-US" sz="1500" b="1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impact</a:t>
            </a:r>
            <a:endParaRPr lang="en-US" sz="1500" dirty="0"/>
          </a:p>
          <a:p>
            <a:pPr marL="139700" indent="-139700">
              <a:lnSpc>
                <a:spcPct val="114000"/>
              </a:lnSpc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 thoughts, emotions, bodily sensations and behaviour</a:t>
            </a:r>
            <a:endParaRPr lang="en-US" sz="1500" dirty="0"/>
          </a:p>
          <a:p>
            <a:pPr marL="139700" indent="-139700">
              <a:lnSpc>
                <a:spcPct val="114000"/>
              </a:lnSpc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Encourages </a:t>
            </a:r>
            <a:pPr indent="0" marL="0">
              <a:buNone/>
            </a:pPr>
            <a:r>
              <a:rPr lang="en-US" sz="1500" b="1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experience</a:t>
            </a:r>
            <a:pPr indent="0" marL="0">
              <a:buNone/>
            </a:pPr>
            <a:r>
              <a:rPr lang="en-US" sz="150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rather than excessive intellectual analysis</a:t>
            </a:r>
            <a:endParaRPr lang="en-US" sz="1500" dirty="0"/>
          </a:p>
          <a:p>
            <a:pPr marL="139700" indent="-139700">
              <a:lnSpc>
                <a:spcPct val="114000"/>
              </a:lnSpc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therapeutic relationship provides an opportunity for </a:t>
            </a:r>
            <a:pPr indent="0" marL="0">
              <a:buNone/>
            </a:pPr>
            <a:r>
              <a:rPr lang="en-US" sz="1500" b="1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present-moment awareness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03504" y="59436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C7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(Perls et al., 1951; Brownell, 2010)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DD6C4"/>
          </a:solidFill>
          <a:ln/>
        </p:spPr>
      </p:sp>
      <p:sp>
        <p:nvSpPr>
          <p:cNvPr id="9" name="Text 6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C7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566928"/>
            <a:ext cx="502920" cy="50292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3" name="Text 1"/>
          <p:cNvSpPr/>
          <p:nvPr/>
        </p:nvSpPr>
        <p:spPr>
          <a:xfrm>
            <a:off x="603504" y="685800"/>
            <a:ext cx="7315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326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FIGURE AND GROUND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03504" y="1463040"/>
            <a:ext cx="4846320" cy="4160520"/>
          </a:xfrm>
          <a:prstGeom prst="roundRect">
            <a:avLst>
              <a:gd name="adj" fmla="val 1978"/>
            </a:avLst>
          </a:prstGeom>
          <a:solidFill>
            <a:srgbClr val="173226"/>
          </a:solidFill>
          <a:ln/>
        </p:spPr>
      </p:sp>
      <p:pic>
        <p:nvPicPr>
          <p:cNvPr id="5" name="Image 0" descr="/home/user/Business-e-books/presentations/gestalt-theory-counselling/assets/dots-gr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737360"/>
            <a:ext cx="4297680" cy="3611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249424" y="2743200"/>
            <a:ext cx="1554480" cy="1554480"/>
          </a:xfrm>
          <a:prstGeom prst="ellipse">
            <a:avLst/>
          </a:prstGeom>
          <a:solidFill>
            <a:srgbClr val="F3EFE4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249424" y="43708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20" kern="0" dirty="0">
                <a:solidFill>
                  <a:srgbClr val="B08D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77824" y="523036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20" kern="0" dirty="0">
                <a:solidFill>
                  <a:srgbClr val="B7C2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03504" y="572414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C7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element steps forward as figure against a ground of context.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760720" y="1463040"/>
            <a:ext cx="5824728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760720" y="1463040"/>
            <a:ext cx="73152" cy="950976"/>
          </a:xfrm>
          <a:prstGeom prst="rect">
            <a:avLst/>
          </a:prstGeom>
          <a:solidFill>
            <a:srgbClr val="26513E"/>
          </a:solidFill>
          <a:ln/>
        </p:spPr>
      </p:sp>
      <p:sp>
        <p:nvSpPr>
          <p:cNvPr id="12" name="Text 9"/>
          <p:cNvSpPr/>
          <p:nvPr/>
        </p:nvSpPr>
        <p:spPr>
          <a:xfrm>
            <a:off x="6016752" y="159105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5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FIGURE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016752" y="1956816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most prominent in awareness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760720" y="2450592"/>
            <a:ext cx="5824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F7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5760720" y="2889504"/>
            <a:ext cx="5824728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760720" y="2889504"/>
            <a:ext cx="73152" cy="950976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17" name="Text 14"/>
          <p:cNvSpPr/>
          <p:nvPr/>
        </p:nvSpPr>
        <p:spPr>
          <a:xfrm>
            <a:off x="6016752" y="301752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70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GROUND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016752" y="3383280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surrounding context and experiences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760720" y="4114800"/>
            <a:ext cx="58247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3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and concerns move between figure and ground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3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figure changes as circumstances change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3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 helps identify what is most significant in the present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5760720" y="59893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C7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(Perls et al., 1951; Woldt &amp; Toman, 2005)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DD6C4"/>
          </a:solidFill>
          <a:ln/>
        </p:spPr>
      </p:sp>
      <p:sp>
        <p:nvSpPr>
          <p:cNvPr id="22" name="Text 19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C7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566928"/>
            <a:ext cx="502920" cy="50292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3" name="Text 1"/>
          <p:cNvSpPr/>
          <p:nvPr/>
        </p:nvSpPr>
        <p:spPr>
          <a:xfrm>
            <a:off x="603504" y="685800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326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CONTACT AND CONTACT BOUNDARY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03504" y="1517904"/>
            <a:ext cx="65836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1200"/>
              </a:spcAft>
              <a:buSzPct val="100000"/>
              <a:buChar char="–"/>
            </a:pPr>
            <a:r>
              <a:rPr lang="en-US" sz="1400" b="1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Contact: </a:t>
            </a:r>
            <a:pPr indent="0" marL="0">
              <a:buNone/>
            </a:pPr>
            <a:r>
              <a:rPr lang="en-US" sz="140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 between the individual and environment</a:t>
            </a:r>
            <a:endParaRPr lang="en-US" sz="1400" dirty="0"/>
          </a:p>
          <a:p>
            <a:pPr marL="139700" indent="-139700">
              <a:lnSpc>
                <a:spcPct val="114000"/>
              </a:lnSpc>
              <a:spcAft>
                <a:spcPts val="1200"/>
              </a:spcAft>
              <a:buSzPct val="100000"/>
              <a:buChar char="–"/>
            </a:pPr>
            <a:r>
              <a:rPr lang="en-US" sz="1400" b="1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boundary: </a:t>
            </a:r>
            <a:pPr indent="0" marL="0">
              <a:buNone/>
            </a:pPr>
            <a:r>
              <a:rPr lang="en-US" sz="140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at which the individual and environment meet</a:t>
            </a:r>
            <a:endParaRPr lang="en-US" sz="1400" dirty="0"/>
          </a:p>
          <a:p>
            <a:pPr marL="139700" indent="-139700">
              <a:lnSpc>
                <a:spcPct val="114000"/>
              </a:lnSpc>
              <a:spcAft>
                <a:spcPts val="1200"/>
              </a:spcAft>
              <a:buSzPct val="100000"/>
              <a:buChar char="–"/>
            </a:pPr>
            <a:r>
              <a:rPr lang="en-US" sz="140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Healthy contact allows needs to be addressed while maintaining a sense of self</a:t>
            </a:r>
            <a:endParaRPr lang="en-US" sz="1400" dirty="0"/>
          </a:p>
          <a:p>
            <a:pPr marL="139700" indent="-139700">
              <a:lnSpc>
                <a:spcPct val="114000"/>
              </a:lnSpc>
              <a:spcAft>
                <a:spcPts val="1200"/>
              </a:spcAft>
              <a:buSzPct val="100000"/>
              <a:buChar char="–"/>
            </a:pPr>
            <a:r>
              <a:rPr lang="en-US" sz="140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involves </a:t>
            </a:r>
            <a:pPr indent="0" marL="0">
              <a:buNone/>
            </a:pPr>
            <a:r>
              <a:rPr lang="en-US" sz="1400" b="1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engaging, responding and withdrawing</a:t>
            </a:r>
            <a:endParaRPr lang="en-US" sz="1400" dirty="0"/>
          </a:p>
          <a:p>
            <a:pPr marL="139700" indent="-139700">
              <a:lnSpc>
                <a:spcPct val="114000"/>
              </a:lnSpc>
              <a:spcAft>
                <a:spcPts val="1200"/>
              </a:spcAft>
              <a:buSzPct val="100000"/>
              <a:buChar char="–"/>
            </a:pPr>
            <a:r>
              <a:rPr lang="en-US" sz="140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Relationships, culture and circumstances influence contact</a:t>
            </a:r>
            <a:endParaRPr lang="en-US" sz="1400" dirty="0"/>
          </a:p>
        </p:txBody>
      </p:sp>
      <p:pic>
        <p:nvPicPr>
          <p:cNvPr id="5" name="Image 0" descr="/home/user/Business-e-books/presentations/gestalt-theory-counselling/assets/card-contac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1463040"/>
            <a:ext cx="4133088" cy="31181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452360" y="1463040"/>
            <a:ext cx="4133088" cy="3118104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DDD6C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452360" y="4773168"/>
            <a:ext cx="4133088" cy="1371600"/>
          </a:xfrm>
          <a:prstGeom prst="roundRect">
            <a:avLst>
              <a:gd name="adj" fmla="val 6000"/>
            </a:avLst>
          </a:prstGeom>
          <a:solidFill>
            <a:srgbClr val="173226"/>
          </a:solidFill>
          <a:ln/>
        </p:spPr>
      </p:sp>
      <p:sp>
        <p:nvSpPr>
          <p:cNvPr id="8" name="Text 5"/>
          <p:cNvSpPr/>
          <p:nvPr/>
        </p:nvSpPr>
        <p:spPr>
          <a:xfrm>
            <a:off x="7452360" y="4882896"/>
            <a:ext cx="4133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20" kern="0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452360" y="5239512"/>
            <a:ext cx="4133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B08D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↔   CONTACT BOUNDARY   ↔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452360" y="5596128"/>
            <a:ext cx="4133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20" kern="0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03504" y="603504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C7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(Perls et al., 1951; Joyce &amp; Sills, 2014)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DD6C4"/>
          </a:solidFill>
          <a:ln/>
        </p:spPr>
      </p:sp>
      <p:sp>
        <p:nvSpPr>
          <p:cNvPr id="13" name="Text 10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C7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strip-unfinish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108960" cy="6355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108960" y="0"/>
            <a:ext cx="41148" cy="6355080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4" name="Shape 1"/>
          <p:cNvSpPr/>
          <p:nvPr/>
        </p:nvSpPr>
        <p:spPr>
          <a:xfrm>
            <a:off x="3520440" y="566928"/>
            <a:ext cx="502920" cy="50292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5" name="Text 2"/>
          <p:cNvSpPr/>
          <p:nvPr/>
        </p:nvSpPr>
        <p:spPr>
          <a:xfrm>
            <a:off x="3520440" y="68580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326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UNFINISHED BUSINESS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3520440" y="1481328"/>
            <a:ext cx="8028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4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Unresolved experiences or emotions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3520440" y="20116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20" kern="0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INCLUDE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520440" y="2322576"/>
            <a:ext cx="1188720" cy="457200"/>
          </a:xfrm>
          <a:prstGeom prst="roundRect">
            <a:avLst>
              <a:gd name="adj" fmla="val 14000"/>
            </a:avLst>
          </a:prstGeom>
          <a:solidFill>
            <a:srgbClr val="E7EBDD"/>
          </a:solidFill>
          <a:ln w="12700">
            <a:solidFill>
              <a:srgbClr val="C7CFB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Grief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855464" y="2322576"/>
            <a:ext cx="1207008" cy="457200"/>
          </a:xfrm>
          <a:prstGeom prst="roundRect">
            <a:avLst>
              <a:gd name="adj" fmla="val 14000"/>
            </a:avLst>
          </a:prstGeom>
          <a:solidFill>
            <a:srgbClr val="E7EBDD"/>
          </a:solidFill>
          <a:ln w="12700">
            <a:solidFill>
              <a:srgbClr val="C7CFB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Anger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208776" y="2322576"/>
            <a:ext cx="1143000" cy="457200"/>
          </a:xfrm>
          <a:prstGeom prst="roundRect">
            <a:avLst>
              <a:gd name="adj" fmla="val 14000"/>
            </a:avLst>
          </a:prstGeom>
          <a:solidFill>
            <a:srgbClr val="E7EBDD"/>
          </a:solidFill>
          <a:ln w="12700">
            <a:solidFill>
              <a:srgbClr val="C7CFB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Guilt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7498080" y="2322576"/>
            <a:ext cx="1627632" cy="457200"/>
          </a:xfrm>
          <a:prstGeom prst="roundRect">
            <a:avLst>
              <a:gd name="adj" fmla="val 14000"/>
            </a:avLst>
          </a:prstGeom>
          <a:solidFill>
            <a:srgbClr val="E7EBDD"/>
          </a:solidFill>
          <a:ln w="12700">
            <a:solidFill>
              <a:srgbClr val="C7CFB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Resentment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9272016" y="2322576"/>
            <a:ext cx="1828800" cy="457200"/>
          </a:xfrm>
          <a:prstGeom prst="roundRect">
            <a:avLst>
              <a:gd name="adj" fmla="val 14000"/>
            </a:avLst>
          </a:prstGeom>
          <a:solidFill>
            <a:srgbClr val="E7EBDD"/>
          </a:solidFill>
          <a:ln w="12700">
            <a:solidFill>
              <a:srgbClr val="C7CFB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Unmet needs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520440" y="3108960"/>
            <a:ext cx="802843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1200"/>
              </a:spcAft>
              <a:buSzPct val="100000"/>
              <a:buChar char="–"/>
            </a:pPr>
            <a:r>
              <a:rPr lang="en-US" sz="140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remain psychologically active in the present</a:t>
            </a:r>
            <a:endParaRPr lang="en-US" sz="1400" dirty="0"/>
          </a:p>
          <a:p>
            <a:pPr marL="139700" indent="-139700">
              <a:lnSpc>
                <a:spcPct val="114000"/>
              </a:lnSpc>
              <a:spcAft>
                <a:spcPts val="1200"/>
              </a:spcAft>
              <a:buSzPct val="100000"/>
              <a:buChar char="–"/>
            </a:pPr>
            <a:r>
              <a:rPr lang="en-US" sz="140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interfere with healthy contact</a:t>
            </a:r>
            <a:endParaRPr lang="en-US" sz="1400" dirty="0"/>
          </a:p>
          <a:p>
            <a:pPr marL="139700" indent="-139700">
              <a:lnSpc>
                <a:spcPct val="114000"/>
              </a:lnSpc>
              <a:spcAft>
                <a:spcPts val="1200"/>
              </a:spcAft>
              <a:buSzPct val="100000"/>
              <a:buChar char="–"/>
            </a:pPr>
            <a:r>
              <a:rPr lang="en-US" sz="140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Therapy promotes </a:t>
            </a:r>
            <a:pPr indent="0" marL="0">
              <a:buNone/>
            </a:pPr>
            <a:r>
              <a:rPr lang="en-US" sz="1400" b="1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 and processing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520440" y="5989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C7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(Perls et al., 1951; Joyce &amp; Sills, 2014)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DD6C4"/>
          </a:solidFill>
          <a:ln/>
        </p:spPr>
      </p:sp>
      <p:sp>
        <p:nvSpPr>
          <p:cNvPr id="16" name="Text 13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C7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side-responsibili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0"/>
            <a:ext cx="4053535" cy="6355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097012" y="0"/>
            <a:ext cx="41148" cy="6355080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4" name="Shape 1"/>
          <p:cNvSpPr/>
          <p:nvPr/>
        </p:nvSpPr>
        <p:spPr>
          <a:xfrm>
            <a:off x="603504" y="566928"/>
            <a:ext cx="502920" cy="50292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5" name="Text 2"/>
          <p:cNvSpPr/>
          <p:nvPr/>
        </p:nvSpPr>
        <p:spPr>
          <a:xfrm>
            <a:off x="603504" y="685800"/>
            <a:ext cx="7223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326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 RESPONSIBILITY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03504" y="1481328"/>
            <a:ext cx="7223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3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Recognizing one's own choices and responses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3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Promotes </a:t>
            </a:r>
            <a:pPr indent="0" marL="0">
              <a:buNone/>
            </a:pPr>
            <a:r>
              <a:rPr lang="en-US" sz="1350" b="1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agency and ownership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3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Encourages authentic decision-making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3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language that reflects personal experience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03504" y="3456432"/>
            <a:ext cx="3291840" cy="502920"/>
          </a:xfrm>
          <a:prstGeom prst="roundRect">
            <a:avLst>
              <a:gd name="adj" fmla="val 12727"/>
            </a:avLst>
          </a:prstGeom>
          <a:solidFill>
            <a:srgbClr val="E7EBDD"/>
          </a:solidFill>
          <a:ln w="12700">
            <a:solidFill>
              <a:srgbClr val="C7CFB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RESPONSIBILITY  ≠  BLAME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03504" y="4206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20" kern="0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 IN PRACTICE  ·  EXAMPLE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03504" y="4553712"/>
            <a:ext cx="7223760" cy="603504"/>
          </a:xfrm>
          <a:prstGeom prst="roundRect">
            <a:avLst>
              <a:gd name="adj" fmla="val 12121"/>
            </a:avLst>
          </a:prstGeom>
          <a:solidFill>
            <a:srgbClr val="F2E3DB"/>
          </a:solidFill>
          <a:ln w="12700">
            <a:solidFill>
              <a:srgbClr val="D8B7A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41248" y="4553712"/>
            <a:ext cx="6766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65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 </a:t>
            </a:r>
            <a:pPr indent="0" marL="0">
              <a:buNone/>
            </a:pPr>
            <a:r>
              <a:rPr lang="en-US" sz="1350" i="1" dirty="0">
                <a:solidFill>
                  <a:srgbClr val="23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“You make me angry.”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03504" y="5285232"/>
            <a:ext cx="7223760" cy="603504"/>
          </a:xfrm>
          <a:prstGeom prst="roundRect">
            <a:avLst>
              <a:gd name="adj" fmla="val 12121"/>
            </a:avLst>
          </a:prstGeom>
          <a:solidFill>
            <a:srgbClr val="E4EBE0"/>
          </a:solidFill>
          <a:ln w="12700">
            <a:solidFill>
              <a:srgbClr val="B9C8B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41248" y="5285232"/>
            <a:ext cx="6766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 </a:t>
            </a:r>
            <a:pPr indent="0" marL="0">
              <a:buNone/>
            </a:pPr>
            <a:r>
              <a:rPr lang="en-US" sz="1350" i="1" dirty="0">
                <a:solidFill>
                  <a:srgbClr val="23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 notice that I become angry when…”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03504" y="60533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C7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(Perls et al., 1951; Corey, 2024)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DD6C4"/>
          </a:solidFill>
          <a:ln/>
        </p:spPr>
      </p:sp>
      <p:sp>
        <p:nvSpPr>
          <p:cNvPr id="15" name="Text 12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C7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3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6035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20" kern="0" dirty="0">
                <a:solidFill>
                  <a:srgbClr val="B08D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COUNSELLOR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03504" y="932688"/>
            <a:ext cx="502920" cy="50292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4" name="Text 2"/>
          <p:cNvSpPr/>
          <p:nvPr/>
        </p:nvSpPr>
        <p:spPr>
          <a:xfrm>
            <a:off x="603504" y="1060704"/>
            <a:ext cx="10515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3EF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ROLE OF THE GESTALT COUNSELLOR</a:t>
            </a:r>
            <a:endParaRPr lang="en-US" sz="2700" dirty="0"/>
          </a:p>
        </p:txBody>
      </p:sp>
      <p:pic>
        <p:nvPicPr>
          <p:cNvPr id="5" name="Image 0" descr="/home/user/Business-e-books/presentations/gestalt-theory-counselling/assets/card-counsell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874520"/>
            <a:ext cx="6309360" cy="4206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03504" y="1874520"/>
            <a:ext cx="6309360" cy="420624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4A635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269480" y="1874520"/>
            <a:ext cx="4315968" cy="4206240"/>
          </a:xfrm>
          <a:prstGeom prst="roundRect">
            <a:avLst>
              <a:gd name="adj" fmla="val 1957"/>
            </a:avLst>
          </a:prstGeom>
          <a:solidFill>
            <a:srgbClr val="FFFFFF">
              <a:alpha val="9000"/>
            </a:srgbClr>
          </a:solidFill>
          <a:ln w="9525">
            <a:solidFill>
              <a:srgbClr val="C9D4C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0" y="2103120"/>
            <a:ext cx="38862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Facilitates awareness</a:t>
            </a:r>
            <a:endParaRPr lang="en-US" sz="12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Focuses on present experience</a:t>
            </a:r>
            <a:endParaRPr lang="en-US" sz="12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Observes verbal and non-verbal behaviour</a:t>
            </a:r>
            <a:endParaRPr lang="en-US" sz="12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the therapeutic relationship</a:t>
            </a:r>
            <a:endParaRPr lang="en-US" sz="12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Encourages authentic expression</a:t>
            </a:r>
            <a:endParaRPr lang="en-US" sz="12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Explores interruptions in contact</a:t>
            </a:r>
            <a:endParaRPr lang="en-US" sz="12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Promotes responsibility and choice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03504" y="619963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B7C2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(Joyce &amp; Sills, 2014; Brownell, 2010)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3E5647"/>
          </a:solidFill>
          <a:ln/>
        </p:spPr>
      </p:sp>
      <p:sp>
        <p:nvSpPr>
          <p:cNvPr id="11" name="Text 8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FA3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strip-techniqu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743200" cy="6355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743200" y="0"/>
            <a:ext cx="41148" cy="6355080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4" name="Shape 1"/>
          <p:cNvSpPr/>
          <p:nvPr/>
        </p:nvSpPr>
        <p:spPr>
          <a:xfrm>
            <a:off x="3154680" y="566928"/>
            <a:ext cx="502920" cy="50292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5" name="Text 2"/>
          <p:cNvSpPr/>
          <p:nvPr/>
        </p:nvSpPr>
        <p:spPr>
          <a:xfrm>
            <a:off x="3154680" y="685800"/>
            <a:ext cx="8412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326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GESTALT THERAPEUTIC TECHNIQUES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3154680" y="1600200"/>
            <a:ext cx="26974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337560" y="1719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70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3337560" y="2020824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3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Empty-chair technique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0176" y="1600200"/>
            <a:ext cx="26974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63056" y="1719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70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163056" y="2020824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3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Two-chair dialogue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805672" y="1600200"/>
            <a:ext cx="26974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988552" y="1719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70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988552" y="2020824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3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Exaggeration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3154680" y="2807208"/>
            <a:ext cx="26974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337560" y="2926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70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337560" y="3227832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3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Staying with the feeling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980176" y="2807208"/>
            <a:ext cx="26974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63056" y="2926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70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163056" y="3227832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3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Role-play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8805672" y="2807208"/>
            <a:ext cx="26974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988552" y="2926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70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988552" y="3227832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3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Body awareness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3154680" y="4014216"/>
            <a:ext cx="26974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337560" y="4133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70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337560" y="4434840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3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“I” statements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5980176" y="4014216"/>
            <a:ext cx="26974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163056" y="4133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70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6163056" y="4434840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3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Dream work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8805672" y="4014216"/>
            <a:ext cx="26974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4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988552" y="4133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70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8988552" y="4434840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3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Here-and-now questioning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3154680" y="5440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C7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(Joyce &amp; Sills, 2014)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DD6C4"/>
          </a:solidFill>
          <a:ln/>
        </p:spPr>
      </p:sp>
      <p:sp>
        <p:nvSpPr>
          <p:cNvPr id="35" name="Text 32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C7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566928"/>
            <a:ext cx="502920" cy="50292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3" name="Text 1"/>
          <p:cNvSpPr/>
          <p:nvPr/>
        </p:nvSpPr>
        <p:spPr>
          <a:xfrm>
            <a:off x="603504" y="685800"/>
            <a:ext cx="6400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326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EMPTY-CHAIR TECHNIQUE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03504" y="1481328"/>
            <a:ext cx="6400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imagines another person in an empty chair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Speaks directly to the imagined person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Brings unresolved experiences into </a:t>
            </a:r>
            <a:pPr indent="0" marL="0">
              <a:buNone/>
            </a:pPr>
            <a:r>
              <a:rPr lang="en-US" sz="1350" b="1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 awareness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Facilitates expression of unfinished emotions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promote new awareness and perspectives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03504" y="4206240"/>
            <a:ext cx="64008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3504" y="4206240"/>
            <a:ext cx="73152" cy="1783080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4370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8F7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4681728"/>
            <a:ext cx="5852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i="1" dirty="0">
                <a:solidFill>
                  <a:srgbClr val="2326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“Imagine your father is sitting in that chair. What would you want him to hear from you?”</a:t>
            </a:r>
            <a:endParaRPr lang="en-US" sz="1450" dirty="0"/>
          </a:p>
        </p:txBody>
      </p:sp>
      <p:pic>
        <p:nvPicPr>
          <p:cNvPr id="9" name="Image 0" descr="/home/user/Business-e-books/presentations/gestalt-theory-counselling/assets/card-chai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481328"/>
            <a:ext cx="4315968" cy="323697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269480" y="1481328"/>
            <a:ext cx="4315968" cy="3236976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DDD6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269480" y="4892040"/>
            <a:ext cx="4315968" cy="1325880"/>
          </a:xfrm>
          <a:prstGeom prst="roundRect">
            <a:avLst>
              <a:gd name="adj" fmla="val 6207"/>
            </a:avLst>
          </a:prstGeom>
          <a:solidFill>
            <a:srgbClr val="173226"/>
          </a:solidFill>
          <a:ln/>
        </p:spPr>
      </p:sp>
      <p:sp>
        <p:nvSpPr>
          <p:cNvPr id="12" name="Text 9"/>
          <p:cNvSpPr/>
          <p:nvPr/>
        </p:nvSpPr>
        <p:spPr>
          <a:xfrm>
            <a:off x="7452360" y="50200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B08D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SETUP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7452360" y="5367528"/>
            <a:ext cx="1554480" cy="475488"/>
          </a:xfrm>
          <a:prstGeom prst="roundRect">
            <a:avLst>
              <a:gd name="adj" fmla="val 13462"/>
            </a:avLst>
          </a:prstGeom>
          <a:solidFill>
            <a:srgbClr val="26513E"/>
          </a:solidFill>
          <a:ln w="12700">
            <a:solidFill>
              <a:srgbClr val="26513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9052560" y="5367528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08D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↔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9838944" y="5367528"/>
            <a:ext cx="1600200" cy="475488"/>
          </a:xfrm>
          <a:prstGeom prst="roundRect">
            <a:avLst>
              <a:gd name="adj" fmla="val 13462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C9D4C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IMAGINED PERSON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603504" y="62636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C7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(Joyce &amp; Sills, 2014)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DD6C4"/>
          </a:solidFill>
          <a:ln/>
        </p:spPr>
      </p:sp>
      <p:sp>
        <p:nvSpPr>
          <p:cNvPr id="18" name="Text 15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C7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566928"/>
            <a:ext cx="502920" cy="50292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3" name="Text 1"/>
          <p:cNvSpPr/>
          <p:nvPr/>
        </p:nvSpPr>
        <p:spPr>
          <a:xfrm>
            <a:off x="603504" y="685800"/>
            <a:ext cx="9326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326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OTHER EXPERIENTIAL TECHNIQUES</a:t>
            </a:r>
            <a:endParaRPr lang="en-US" sz="2700" dirty="0"/>
          </a:p>
        </p:txBody>
      </p:sp>
      <p:pic>
        <p:nvPicPr>
          <p:cNvPr id="4" name="Image 0" descr="/home/user/Business-e-books/presentations/gestalt-theory-counselling/assets/circle-cand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08" y="384048"/>
            <a:ext cx="1234440" cy="1234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03504" y="1517904"/>
            <a:ext cx="4023360" cy="475488"/>
          </a:xfrm>
          <a:prstGeom prst="rect">
            <a:avLst/>
          </a:prstGeom>
          <a:solidFill>
            <a:srgbClr val="173226"/>
          </a:solidFill>
          <a:ln/>
        </p:spPr>
      </p:sp>
      <p:sp>
        <p:nvSpPr>
          <p:cNvPr id="6" name="Shape 3"/>
          <p:cNvSpPr/>
          <p:nvPr/>
        </p:nvSpPr>
        <p:spPr>
          <a:xfrm>
            <a:off x="4626864" y="1517904"/>
            <a:ext cx="6958584" cy="475488"/>
          </a:xfrm>
          <a:prstGeom prst="rect">
            <a:avLst/>
          </a:prstGeom>
          <a:solidFill>
            <a:srgbClr val="173226"/>
          </a:solidFill>
          <a:ln/>
        </p:spPr>
      </p:sp>
      <p:sp>
        <p:nvSpPr>
          <p:cNvPr id="7" name="Text 4"/>
          <p:cNvSpPr/>
          <p:nvPr/>
        </p:nvSpPr>
        <p:spPr>
          <a:xfrm>
            <a:off x="841248" y="1517904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TECHNIQUE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864608" y="1517904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03504" y="1993392"/>
            <a:ext cx="10981944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DD6C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41248" y="1993392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Two-chair dialogue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864608" y="1993392"/>
            <a:ext cx="6492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opposing parts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03504" y="2596896"/>
            <a:ext cx="10981944" cy="603504"/>
          </a:xfrm>
          <a:prstGeom prst="rect">
            <a:avLst/>
          </a:prstGeom>
          <a:solidFill>
            <a:srgbClr val="F0ECE0"/>
          </a:solidFill>
          <a:ln w="9525">
            <a:solidFill>
              <a:srgbClr val="DDD6C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259689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Exaggeration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864608" y="2596896"/>
            <a:ext cx="6492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Increase awareness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3504" y="3200400"/>
            <a:ext cx="10981944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DD6C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41248" y="320040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Staying with the feeling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864608" y="3200400"/>
            <a:ext cx="6492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emerging emotions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03504" y="3803904"/>
            <a:ext cx="10981944" cy="603504"/>
          </a:xfrm>
          <a:prstGeom prst="rect">
            <a:avLst/>
          </a:prstGeom>
          <a:solidFill>
            <a:srgbClr val="F0ECE0"/>
          </a:solidFill>
          <a:ln w="9525">
            <a:solidFill>
              <a:srgbClr val="DDD6C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41248" y="3803904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Body awareness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4864608" y="3803904"/>
            <a:ext cx="6492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Notice physical experience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03504" y="4407408"/>
            <a:ext cx="10981944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DD6C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41248" y="4407408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“I” statements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4864608" y="4407408"/>
            <a:ext cx="6492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personal experience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603504" y="5010912"/>
            <a:ext cx="10981944" cy="603504"/>
          </a:xfrm>
          <a:prstGeom prst="rect">
            <a:avLst/>
          </a:prstGeom>
          <a:solidFill>
            <a:srgbClr val="F0ECE0"/>
          </a:solidFill>
          <a:ln w="9525">
            <a:solidFill>
              <a:srgbClr val="DDD6C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41248" y="5010912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Dream work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864608" y="5010912"/>
            <a:ext cx="6492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present meaning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603504" y="5897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C7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(Joyce &amp; Sills, 2014)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DD6C4"/>
          </a:solidFill>
          <a:ln/>
        </p:spPr>
      </p:sp>
      <p:sp>
        <p:nvSpPr>
          <p:cNvPr id="29" name="Text 26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C7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side-applic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1444752"/>
            <a:ext cx="3767328" cy="4617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818120" y="1444752"/>
            <a:ext cx="3767328" cy="461772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DDD6C4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03504" y="566928"/>
            <a:ext cx="502920" cy="50292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5" name="Text 2"/>
          <p:cNvSpPr/>
          <p:nvPr/>
        </p:nvSpPr>
        <p:spPr>
          <a:xfrm>
            <a:off x="603504" y="685800"/>
            <a:ext cx="9692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326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IN COUNSELLING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03504" y="14447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20" kern="0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GESTALT THERAPY CAN BE APPLIED TO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03504" y="1773936"/>
            <a:ext cx="3383280" cy="530352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DDD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3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Grief and loss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206240" y="1773936"/>
            <a:ext cx="3383280" cy="530352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DDD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3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Relationship difficulties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03504" y="2441448"/>
            <a:ext cx="3383280" cy="530352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DDD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3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Anxiety and emotional distress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4206240" y="2441448"/>
            <a:ext cx="3383280" cy="530352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DDD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3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Unresolved anger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03504" y="3108960"/>
            <a:ext cx="3383280" cy="530352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DDD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3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concerns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206240" y="3108960"/>
            <a:ext cx="3383280" cy="530352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DDD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3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Emotional-expression difficulties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03504" y="3776472"/>
            <a:ext cx="3383280" cy="530352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DDD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3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growth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206240" y="3776472"/>
            <a:ext cx="3383280" cy="530352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DDD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3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Unresolved interpersonal experiences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03504" y="4617720"/>
            <a:ext cx="6839712" cy="1298448"/>
          </a:xfrm>
          <a:prstGeom prst="roundRect">
            <a:avLst>
              <a:gd name="adj" fmla="val 6338"/>
            </a:avLst>
          </a:prstGeom>
          <a:solidFill>
            <a:srgbClr val="173226"/>
          </a:solidFill>
          <a:ln/>
        </p:spPr>
      </p:sp>
      <p:sp>
        <p:nvSpPr>
          <p:cNvPr id="16" name="Text 13"/>
          <p:cNvSpPr/>
          <p:nvPr/>
        </p:nvSpPr>
        <p:spPr>
          <a:xfrm>
            <a:off x="841248" y="47457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B08D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THERAPEUTIC MOVEMENT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41248" y="5047488"/>
            <a:ext cx="6364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</a:t>
            </a:r>
            <a:pPr algn="l" indent="0" marL="0">
              <a:buNone/>
            </a:pPr>
            <a:r>
              <a:rPr lang="en-US" sz="1400" b="1" dirty="0">
                <a:solidFill>
                  <a:srgbClr val="B08D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algn="l" indent="0" marL="0">
              <a:buNone/>
            </a:pPr>
            <a:r>
              <a:rPr lang="en-US" sz="1400" b="1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</a:t>
            </a:r>
            <a:pPr algn="l" indent="0" marL="0">
              <a:buNone/>
            </a:pPr>
            <a:r>
              <a:rPr lang="en-US" sz="1400" b="1" dirty="0">
                <a:solidFill>
                  <a:srgbClr val="B08D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algn="l" indent="0" marL="0">
              <a:buNone/>
            </a:pPr>
            <a:r>
              <a:rPr lang="en-US" sz="1400" b="1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Responsibility</a:t>
            </a:r>
            <a:pPr algn="l" indent="0" marL="0">
              <a:buNone/>
            </a:pPr>
            <a:r>
              <a:rPr lang="en-US" sz="1400" b="1" dirty="0">
                <a:solidFill>
                  <a:srgbClr val="B08D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algn="l" indent="0" marL="0">
              <a:buNone/>
            </a:pPr>
            <a:r>
              <a:rPr lang="en-US" sz="1400" b="1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Choice</a:t>
            </a:r>
            <a:pPr algn="l" indent="0" marL="0">
              <a:buNone/>
            </a:pPr>
            <a:r>
              <a:rPr lang="en-US" sz="1400" b="1" dirty="0">
                <a:solidFill>
                  <a:srgbClr val="B08D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algn="l" indent="0" marL="0">
              <a:buNone/>
            </a:pPr>
            <a:r>
              <a:rPr lang="en-US" sz="1400" b="1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03504" y="605332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C7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(Brownell, 2010; Joyce &amp; Sills, 2014)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DD6C4"/>
          </a:solidFill>
          <a:ln/>
        </p:spPr>
      </p:sp>
      <p:sp>
        <p:nvSpPr>
          <p:cNvPr id="20" name="Text 17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C7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side-strength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0"/>
            <a:ext cx="4053535" cy="6355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097012" y="0"/>
            <a:ext cx="41148" cy="6355080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4" name="Shape 1"/>
          <p:cNvSpPr/>
          <p:nvPr/>
        </p:nvSpPr>
        <p:spPr>
          <a:xfrm>
            <a:off x="603504" y="566928"/>
            <a:ext cx="502920" cy="50292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5" name="Text 2"/>
          <p:cNvSpPr/>
          <p:nvPr/>
        </p:nvSpPr>
        <p:spPr>
          <a:xfrm>
            <a:off x="603504" y="685800"/>
            <a:ext cx="7223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326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STRENGTHS OF GESTALT THERAPY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03504" y="1572768"/>
            <a:ext cx="7223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✓"/>
            </a:pPr>
            <a:r>
              <a:rPr lang="en-US" sz="140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Promotes self-awareness</a:t>
            </a:r>
            <a:endParaRPr lang="en-US" sz="1400" dirty="0"/>
          </a:p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✓"/>
            </a:pPr>
            <a:r>
              <a:rPr lang="en-US" sz="140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Focuses on lived experience</a:t>
            </a:r>
            <a:endParaRPr lang="en-US" sz="1400" dirty="0"/>
          </a:p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✓"/>
            </a:pPr>
            <a:r>
              <a:rPr lang="en-US" sz="140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Encourages agency and responsibility</a:t>
            </a:r>
            <a:endParaRPr lang="en-US" sz="1400" dirty="0"/>
          </a:p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✓"/>
            </a:pPr>
            <a:r>
              <a:rPr lang="en-US" sz="140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Integrates </a:t>
            </a:r>
            <a:pPr indent="0" marL="0">
              <a:buNone/>
            </a:pPr>
            <a:r>
              <a:rPr lang="en-US" sz="1400" b="1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mind, emotion and body</a:t>
            </a:r>
            <a:endParaRPr lang="en-US" sz="1400" dirty="0"/>
          </a:p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✓"/>
            </a:pPr>
            <a:r>
              <a:rPr lang="en-US" sz="140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Considers person–environment interaction</a:t>
            </a:r>
            <a:endParaRPr lang="en-US" sz="1400" dirty="0"/>
          </a:p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✓"/>
            </a:pPr>
            <a:r>
              <a:rPr lang="en-US" sz="140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Encourages active client participation</a:t>
            </a:r>
            <a:endParaRPr lang="en-US" sz="1400" dirty="0"/>
          </a:p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✓"/>
            </a:pPr>
            <a:r>
              <a:rPr lang="en-US" sz="140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Supports experiential emotional processing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DD6C4"/>
          </a:solidFill>
          <a:ln/>
        </p:spPr>
      </p:sp>
      <p:sp>
        <p:nvSpPr>
          <p:cNvPr id="8" name="Text 5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C7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73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bg-limitation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Business-e-books/presentations/gestalt-theory-counselling/assets/scrim-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26">
              <a:alpha val="7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603504" y="566928"/>
            <a:ext cx="502920" cy="50292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6" name="Text 2"/>
          <p:cNvSpPr/>
          <p:nvPr/>
        </p:nvSpPr>
        <p:spPr>
          <a:xfrm>
            <a:off x="603504" y="685800"/>
            <a:ext cx="9601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3EF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AND CRITICISMS</a:t>
            </a:r>
            <a:endParaRPr lang="en-US" sz="2700" dirty="0"/>
          </a:p>
        </p:txBody>
      </p:sp>
      <p:sp>
        <p:nvSpPr>
          <p:cNvPr id="7" name="Text 3"/>
          <p:cNvSpPr/>
          <p:nvPr/>
        </p:nvSpPr>
        <p:spPr>
          <a:xfrm>
            <a:off x="603504" y="1627632"/>
            <a:ext cx="74066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techniques may feel intense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skilled and sensitive application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be challenging for clients who prefer highly structured approaches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Experiential techniques can be </a:t>
            </a:r>
            <a:pPr indent="0" marL="0">
              <a:buNone/>
            </a:pPr>
            <a:r>
              <a:rPr lang="en-US" sz="1350" b="1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misused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every intervention suits every client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b="1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Cultural context</a:t>
            </a:r>
            <a:pPr indent="0" marL="0">
              <a:buNone/>
            </a:pPr>
            <a:r>
              <a:rPr lang="en-US" sz="1350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must be considered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Ethical boundaries are essential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603504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B7C2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(Corey, 2024; Joyce &amp; Sills, 2014)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3E5647"/>
          </a:solidFill>
          <a:ln/>
        </p:spPr>
      </p:sp>
      <p:sp>
        <p:nvSpPr>
          <p:cNvPr id="10" name="Text 6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FA3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1" name="Text 7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566928"/>
            <a:ext cx="502920" cy="50292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3" name="Text 1"/>
          <p:cNvSpPr/>
          <p:nvPr/>
        </p:nvSpPr>
        <p:spPr>
          <a:xfrm>
            <a:off x="603504" y="685800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326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CASE APPLICATION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03504" y="1463040"/>
            <a:ext cx="3246120" cy="4617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4"/>
            </a:solidFill>
            <a:prstDash val="solid"/>
          </a:ln>
        </p:spPr>
      </p:sp>
      <p:pic>
        <p:nvPicPr>
          <p:cNvPr id="5" name="Image 0" descr="/home/user/Business-e-books/presentations/gestalt-theory-counselling/assets/card-studen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63040"/>
            <a:ext cx="324612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9536" y="48828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8F7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59536" y="513892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3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20-year-old undergraduate scholarship student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069080" y="1463040"/>
            <a:ext cx="2414016" cy="4617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69080" y="1463040"/>
            <a:ext cx="2414016" cy="475488"/>
          </a:xfrm>
          <a:prstGeom prst="rect">
            <a:avLst/>
          </a:prstGeom>
          <a:solidFill>
            <a:srgbClr val="173226"/>
          </a:solidFill>
          <a:ln/>
        </p:spPr>
      </p:sp>
      <p:sp>
        <p:nvSpPr>
          <p:cNvPr id="10" name="Text 7"/>
          <p:cNvSpPr/>
          <p:nvPr/>
        </p:nvSpPr>
        <p:spPr>
          <a:xfrm>
            <a:off x="4197096" y="146304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PRESENTING CONCERNS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4233672" y="2121408"/>
            <a:ext cx="2121408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anxiety</a:t>
            </a:r>
            <a:endParaRPr lang="en-US" sz="1050" dirty="0"/>
          </a:p>
          <a:p>
            <a:pPr marL="139700" indent="-1397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Fear of losing scholarship</a:t>
            </a:r>
            <a:endParaRPr lang="en-US" sz="1050" dirty="0"/>
          </a:p>
          <a:p>
            <a:pPr marL="139700" indent="-1397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Fear of disappointing family</a:t>
            </a:r>
            <a:endParaRPr lang="en-US" sz="1050" dirty="0"/>
          </a:p>
          <a:p>
            <a:pPr marL="139700" indent="-1397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Difficulty expressing emotions</a:t>
            </a:r>
            <a:endParaRPr lang="en-US" sz="1050" dirty="0"/>
          </a:p>
          <a:p>
            <a:pPr marL="139700" indent="-1397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Pressure to maintain high grades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620256" y="1463040"/>
            <a:ext cx="2414016" cy="4617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620256" y="1463040"/>
            <a:ext cx="2414016" cy="475488"/>
          </a:xfrm>
          <a:prstGeom prst="rect">
            <a:avLst/>
          </a:prstGeom>
          <a:solidFill>
            <a:srgbClr val="26513E"/>
          </a:solidFill>
          <a:ln/>
        </p:spPr>
      </p:sp>
      <p:sp>
        <p:nvSpPr>
          <p:cNvPr id="14" name="Text 11"/>
          <p:cNvSpPr/>
          <p:nvPr/>
        </p:nvSpPr>
        <p:spPr>
          <a:xfrm>
            <a:off x="6748272" y="146304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GESTALT CONCEPTUALIZATION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6784848" y="2121408"/>
            <a:ext cx="2121408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Anxiety becomes figure</a:t>
            </a:r>
            <a:endParaRPr lang="en-US" sz="1050" dirty="0"/>
          </a:p>
          <a:p>
            <a:pPr marL="139700" indent="-1397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Possible introjected expectations</a:t>
            </a:r>
            <a:endParaRPr lang="en-US" sz="1050" dirty="0"/>
          </a:p>
          <a:p>
            <a:pPr marL="139700" indent="-1397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awareness of personal needs</a:t>
            </a:r>
            <a:endParaRPr lang="en-US" sz="1050" dirty="0"/>
          </a:p>
          <a:p>
            <a:pPr marL="139700" indent="-1397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Interrupted contact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171432" y="1463040"/>
            <a:ext cx="2414016" cy="4617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171432" y="1463040"/>
            <a:ext cx="2414016" cy="475488"/>
          </a:xfrm>
          <a:prstGeom prst="rect">
            <a:avLst/>
          </a:prstGeom>
          <a:solidFill>
            <a:srgbClr val="8F7028"/>
          </a:solidFill>
          <a:ln/>
        </p:spPr>
      </p:sp>
      <p:sp>
        <p:nvSpPr>
          <p:cNvPr id="18" name="Text 15"/>
          <p:cNvSpPr/>
          <p:nvPr/>
        </p:nvSpPr>
        <p:spPr>
          <a:xfrm>
            <a:off x="9299448" y="146304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POSSIBLE INTERVENTIONS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9336024" y="2121408"/>
            <a:ext cx="2121408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Here-and-now exploration</a:t>
            </a:r>
            <a:endParaRPr lang="en-US" sz="1050" dirty="0"/>
          </a:p>
          <a:p>
            <a:pPr marL="139700" indent="-1397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Body awareness</a:t>
            </a:r>
            <a:endParaRPr lang="en-US" sz="1050" dirty="0"/>
          </a:p>
          <a:p>
            <a:pPr marL="139700" indent="-1397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Staying with the feeling</a:t>
            </a:r>
            <a:endParaRPr lang="en-US" sz="1050" dirty="0"/>
          </a:p>
          <a:p>
            <a:pPr marL="139700" indent="-1397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“I” statements</a:t>
            </a:r>
            <a:endParaRPr lang="en-US" sz="1050" dirty="0"/>
          </a:p>
          <a:p>
            <a:pPr marL="139700" indent="-1397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Exploring introjected beliefs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DD6C4"/>
          </a:solidFill>
          <a:ln/>
        </p:spPr>
      </p:sp>
      <p:sp>
        <p:nvSpPr>
          <p:cNvPr id="21" name="Text 18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C7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566928"/>
            <a:ext cx="502920" cy="50292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3" name="Text 1"/>
          <p:cNvSpPr/>
          <p:nvPr/>
        </p:nvSpPr>
        <p:spPr>
          <a:xfrm>
            <a:off x="603504" y="685800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326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 EVALUATION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03504" y="1463040"/>
            <a:ext cx="5340096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4"/>
            </a:solidFill>
            <a:prstDash val="solid"/>
          </a:ln>
        </p:spPr>
      </p:sp>
      <p:pic>
        <p:nvPicPr>
          <p:cNvPr id="5" name="Image 0" descr="/home/user/Business-e-books/presentations/gestalt-theory-counselling/assets/circle-seed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82496"/>
            <a:ext cx="731520" cy="731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46504" y="184708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5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CONTRIBUTIONS</a:t>
            </a:r>
            <a:endParaRPr lang="en-US" sz="1650" dirty="0"/>
          </a:p>
        </p:txBody>
      </p:sp>
      <p:sp>
        <p:nvSpPr>
          <p:cNvPr id="7" name="Shape 4"/>
          <p:cNvSpPr/>
          <p:nvPr/>
        </p:nvSpPr>
        <p:spPr>
          <a:xfrm>
            <a:off x="877824" y="2606040"/>
            <a:ext cx="4791456" cy="11887"/>
          </a:xfrm>
          <a:prstGeom prst="rect">
            <a:avLst/>
          </a:prstGeom>
          <a:solidFill>
            <a:srgbClr val="DDD6C4"/>
          </a:solidFill>
          <a:ln/>
        </p:spPr>
      </p:sp>
      <p:sp>
        <p:nvSpPr>
          <p:cNvPr id="8" name="Text 5"/>
          <p:cNvSpPr/>
          <p:nvPr/>
        </p:nvSpPr>
        <p:spPr>
          <a:xfrm>
            <a:off x="877824" y="2816352"/>
            <a:ext cx="4791456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Holistic understanding of human experience</a:t>
            </a:r>
            <a:endParaRPr lang="en-US" sz="12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emphasis on awareness</a:t>
            </a:r>
            <a:endParaRPr lang="en-US" sz="12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Integrates body, emotion and cognition</a:t>
            </a:r>
            <a:endParaRPr lang="en-US" sz="12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Recognizes person–environment interaction</a:t>
            </a:r>
            <a:endParaRPr lang="en-US" sz="12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Promotes agency and authentic choice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45352" y="1463040"/>
            <a:ext cx="5340096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4"/>
            </a:solidFill>
            <a:prstDash val="solid"/>
          </a:ln>
        </p:spPr>
      </p:sp>
      <p:pic>
        <p:nvPicPr>
          <p:cNvPr id="10" name="Image 1" descr="/home/user/Business-e-books/presentations/gestalt-theory-counselling/assets/circle-sc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4" y="1682496"/>
            <a:ext cx="731520" cy="7315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388352" y="184708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A651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CONSIDERATIONS</a:t>
            </a:r>
            <a:endParaRPr lang="en-US" sz="1650" dirty="0"/>
          </a:p>
        </p:txBody>
      </p:sp>
      <p:sp>
        <p:nvSpPr>
          <p:cNvPr id="12" name="Shape 8"/>
          <p:cNvSpPr/>
          <p:nvPr/>
        </p:nvSpPr>
        <p:spPr>
          <a:xfrm>
            <a:off x="6519672" y="2606040"/>
            <a:ext cx="4791456" cy="11887"/>
          </a:xfrm>
          <a:prstGeom prst="rect">
            <a:avLst/>
          </a:prstGeom>
          <a:solidFill>
            <a:srgbClr val="DDD6C4"/>
          </a:solidFill>
          <a:ln/>
        </p:spPr>
      </p:sp>
      <p:sp>
        <p:nvSpPr>
          <p:cNvPr id="13" name="Text 9"/>
          <p:cNvSpPr/>
          <p:nvPr/>
        </p:nvSpPr>
        <p:spPr>
          <a:xfrm>
            <a:off x="6519672" y="2816352"/>
            <a:ext cx="4791456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Cultural adaptation</a:t>
            </a:r>
            <a:endParaRPr lang="en-US" sz="12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readiness</a:t>
            </a:r>
            <a:endParaRPr lang="en-US" sz="12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Therapist competence</a:t>
            </a:r>
            <a:endParaRPr lang="en-US" sz="12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Appropriate use of experiential techniques</a:t>
            </a:r>
            <a:endParaRPr lang="en-US" sz="12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 between present and past experience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DD6C4"/>
          </a:solidFill>
          <a:ln/>
        </p:spPr>
      </p:sp>
      <p:sp>
        <p:nvSpPr>
          <p:cNvPr id="15" name="Text 11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C7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6" name="Text 12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73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bg-conclus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Business-e-books/presentations/gestalt-theory-counselling/assets/scrim-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2" descr="/home/user/Business-e-books/presentations/gestalt-theory-counselling/assets/scrim-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26">
              <a:alpha val="62000"/>
            </a:srgbClr>
          </a:solidFill>
          <a:ln/>
        </p:spPr>
      </p:sp>
      <p:sp>
        <p:nvSpPr>
          <p:cNvPr id="6" name="Text 1"/>
          <p:cNvSpPr/>
          <p:nvPr/>
        </p:nvSpPr>
        <p:spPr>
          <a:xfrm>
            <a:off x="1984248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EF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7" name="Shape 2"/>
          <p:cNvSpPr/>
          <p:nvPr/>
        </p:nvSpPr>
        <p:spPr>
          <a:xfrm>
            <a:off x="5641848" y="1188720"/>
            <a:ext cx="914400" cy="45720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8" name="Text 3"/>
          <p:cNvSpPr/>
          <p:nvPr/>
        </p:nvSpPr>
        <p:spPr>
          <a:xfrm>
            <a:off x="4636008" y="1572768"/>
            <a:ext cx="2926080" cy="475488"/>
          </a:xfrm>
          <a:prstGeom prst="roundRect">
            <a:avLst>
              <a:gd name="adj" fmla="val 15385"/>
            </a:avLst>
          </a:prstGeom>
          <a:solidFill>
            <a:srgbClr val="FFFFFF">
              <a:alpha val="14000"/>
            </a:srgbClr>
          </a:solidFill>
          <a:ln w="9525">
            <a:solidFill>
              <a:srgbClr val="C9D4C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</a:t>
            </a: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4636008" y="202996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8D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500" dirty="0"/>
          </a:p>
        </p:txBody>
      </p:sp>
      <p:sp>
        <p:nvSpPr>
          <p:cNvPr id="10" name="Text 5"/>
          <p:cNvSpPr/>
          <p:nvPr/>
        </p:nvSpPr>
        <p:spPr>
          <a:xfrm>
            <a:off x="4636008" y="2432304"/>
            <a:ext cx="2926080" cy="475488"/>
          </a:xfrm>
          <a:prstGeom prst="roundRect">
            <a:avLst>
              <a:gd name="adj" fmla="val 15385"/>
            </a:avLst>
          </a:prstGeom>
          <a:solidFill>
            <a:srgbClr val="FFFFFF">
              <a:alpha val="14000"/>
            </a:srgbClr>
          </a:solidFill>
          <a:ln w="9525">
            <a:solidFill>
              <a:srgbClr val="C9D4C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HERE-AND-NOW</a:t>
            </a: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4636008" y="2889504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8D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4636008" y="3291840"/>
            <a:ext cx="2926080" cy="475488"/>
          </a:xfrm>
          <a:prstGeom prst="roundRect">
            <a:avLst>
              <a:gd name="adj" fmla="val 15385"/>
            </a:avLst>
          </a:prstGeom>
          <a:solidFill>
            <a:srgbClr val="FFFFFF">
              <a:alpha val="14000"/>
            </a:srgbClr>
          </a:solidFill>
          <a:ln w="9525">
            <a:solidFill>
              <a:srgbClr val="C9D4C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4636008" y="374904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8D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4636008" y="4151376"/>
            <a:ext cx="2926080" cy="475488"/>
          </a:xfrm>
          <a:prstGeom prst="roundRect">
            <a:avLst>
              <a:gd name="adj" fmla="val 15385"/>
            </a:avLst>
          </a:prstGeom>
          <a:solidFill>
            <a:srgbClr val="FFFFFF">
              <a:alpha val="14000"/>
            </a:srgbClr>
          </a:solidFill>
          <a:ln w="9525">
            <a:solidFill>
              <a:srgbClr val="C9D4C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RESPONSIBILITY &amp; CHOICE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4636008" y="460857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8D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4636008" y="5010912"/>
            <a:ext cx="2926080" cy="475488"/>
          </a:xfrm>
          <a:prstGeom prst="roundRect">
            <a:avLst>
              <a:gd name="adj" fmla="val 15385"/>
            </a:avLst>
          </a:prstGeom>
          <a:solidFill>
            <a:srgbClr val="B08D3C"/>
          </a:solidFill>
          <a:ln w="12700">
            <a:solidFill>
              <a:srgbClr val="B08D3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3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1984248" y="5779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i="1" dirty="0">
                <a:solidFill>
                  <a:srgbClr val="D9CF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Greater awareness creates greater possibilities for choice and change.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1984248" y="61996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B7C2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(Perls et al., 1951; Joyce &amp; Sills, 2014)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3E5647"/>
          </a:solidFill>
          <a:ln/>
        </p:spPr>
      </p:sp>
      <p:sp>
        <p:nvSpPr>
          <p:cNvPr id="20" name="Text 15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FA3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1" name="Text 16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3E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strip-referenc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651760" cy="6355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651760" y="0"/>
            <a:ext cx="41148" cy="6355080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4" name="Shape 1"/>
          <p:cNvSpPr/>
          <p:nvPr/>
        </p:nvSpPr>
        <p:spPr>
          <a:xfrm>
            <a:off x="3063240" y="566928"/>
            <a:ext cx="502920" cy="50292"/>
          </a:xfrm>
          <a:prstGeom prst="rect">
            <a:avLst/>
          </a:prstGeom>
          <a:solidFill>
            <a:srgbClr val="B08D3C"/>
          </a:solidFill>
          <a:ln/>
        </p:spPr>
      </p:sp>
      <p:sp>
        <p:nvSpPr>
          <p:cNvPr id="5" name="Text 2"/>
          <p:cNvSpPr/>
          <p:nvPr/>
        </p:nvSpPr>
        <p:spPr>
          <a:xfrm>
            <a:off x="3063240" y="685800"/>
            <a:ext cx="8412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326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3063240" y="1463040"/>
            <a:ext cx="8522208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1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Brownell, P. (2010). </a:t>
            </a:r>
            <a:pPr indent="0" marL="0">
              <a:buNone/>
            </a:pPr>
            <a:r>
              <a:rPr lang="en-US" sz="1150" i="1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Gestalt therapy: A guide to contemporary practice</a:t>
            </a:r>
            <a:pPr indent="0" marL="0">
              <a:buNone/>
            </a:pPr>
            <a:r>
              <a:rPr lang="en-US" sz="11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Springer Publishing Company.</a:t>
            </a:r>
            <a:endParaRPr lang="en-US" sz="115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1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Corey, G. (2024). </a:t>
            </a:r>
            <a:pPr indent="0" marL="0">
              <a:buNone/>
            </a:pPr>
            <a:r>
              <a:rPr lang="en-US" sz="1150" i="1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Theory and practice of counseling and psychotherapy</a:t>
            </a:r>
            <a:pPr indent="0" marL="0">
              <a:buNone/>
            </a:pPr>
            <a:r>
              <a:rPr lang="en-US" sz="11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(11th ed.). Cengage Learning.</a:t>
            </a:r>
            <a:endParaRPr lang="en-US" sz="115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1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Joyce, P., &amp; Sills, C. (2014). </a:t>
            </a:r>
            <a:pPr indent="0" marL="0">
              <a:buNone/>
            </a:pPr>
            <a:r>
              <a:rPr lang="en-US" sz="1150" i="1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in Gestalt counselling &amp; psychotherapy</a:t>
            </a:r>
            <a:pPr indent="0" marL="0">
              <a:buNone/>
            </a:pPr>
            <a:r>
              <a:rPr lang="en-US" sz="11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(3rd ed.). SAGE.</a:t>
            </a:r>
            <a:endParaRPr lang="en-US" sz="115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1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Perls, F. S., Hefferline, R. F., &amp; Goodman, P. (1951). </a:t>
            </a:r>
            <a:pPr indent="0" marL="0">
              <a:buNone/>
            </a:pPr>
            <a:r>
              <a:rPr lang="en-US" sz="1150" i="1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Gestalt therapy: Excitement and growth in the human personality</a:t>
            </a:r>
            <a:pPr indent="0" marL="0">
              <a:buNone/>
            </a:pPr>
            <a:r>
              <a:rPr lang="en-US" sz="11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Julian Press.</a:t>
            </a:r>
            <a:endParaRPr lang="en-US" sz="115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1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Woldt, A. L., &amp; Toman, S. M. (Eds.). (2005). </a:t>
            </a:r>
            <a:pPr indent="0" marL="0">
              <a:buNone/>
            </a:pPr>
            <a:r>
              <a:rPr lang="en-US" sz="1150" i="1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Gestalt therapy: History, theory, and practice</a:t>
            </a:r>
            <a:pPr indent="0" marL="0">
              <a:buNone/>
            </a:pPr>
            <a:r>
              <a:rPr lang="en-US" sz="11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SAGE.</a:t>
            </a:r>
            <a:endParaRPr lang="en-US" sz="115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1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Yontef, G., &amp; Fuhr, R. (2005). Gestalt therapy theory of change. In A. L. Woldt &amp; S. Toman (Eds.), </a:t>
            </a:r>
            <a:pPr indent="0" marL="0">
              <a:buNone/>
            </a:pPr>
            <a:r>
              <a:rPr lang="en-US" sz="1150" i="1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Gestalt therapy: History, theory, and practice</a:t>
            </a:r>
            <a:pPr indent="0" marL="0">
              <a:buNone/>
            </a:pPr>
            <a:r>
              <a:rPr lang="en-US" sz="1150" dirty="0">
                <a:solidFill>
                  <a:srgbClr val="2E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(pp. 81–100). SAGE.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DD6C4"/>
          </a:solidFill>
          <a:ln/>
        </p:spPr>
      </p:sp>
      <p:sp>
        <p:nvSpPr>
          <p:cNvPr id="8" name="Text 5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C7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65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Pan African Christian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Gestalt Theory and Its Application to Counselling</dc:title>
  <dc:subject>MCP504 Theories of Counseling and Psychotherapy</dc:subject>
  <dc:creator>Group 4 — Pan African Christian University</dc:creator>
  <cp:lastModifiedBy>Group 4 — Pan African Christian University</cp:lastModifiedBy>
  <cp:revision>1</cp:revision>
  <dcterms:created xsi:type="dcterms:W3CDTF">2026-10-05T20:10:16Z</dcterms:created>
  <dcterms:modified xsi:type="dcterms:W3CDTF">2026-10-05T20:10:16Z</dcterms:modified>
</cp:coreProperties>
</file>