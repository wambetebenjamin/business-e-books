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title-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0"/>
            <a:ext cx="52422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A1937">
              <a:alpha val="1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912864" y="0"/>
            <a:ext cx="41148" cy="685800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74980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4 PRESENTATION  ·  MCP504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66928" y="107899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THEORY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03504" y="1901952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spc="100" kern="0" dirty="0">
                <a:solidFill>
                  <a:srgbClr val="C9D4E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AND ITS APPLICATION TO COUNSELLING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621792" y="2487168"/>
            <a:ext cx="1097280" cy="41148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9" name="Shape 6"/>
          <p:cNvSpPr/>
          <p:nvPr/>
        </p:nvSpPr>
        <p:spPr>
          <a:xfrm>
            <a:off x="603504" y="2852928"/>
            <a:ext cx="6071616" cy="1847088"/>
          </a:xfrm>
          <a:prstGeom prst="roundRect">
            <a:avLst>
              <a:gd name="adj" fmla="val 297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5C6C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9536" y="3035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PRESENTED BY  ·  GROUP 4 MEMBERS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59536" y="336499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Josephine Biwott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·    MACP/35996/0/26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59536" y="377647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Cynthia Cherono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·    MACP/35785/4/26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59536" y="418795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Yvonne Juliet Awuor</a:t>
            </a:r>
            <a:pPr indent="0" marL="0">
              <a:buNone/>
            </a:pPr>
            <a:r>
              <a:rPr lang="en-US" sz="115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·    MALD/36547/4/26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21792" y="5029200"/>
            <a:ext cx="6035040" cy="10973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5" name="Text 12"/>
          <p:cNvSpPr/>
          <p:nvPr/>
        </p:nvSpPr>
        <p:spPr>
          <a:xfrm>
            <a:off x="603504" y="519379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COURSE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03504" y="54406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MCP504 · Theories of Counseling and Psychotherapy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657600" y="5193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INSTITUTION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3657600" y="54406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806440" y="519379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LECTURER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5806440" y="544068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Dr. Lucy Gachenia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in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0"/>
            <a:ext cx="423641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1413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INTRODUCTION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572768"/>
            <a:ext cx="690372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Experiential and humanistic approach to counselling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Emphasizes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awareness, present experience and contact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Understands individuals within their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 and relationships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personal responsibility, choice and authentic living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3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the client's experience in the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here-and-now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hist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089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0896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3520440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3520440" y="68580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HISTORICAL BACKGROUND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3520440" y="1481328"/>
            <a:ext cx="802843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Emerged during the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1940s and 1950s</a:t>
            </a:r>
            <a:endParaRPr lang="en-US" sz="14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Developed partly in response to limitations perceived in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traditional psychoanalysis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520440" y="28712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INFLUENCED BY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520440" y="3182112"/>
            <a:ext cx="2395728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psychology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099048" y="3182112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Phenomenology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8385048" y="3182112"/>
            <a:ext cx="261518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Existential philosophy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520440" y="3767328"/>
            <a:ext cx="1691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Field theory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394960" y="3767328"/>
            <a:ext cx="21488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Holistic approaches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520440" y="4434840"/>
            <a:ext cx="8028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Emphasized </a:t>
            </a:r>
            <a:pPr indent="0" marL="0">
              <a:buNone/>
            </a:pPr>
            <a:r>
              <a:rPr lang="en-US" sz="14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experience, awareness and contact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3520440" y="5029200"/>
            <a:ext cx="8065008" cy="1097280"/>
          </a:xfrm>
          <a:prstGeom prst="roundRect">
            <a:avLst>
              <a:gd name="adj" fmla="val 5000"/>
            </a:avLst>
          </a:prstGeom>
          <a:solidFill>
            <a:srgbClr val="162B57"/>
          </a:solidFill>
          <a:ln/>
        </p:spPr>
      </p:sp>
      <p:sp>
        <p:nvSpPr>
          <p:cNvPr id="15" name="Text 12"/>
          <p:cNvSpPr/>
          <p:nvPr/>
        </p:nvSpPr>
        <p:spPr>
          <a:xfrm>
            <a:off x="3703320" y="51572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INTELLECTUAL ROOTS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703320" y="5440680"/>
            <a:ext cx="76992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Psychology</a:t>
            </a:r>
            <a:pPr algn="l" indent="0" marL="0">
              <a:buNone/>
            </a:pPr>
            <a:r>
              <a:rPr lang="en-US" sz="11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Phenomenology</a:t>
            </a:r>
            <a:pPr algn="l" indent="0" marL="0">
              <a:buNone/>
            </a:pPr>
            <a:r>
              <a:rPr lang="en-US" sz="11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Existentialism</a:t>
            </a:r>
            <a:pPr algn="l" indent="0" marL="0">
              <a:buNone/>
            </a:pPr>
            <a:r>
              <a:rPr lang="en-US" sz="11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Field Theory</a:t>
            </a:r>
            <a:pPr algn="l" indent="0" marL="0">
              <a:buNone/>
            </a:pPr>
            <a:r>
              <a:rPr lang="en-US" sz="11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3520440" y="6263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anner-theoris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2011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2011680"/>
          </a:xfrm>
          <a:prstGeom prst="rect">
            <a:avLst/>
          </a:prstGeom>
          <a:solidFill>
            <a:srgbClr val="0A1937">
              <a:alpha val="7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9144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MAJOR THEORISTS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0" y="2011680"/>
            <a:ext cx="12191695" cy="32004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Shape 4"/>
          <p:cNvSpPr/>
          <p:nvPr/>
        </p:nvSpPr>
        <p:spPr>
          <a:xfrm>
            <a:off x="603504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3504" y="2395728"/>
            <a:ext cx="3508553" cy="8229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9" name="Shape 6"/>
          <p:cNvSpPr/>
          <p:nvPr/>
        </p:nvSpPr>
        <p:spPr>
          <a:xfrm>
            <a:off x="877824" y="2697480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77824" y="269748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FP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700784" y="2761488"/>
            <a:ext cx="22741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Fritz Perls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1700784" y="3108960"/>
            <a:ext cx="22741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1893–1970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77824" y="3611880"/>
            <a:ext cx="2959913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77824" y="3767328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Major founder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77824" y="4434840"/>
            <a:ext cx="295991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Awareness, experience and responsibility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340657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40657" y="2395728"/>
            <a:ext cx="3508553" cy="8229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8" name="Shape 15"/>
          <p:cNvSpPr/>
          <p:nvPr/>
        </p:nvSpPr>
        <p:spPr>
          <a:xfrm>
            <a:off x="4614977" y="2697480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614977" y="269748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437937" y="2761488"/>
            <a:ext cx="22741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Laura Perls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5437937" y="3108960"/>
            <a:ext cx="22741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1905–1990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614977" y="3611880"/>
            <a:ext cx="2959913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3" name="Text 20"/>
          <p:cNvSpPr/>
          <p:nvPr/>
        </p:nvSpPr>
        <p:spPr>
          <a:xfrm>
            <a:off x="4614977" y="3767328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Major contributor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4614977" y="4434840"/>
            <a:ext cx="295991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Contact, relationship and embodied experience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8077810" y="2395728"/>
            <a:ext cx="3508553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077810" y="2395728"/>
            <a:ext cx="3508553" cy="82296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27" name="Shape 24"/>
          <p:cNvSpPr/>
          <p:nvPr/>
        </p:nvSpPr>
        <p:spPr>
          <a:xfrm>
            <a:off x="8352130" y="2697480"/>
            <a:ext cx="676656" cy="676656"/>
          </a:xfrm>
          <a:prstGeom prst="ellipse">
            <a:avLst/>
          </a:prstGeom>
          <a:solidFill>
            <a:srgbClr val="E8EDF6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52130" y="2697480"/>
            <a:ext cx="67665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PG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175090" y="2761488"/>
            <a:ext cx="22741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Paul Goodman</a:t>
            </a:r>
            <a:endParaRPr lang="en-US" sz="1550" dirty="0"/>
          </a:p>
        </p:txBody>
      </p:sp>
      <p:sp>
        <p:nvSpPr>
          <p:cNvPr id="30" name="Text 27"/>
          <p:cNvSpPr/>
          <p:nvPr/>
        </p:nvSpPr>
        <p:spPr>
          <a:xfrm>
            <a:off x="9175090" y="3108960"/>
            <a:ext cx="22741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1911–1972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352130" y="3611880"/>
            <a:ext cx="2959913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2" name="Text 29"/>
          <p:cNvSpPr/>
          <p:nvPr/>
        </p:nvSpPr>
        <p:spPr>
          <a:xfrm>
            <a:off x="8352130" y="3767328"/>
            <a:ext cx="29599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Co-author of Gestalt Therapy (1951)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8352130" y="4434840"/>
            <a:ext cx="2959913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Major contributor to theoretical formulation</a:t>
            </a:r>
            <a:endParaRPr lang="en-US" sz="1250" dirty="0"/>
          </a:p>
        </p:txBody>
      </p:sp>
      <p:sp>
        <p:nvSpPr>
          <p:cNvPr id="34" name="Text 31"/>
          <p:cNvSpPr/>
          <p:nvPr/>
        </p:nvSpPr>
        <p:spPr>
          <a:xfrm>
            <a:off x="603504" y="60807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6" name="Text 3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assump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 ASSUMPTIONS OF GESTALT THERAPY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03504" y="1691640"/>
            <a:ext cx="5577840" cy="2788920"/>
          </a:xfrm>
          <a:prstGeom prst="roundRect">
            <a:avLst>
              <a:gd name="adj" fmla="val 1967"/>
            </a:avLst>
          </a:prstGeom>
          <a:solidFill>
            <a:srgbClr val="0A1937">
              <a:alpha val="55000"/>
            </a:srgbClr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92024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People are best understood as whole persons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Human experience is influenced by the environment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is central to psychological growth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Experience unfolds in the present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0" y="1691640"/>
            <a:ext cx="5166360" cy="2788920"/>
          </a:xfrm>
          <a:prstGeom prst="roundRect">
            <a:avLst>
              <a:gd name="adj" fmla="val 1967"/>
            </a:avLst>
          </a:prstGeom>
          <a:solidFill>
            <a:srgbClr val="0A1937">
              <a:alpha val="55000"/>
            </a:srgbClr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38544" y="192024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People have capacity for choice and self-regulation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Healthy functioning involves meaningful contact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9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Psychological difficulties may involve interruptions in awareness or contact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03504" y="5989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Brownell, 2010; Joyce &amp; Sills, 2014)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2" name="Text 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awarenes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46304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Central concept in Gestalt therapy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" y="19933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NOTICING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" y="2286000"/>
            <a:ext cx="160020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Thoughts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2386584" y="2286000"/>
            <a:ext cx="160020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Feelings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03504" y="2862072"/>
            <a:ext cx="237744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Bodily sensations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163824" y="2862072"/>
            <a:ext cx="160020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Behaviour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03504" y="3438144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03504" y="409651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present experience</a:t>
            </a:r>
            <a:endParaRPr lang="en-US" sz="1300" dirty="0"/>
          </a:p>
          <a:p>
            <a:pPr marL="139700" indent="-139700">
              <a:lnSpc>
                <a:spcPct val="114000"/>
              </a:lnSpc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Creates opportunities for choice and change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03504" y="495604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PROCESS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03504" y="5266944"/>
            <a:ext cx="2240280" cy="566928"/>
          </a:xfrm>
          <a:prstGeom prst="roundRect">
            <a:avLst>
              <a:gd name="adj" fmla="val 9677"/>
            </a:avLst>
          </a:prstGeom>
          <a:solidFill>
            <a:srgbClr val="0A1937"/>
          </a:solidFill>
          <a:ln w="12700"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2889504" y="52669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3493008" y="5266944"/>
            <a:ext cx="1737360" cy="566928"/>
          </a:xfrm>
          <a:prstGeom prst="roundRect">
            <a:avLst>
              <a:gd name="adj" fmla="val 9677"/>
            </a:avLst>
          </a:prstGeom>
          <a:solidFill>
            <a:srgbClr val="162B57"/>
          </a:solidFill>
          <a:ln w="12700">
            <a:solidFill>
              <a:srgbClr val="162B5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CHOICE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276088" y="526694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17E9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879592" y="5266944"/>
            <a:ext cx="1828800" cy="566928"/>
          </a:xfrm>
          <a:prstGeom prst="roundRect">
            <a:avLst>
              <a:gd name="adj" fmla="val 9677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9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03504" y="59893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2" name="Text 19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heren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HERE-AND-NOW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572768"/>
            <a:ext cx="72237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the client's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 experience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 experiences are explored through their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impact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Includes thoughts, emotions, bodily sensations and behaviour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direct experience</a:t>
            </a:r>
            <a:pPr indent="0" marL="0">
              <a:buNone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rather than excessive intellectual analysis</a:t>
            </a:r>
            <a:endParaRPr lang="en-US" sz="1500" dirty="0"/>
          </a:p>
          <a:p>
            <a:pPr marL="139700" indent="-139700">
              <a:lnSpc>
                <a:spcPct val="114000"/>
              </a:lnSpc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therapeutic relationship provides an opportunity for </a:t>
            </a:r>
            <a:pPr indent="0" marL="0">
              <a:buNone/>
            </a:pPr>
            <a:r>
              <a:rPr lang="en-US" sz="15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present-moment awareness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03504" y="59436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Brownell, 2010)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7315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FIGURE AND GROUND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463040"/>
            <a:ext cx="4846320" cy="4160520"/>
          </a:xfrm>
          <a:prstGeom prst="roundRect">
            <a:avLst>
              <a:gd name="adj" fmla="val 1319"/>
            </a:avLst>
          </a:prstGeom>
          <a:solidFill>
            <a:srgbClr val="0A1937"/>
          </a:solidFill>
          <a:ln/>
        </p:spPr>
      </p:sp>
      <p:sp>
        <p:nvSpPr>
          <p:cNvPr id="5" name="Shape 3"/>
          <p:cNvSpPr/>
          <p:nvPr/>
        </p:nvSpPr>
        <p:spPr>
          <a:xfrm>
            <a:off x="1014984" y="1531620"/>
            <a:ext cx="4023360" cy="402336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80744" y="1897380"/>
            <a:ext cx="3291840" cy="329184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0784" y="2217420"/>
            <a:ext cx="2651760" cy="2651760"/>
          </a:xfrm>
          <a:prstGeom prst="ellipse">
            <a:avLst/>
          </a:prstGeom>
          <a:solidFill>
            <a:srgbClr val="0A1937">
              <a:alpha val="0"/>
            </a:srgbClr>
          </a:solidFill>
          <a:ln w="12700">
            <a:solidFill>
              <a:srgbClr val="46608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49424" y="2761488"/>
            <a:ext cx="1554480" cy="1554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9424" y="4389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2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FIGURE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77824" y="523036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2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GROUND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03504" y="57241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element steps forward as figure against a ground of context.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760720" y="1463040"/>
            <a:ext cx="5824728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60720" y="1463040"/>
            <a:ext cx="73152" cy="950976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4" name="Text 12"/>
          <p:cNvSpPr/>
          <p:nvPr/>
        </p:nvSpPr>
        <p:spPr>
          <a:xfrm>
            <a:off x="6016752" y="1591056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FIGURE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016752" y="195681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is most prominent in awareness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760720" y="2450592"/>
            <a:ext cx="5824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5760720" y="2889504"/>
            <a:ext cx="5824728" cy="9509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2889504"/>
            <a:ext cx="73152" cy="950976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9" name="Text 17"/>
          <p:cNvSpPr/>
          <p:nvPr/>
        </p:nvSpPr>
        <p:spPr>
          <a:xfrm>
            <a:off x="6016752" y="301752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GROUND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016752" y="3383280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surrounding context and experiences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760720" y="4114800"/>
            <a:ext cx="58247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and concerns move between figure and ground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figure changes as circumstances change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helps identify what is most significant in the present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760720" y="5989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Woldt &amp; Toman, 2005)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4" name="Text 2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10058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AND CONTACT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3504" y="1517904"/>
            <a:ext cx="6583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Contact: </a:t>
            </a:r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Interaction between the individual and environment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boundary: </a:t>
            </a:r>
            <a:pPr indent="0" marL="0">
              <a:buNone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Point at which the individual and environment meet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Healthy contact allows needs to be addressed while maintaining a sense of self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 involves </a:t>
            </a:r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engaging, responding and withdrawing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Relationships, culture and circumstances influence contact</a:t>
            </a:r>
            <a:endParaRPr lang="en-US" sz="1400" dirty="0"/>
          </a:p>
        </p:txBody>
      </p:sp>
      <p:pic>
        <p:nvPicPr>
          <p:cNvPr id="5" name="Image 0" descr="/home/user/Business-e-books/presentations/gestalt-theory-counselling/assets/card-contac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1463040"/>
            <a:ext cx="4133088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52360" y="1463040"/>
            <a:ext cx="4133088" cy="3118104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9E0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452360" y="4773168"/>
            <a:ext cx="4133088" cy="1371600"/>
          </a:xfrm>
          <a:prstGeom prst="roundRect">
            <a:avLst>
              <a:gd name="adj" fmla="val 4000"/>
            </a:avLst>
          </a:prstGeom>
          <a:solidFill>
            <a:srgbClr val="162B57"/>
          </a:solidFill>
          <a:ln/>
        </p:spPr>
      </p:sp>
      <p:sp>
        <p:nvSpPr>
          <p:cNvPr id="8" name="Text 5"/>
          <p:cNvSpPr/>
          <p:nvPr/>
        </p:nvSpPr>
        <p:spPr>
          <a:xfrm>
            <a:off x="7452360" y="4882896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2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INDIVIDUAL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452360" y="5239512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↔   CONTACT BOUNDARY   ↔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452360" y="5596128"/>
            <a:ext cx="4133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2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ENVIRONMENT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03504" y="603504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3" name="Text 10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unfinish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1089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0896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3520440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3520440" y="68580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UNFINISHED BUSINESS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3520440" y="1481328"/>
            <a:ext cx="8028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4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Unresolved experiences or emotions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520440" y="20116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INCLUDE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520440" y="2322576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Grief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855464" y="2322576"/>
            <a:ext cx="1207008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Anger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208776" y="2322576"/>
            <a:ext cx="114300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Guilt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498080" y="2322576"/>
            <a:ext cx="1627632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Resentment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272016" y="2322576"/>
            <a:ext cx="1828800" cy="457200"/>
          </a:xfrm>
          <a:prstGeom prst="roundRect">
            <a:avLst>
              <a:gd name="adj" fmla="val 12000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Unmet needs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3520440" y="3108960"/>
            <a:ext cx="80284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remain psychologically active in the present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interfere with healthy contact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Therapy promotes </a:t>
            </a:r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 and processing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520440" y="59893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6" name="Text 13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responsibili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 RESPONSIBILITY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481328"/>
            <a:ext cx="7223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Recognizing one's own choices and responses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agency and ownership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authentic decision-making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Uses language that reflects personal experience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03504" y="3456432"/>
            <a:ext cx="3291840" cy="502920"/>
          </a:xfrm>
          <a:prstGeom prst="roundRect">
            <a:avLst>
              <a:gd name="adj" fmla="val 10909"/>
            </a:avLst>
          </a:prstGeom>
          <a:solidFill>
            <a:srgbClr val="E8EDF6"/>
          </a:solidFill>
          <a:ln w="12700">
            <a:solidFill>
              <a:srgbClr val="C7D2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RESPONSIBILITY  ≠  BLAME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03504" y="4206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LANGUAGE IN PRACTICE  ·  EXAMPLE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03504" y="4553712"/>
            <a:ext cx="7223760" cy="603504"/>
          </a:xfrm>
          <a:prstGeom prst="roundRect">
            <a:avLst>
              <a:gd name="adj" fmla="val 9091"/>
            </a:avLst>
          </a:prstGeom>
          <a:solidFill>
            <a:srgbClr val="ECF0F6"/>
          </a:solidFill>
          <a:ln w="12700">
            <a:solidFill>
              <a:srgbClr val="C3CCD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4553712"/>
            <a:ext cx="6766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✗   </a:t>
            </a:r>
            <a:pPr indent="0" marL="0">
              <a:buNone/>
            </a:pPr>
            <a:r>
              <a:rPr lang="en-US" sz="13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“You make me angry.”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" y="5285232"/>
            <a:ext cx="7223760" cy="603504"/>
          </a:xfrm>
          <a:prstGeom prst="roundRect">
            <a:avLst>
              <a:gd name="adj" fmla="val 9091"/>
            </a:avLst>
          </a:prstGeom>
          <a:solidFill>
            <a:srgbClr val="E3EAF6"/>
          </a:solidFill>
          <a:ln w="12700">
            <a:solidFill>
              <a:srgbClr val="AFBDD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5285232"/>
            <a:ext cx="6766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 </a:t>
            </a:r>
            <a:pPr indent="0" marL="0">
              <a:buNone/>
            </a:pPr>
            <a:r>
              <a:rPr lang="en-US" sz="13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 notice that I become angry when…”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03504" y="605332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Corey, 2024)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5" name="Text 1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6035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COUNSELLOR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03504" y="932688"/>
            <a:ext cx="50292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Text 2"/>
          <p:cNvSpPr/>
          <p:nvPr/>
        </p:nvSpPr>
        <p:spPr>
          <a:xfrm>
            <a:off x="603504" y="1060704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 OF THE GESTALT COUNSELLOR</a:t>
            </a:r>
            <a:endParaRPr lang="en-US" sz="2500" dirty="0"/>
          </a:p>
        </p:txBody>
      </p:sp>
      <p:pic>
        <p:nvPicPr>
          <p:cNvPr id="5" name="Image 0" descr="/home/user/Business-e-books/presentations/gestalt-theory-counselling/assets/card-counsell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874520"/>
            <a:ext cx="630936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3504" y="1874520"/>
            <a:ext cx="6309360" cy="420624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31415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269480" y="1874520"/>
            <a:ext cx="4315968" cy="4206240"/>
          </a:xfrm>
          <a:prstGeom prst="roundRect">
            <a:avLst>
              <a:gd name="adj" fmla="val 1304"/>
            </a:avLst>
          </a:prstGeom>
          <a:solidFill>
            <a:srgbClr val="162B57"/>
          </a:solidFill>
          <a:ln w="9525">
            <a:solidFill>
              <a:srgbClr val="4660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0" y="2103120"/>
            <a:ext cx="38862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Facilitates awareness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present experience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Observes verbal and non-verbal behaviour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Uses the therapeutic relationship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authentic expression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Explores interruptions in contact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responsibility and choice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03504" y="6199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2014; Brownell, 2010)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techniqu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74320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3154680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3154680" y="68580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THERAPEUTIC TECHNIQUES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3154680" y="1600200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337560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3337560" y="202082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Empty-chair technique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0176" y="1600200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63056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163056" y="202082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805672" y="1600200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88552" y="1719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988552" y="202082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154680" y="2807208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3756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3337560" y="32278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980176" y="2807208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63056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163056" y="32278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Role-play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805672" y="2807208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88552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8988552" y="3227832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3154680" y="4014216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337560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3337560" y="443484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980176" y="4014216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63056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6163056" y="443484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8805672" y="4014216"/>
            <a:ext cx="2697480" cy="10607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988552" y="4133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8988552" y="4434840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Here-and-now questioning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3154680" y="5440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35" name="Text 32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6400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EMPTY-CHAIR TECHNIQUE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3504" y="1481328"/>
            <a:ext cx="6400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 imagines another person in an empty chair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Speaks directly to the imagined person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Brings unresolved experiences into </a:t>
            </a:r>
            <a:pPr indent="0" marL="0">
              <a:buNone/>
            </a:pPr>
            <a:r>
              <a:rPr lang="en-US" sz="135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 awareness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Facilitates expression of unfinished emotions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promote new awareness and perspectives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03504" y="4206240"/>
            <a:ext cx="64008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3504" y="4206240"/>
            <a:ext cx="73152" cy="1783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43708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EXAMPLE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4681728"/>
            <a:ext cx="5852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“Imagine your father is sitting in that chair. What would you want him to hear from you?”</a:t>
            </a:r>
            <a:endParaRPr lang="en-US" sz="1400" dirty="0"/>
          </a:p>
        </p:txBody>
      </p:sp>
      <p:pic>
        <p:nvPicPr>
          <p:cNvPr id="9" name="Image 0" descr="/home/user/Business-e-books/presentations/gestalt-theory-counselling/assets/card-chai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81328"/>
            <a:ext cx="4315968" cy="323697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269480" y="1481328"/>
            <a:ext cx="4315968" cy="3236976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9E0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69480" y="4892040"/>
            <a:ext cx="4315968" cy="1325880"/>
          </a:xfrm>
          <a:prstGeom prst="roundRect">
            <a:avLst>
              <a:gd name="adj" fmla="val 4138"/>
            </a:avLst>
          </a:prstGeom>
          <a:solidFill>
            <a:srgbClr val="162B57"/>
          </a:solidFill>
          <a:ln/>
        </p:spPr>
      </p:sp>
      <p:sp>
        <p:nvSpPr>
          <p:cNvPr id="12" name="Text 9"/>
          <p:cNvSpPr/>
          <p:nvPr/>
        </p:nvSpPr>
        <p:spPr>
          <a:xfrm>
            <a:off x="7452360" y="5020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SETUP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452360" y="5367528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0A1937"/>
          </a:solidFill>
          <a:ln w="12700">
            <a:solidFill>
              <a:srgbClr val="0A193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9052560" y="5367528"/>
            <a:ext cx="731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↔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9838944" y="5367528"/>
            <a:ext cx="1600200" cy="475488"/>
          </a:xfrm>
          <a:prstGeom prst="roundRect">
            <a:avLst>
              <a:gd name="adj" fmla="val 1153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5C6C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IMAGINED PERSON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03504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9326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 EXPERIENTIAL TECHNIQUES</a:t>
            </a:r>
            <a:endParaRPr lang="en-US" sz="2500" dirty="0"/>
          </a:p>
        </p:txBody>
      </p:sp>
      <p:pic>
        <p:nvPicPr>
          <p:cNvPr id="4" name="Image 0" descr="/home/user/Business-e-books/presentations/gestalt-theory-counselling/assets/circle-cand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08" y="384048"/>
            <a:ext cx="1234440" cy="1234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3504" y="1517904"/>
            <a:ext cx="4023360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6" name="Shape 3"/>
          <p:cNvSpPr/>
          <p:nvPr/>
        </p:nvSpPr>
        <p:spPr>
          <a:xfrm>
            <a:off x="4626864" y="1517904"/>
            <a:ext cx="6958584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7" name="Text 4"/>
          <p:cNvSpPr/>
          <p:nvPr/>
        </p:nvSpPr>
        <p:spPr>
          <a:xfrm>
            <a:off x="841248" y="151790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TECHNIQUE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864608" y="1517904"/>
            <a:ext cx="3566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PURPOSE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03504" y="1993392"/>
            <a:ext cx="1098194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41248" y="199339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Two-chair dialogue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864608" y="1993392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 opposing parts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3504" y="2596896"/>
            <a:ext cx="10981944" cy="603504"/>
          </a:xfrm>
          <a:prstGeom prst="rect">
            <a:avLst/>
          </a:prstGeom>
          <a:solidFill>
            <a:srgbClr val="F0F3F9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259689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Exaggeration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864608" y="2596896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Increase awareness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3504" y="3200400"/>
            <a:ext cx="1098194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41248" y="320040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Staying with the feeling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64608" y="320040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 emerging emotions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03504" y="3803904"/>
            <a:ext cx="10981944" cy="603504"/>
          </a:xfrm>
          <a:prstGeom prst="rect">
            <a:avLst/>
          </a:prstGeom>
          <a:solidFill>
            <a:srgbClr val="F0F3F9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380390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Body awareness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864608" y="3803904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Notice physical experience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03504" y="4407408"/>
            <a:ext cx="10981944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41248" y="44074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“I” statements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4864608" y="4407408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 personal experience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603504" y="5010912"/>
            <a:ext cx="10981944" cy="603504"/>
          </a:xfrm>
          <a:prstGeom prst="rect">
            <a:avLst/>
          </a:prstGeom>
          <a:solidFill>
            <a:srgbClr val="F0F3F9"/>
          </a:solidFill>
          <a:ln w="9525">
            <a:solidFill>
              <a:srgbClr val="D9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1248" y="50109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Dream work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4864608" y="5010912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Explore present meaning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603504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(Joyce &amp; Sills, 2014)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9" name="Text 2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appli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444752"/>
            <a:ext cx="3767328" cy="4617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818120" y="1444752"/>
            <a:ext cx="3767328" cy="4617720"/>
          </a:xfrm>
          <a:prstGeom prst="rect">
            <a:avLst/>
          </a:prstGeom>
          <a:solidFill>
            <a:srgbClr val="FFFFFF">
              <a:alpha val="0"/>
            </a:srgbClr>
          </a:solidFill>
          <a:ln w="15875">
            <a:solidFill>
              <a:srgbClr val="D9E0EC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9692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APPLICATION IN COUNSELLING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44475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 CAN BE APPLIED TO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03504" y="1773936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Grief and loss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206240" y="1773936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Relationship difficulties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03504" y="2441448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Anxiety and emotional distress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206240" y="2441448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Unresolved anger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03504" y="3108960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Identity concerns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206240" y="3108960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Emotional-expression difficulties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03504" y="3776472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Personal growth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206240" y="3776472"/>
            <a:ext cx="33832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D9E0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Unresolved interpersonal experiences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3504" y="4617720"/>
            <a:ext cx="6839712" cy="1298448"/>
          </a:xfrm>
          <a:prstGeom prst="roundRect">
            <a:avLst>
              <a:gd name="adj" fmla="val 4225"/>
            </a:avLst>
          </a:prstGeom>
          <a:solidFill>
            <a:srgbClr val="162B57"/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47457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THERAPEUTIC MOVEMENT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41248" y="5047488"/>
            <a:ext cx="6364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</a:t>
            </a:r>
            <a:pPr algn="l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</a:t>
            </a:r>
            <a:pPr algn="l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Responsibility</a:t>
            </a:r>
            <a:pPr algn="l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Choice</a:t>
            </a:r>
            <a:pPr algn="l" indent="0" marL="0">
              <a:buNone/>
            </a:pPr>
            <a:r>
              <a:rPr lang="en-US" sz="14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→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Growth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03504" y="605332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(Brownell, 2010; Joyce &amp; Sills, 2014)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ide-strength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0" y="0"/>
            <a:ext cx="4053535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97012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7223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STRENGTHS OF GESTALT THERAPY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572768"/>
            <a:ext cx="7223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self-awareness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Focuses on lived experience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agency and responsibility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Integrates </a:t>
            </a:r>
            <a:pPr indent="0" marL="0">
              <a:buNone/>
            </a:pPr>
            <a:r>
              <a:rPr lang="en-US" sz="1400" b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mind, emotion and body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Considers person–environment interaction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Encourages active client participation</a:t>
            </a:r>
            <a:endParaRPr lang="en-US" sz="140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✓"/>
            </a:pPr>
            <a:r>
              <a:rPr lang="en-US" sz="140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Supports experiential emotional processing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limitation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5" name="Text 2"/>
          <p:cNvSpPr/>
          <p:nvPr/>
        </p:nvSpPr>
        <p:spPr>
          <a:xfrm>
            <a:off x="603504" y="685800"/>
            <a:ext cx="9601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LIMITATIONS AND CRITICISMS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03504" y="1627632"/>
            <a:ext cx="74066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Some techniques may feel intense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Requires skilled and sensitive application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 be challenging for clients who prefer highly structured approaches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Experiential techniques can be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misused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every intervention suits every client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Cultural context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must be considered</a:t>
            </a:r>
            <a:endParaRPr lang="en-US" sz="1350" dirty="0"/>
          </a:p>
          <a:p>
            <a:pPr marL="139700" indent="-139700">
              <a:lnSpc>
                <a:spcPct val="114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Ethical boundaries are essential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603504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(Corey, 2024; Joyce &amp; Sills, 2014)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9" name="Text 6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CASE APPLICATION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463040"/>
            <a:ext cx="3246120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pic>
        <p:nvPicPr>
          <p:cNvPr id="5" name="Image 0" descr="/home/user/Business-e-books/presentations/gestalt-theory-counselling/assets/card-studen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040"/>
            <a:ext cx="32461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9536" y="48828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59536" y="5138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20-year-old undergraduate scholarship student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069080" y="1463040"/>
            <a:ext cx="2414016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69080" y="1463040"/>
            <a:ext cx="2414016" cy="475488"/>
          </a:xfrm>
          <a:prstGeom prst="rect">
            <a:avLst/>
          </a:prstGeom>
          <a:solidFill>
            <a:srgbClr val="0A1937"/>
          </a:solidFill>
          <a:ln/>
        </p:spPr>
      </p:sp>
      <p:sp>
        <p:nvSpPr>
          <p:cNvPr id="10" name="Text 7"/>
          <p:cNvSpPr/>
          <p:nvPr/>
        </p:nvSpPr>
        <p:spPr>
          <a:xfrm>
            <a:off x="4197096" y="14630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PRESENTING CONCERNS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233672" y="2121408"/>
            <a:ext cx="212140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Academic anxiety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Fear of losing scholarship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Fear of disappointing family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Difficulty expressing emotions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Pressure to maintain high grades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20256" y="1463040"/>
            <a:ext cx="2414016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20256" y="1463040"/>
            <a:ext cx="2414016" cy="475488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14" name="Text 11"/>
          <p:cNvSpPr/>
          <p:nvPr/>
        </p:nvSpPr>
        <p:spPr>
          <a:xfrm>
            <a:off x="6748272" y="14630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CONCEPTUALIZATION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784848" y="2121408"/>
            <a:ext cx="212140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Anxiety becomes figure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Possible introjected expectations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Limited awareness of personal needs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Interrupted contact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71432" y="1463040"/>
            <a:ext cx="2414016" cy="4617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71432" y="1463040"/>
            <a:ext cx="2414016" cy="475488"/>
          </a:xfrm>
          <a:prstGeom prst="rect">
            <a:avLst/>
          </a:prstGeom>
          <a:solidFill>
            <a:srgbClr val="5A6B94"/>
          </a:solidFill>
          <a:ln/>
        </p:spPr>
      </p:sp>
      <p:sp>
        <p:nvSpPr>
          <p:cNvPr id="18" name="Text 15"/>
          <p:cNvSpPr/>
          <p:nvPr/>
        </p:nvSpPr>
        <p:spPr>
          <a:xfrm>
            <a:off x="9299448" y="146304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POSSIBLE INTERVENTIONS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9336024" y="2121408"/>
            <a:ext cx="2121408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Here-and-now exploration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Body awareness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Staying with the feeling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“I” statements</a:t>
            </a:r>
            <a:endParaRPr lang="en-US" sz="1050" dirty="0"/>
          </a:p>
          <a:p>
            <a:pPr marL="139700" indent="-1397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Exploring introjected beliefs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21" name="Text 18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3" name="Text 1"/>
          <p:cNvSpPr/>
          <p:nvPr/>
        </p:nvSpPr>
        <p:spPr>
          <a:xfrm>
            <a:off x="603504" y="685800"/>
            <a:ext cx="8229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CRITICAL EVALUATION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03504" y="1463040"/>
            <a:ext cx="5340096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pic>
        <p:nvPicPr>
          <p:cNvPr id="5" name="Image 0" descr="/home/user/Business-e-books/presentations/gestalt-theory-counselling/assets/circle-seedl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1682496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46504" y="18470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CONTRIBUTIONS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877824" y="2606040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8" name="Text 5"/>
          <p:cNvSpPr/>
          <p:nvPr/>
        </p:nvSpPr>
        <p:spPr>
          <a:xfrm>
            <a:off x="877824" y="2816352"/>
            <a:ext cx="47914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Holistic understanding of human experience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Strong emphasis on awareness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Integrates body, emotion and cognition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Recognizes person–environment interaction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Promotes agency and authentic choice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45352" y="1463040"/>
            <a:ext cx="5340096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0EC"/>
            </a:solidFill>
            <a:prstDash val="solid"/>
          </a:ln>
        </p:spPr>
      </p:sp>
      <p:pic>
        <p:nvPicPr>
          <p:cNvPr id="10" name="Image 1" descr="/home/user/Business-e-books/presentations/gestalt-theory-counselling/assets/circle-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1682496"/>
            <a:ext cx="731520" cy="7315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88352" y="1847088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6B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CONSIDERATIONS</a:t>
            </a: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6519672" y="2606040"/>
            <a:ext cx="4791456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3" name="Text 9"/>
          <p:cNvSpPr/>
          <p:nvPr/>
        </p:nvSpPr>
        <p:spPr>
          <a:xfrm>
            <a:off x="6519672" y="2816352"/>
            <a:ext cx="479145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Cultural adaptation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 readiness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Therapist competence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Appropriate use of experiential techniques</a:t>
            </a:r>
            <a:endParaRPr lang="en-US" sz="1250" dirty="0"/>
          </a:p>
          <a:p>
            <a:pPr marL="139700" indent="-139700">
              <a:lnSpc>
                <a:spcPct val="114000"/>
              </a:lnSpc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Balance between present and past experience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15" name="Text 11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6" name="Text 12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bg-conclus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37">
              <a:alpha val="82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1984248" y="53035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641848" y="1188720"/>
            <a:ext cx="914400" cy="4572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6" name="Text 3"/>
          <p:cNvSpPr/>
          <p:nvPr/>
        </p:nvSpPr>
        <p:spPr>
          <a:xfrm>
            <a:off x="4636008" y="1572768"/>
            <a:ext cx="2926080" cy="475488"/>
          </a:xfrm>
          <a:prstGeom prst="roundRect">
            <a:avLst>
              <a:gd name="adj" fmla="val 11538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AWARENESS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636008" y="202996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636008" y="2432304"/>
            <a:ext cx="2926080" cy="475488"/>
          </a:xfrm>
          <a:prstGeom prst="roundRect">
            <a:avLst>
              <a:gd name="adj" fmla="val 11538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HERE-AND-NOW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36008" y="288950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36008" y="3291840"/>
            <a:ext cx="2926080" cy="475488"/>
          </a:xfrm>
          <a:prstGeom prst="roundRect">
            <a:avLst>
              <a:gd name="adj" fmla="val 11538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36008" y="37490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636008" y="4151376"/>
            <a:ext cx="2926080" cy="475488"/>
          </a:xfrm>
          <a:prstGeom prst="roundRect">
            <a:avLst>
              <a:gd name="adj" fmla="val 11538"/>
            </a:avLst>
          </a:prstGeom>
          <a:solidFill>
            <a:srgbClr val="162B57"/>
          </a:solidFill>
          <a:ln w="9525">
            <a:solidFill>
              <a:srgbClr val="46608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RESPONSIBILITY &amp; CHOICE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636008" y="460857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097B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↓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4636008" y="5010912"/>
            <a:ext cx="2926080" cy="475488"/>
          </a:xfrm>
          <a:prstGeom prst="roundRect">
            <a:avLst>
              <a:gd name="adj" fmla="val 11538"/>
            </a:avLst>
          </a:prstGeom>
          <a:solidFill>
            <a:srgbClr val="8097BE"/>
          </a:solidFill>
          <a:ln w="12700">
            <a:solidFill>
              <a:srgbClr val="8097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A193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GROWTH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984248" y="57790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D4E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Greater awareness creates greater possibilities for choice and change.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984248" y="6199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(Perls et al., 1951; Joyce &amp; Sills, 2014)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31415F"/>
          </a:solidFill>
          <a:ln/>
        </p:spPr>
      </p:sp>
      <p:sp>
        <p:nvSpPr>
          <p:cNvPr id="18" name="Text 1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AAB7D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usiness-e-books/presentations/gestalt-theory-counselling/assets/strip-referen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651760" cy="63550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651760" y="0"/>
            <a:ext cx="41148" cy="6355080"/>
          </a:xfrm>
          <a:prstGeom prst="rect">
            <a:avLst/>
          </a:prstGeom>
          <a:solidFill>
            <a:srgbClr val="8097BE"/>
          </a:solidFill>
          <a:ln/>
        </p:spPr>
      </p:sp>
      <p:sp>
        <p:nvSpPr>
          <p:cNvPr id="4" name="Shape 1"/>
          <p:cNvSpPr/>
          <p:nvPr/>
        </p:nvSpPr>
        <p:spPr>
          <a:xfrm>
            <a:off x="3063240" y="566928"/>
            <a:ext cx="502920" cy="45720"/>
          </a:xfrm>
          <a:prstGeom prst="rect">
            <a:avLst/>
          </a:prstGeom>
          <a:solidFill>
            <a:srgbClr val="162B57"/>
          </a:solidFill>
          <a:ln/>
        </p:spPr>
      </p:sp>
      <p:sp>
        <p:nvSpPr>
          <p:cNvPr id="5" name="Text 2"/>
          <p:cNvSpPr/>
          <p:nvPr/>
        </p:nvSpPr>
        <p:spPr>
          <a:xfrm>
            <a:off x="3063240" y="68580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REFERENCES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3063240" y="1463040"/>
            <a:ext cx="8522208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Brownell, P. (2010).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A guide to contemporary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Springer Publishing Company.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Corey, G. (2024).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Theory and practice of counseling and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(11th ed.). Cengage Learning.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Joyce, P., &amp; Sills, C. (2014).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Skills in Gestalt counselling &amp; psychotherapy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(3rd ed.). SAGE.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Perls, F. S., Hefferline, R. F., &amp; Goodman, P. (1951).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Excitement and growth in the human personality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Julian Press.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Woldt, A. L., &amp; Toman, S. M. (Eds.). (2005).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SAGE.</a:t>
            </a:r>
            <a:endParaRPr lang="en-US" sz="1150" dirty="0"/>
          </a:p>
          <a:p>
            <a:pPr indent="0" marL="0">
              <a:lnSpc>
                <a:spcPct val="118000"/>
              </a:lnSpc>
              <a:spcAft>
                <a:spcPts val="1100"/>
              </a:spcAft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Yontef, G., &amp; Fuhr, R. (2005). Gestalt therapy theory of change. In A. L. Woldt &amp; S. Toman (Eds.), </a:t>
            </a:r>
            <a:pPr indent="0" marL="0">
              <a:buNone/>
            </a:pPr>
            <a:r>
              <a:rPr lang="en-US" sz="1150" i="1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Gestalt therapy: History, theory, and practice</a:t>
            </a:r>
            <a:pPr indent="0" marL="0">
              <a:buNone/>
            </a:pPr>
            <a:r>
              <a:rPr lang="en-US" sz="1150" dirty="0">
                <a:solidFill>
                  <a:srgbClr val="2B355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(pp. 81–100). SAGE.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03504" y="6464808"/>
            <a:ext cx="10981944" cy="11887"/>
          </a:xfrm>
          <a:prstGeom prst="rect">
            <a:avLst/>
          </a:prstGeom>
          <a:solidFill>
            <a:srgbClr val="D9E0EC"/>
          </a:solidFill>
          <a:ln/>
        </p:spPr>
      </p:sp>
      <p:sp>
        <p:nvSpPr>
          <p:cNvPr id="8" name="Text 5"/>
          <p:cNvSpPr/>
          <p:nvPr/>
        </p:nvSpPr>
        <p:spPr>
          <a:xfrm>
            <a:off x="603504" y="65196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B759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PAN AFRICAN CHRISTIAN UNIVERSITY  ·  MCP504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10698480" y="6519672"/>
            <a:ext cx="886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62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Pan African Christian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Gestalt Theory and Its Application to Counselling</dc:title>
  <dc:subject>MCP504 Theories of Counseling and Psychotherapy</dc:subject>
  <dc:creator>Group 4 — Pan African Christian University</dc:creator>
  <cp:lastModifiedBy>Group 4 — Pan African Christian University</cp:lastModifiedBy>
  <cp:revision>1</cp:revision>
  <dcterms:created xsi:type="dcterms:W3CDTF">2026-10-06T04:14:36Z</dcterms:created>
  <dcterms:modified xsi:type="dcterms:W3CDTF">2026-10-06T04:14:36Z</dcterms:modified>
</cp:coreProperties>
</file>