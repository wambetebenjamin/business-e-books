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title-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0"/>
            <a:ext cx="52422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949440" y="0"/>
            <a:ext cx="5242255" cy="6858000"/>
          </a:xfrm>
          <a:prstGeom prst="rect">
            <a:avLst/>
          </a:prstGeom>
          <a:solidFill>
            <a:srgbClr val="0A1937">
              <a:alpha val="1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6912864" y="0"/>
            <a:ext cx="41148" cy="685800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5" name="Text 2"/>
          <p:cNvSpPr/>
          <p:nvPr/>
        </p:nvSpPr>
        <p:spPr>
          <a:xfrm>
            <a:off x="603504" y="694944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20" kern="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GROUP 4 PRESENTATION  ·  MCP504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66928" y="914400"/>
            <a:ext cx="6309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5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GESTALT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566928" y="1664208"/>
            <a:ext cx="6309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5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THEORY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03504" y="2560320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spc="200" kern="0" dirty="0">
                <a:solidFill>
                  <a:srgbClr val="C9D4E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AND ITS APPLICATION TO COUNSELLING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21792" y="2962656"/>
            <a:ext cx="1097280" cy="4114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0" name="Shape 7"/>
          <p:cNvSpPr/>
          <p:nvPr/>
        </p:nvSpPr>
        <p:spPr>
          <a:xfrm>
            <a:off x="603504" y="3218688"/>
            <a:ext cx="6071616" cy="1700784"/>
          </a:xfrm>
          <a:prstGeom prst="roundRect">
            <a:avLst>
              <a:gd name="adj" fmla="val 3226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5C6C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336499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20" kern="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PRESENTED BY  ·  GROUP 4 MEMBERS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859536" y="3657600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Josephine Biwott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·    MACP/35996/0/26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59536" y="4014216"/>
            <a:ext cx="5559552" cy="10973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4" name="Text 11"/>
          <p:cNvSpPr/>
          <p:nvPr/>
        </p:nvSpPr>
        <p:spPr>
          <a:xfrm>
            <a:off x="859536" y="4059936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Cynthia Cherono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·    MACP/35785/4/26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59536" y="4416552"/>
            <a:ext cx="5559552" cy="10973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6" name="Text 13"/>
          <p:cNvSpPr/>
          <p:nvPr/>
        </p:nvSpPr>
        <p:spPr>
          <a:xfrm>
            <a:off x="859536" y="4462272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Yvonne Juliet Awuor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·    MALD/36547/4/26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21792" y="5138928"/>
            <a:ext cx="6035040" cy="10973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8" name="Shape 15"/>
          <p:cNvSpPr/>
          <p:nvPr/>
        </p:nvSpPr>
        <p:spPr>
          <a:xfrm>
            <a:off x="3511296" y="5321808"/>
            <a:ext cx="10973" cy="804672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9" name="Shape 16"/>
          <p:cNvSpPr/>
          <p:nvPr/>
        </p:nvSpPr>
        <p:spPr>
          <a:xfrm>
            <a:off x="5687568" y="5321808"/>
            <a:ext cx="10973" cy="804672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20" name="Text 17"/>
          <p:cNvSpPr/>
          <p:nvPr/>
        </p:nvSpPr>
        <p:spPr>
          <a:xfrm>
            <a:off x="603504" y="53035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20" kern="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COURSE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03504" y="555955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MCP504 · Theories of Counseling and Psychotherapy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3675888" y="5303520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20" kern="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INSTITUTION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3675888" y="555955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852160" y="530352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20" kern="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LECTURER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5852160" y="55595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Dr. Lucy Gachenia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ide-int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0"/>
            <a:ext cx="4236415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14132" y="0"/>
            <a:ext cx="41148" cy="635508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" name="Text 1"/>
          <p:cNvSpPr/>
          <p:nvPr/>
        </p:nvSpPr>
        <p:spPr>
          <a:xfrm>
            <a:off x="603504" y="54864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OVERVIEW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03504" y="786384"/>
            <a:ext cx="6949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INTRODUCTION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Text 4"/>
          <p:cNvSpPr/>
          <p:nvPr/>
        </p:nvSpPr>
        <p:spPr>
          <a:xfrm>
            <a:off x="603504" y="1627632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Experiential and humanistic approach to counselling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1792" y="2304288"/>
            <a:ext cx="6858000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9" name="Text 6"/>
          <p:cNvSpPr/>
          <p:nvPr/>
        </p:nvSpPr>
        <p:spPr>
          <a:xfrm>
            <a:off x="603504" y="2542032"/>
            <a:ext cx="6903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2000"/>
              </a:lnSpc>
              <a:spcAft>
                <a:spcPts val="1500"/>
              </a:spcAft>
              <a:buSzPct val="100000"/>
              <a:buChar char="–"/>
            </a:pPr>
            <a:r>
              <a:rPr lang="en-US" sz="14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Emphasizes </a:t>
            </a:r>
            <a:pPr indent="0" marL="0">
              <a:buNone/>
            </a:pPr>
            <a:r>
              <a:rPr lang="en-US" sz="145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awareness, present experience and contact</a:t>
            </a:r>
            <a:endParaRPr lang="en-US" sz="1450" dirty="0"/>
          </a:p>
          <a:p>
            <a:pPr marL="139700" indent="-139700">
              <a:lnSpc>
                <a:spcPct val="122000"/>
              </a:lnSpc>
              <a:spcAft>
                <a:spcPts val="1500"/>
              </a:spcAft>
              <a:buSzPct val="100000"/>
              <a:buChar char="–"/>
            </a:pPr>
            <a:r>
              <a:rPr lang="en-US" sz="14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Understands individuals within their </a:t>
            </a:r>
            <a:pPr indent="0" marL="0">
              <a:buNone/>
            </a:pPr>
            <a:r>
              <a:rPr lang="en-US" sz="145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 and relationships</a:t>
            </a:r>
            <a:endParaRPr lang="en-US" sz="1450" dirty="0"/>
          </a:p>
          <a:p>
            <a:pPr marL="139700" indent="-139700">
              <a:lnSpc>
                <a:spcPct val="122000"/>
              </a:lnSpc>
              <a:spcAft>
                <a:spcPts val="1500"/>
              </a:spcAft>
              <a:buSzPct val="100000"/>
              <a:buChar char="–"/>
            </a:pPr>
            <a:r>
              <a:rPr lang="en-US" sz="14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Encourages personal responsibility, choice and authentic living</a:t>
            </a:r>
            <a:endParaRPr lang="en-US" sz="1450" dirty="0"/>
          </a:p>
          <a:p>
            <a:pPr marL="139700" indent="-139700">
              <a:lnSpc>
                <a:spcPct val="122000"/>
              </a:lnSpc>
              <a:spcAft>
                <a:spcPts val="1500"/>
              </a:spcAft>
              <a:buSzPct val="100000"/>
              <a:buChar char="–"/>
            </a:pPr>
            <a:r>
              <a:rPr lang="en-US" sz="14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Focuses on the client's experience in the </a:t>
            </a:r>
            <a:pPr indent="0" marL="0">
              <a:buNone/>
            </a:pPr>
            <a:r>
              <a:rPr lang="en-US" sz="145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here-and-now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03504" y="5943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2" name="Text 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trip-histo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108960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108960" y="0"/>
            <a:ext cx="41148" cy="635508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" name="Text 1"/>
          <p:cNvSpPr/>
          <p:nvPr/>
        </p:nvSpPr>
        <p:spPr>
          <a:xfrm>
            <a:off x="3520440" y="54864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520440" y="786384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HISTORICAL BACKGROUND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3520440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Text 4"/>
          <p:cNvSpPr/>
          <p:nvPr/>
        </p:nvSpPr>
        <p:spPr>
          <a:xfrm>
            <a:off x="3520440" y="1591056"/>
            <a:ext cx="8028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2000"/>
              </a:lnSpc>
              <a:spcAft>
                <a:spcPts val="1100"/>
              </a:spcAft>
              <a:buSzPct val="100000"/>
              <a:buChar char="–"/>
            </a:pPr>
            <a:r>
              <a:rPr lang="en-US" sz="14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Emerged during the </a:t>
            </a:r>
            <a:pPr indent="0" marL="0">
              <a:buNone/>
            </a:pPr>
            <a:r>
              <a:rPr lang="en-US" sz="145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1940s and 1950s</a:t>
            </a:r>
            <a:endParaRPr lang="en-US" sz="1450" dirty="0"/>
          </a:p>
          <a:p>
            <a:pPr marL="139700" indent="-139700">
              <a:lnSpc>
                <a:spcPct val="122000"/>
              </a:lnSpc>
              <a:spcAft>
                <a:spcPts val="1100"/>
              </a:spcAft>
              <a:buSzPct val="100000"/>
              <a:buChar char="–"/>
            </a:pPr>
            <a:r>
              <a:rPr lang="en-US" sz="14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Developed partly in response to limitations perceived in </a:t>
            </a:r>
            <a:pPr indent="0" marL="0">
              <a:buNone/>
            </a:pPr>
            <a:r>
              <a:rPr lang="en-US" sz="145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traditional psychoanalysis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3520440" y="2816352"/>
            <a:ext cx="8065008" cy="1481328"/>
          </a:xfrm>
          <a:prstGeom prst="roundRect">
            <a:avLst>
              <a:gd name="adj" fmla="val 3704"/>
            </a:avLst>
          </a:prstGeom>
          <a:solidFill>
            <a:srgbClr val="F0F3F9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739896" y="296265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INFLUENCED BY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739896" y="3273552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Gestalt psychology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300216" y="3273552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Phenomenology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586216" y="3273552"/>
            <a:ext cx="261518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Existential philosophy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739896" y="3767328"/>
            <a:ext cx="1691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Field theory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14416" y="3767328"/>
            <a:ext cx="2148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Holistic approaches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520440" y="4553712"/>
            <a:ext cx="45720" cy="420624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6" name="Text 13"/>
          <p:cNvSpPr/>
          <p:nvPr/>
        </p:nvSpPr>
        <p:spPr>
          <a:xfrm>
            <a:off x="3721608" y="4553712"/>
            <a:ext cx="7662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Emphasized experience, awareness and contact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3520440" y="5102352"/>
            <a:ext cx="8065008" cy="1060704"/>
          </a:xfrm>
          <a:prstGeom prst="roundRect">
            <a:avLst>
              <a:gd name="adj" fmla="val 5172"/>
            </a:avLst>
          </a:prstGeom>
          <a:solidFill>
            <a:srgbClr val="162B57"/>
          </a:solidFill>
          <a:ln/>
        </p:spPr>
      </p:sp>
      <p:sp>
        <p:nvSpPr>
          <p:cNvPr id="18" name="Text 15"/>
          <p:cNvSpPr/>
          <p:nvPr/>
        </p:nvSpPr>
        <p:spPr>
          <a:xfrm>
            <a:off x="3703320" y="52303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20" kern="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INTELLECTUAL ROOTS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703320" y="5504688"/>
            <a:ext cx="76992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Gestalt Psychology</a:t>
            </a:r>
            <a:pPr algn="l" indent="0" marL="0">
              <a:buNone/>
            </a:pPr>
            <a:r>
              <a:rPr lang="en-US" sz="1100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Phenomenology</a:t>
            </a:r>
            <a:pPr algn="l" indent="0" marL="0">
              <a:buNone/>
            </a:pPr>
            <a:r>
              <a:rPr lang="en-US" sz="1100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Existentialism</a:t>
            </a:r>
            <a:pPr algn="l" indent="0" marL="0">
              <a:buNone/>
            </a:pPr>
            <a:r>
              <a:rPr lang="en-US" sz="1100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Field Theory</a:t>
            </a:r>
            <a:pPr algn="l" indent="0" marL="0">
              <a:buNone/>
            </a:pPr>
            <a:r>
              <a:rPr lang="en-US" sz="1100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Gestalt Therapy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520440" y="62362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Woldt &amp; Toman, 2005)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2" name="Text 1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banner-theoris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2011680"/>
          </a:xfrm>
          <a:prstGeom prst="rect">
            <a:avLst/>
          </a:prstGeom>
          <a:solidFill>
            <a:srgbClr val="0A1937">
              <a:alpha val="7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03504" y="548640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03504" y="786384"/>
            <a:ext cx="9144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MAJOR THEORISTS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2011680"/>
            <a:ext cx="12191695" cy="32004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8" name="Shape 5"/>
          <p:cNvSpPr/>
          <p:nvPr/>
        </p:nvSpPr>
        <p:spPr>
          <a:xfrm>
            <a:off x="603504" y="2395728"/>
            <a:ext cx="3508553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03504" y="2395728"/>
            <a:ext cx="3508553" cy="82296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10" name="Shape 7"/>
          <p:cNvSpPr/>
          <p:nvPr/>
        </p:nvSpPr>
        <p:spPr>
          <a:xfrm>
            <a:off x="877824" y="2724912"/>
            <a:ext cx="713232" cy="71323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77824" y="2724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FP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755648" y="2798064"/>
            <a:ext cx="222839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Fritz Perls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755648" y="3172968"/>
            <a:ext cx="22283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1893–1970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77824" y="3657600"/>
            <a:ext cx="2959913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5" name="Text 12"/>
          <p:cNvSpPr/>
          <p:nvPr/>
        </p:nvSpPr>
        <p:spPr>
          <a:xfrm>
            <a:off x="877824" y="3822192"/>
            <a:ext cx="29599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Major founder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77824" y="4498848"/>
            <a:ext cx="2959913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Awareness, experience and responsibility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4340657" y="2395728"/>
            <a:ext cx="3508553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40657" y="2395728"/>
            <a:ext cx="3508553" cy="82296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19" name="Shape 16"/>
          <p:cNvSpPr/>
          <p:nvPr/>
        </p:nvSpPr>
        <p:spPr>
          <a:xfrm>
            <a:off x="4614977" y="2724912"/>
            <a:ext cx="713232" cy="71323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14977" y="2724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LP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492801" y="2798064"/>
            <a:ext cx="222839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Laura Perls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492801" y="3172968"/>
            <a:ext cx="22283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1905–1990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614977" y="3657600"/>
            <a:ext cx="2959913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4" name="Text 21"/>
          <p:cNvSpPr/>
          <p:nvPr/>
        </p:nvSpPr>
        <p:spPr>
          <a:xfrm>
            <a:off x="4614977" y="3822192"/>
            <a:ext cx="29599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Major contributor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4614977" y="4498848"/>
            <a:ext cx="2959913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Contact, relationship and embodied experience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8077810" y="2395728"/>
            <a:ext cx="3508553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077810" y="2395728"/>
            <a:ext cx="3508553" cy="82296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28" name="Shape 25"/>
          <p:cNvSpPr/>
          <p:nvPr/>
        </p:nvSpPr>
        <p:spPr>
          <a:xfrm>
            <a:off x="8352130" y="2724912"/>
            <a:ext cx="713232" cy="713232"/>
          </a:xfrm>
          <a:prstGeom prst="ellipse">
            <a:avLst/>
          </a:prstGeom>
          <a:solidFill>
            <a:srgbClr val="E8EDF6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352130" y="272491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PG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9229954" y="2798064"/>
            <a:ext cx="222839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Paul Goodman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9229954" y="3172968"/>
            <a:ext cx="22283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1911–1972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352130" y="3657600"/>
            <a:ext cx="2959913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3" name="Text 30"/>
          <p:cNvSpPr/>
          <p:nvPr/>
        </p:nvSpPr>
        <p:spPr>
          <a:xfrm>
            <a:off x="8352130" y="3822192"/>
            <a:ext cx="29599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Co-author of Gestalt Therapy (1951)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8352130" y="4498848"/>
            <a:ext cx="2959913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Major contributor to theoretical formulation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603504" y="60807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Woldt &amp; Toman, 2005)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7" name="Text 34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bg-assumpti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37">
              <a:alpha val="7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03504" y="54864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03504" y="786384"/>
            <a:ext cx="10515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CORE ASSUMPTIONS OF GESTALT THERAPY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7" name="Shape 4"/>
          <p:cNvSpPr/>
          <p:nvPr/>
        </p:nvSpPr>
        <p:spPr>
          <a:xfrm>
            <a:off x="603504" y="1645920"/>
            <a:ext cx="5577840" cy="3063240"/>
          </a:xfrm>
          <a:prstGeom prst="roundRect">
            <a:avLst>
              <a:gd name="adj" fmla="val 1791"/>
            </a:avLst>
          </a:prstGeom>
          <a:solidFill>
            <a:srgbClr val="0A1937">
              <a:alpha val="55000"/>
            </a:srgbClr>
          </a:solidFill>
          <a:ln w="9525">
            <a:solidFill>
              <a:srgbClr val="4660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2212848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389888" y="221284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People are best understood as whole persons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41248" y="277977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389888" y="277977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Human experience is influenced by the environment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41248" y="33467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389888" y="33467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Awareness is central to psychological growth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41248" y="39136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04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389888" y="391363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Experience unfolds in the present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400800" y="1645920"/>
            <a:ext cx="5166360" cy="3063240"/>
          </a:xfrm>
          <a:prstGeom prst="roundRect">
            <a:avLst>
              <a:gd name="adj" fmla="val 1791"/>
            </a:avLst>
          </a:prstGeom>
          <a:solidFill>
            <a:srgbClr val="0A1937">
              <a:alpha val="55000"/>
            </a:srgbClr>
          </a:solidFill>
          <a:ln w="9525">
            <a:solidFill>
              <a:srgbClr val="46608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38544" y="2212848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01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187184" y="2212848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People have capacity for choice and self-regulation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638544" y="277977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187184" y="2779776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Healthy functioning involves meaningful contact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638544" y="33467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07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187184" y="3310128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Psychological difficulties may involve interruptions in awareness or contact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03504" y="5989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Brownell, 2010; Joyce &amp; Sills, 2014)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25" name="Text 22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ide-awarene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0"/>
            <a:ext cx="4053535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97012" y="0"/>
            <a:ext cx="41148" cy="635508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" name="Text 1"/>
          <p:cNvSpPr/>
          <p:nvPr/>
        </p:nvSpPr>
        <p:spPr>
          <a:xfrm>
            <a:off x="603504" y="54864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03504" y="786384"/>
            <a:ext cx="6949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AWARENESS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Text 4"/>
          <p:cNvSpPr/>
          <p:nvPr/>
        </p:nvSpPr>
        <p:spPr>
          <a:xfrm>
            <a:off x="603504" y="159105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Central concept in Gestalt therapy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03504" y="2121408"/>
            <a:ext cx="7223760" cy="1335024"/>
          </a:xfrm>
          <a:prstGeom prst="roundRect">
            <a:avLst>
              <a:gd name="adj" fmla="val 4110"/>
            </a:avLst>
          </a:prstGeom>
          <a:solidFill>
            <a:srgbClr val="F0F3F9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2494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NOTICING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" y="2560320"/>
            <a:ext cx="131673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Thoughts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231136" y="2560320"/>
            <a:ext cx="131673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Feelings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639312" y="2560320"/>
            <a:ext cx="131673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Bodily sensations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047488" y="2560320"/>
            <a:ext cx="131673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Behaviour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455664" y="2560320"/>
            <a:ext cx="131673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Needs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21792" y="3749040"/>
            <a:ext cx="109728" cy="10972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6" name="Text 13"/>
          <p:cNvSpPr/>
          <p:nvPr/>
        </p:nvSpPr>
        <p:spPr>
          <a:xfrm>
            <a:off x="859536" y="362102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Focuses on present experience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4325112" y="3749040"/>
            <a:ext cx="109728" cy="10972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8" name="Text 15"/>
          <p:cNvSpPr/>
          <p:nvPr/>
        </p:nvSpPr>
        <p:spPr>
          <a:xfrm>
            <a:off x="4562856" y="362102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Creates opportunities for choice and change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03504" y="42611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PROCESS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03504" y="4590288"/>
            <a:ext cx="2240280" cy="603504"/>
          </a:xfrm>
          <a:prstGeom prst="roundRect">
            <a:avLst>
              <a:gd name="adj" fmla="val 9091"/>
            </a:avLst>
          </a:prstGeom>
          <a:solidFill>
            <a:srgbClr val="0A1937"/>
          </a:solidFill>
          <a:ln w="12700">
            <a:solidFill>
              <a:srgbClr val="0A19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AWARENESS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2889504" y="4590288"/>
            <a:ext cx="502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E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3438144" y="4590288"/>
            <a:ext cx="1737360" cy="603504"/>
          </a:xfrm>
          <a:prstGeom prst="roundRect">
            <a:avLst>
              <a:gd name="adj" fmla="val 9091"/>
            </a:avLst>
          </a:prstGeom>
          <a:solidFill>
            <a:srgbClr val="162B57"/>
          </a:solidFill>
          <a:ln w="12700">
            <a:solidFill>
              <a:srgbClr val="162B5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CHOICE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221224" y="4590288"/>
            <a:ext cx="502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E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5779008" y="4590288"/>
            <a:ext cx="1828800" cy="603504"/>
          </a:xfrm>
          <a:prstGeom prst="roundRect">
            <a:avLst>
              <a:gd name="adj" fmla="val 9091"/>
            </a:avLst>
          </a:prstGeom>
          <a:solidFill>
            <a:srgbClr val="8097BE"/>
          </a:solidFill>
          <a:ln w="12700">
            <a:solidFill>
              <a:srgbClr val="8097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A193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CHANGE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03504" y="5989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7" name="Text 24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ide-heren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0"/>
            <a:ext cx="4053535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97012" y="0"/>
            <a:ext cx="41148" cy="635508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" name="Text 1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03504" y="786384"/>
            <a:ext cx="7223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HERE-AND-NOW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Shape 4"/>
          <p:cNvSpPr/>
          <p:nvPr/>
        </p:nvSpPr>
        <p:spPr>
          <a:xfrm>
            <a:off x="603504" y="1591056"/>
            <a:ext cx="35204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3504" y="1591056"/>
            <a:ext cx="3520440" cy="4572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17922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FOCUS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" y="20848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Focuses on the client's present experience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822960" y="2798064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Includes thoughts, emotions, bodily sensations and behaviour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06824" y="1591056"/>
            <a:ext cx="35204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6824" y="1591056"/>
            <a:ext cx="3520440" cy="45720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14" name="Text 11"/>
          <p:cNvSpPr/>
          <p:nvPr/>
        </p:nvSpPr>
        <p:spPr>
          <a:xfrm>
            <a:off x="4526280" y="17922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PAST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26280" y="2084832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Past experiences are explored through their current impact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03504" y="4041648"/>
            <a:ext cx="7223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2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Encourages </a:t>
            </a:r>
            <a:pPr indent="0" marL="0">
              <a:buNone/>
            </a:pPr>
            <a:r>
              <a:rPr lang="en-US" sz="135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 experience</a:t>
            </a:r>
            <a:pPr indent="0" marL="0">
              <a:buNone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rather than excessive intellectual analysis</a:t>
            </a:r>
            <a:endParaRPr lang="en-US" sz="1350" dirty="0"/>
          </a:p>
          <a:p>
            <a:pPr marL="139700" indent="-139700">
              <a:lnSpc>
                <a:spcPct val="122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therapeutic relationship provides an opportunity for </a:t>
            </a:r>
            <a:pPr indent="0" marL="0">
              <a:buNone/>
            </a:pPr>
            <a:r>
              <a:rPr lang="en-US" sz="135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present-moment awareness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603504" y="5943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Brownell, 2010)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54864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3504" y="786384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FIGURE AND GROUND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Shape 3"/>
          <p:cNvSpPr/>
          <p:nvPr/>
        </p:nvSpPr>
        <p:spPr>
          <a:xfrm>
            <a:off x="603504" y="1591056"/>
            <a:ext cx="4846320" cy="4114800"/>
          </a:xfrm>
          <a:prstGeom prst="roundRect">
            <a:avLst>
              <a:gd name="adj" fmla="val 1333"/>
            </a:avLst>
          </a:prstGeom>
          <a:solidFill>
            <a:srgbClr val="0A1937"/>
          </a:solidFill>
          <a:ln/>
        </p:spPr>
      </p:sp>
      <p:sp>
        <p:nvSpPr>
          <p:cNvPr id="6" name="Shape 4"/>
          <p:cNvSpPr/>
          <p:nvPr/>
        </p:nvSpPr>
        <p:spPr>
          <a:xfrm>
            <a:off x="1037844" y="1659636"/>
            <a:ext cx="3977640" cy="3977640"/>
          </a:xfrm>
          <a:prstGeom prst="ellipse">
            <a:avLst/>
          </a:prstGeom>
          <a:solidFill>
            <a:srgbClr val="0A1937">
              <a:alpha val="0"/>
            </a:srgbClr>
          </a:solidFill>
          <a:ln w="12700">
            <a:solidFill>
              <a:srgbClr val="4660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03604" y="2025396"/>
            <a:ext cx="3246120" cy="3246120"/>
          </a:xfrm>
          <a:prstGeom prst="ellipse">
            <a:avLst/>
          </a:prstGeom>
          <a:solidFill>
            <a:srgbClr val="0A1937">
              <a:alpha val="0"/>
            </a:srgbClr>
          </a:solidFill>
          <a:ln w="12700">
            <a:solidFill>
              <a:srgbClr val="4660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23644" y="2345436"/>
            <a:ext cx="2606040" cy="2606040"/>
          </a:xfrm>
          <a:prstGeom prst="ellipse">
            <a:avLst/>
          </a:prstGeom>
          <a:solidFill>
            <a:srgbClr val="0A1937">
              <a:alpha val="0"/>
            </a:srgbClr>
          </a:solidFill>
          <a:ln w="12700">
            <a:solidFill>
              <a:srgbClr val="4660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49424" y="2871216"/>
            <a:ext cx="1554480" cy="15544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9424" y="451713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20" kern="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FIGURE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7824" y="52852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20" kern="0" dirty="0">
                <a:solidFill>
                  <a:srgbClr val="AAB7D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GROUND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03504" y="58338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element steps forward as figure against a ground of context.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760720" y="1591056"/>
            <a:ext cx="5824728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591056"/>
            <a:ext cx="73152" cy="950976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15" name="Text 13"/>
          <p:cNvSpPr/>
          <p:nvPr/>
        </p:nvSpPr>
        <p:spPr>
          <a:xfrm>
            <a:off x="6016752" y="171907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spc="50" kern="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FIGURE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016752" y="2084832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most prominent in awareness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760720" y="2560320"/>
            <a:ext cx="5824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760720" y="2999232"/>
            <a:ext cx="5824728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2999232"/>
            <a:ext cx="73152" cy="950976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20" name="Text 18"/>
          <p:cNvSpPr/>
          <p:nvPr/>
        </p:nvSpPr>
        <p:spPr>
          <a:xfrm>
            <a:off x="6016752" y="312724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spc="5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GROUND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016752" y="349300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surrounding context and experiences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760720" y="4224528"/>
            <a:ext cx="58247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2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and concerns move between figure and ground</a:t>
            </a:r>
            <a:endParaRPr lang="en-US" sz="1250" dirty="0"/>
          </a:p>
          <a:p>
            <a:pPr marL="139700" indent="-139700">
              <a:lnSpc>
                <a:spcPct val="122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figure changes as circumstances change</a:t>
            </a:r>
            <a:endParaRPr lang="en-US" sz="1250" dirty="0"/>
          </a:p>
          <a:p>
            <a:pPr marL="139700" indent="-139700">
              <a:lnSpc>
                <a:spcPct val="122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Awareness helps identify what is most significant in the present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760720" y="59893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Woldt &amp; Toman, 2005)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3504" y="786384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CONTACT AND CONTACT BOUNDARY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Text 3"/>
          <p:cNvSpPr/>
          <p:nvPr/>
        </p:nvSpPr>
        <p:spPr>
          <a:xfrm>
            <a:off x="603504" y="1591056"/>
            <a:ext cx="6492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2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Contact: </a:t>
            </a:r>
            <a:pPr indent="0" marL="0">
              <a:buNone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Interaction between the individual and environment</a:t>
            </a:r>
            <a:endParaRPr lang="en-US" sz="1350" dirty="0"/>
          </a:p>
          <a:p>
            <a:pPr marL="139700" indent="-139700">
              <a:lnSpc>
                <a:spcPct val="122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Contact boundary: </a:t>
            </a:r>
            <a:pPr indent="0" marL="0">
              <a:buNone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Point at which the individual and environment meet</a:t>
            </a:r>
            <a:endParaRPr lang="en-US" sz="1350" dirty="0"/>
          </a:p>
          <a:p>
            <a:pPr marL="139700" indent="-139700">
              <a:lnSpc>
                <a:spcPct val="122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Healthy contact allows needs to be addressed while maintaining a sense of self</a:t>
            </a:r>
            <a:endParaRPr lang="en-US" sz="1350" dirty="0"/>
          </a:p>
          <a:p>
            <a:pPr marL="139700" indent="-139700">
              <a:lnSpc>
                <a:spcPct val="122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Contact involves </a:t>
            </a:r>
            <a:pPr indent="0" marL="0">
              <a:buNone/>
            </a:pPr>
            <a:r>
              <a:rPr lang="en-US" sz="135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engaging, responding and withdrawing</a:t>
            </a:r>
            <a:endParaRPr lang="en-US" sz="1350" dirty="0"/>
          </a:p>
          <a:p>
            <a:pPr marL="139700" indent="-139700">
              <a:lnSpc>
                <a:spcPct val="122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Relationships, culture and circumstances influence contact</a:t>
            </a:r>
            <a:endParaRPr lang="en-US" sz="1350" dirty="0"/>
          </a:p>
        </p:txBody>
      </p:sp>
      <p:pic>
        <p:nvPicPr>
          <p:cNvPr id="6" name="Image 0" descr="/home/user/Business-e-books/presentations/gestalt-theory-counselling/assets/card-conta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591056"/>
            <a:ext cx="4133088" cy="311810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52360" y="1591056"/>
            <a:ext cx="4133088" cy="3118104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D9E0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452360" y="4956048"/>
            <a:ext cx="41330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08392" y="5266944"/>
            <a:ext cx="1024128" cy="548640"/>
          </a:xfrm>
          <a:prstGeom prst="roundRect">
            <a:avLst>
              <a:gd name="adj" fmla="val 10000"/>
            </a:avLst>
          </a:prstGeom>
          <a:solidFill>
            <a:srgbClr val="0A1937"/>
          </a:solidFill>
          <a:ln w="12700">
            <a:solidFill>
              <a:srgbClr val="0A19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INDIVIDUAL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732520" y="5266944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↔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025128" y="5266944"/>
            <a:ext cx="1225296" cy="548640"/>
          </a:xfrm>
          <a:prstGeom prst="roundRect">
            <a:avLst>
              <a:gd name="adj" fmla="val 10000"/>
            </a:avLst>
          </a:prstGeom>
          <a:solidFill>
            <a:srgbClr val="E8EDF6"/>
          </a:solidFill>
          <a:ln w="12700">
            <a:solidFill>
              <a:srgbClr val="C7D2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CONTACT BOUNDARY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250424" y="5266944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↔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543032" y="5266944"/>
            <a:ext cx="859536" cy="548640"/>
          </a:xfrm>
          <a:prstGeom prst="roundRect">
            <a:avLst>
              <a:gd name="adj" fmla="val 10000"/>
            </a:avLst>
          </a:prstGeom>
          <a:solidFill>
            <a:srgbClr val="5A6B94"/>
          </a:solidFill>
          <a:ln w="12700">
            <a:solidFill>
              <a:srgbClr val="5A6B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ENVIRONMENT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03504" y="59893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6" name="Text 1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trip-unfinish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108960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108960" y="0"/>
            <a:ext cx="41148" cy="635508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" name="Text 1"/>
          <p:cNvSpPr/>
          <p:nvPr/>
        </p:nvSpPr>
        <p:spPr>
          <a:xfrm>
            <a:off x="3520440" y="54864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520440" y="786384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UNFINISHED BUSINESS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3520440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Text 4"/>
          <p:cNvSpPr/>
          <p:nvPr/>
        </p:nvSpPr>
        <p:spPr>
          <a:xfrm>
            <a:off x="3520440" y="159105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Unresolved experiences or emotions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520440" y="2212848"/>
            <a:ext cx="8065008" cy="1426464"/>
          </a:xfrm>
          <a:prstGeom prst="roundRect">
            <a:avLst>
              <a:gd name="adj" fmla="val 3846"/>
            </a:avLst>
          </a:prstGeom>
          <a:solidFill>
            <a:srgbClr val="F0F3F9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739896" y="23591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MAY INCLUDE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739896" y="2834640"/>
            <a:ext cx="1170432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Grief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074920" y="2834640"/>
            <a:ext cx="1170432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Anger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09944" y="2834640"/>
            <a:ext cx="109728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Guilt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671816" y="2834640"/>
            <a:ext cx="159105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Resentment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9427464" y="2834640"/>
            <a:ext cx="178308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Unmet needs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520440" y="3877056"/>
            <a:ext cx="8028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2000"/>
              </a:lnSpc>
              <a:spcAft>
                <a:spcPts val="9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remain psychologically active in the present</a:t>
            </a:r>
            <a:endParaRPr lang="en-US" sz="1350" dirty="0"/>
          </a:p>
          <a:p>
            <a:pPr marL="139700" indent="-139700">
              <a:lnSpc>
                <a:spcPct val="122000"/>
              </a:lnSpc>
              <a:spcAft>
                <a:spcPts val="9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 interfere with healthy contact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3520440" y="4864608"/>
            <a:ext cx="45720" cy="420624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7" name="Text 14"/>
          <p:cNvSpPr/>
          <p:nvPr/>
        </p:nvSpPr>
        <p:spPr>
          <a:xfrm>
            <a:off x="3721608" y="4864608"/>
            <a:ext cx="7662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Therapy promotes awareness and processing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520440" y="6035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ide-responsibili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0"/>
            <a:ext cx="4053535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97012" y="0"/>
            <a:ext cx="41148" cy="635508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" name="Text 1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03504" y="786384"/>
            <a:ext cx="7223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PERSONAL RESPONSIBILITY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Text 4"/>
          <p:cNvSpPr/>
          <p:nvPr/>
        </p:nvSpPr>
        <p:spPr>
          <a:xfrm>
            <a:off x="603504" y="1591056"/>
            <a:ext cx="7223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2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Recognizing one's own choices and responses</a:t>
            </a:r>
            <a:endParaRPr lang="en-US" sz="1350" dirty="0"/>
          </a:p>
          <a:p>
            <a:pPr marL="139700" indent="-139700">
              <a:lnSpc>
                <a:spcPct val="122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Promotes </a:t>
            </a:r>
            <a:pPr indent="0" marL="0">
              <a:buNone/>
            </a:pPr>
            <a:r>
              <a:rPr lang="en-US" sz="135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agency and ownership</a:t>
            </a:r>
            <a:endParaRPr lang="en-US" sz="1350" dirty="0"/>
          </a:p>
          <a:p>
            <a:pPr marL="139700" indent="-139700">
              <a:lnSpc>
                <a:spcPct val="122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Encourages authentic decision-making</a:t>
            </a:r>
            <a:endParaRPr lang="en-US" sz="1350" dirty="0"/>
          </a:p>
          <a:p>
            <a:pPr marL="139700" indent="-139700">
              <a:lnSpc>
                <a:spcPct val="122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Uses language that reflects personal experience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03504" y="3493008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E8EDF6"/>
          </a:solidFill>
          <a:ln w="12700">
            <a:solidFill>
              <a:srgbClr val="C7D2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50" kern="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RESPONSIBILITY  ≠  BLAME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03504" y="42245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LANGUAGE IN PRACTICE  ·  EXAMPLE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03504" y="4526280"/>
            <a:ext cx="7223760" cy="640080"/>
          </a:xfrm>
          <a:prstGeom prst="roundRect">
            <a:avLst>
              <a:gd name="adj" fmla="val 8571"/>
            </a:avLst>
          </a:prstGeom>
          <a:solidFill>
            <a:srgbClr val="ECF0F6"/>
          </a:solidFill>
          <a:ln w="12700">
            <a:solidFill>
              <a:srgbClr val="C3CCD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04672" y="465429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3CCD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54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✗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371600" y="452628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“You make me angry.”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03504" y="5257800"/>
            <a:ext cx="7223760" cy="640080"/>
          </a:xfrm>
          <a:prstGeom prst="roundRect">
            <a:avLst>
              <a:gd name="adj" fmla="val 8571"/>
            </a:avLst>
          </a:prstGeom>
          <a:solidFill>
            <a:srgbClr val="E3EAF6"/>
          </a:solidFill>
          <a:ln w="12700">
            <a:solidFill>
              <a:srgbClr val="AFBDD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4672" y="538581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FBDD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4672" y="5385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371600" y="52578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“I notice that I become angry when…”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03504" y="60533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Corey, 2024)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54864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PRACTICE  ·  THE COUNSELLOR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3504" y="786384"/>
            <a:ext cx="10515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 OF THE GESTALT COUNSELLOR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8097BE"/>
          </a:solidFill>
          <a:ln/>
        </p:spPr>
      </p:sp>
      <p:pic>
        <p:nvPicPr>
          <p:cNvPr id="5" name="Image 0" descr="/home/user/Business-e-books/presentations/gestalt-theory-counselling/assets/card-counsell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783080"/>
            <a:ext cx="630936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3504" y="1783080"/>
            <a:ext cx="6309360" cy="420624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31415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269480" y="1783080"/>
            <a:ext cx="4315968" cy="4206240"/>
          </a:xfrm>
          <a:prstGeom prst="roundRect">
            <a:avLst>
              <a:gd name="adj" fmla="val 1304"/>
            </a:avLst>
          </a:prstGeom>
          <a:solidFill>
            <a:srgbClr val="162B57"/>
          </a:solidFill>
          <a:ln w="9525">
            <a:solidFill>
              <a:srgbClr val="4660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0" y="1965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20" kern="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ROLE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0" y="234086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01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46720" y="2340864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Facilitates awareness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498080" y="284378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46720" y="2843784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Focuses on present experience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498080" y="33467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46720" y="3346704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Observes verbal and non-verbal behaviour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498080" y="384962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046720" y="3849624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Uses the therapeutic relationship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0" y="435254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05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046720" y="4352544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Encourages authentic expression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0" y="485546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46720" y="4855464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Explores interruptions in contact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7498080" y="535838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07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046720" y="5358384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Promotes responsibility and choice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603504" y="614476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(Joyce &amp; Sills, 2014; Brownell, 2010)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25" name="Text 22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trip-techniqu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743200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743200" y="0"/>
            <a:ext cx="41148" cy="635508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" name="Text 1"/>
          <p:cNvSpPr/>
          <p:nvPr/>
        </p:nvSpPr>
        <p:spPr>
          <a:xfrm>
            <a:off x="3154680" y="548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PRACTICE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154680" y="786384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GESTALT THERAPEUTIC TECHNIQUES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3154680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Shape 4"/>
          <p:cNvSpPr/>
          <p:nvPr/>
        </p:nvSpPr>
        <p:spPr>
          <a:xfrm>
            <a:off x="3154680" y="1591056"/>
            <a:ext cx="269748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154680" y="1591056"/>
            <a:ext cx="2697480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9" name="Text 6"/>
          <p:cNvSpPr/>
          <p:nvPr/>
        </p:nvSpPr>
        <p:spPr>
          <a:xfrm>
            <a:off x="3337560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37560" y="2029968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Empty-chair technique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980176" y="1591056"/>
            <a:ext cx="269748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80176" y="1591056"/>
            <a:ext cx="2697480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3" name="Text 10"/>
          <p:cNvSpPr/>
          <p:nvPr/>
        </p:nvSpPr>
        <p:spPr>
          <a:xfrm>
            <a:off x="6163056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163056" y="2029968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Two-chair dialogue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805672" y="1591056"/>
            <a:ext cx="269748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805672" y="1591056"/>
            <a:ext cx="2697480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17" name="Text 14"/>
          <p:cNvSpPr/>
          <p:nvPr/>
        </p:nvSpPr>
        <p:spPr>
          <a:xfrm>
            <a:off x="8988552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988552" y="2029968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Exaggeration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3154680" y="2761488"/>
            <a:ext cx="269748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154680" y="2761488"/>
            <a:ext cx="2697480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21" name="Text 18"/>
          <p:cNvSpPr/>
          <p:nvPr/>
        </p:nvSpPr>
        <p:spPr>
          <a:xfrm>
            <a:off x="3337560" y="2907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337560" y="3200400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Staying with the feeling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980176" y="2761488"/>
            <a:ext cx="269748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980176" y="2761488"/>
            <a:ext cx="2697480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25" name="Text 22"/>
          <p:cNvSpPr/>
          <p:nvPr/>
        </p:nvSpPr>
        <p:spPr>
          <a:xfrm>
            <a:off x="6163056" y="2907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163056" y="3200400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Role-play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805672" y="2761488"/>
            <a:ext cx="269748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805672" y="2761488"/>
            <a:ext cx="2697480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29" name="Text 26"/>
          <p:cNvSpPr/>
          <p:nvPr/>
        </p:nvSpPr>
        <p:spPr>
          <a:xfrm>
            <a:off x="8988552" y="2907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8988552" y="3200400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Body awareness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3154680" y="3931920"/>
            <a:ext cx="269748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154680" y="3931920"/>
            <a:ext cx="2697480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33" name="Text 30"/>
          <p:cNvSpPr/>
          <p:nvPr/>
        </p:nvSpPr>
        <p:spPr>
          <a:xfrm>
            <a:off x="3337560" y="40782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337560" y="4370832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“I” statements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980176" y="3931920"/>
            <a:ext cx="269748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980176" y="3931920"/>
            <a:ext cx="2697480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37" name="Text 34"/>
          <p:cNvSpPr/>
          <p:nvPr/>
        </p:nvSpPr>
        <p:spPr>
          <a:xfrm>
            <a:off x="6163056" y="40782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163056" y="4370832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Dream work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8805672" y="3931920"/>
            <a:ext cx="269748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805672" y="3931920"/>
            <a:ext cx="2697480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1" name="Text 38"/>
          <p:cNvSpPr/>
          <p:nvPr/>
        </p:nvSpPr>
        <p:spPr>
          <a:xfrm>
            <a:off x="8988552" y="40782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8988552" y="4370832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Here-and-now questioning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3154680" y="5212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(Joyce &amp; Sills, 2014)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45" name="Text 42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46" name="Text 43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548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PRACTICE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3504" y="786384"/>
            <a:ext cx="6400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EMPTY-CHAIR TECHNIQUE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Text 3"/>
          <p:cNvSpPr/>
          <p:nvPr/>
        </p:nvSpPr>
        <p:spPr>
          <a:xfrm>
            <a:off x="603504" y="1591056"/>
            <a:ext cx="6400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2000"/>
              </a:lnSpc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 imagines another person in an empty chair</a:t>
            </a:r>
            <a:endParaRPr lang="en-US" sz="1300" dirty="0"/>
          </a:p>
          <a:p>
            <a:pPr marL="139700" indent="-139700">
              <a:lnSpc>
                <a:spcPct val="122000"/>
              </a:lnSpc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Speaks directly to the imagined person</a:t>
            </a:r>
            <a:endParaRPr lang="en-US" sz="1300" dirty="0"/>
          </a:p>
          <a:p>
            <a:pPr marL="139700" indent="-139700">
              <a:lnSpc>
                <a:spcPct val="122000"/>
              </a:lnSpc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Brings unresolved experiences into </a:t>
            </a:r>
            <a:pPr indent="0" marL="0">
              <a:buNone/>
            </a:pPr>
            <a:r>
              <a:rPr lang="en-US" sz="130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 awareness</a:t>
            </a:r>
            <a:endParaRPr lang="en-US" sz="1300" dirty="0"/>
          </a:p>
          <a:p>
            <a:pPr marL="139700" indent="-139700">
              <a:lnSpc>
                <a:spcPct val="122000"/>
              </a:lnSpc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Facilitates expression of unfinished emotions</a:t>
            </a:r>
            <a:endParaRPr lang="en-US" sz="1300" dirty="0"/>
          </a:p>
          <a:p>
            <a:pPr marL="139700" indent="-139700">
              <a:lnSpc>
                <a:spcPct val="122000"/>
              </a:lnSpc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 promote new awareness and perspectives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3504" y="3977640"/>
            <a:ext cx="6400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" y="3977640"/>
            <a:ext cx="64008" cy="182880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40416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463040" y="42062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EXAMPLE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463040" y="452628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Imagine your father is sitting in that chair. What would you want him to hear from you?</a:t>
            </a:r>
            <a:endParaRPr lang="en-US" sz="1400" dirty="0"/>
          </a:p>
        </p:txBody>
      </p:sp>
      <p:pic>
        <p:nvPicPr>
          <p:cNvPr id="11" name="Image 0" descr="/home/user/Business-e-books/presentations/gestalt-theory-counselling/assets/card-chai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591056"/>
            <a:ext cx="4315968" cy="323697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269480" y="1591056"/>
            <a:ext cx="4315968" cy="3236976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D9E0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269480" y="5029200"/>
            <a:ext cx="4315968" cy="1298448"/>
          </a:xfrm>
          <a:prstGeom prst="roundRect">
            <a:avLst>
              <a:gd name="adj" fmla="val 4225"/>
            </a:avLst>
          </a:prstGeom>
          <a:solidFill>
            <a:srgbClr val="162B57"/>
          </a:solidFill>
          <a:ln/>
        </p:spPr>
      </p:sp>
      <p:sp>
        <p:nvSpPr>
          <p:cNvPr id="14" name="Text 11"/>
          <p:cNvSpPr/>
          <p:nvPr/>
        </p:nvSpPr>
        <p:spPr>
          <a:xfrm>
            <a:off x="7452360" y="51572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20" kern="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SETUP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7452360" y="5504688"/>
            <a:ext cx="1463040" cy="512064"/>
          </a:xfrm>
          <a:prstGeom prst="roundRect">
            <a:avLst>
              <a:gd name="adj" fmla="val 10714"/>
            </a:avLst>
          </a:prstGeom>
          <a:solidFill>
            <a:srgbClr val="0A1937"/>
          </a:solidFill>
          <a:ln w="12700">
            <a:solidFill>
              <a:srgbClr val="0A19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5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CLIENT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951976" y="5504688"/>
            <a:ext cx="4206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↔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9409176" y="5504688"/>
            <a:ext cx="1993392" cy="512064"/>
          </a:xfrm>
          <a:prstGeom prst="roundRect">
            <a:avLst>
              <a:gd name="adj" fmla="val 1071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5C6C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5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IMAGINED PERSON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03504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(Joyce &amp; Sills, 2014)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54864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PRACTICE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3504" y="786384"/>
            <a:ext cx="9326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OTHER EXPERIENTIAL TECHNIQUES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pic>
        <p:nvPicPr>
          <p:cNvPr id="5" name="Image 0" descr="/home/user/Business-e-books/presentations/gestalt-theory-counselling/assets/circle-cand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384048"/>
            <a:ext cx="1234440" cy="1234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3504" y="1591056"/>
            <a:ext cx="4023360" cy="47548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Shape 4"/>
          <p:cNvSpPr/>
          <p:nvPr/>
        </p:nvSpPr>
        <p:spPr>
          <a:xfrm>
            <a:off x="4626864" y="1591056"/>
            <a:ext cx="6958584" cy="47548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591056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TECHNIQUE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864608" y="1591056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PURPOSE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03504" y="2066544"/>
            <a:ext cx="10981944" cy="6766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603504" y="2743200"/>
            <a:ext cx="10981944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066544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Two-chair dialogue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864608" y="2066544"/>
            <a:ext cx="6492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Explore opposing parts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03504" y="2743200"/>
            <a:ext cx="10981944" cy="676656"/>
          </a:xfrm>
          <a:prstGeom prst="rect">
            <a:avLst/>
          </a:prstGeom>
          <a:solidFill>
            <a:srgbClr val="F0F3F9"/>
          </a:solidFill>
          <a:ln/>
        </p:spPr>
      </p:sp>
      <p:sp>
        <p:nvSpPr>
          <p:cNvPr id="15" name="Shape 12"/>
          <p:cNvSpPr/>
          <p:nvPr/>
        </p:nvSpPr>
        <p:spPr>
          <a:xfrm>
            <a:off x="603504" y="3419856"/>
            <a:ext cx="10981944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2743200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Exaggeration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64608" y="2743200"/>
            <a:ext cx="6492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Increase awareness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03504" y="3419856"/>
            <a:ext cx="10981944" cy="6766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603504" y="4096512"/>
            <a:ext cx="10981944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3419856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Staying with the feeling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864608" y="3419856"/>
            <a:ext cx="6492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Explore emerging emotions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03504" y="4096512"/>
            <a:ext cx="10981944" cy="676656"/>
          </a:xfrm>
          <a:prstGeom prst="rect">
            <a:avLst/>
          </a:prstGeom>
          <a:solidFill>
            <a:srgbClr val="F0F3F9"/>
          </a:solidFill>
          <a:ln/>
        </p:spPr>
      </p:sp>
      <p:sp>
        <p:nvSpPr>
          <p:cNvPr id="23" name="Shape 20"/>
          <p:cNvSpPr/>
          <p:nvPr/>
        </p:nvSpPr>
        <p:spPr>
          <a:xfrm>
            <a:off x="603504" y="4773168"/>
            <a:ext cx="10981944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4" name="Text 21"/>
          <p:cNvSpPr/>
          <p:nvPr/>
        </p:nvSpPr>
        <p:spPr>
          <a:xfrm>
            <a:off x="841248" y="4096512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Body awareness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4864608" y="4096512"/>
            <a:ext cx="6492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Notice physical experience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603504" y="4773168"/>
            <a:ext cx="10981944" cy="6766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4"/>
          <p:cNvSpPr/>
          <p:nvPr/>
        </p:nvSpPr>
        <p:spPr>
          <a:xfrm>
            <a:off x="603504" y="5449824"/>
            <a:ext cx="10981944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8" name="Text 25"/>
          <p:cNvSpPr/>
          <p:nvPr/>
        </p:nvSpPr>
        <p:spPr>
          <a:xfrm>
            <a:off x="841248" y="4773168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“I” statements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4864608" y="4773168"/>
            <a:ext cx="6492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 personal experience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03504" y="5449824"/>
            <a:ext cx="10981944" cy="676656"/>
          </a:xfrm>
          <a:prstGeom prst="rect">
            <a:avLst/>
          </a:prstGeom>
          <a:solidFill>
            <a:srgbClr val="F0F3F9"/>
          </a:solidFill>
          <a:ln/>
        </p:spPr>
      </p:sp>
      <p:sp>
        <p:nvSpPr>
          <p:cNvPr id="31" name="Shape 28"/>
          <p:cNvSpPr/>
          <p:nvPr/>
        </p:nvSpPr>
        <p:spPr>
          <a:xfrm>
            <a:off x="603504" y="6126480"/>
            <a:ext cx="10981944" cy="10973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2" name="Text 29"/>
          <p:cNvSpPr/>
          <p:nvPr/>
        </p:nvSpPr>
        <p:spPr>
          <a:xfrm>
            <a:off x="841248" y="5449824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Dream work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64608" y="5449824"/>
            <a:ext cx="6492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Explore present meaning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603504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(Joyce &amp; Sills, 2014)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6" name="Text 3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ide-appli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591056"/>
            <a:ext cx="3767328" cy="4617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818120" y="1591056"/>
            <a:ext cx="3767328" cy="46177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D9E0E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03504" y="548640"/>
            <a:ext cx="9692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PRACTICE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03504" y="786384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APPLICATION IN COUNSELLING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Text 4"/>
          <p:cNvSpPr/>
          <p:nvPr/>
        </p:nvSpPr>
        <p:spPr>
          <a:xfrm>
            <a:off x="603504" y="159105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GESTALT THERAPY CAN BE APPLIED TO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03504" y="1901952"/>
            <a:ext cx="347472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Grief and loss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242816" y="1901952"/>
            <a:ext cx="347472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Relationship difficulties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03504" y="2542032"/>
            <a:ext cx="347472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Anxiety and emotional distress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42816" y="2542032"/>
            <a:ext cx="347472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Unresolved anger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03504" y="3182112"/>
            <a:ext cx="347472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Identity concerns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242816" y="3182112"/>
            <a:ext cx="347472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Emotional-expression difficulties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03504" y="3822192"/>
            <a:ext cx="347472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Personal growth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42816" y="3822192"/>
            <a:ext cx="347472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Unresolved interpersonal experiences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03504" y="4709160"/>
            <a:ext cx="6839712" cy="1234440"/>
          </a:xfrm>
          <a:prstGeom prst="roundRect">
            <a:avLst>
              <a:gd name="adj" fmla="val 4444"/>
            </a:avLst>
          </a:prstGeom>
          <a:solidFill>
            <a:srgbClr val="162B57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48371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20" kern="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THERAPEUTIC MOVEMENT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841248" y="5157216"/>
            <a:ext cx="63642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Awareness</a:t>
            </a:r>
            <a:pPr algn="l" indent="0" marL="0">
              <a:buNone/>
            </a:pPr>
            <a:r>
              <a:rPr lang="en-US" sz="1450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Contact</a:t>
            </a:r>
            <a:pPr algn="l" indent="0" marL="0">
              <a:buNone/>
            </a:pPr>
            <a:r>
              <a:rPr lang="en-US" sz="1450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Responsibility</a:t>
            </a:r>
            <a:pPr algn="l" indent="0" marL="0">
              <a:buNone/>
            </a:pPr>
            <a:r>
              <a:rPr lang="en-US" sz="1450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Choice</a:t>
            </a:r>
            <a:pPr algn="l" indent="0" marL="0">
              <a:buNone/>
            </a:pPr>
            <a:r>
              <a:rPr lang="en-US" sz="1450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Growth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03504" y="605332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(Brownell, 2010; Joyce &amp; Sills, 2014)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1" name="Text 1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ide-strength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0"/>
            <a:ext cx="4053535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97012" y="0"/>
            <a:ext cx="41148" cy="635508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" name="Text 1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03504" y="786384"/>
            <a:ext cx="7223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STRENGTHS OF GESTALT THERAPY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Shape 4"/>
          <p:cNvSpPr/>
          <p:nvPr/>
        </p:nvSpPr>
        <p:spPr>
          <a:xfrm>
            <a:off x="603504" y="1591056"/>
            <a:ext cx="34747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49808" y="1874520"/>
            <a:ext cx="365760" cy="365760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61872" y="1591056"/>
            <a:ext cx="26974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Promotes self-awareness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03504" y="2670048"/>
            <a:ext cx="34747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9808" y="2953512"/>
            <a:ext cx="365760" cy="365760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9808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261872" y="2670048"/>
            <a:ext cx="26974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Focuses on lived experience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3504" y="3749040"/>
            <a:ext cx="34747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49808" y="4032504"/>
            <a:ext cx="365760" cy="365760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261872" y="3749040"/>
            <a:ext cx="26974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Encourages agency and responsibility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03504" y="4828032"/>
            <a:ext cx="34747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9808" y="5111496"/>
            <a:ext cx="365760" cy="365760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49808" y="5111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61872" y="4828032"/>
            <a:ext cx="26974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Integrates mind, emotion and body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4215384" y="1591056"/>
            <a:ext cx="34747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361688" y="1874520"/>
            <a:ext cx="365760" cy="365760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361688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873752" y="1591056"/>
            <a:ext cx="26974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Considers person–environment interaction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4215384" y="2670048"/>
            <a:ext cx="34747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61688" y="2953512"/>
            <a:ext cx="365760" cy="365760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361688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873752" y="2670048"/>
            <a:ext cx="26974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Encourages active client participation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4215384" y="3749040"/>
            <a:ext cx="34747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361688" y="4032504"/>
            <a:ext cx="365760" cy="365760"/>
          </a:xfrm>
          <a:prstGeom prst="ellipse">
            <a:avLst/>
          </a:prstGeom>
          <a:solidFill>
            <a:srgbClr val="E8EDF6"/>
          </a:solidFill>
          <a:ln w="12700">
            <a:solidFill>
              <a:srgbClr val="C7D2E6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361688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873752" y="3749040"/>
            <a:ext cx="26974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Supports experiential emotional processing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6" name="Text 3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bg-limitati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37">
              <a:alpha val="72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03504" y="54864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03504" y="786384"/>
            <a:ext cx="9601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LIMITATIONS AND CRITICISMS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7" name="Shape 4"/>
          <p:cNvSpPr/>
          <p:nvPr/>
        </p:nvSpPr>
        <p:spPr>
          <a:xfrm>
            <a:off x="603504" y="1627632"/>
            <a:ext cx="5394960" cy="3977640"/>
          </a:xfrm>
          <a:prstGeom prst="roundRect">
            <a:avLst>
              <a:gd name="adj" fmla="val 1379"/>
            </a:avLst>
          </a:prstGeom>
          <a:solidFill>
            <a:srgbClr val="0A1937">
              <a:alpha val="55000"/>
            </a:srgbClr>
          </a:solidFill>
          <a:ln w="9525">
            <a:solidFill>
              <a:srgbClr val="4660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493776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2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 techniques may feel intense</a:t>
            </a:r>
            <a:endParaRPr lang="en-US" sz="1350" dirty="0"/>
          </a:p>
          <a:p>
            <a:pPr marL="139700" indent="-139700">
              <a:lnSpc>
                <a:spcPct val="122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Requires skilled and sensitive application</a:t>
            </a:r>
            <a:endParaRPr lang="en-US" sz="1350" dirty="0"/>
          </a:p>
          <a:p>
            <a:pPr marL="139700" indent="-139700">
              <a:lnSpc>
                <a:spcPct val="122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 be challenging for clients who prefer highly structured approaches</a:t>
            </a:r>
            <a:endParaRPr lang="en-US" sz="1350" dirty="0"/>
          </a:p>
          <a:p>
            <a:pPr marL="139700" indent="-139700">
              <a:lnSpc>
                <a:spcPct val="122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Experiential techniques can be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misused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190488" y="1627632"/>
            <a:ext cx="5394960" cy="3977640"/>
          </a:xfrm>
          <a:prstGeom prst="roundRect">
            <a:avLst>
              <a:gd name="adj" fmla="val 1379"/>
            </a:avLst>
          </a:prstGeom>
          <a:solidFill>
            <a:srgbClr val="0A1937">
              <a:alpha val="55000"/>
            </a:srgbClr>
          </a:solidFill>
          <a:ln w="9525">
            <a:solidFill>
              <a:srgbClr val="46608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28232" y="1874520"/>
            <a:ext cx="493776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2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every intervention suits every client</a:t>
            </a:r>
            <a:endParaRPr lang="en-US" sz="1350" dirty="0"/>
          </a:p>
          <a:p>
            <a:pPr marL="139700" indent="-139700">
              <a:lnSpc>
                <a:spcPct val="122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Cultural context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must be considered</a:t>
            </a:r>
            <a:endParaRPr lang="en-US" sz="1350" dirty="0"/>
          </a:p>
          <a:p>
            <a:pPr marL="139700" indent="-139700">
              <a:lnSpc>
                <a:spcPct val="122000"/>
              </a:lnSpc>
              <a:spcAft>
                <a:spcPts val="1300"/>
              </a:spcAft>
              <a:buSzPct val="100000"/>
              <a:buChar char="–"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Ethical boundaries are essential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03504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(Corey, 2024; Joyce &amp; Sills, 2014)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3" name="Text 1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3504" y="78638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CASE APPLICATION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Shape 3"/>
          <p:cNvSpPr/>
          <p:nvPr/>
        </p:nvSpPr>
        <p:spPr>
          <a:xfrm>
            <a:off x="603504" y="1591056"/>
            <a:ext cx="324612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pic>
        <p:nvPicPr>
          <p:cNvPr id="6" name="Image 0" descr="/home/user/Business-e-books/presentations/gestalt-theory-counselling/assets/card-stud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91056"/>
            <a:ext cx="3246120" cy="3291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59536" y="50292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2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CLIENT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59536" y="528523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20-year-old undergraduate scholarship student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069080" y="1591056"/>
            <a:ext cx="2414016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069080" y="1591056"/>
            <a:ext cx="2414016" cy="512064"/>
          </a:xfrm>
          <a:prstGeom prst="rect">
            <a:avLst/>
          </a:prstGeom>
          <a:solidFill>
            <a:srgbClr val="0A1937"/>
          </a:solidFill>
          <a:ln/>
        </p:spPr>
      </p:sp>
      <p:sp>
        <p:nvSpPr>
          <p:cNvPr id="11" name="Text 8"/>
          <p:cNvSpPr/>
          <p:nvPr/>
        </p:nvSpPr>
        <p:spPr>
          <a:xfrm>
            <a:off x="4197096" y="1591056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01 · PRESENTING CONCERNS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233672" y="2286000"/>
            <a:ext cx="212140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anxiety</a:t>
            </a:r>
            <a:endParaRPr lang="en-US" sz="1050" dirty="0"/>
          </a:p>
          <a:p>
            <a:pPr marL="139700" indent="-1397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Fear of losing scholarship</a:t>
            </a:r>
            <a:endParaRPr lang="en-US" sz="1050" dirty="0"/>
          </a:p>
          <a:p>
            <a:pPr marL="139700" indent="-1397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Fear of disappointing family</a:t>
            </a:r>
            <a:endParaRPr lang="en-US" sz="1050" dirty="0"/>
          </a:p>
          <a:p>
            <a:pPr marL="139700" indent="-1397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Difficulty expressing emotions</a:t>
            </a:r>
            <a:endParaRPr lang="en-US" sz="1050" dirty="0"/>
          </a:p>
          <a:p>
            <a:pPr marL="139700" indent="-1397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Pressure to maintain high grades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620256" y="1591056"/>
            <a:ext cx="2414016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620256" y="1591056"/>
            <a:ext cx="2414016" cy="512064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15" name="Text 12"/>
          <p:cNvSpPr/>
          <p:nvPr/>
        </p:nvSpPr>
        <p:spPr>
          <a:xfrm>
            <a:off x="6748272" y="1591056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02 · GESTALT CONCEPTUALIZATION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6784848" y="2286000"/>
            <a:ext cx="212140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Anxiety becomes figure</a:t>
            </a:r>
            <a:endParaRPr lang="en-US" sz="1050" dirty="0"/>
          </a:p>
          <a:p>
            <a:pPr marL="139700" indent="-1397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Possible introjected expectations</a:t>
            </a:r>
            <a:endParaRPr lang="en-US" sz="1050" dirty="0"/>
          </a:p>
          <a:p>
            <a:pPr marL="139700" indent="-1397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Limited awareness of personal needs</a:t>
            </a:r>
            <a:endParaRPr lang="en-US" sz="1050" dirty="0"/>
          </a:p>
          <a:p>
            <a:pPr marL="139700" indent="-1397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Interrupted contact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9171432" y="1591056"/>
            <a:ext cx="2414016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171432" y="1591056"/>
            <a:ext cx="2414016" cy="512064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19" name="Text 16"/>
          <p:cNvSpPr/>
          <p:nvPr/>
        </p:nvSpPr>
        <p:spPr>
          <a:xfrm>
            <a:off x="9299448" y="1591056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03 · POSSIBLE INTERVENTIONS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9336024" y="2286000"/>
            <a:ext cx="212140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Here-and-now exploration</a:t>
            </a:r>
            <a:endParaRPr lang="en-US" sz="1050" dirty="0"/>
          </a:p>
          <a:p>
            <a:pPr marL="139700" indent="-1397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Body awareness</a:t>
            </a:r>
            <a:endParaRPr lang="en-US" sz="1050" dirty="0"/>
          </a:p>
          <a:p>
            <a:pPr marL="139700" indent="-1397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Staying with the feeling</a:t>
            </a:r>
            <a:endParaRPr lang="en-US" sz="1050" dirty="0"/>
          </a:p>
          <a:p>
            <a:pPr marL="139700" indent="-1397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“I” statements</a:t>
            </a:r>
            <a:endParaRPr lang="en-US" sz="1050" dirty="0"/>
          </a:p>
          <a:p>
            <a:pPr marL="139700" indent="-139700">
              <a:lnSpc>
                <a:spcPct val="115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Exploring introjected beliefs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2" name="Text 1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3504" y="78638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CRITICAL EVALUATION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03504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Shape 3"/>
          <p:cNvSpPr/>
          <p:nvPr/>
        </p:nvSpPr>
        <p:spPr>
          <a:xfrm>
            <a:off x="603504" y="1591056"/>
            <a:ext cx="5340096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pic>
        <p:nvPicPr>
          <p:cNvPr id="6" name="Image 0" descr="/home/user/Business-e-books/presentations/gestalt-theory-counselling/assets/circle-seed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810512"/>
            <a:ext cx="7315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92224" y="1956816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50" kern="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CONTRIBUTIONS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792224" y="2395728"/>
            <a:ext cx="822960" cy="36576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9" name="Shape 6"/>
          <p:cNvSpPr/>
          <p:nvPr/>
        </p:nvSpPr>
        <p:spPr>
          <a:xfrm>
            <a:off x="877824" y="2743200"/>
            <a:ext cx="4791456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0" name="Text 7"/>
          <p:cNvSpPr/>
          <p:nvPr/>
        </p:nvSpPr>
        <p:spPr>
          <a:xfrm>
            <a:off x="877824" y="2944368"/>
            <a:ext cx="47914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2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Holistic understanding of human experience</a:t>
            </a:r>
            <a:endParaRPr lang="en-US" sz="1250" dirty="0"/>
          </a:p>
          <a:p>
            <a:pPr marL="139700" indent="-139700">
              <a:lnSpc>
                <a:spcPct val="122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Strong emphasis on awareness</a:t>
            </a:r>
            <a:endParaRPr lang="en-US" sz="1250" dirty="0"/>
          </a:p>
          <a:p>
            <a:pPr marL="139700" indent="-139700">
              <a:lnSpc>
                <a:spcPct val="122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Integrates body, emotion and cognition</a:t>
            </a:r>
            <a:endParaRPr lang="en-US" sz="1250" dirty="0"/>
          </a:p>
          <a:p>
            <a:pPr marL="139700" indent="-139700">
              <a:lnSpc>
                <a:spcPct val="122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Recognizes person–environment interaction</a:t>
            </a:r>
            <a:endParaRPr lang="en-US" sz="1250" dirty="0"/>
          </a:p>
          <a:p>
            <a:pPr marL="139700" indent="-139700">
              <a:lnSpc>
                <a:spcPct val="122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Promotes agency and authentic choice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45352" y="1591056"/>
            <a:ext cx="5340096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pic>
        <p:nvPicPr>
          <p:cNvPr id="12" name="Image 1" descr="/home/user/Business-e-books/presentations/gestalt-theory-counselling/assets/circle-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1810512"/>
            <a:ext cx="731520" cy="7315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34072" y="1956816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5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CONSIDERATIONS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7434072" y="2395728"/>
            <a:ext cx="822960" cy="36576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15" name="Shape 11"/>
          <p:cNvSpPr/>
          <p:nvPr/>
        </p:nvSpPr>
        <p:spPr>
          <a:xfrm>
            <a:off x="6519672" y="2743200"/>
            <a:ext cx="4791456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6" name="Text 12"/>
          <p:cNvSpPr/>
          <p:nvPr/>
        </p:nvSpPr>
        <p:spPr>
          <a:xfrm>
            <a:off x="6519672" y="2944368"/>
            <a:ext cx="47914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22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Cultural adaptation</a:t>
            </a:r>
            <a:endParaRPr lang="en-US" sz="1250" dirty="0"/>
          </a:p>
          <a:p>
            <a:pPr marL="139700" indent="-139700">
              <a:lnSpc>
                <a:spcPct val="122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 readiness</a:t>
            </a:r>
            <a:endParaRPr lang="en-US" sz="1250" dirty="0"/>
          </a:p>
          <a:p>
            <a:pPr marL="139700" indent="-139700">
              <a:lnSpc>
                <a:spcPct val="122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Therapist competence</a:t>
            </a:r>
            <a:endParaRPr lang="en-US" sz="1250" dirty="0"/>
          </a:p>
          <a:p>
            <a:pPr marL="139700" indent="-139700">
              <a:lnSpc>
                <a:spcPct val="122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Appropriate use of experiential techniques</a:t>
            </a:r>
            <a:endParaRPr lang="en-US" sz="1250" dirty="0"/>
          </a:p>
          <a:p>
            <a:pPr marL="139700" indent="-139700">
              <a:lnSpc>
                <a:spcPct val="1220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Balance between present and past experience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8" name="Text 14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9" name="Text 15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bg-conclus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37">
              <a:alpha val="82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50" kern="0" dirty="0">
                <a:solidFill>
                  <a:srgbClr val="8097B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CLOSING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03504" y="786384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spc="75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CONCLUSION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39105" y="1335024"/>
            <a:ext cx="914400" cy="4114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7" name="Text 4"/>
          <p:cNvSpPr/>
          <p:nvPr/>
        </p:nvSpPr>
        <p:spPr>
          <a:xfrm>
            <a:off x="4590288" y="1664208"/>
            <a:ext cx="3017520" cy="493776"/>
          </a:xfrm>
          <a:prstGeom prst="roundRect">
            <a:avLst>
              <a:gd name="adj" fmla="val 11111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AWARENESS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90288" y="21214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90288" y="2487168"/>
            <a:ext cx="3017520" cy="493776"/>
          </a:xfrm>
          <a:prstGeom prst="roundRect">
            <a:avLst>
              <a:gd name="adj" fmla="val 11111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HERE-AND-NOW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90288" y="2944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90288" y="3310128"/>
            <a:ext cx="3017520" cy="493776"/>
          </a:xfrm>
          <a:prstGeom prst="roundRect">
            <a:avLst>
              <a:gd name="adj" fmla="val 11111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CONTACT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90288" y="37673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590288" y="4133088"/>
            <a:ext cx="3017520" cy="493776"/>
          </a:xfrm>
          <a:prstGeom prst="roundRect">
            <a:avLst>
              <a:gd name="adj" fmla="val 11111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RESPONSIBILITY &amp; CHOICE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90288" y="4590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590288" y="4956048"/>
            <a:ext cx="3017520" cy="493776"/>
          </a:xfrm>
          <a:prstGeom prst="roundRect">
            <a:avLst>
              <a:gd name="adj" fmla="val 11111"/>
            </a:avLst>
          </a:prstGeom>
          <a:solidFill>
            <a:srgbClr val="8097BE"/>
          </a:solidFill>
          <a:ln w="12700">
            <a:solidFill>
              <a:srgbClr val="8097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0A193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GROWTH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984248" y="559612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i="1" dirty="0">
                <a:solidFill>
                  <a:srgbClr val="C9D4E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Greater awareness creates greater possibilities for choice and change.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1984248" y="6035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trip-referenc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651760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651760" y="0"/>
            <a:ext cx="41148" cy="635508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" name="Text 1"/>
          <p:cNvSpPr/>
          <p:nvPr/>
        </p:nvSpPr>
        <p:spPr>
          <a:xfrm>
            <a:off x="3063240" y="548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50" kern="0" dirty="0">
                <a:solidFill>
                  <a:srgbClr val="5A6B9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CLOSING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063240" y="786384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75" kern="0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3063240" y="1335024"/>
            <a:ext cx="914400" cy="4114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Text 4"/>
          <p:cNvSpPr/>
          <p:nvPr/>
        </p:nvSpPr>
        <p:spPr>
          <a:xfrm>
            <a:off x="3063240" y="1591056"/>
            <a:ext cx="8522208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Brownell, P. (2010).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Gestalt therapy: A guide to contemporary practice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Springer Publishing Company.</a:t>
            </a:r>
            <a:endParaRPr lang="en-US" sz="1150" dirty="0"/>
          </a:p>
          <a:p>
            <a:pPr indent="0" marL="0">
              <a:lnSpc>
                <a:spcPct val="124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Corey, G. (2024).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Theory and practice of counseling and psychotherapy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(11th ed.). Cengage Learning.</a:t>
            </a:r>
            <a:endParaRPr lang="en-US" sz="1150" dirty="0"/>
          </a:p>
          <a:p>
            <a:pPr indent="0" marL="0">
              <a:lnSpc>
                <a:spcPct val="124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Joyce, P., &amp; Sills, C. (2014).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Skills in Gestalt counselling &amp; psychotherapy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(3rd ed.). SAGE.</a:t>
            </a:r>
            <a:endParaRPr lang="en-US" sz="1150" dirty="0"/>
          </a:p>
          <a:p>
            <a:pPr indent="0" marL="0">
              <a:lnSpc>
                <a:spcPct val="124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Perls, F. S., Hefferline, R. F., &amp; Goodman, P. (1951).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Gestalt therapy: Excitement and growth in the human personality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Julian Press.</a:t>
            </a:r>
            <a:endParaRPr lang="en-US" sz="1150" dirty="0"/>
          </a:p>
          <a:p>
            <a:pPr indent="0" marL="0">
              <a:lnSpc>
                <a:spcPct val="124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Woldt, A. L., &amp; Toman, S. M. (Eds.). (2005).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SAGE.</a:t>
            </a:r>
            <a:endParaRPr lang="en-US" sz="1150" dirty="0"/>
          </a:p>
          <a:p>
            <a:pPr indent="0" marL="0">
              <a:lnSpc>
                <a:spcPct val="124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Yontef, G., &amp; Fuhr, R. (2005). Gestalt therapy theory of change. In A. L. Woldt &amp; S. Toman (Eds.),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(pp. 81–100). SAGE.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9" name="Text 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62B5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Pan African Christian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Gestalt Theory and Its Application to Counselling</dc:title>
  <dc:subject>MCP504 Theories of Counseling and Psychotherapy</dc:subject>
  <dc:creator>Group 4 — Pan African Christian University</dc:creator>
  <cp:lastModifiedBy>Group 4 — Pan African Christian University</cp:lastModifiedBy>
  <cp:revision>1</cp:revision>
  <dcterms:created xsi:type="dcterms:W3CDTF">2026-10-06T04:35:41Z</dcterms:created>
  <dcterms:modified xsi:type="dcterms:W3CDTF">2026-10-06T04:35:41Z</dcterms:modified>
</cp:coreProperties>
</file>