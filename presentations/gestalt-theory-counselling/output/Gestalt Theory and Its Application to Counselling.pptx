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chai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603504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2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GROUP 4 PRESENTATION  ·  MCP504</a:t>
            </a:r>
            <a:endParaRPr lang="en-US" sz="1000" dirty="0"/>
          </a:p>
        </p:txBody>
      </p:sp>
      <p:sp>
        <p:nvSpPr>
          <p:cNvPr id="4" name="hdr"/>
          <p:cNvSpPr/>
          <p:nvPr/>
        </p:nvSpPr>
        <p:spPr>
          <a:xfrm>
            <a:off x="566928" y="950976"/>
            <a:ext cx="6309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Gestalt</a:t>
            </a:r>
            <a:endParaRPr lang="en-US" sz="5200" dirty="0"/>
          </a:p>
        </p:txBody>
      </p:sp>
      <p:sp>
        <p:nvSpPr>
          <p:cNvPr id="5" name="hdr"/>
          <p:cNvSpPr/>
          <p:nvPr/>
        </p:nvSpPr>
        <p:spPr>
          <a:xfrm>
            <a:off x="566928" y="1792224"/>
            <a:ext cx="6309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Theory</a:t>
            </a:r>
            <a:endParaRPr lang="en-US" sz="5200" dirty="0"/>
          </a:p>
        </p:txBody>
      </p:sp>
      <p:sp>
        <p:nvSpPr>
          <p:cNvPr id="6" name="hdr"/>
          <p:cNvSpPr/>
          <p:nvPr/>
        </p:nvSpPr>
        <p:spPr>
          <a:xfrm>
            <a:off x="603504" y="270662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AND ITS APPLICATION TO COUNSELLING</a:t>
            </a:r>
            <a:endParaRPr lang="en-US" sz="1300" dirty="0"/>
          </a:p>
        </p:txBody>
      </p:sp>
      <p:sp>
        <p:nvSpPr>
          <p:cNvPr id="7" name="blk1"/>
          <p:cNvSpPr/>
          <p:nvPr/>
        </p:nvSpPr>
        <p:spPr>
          <a:xfrm>
            <a:off x="603504" y="334670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PRESENTED BY  ·  GROUP 4 MEMBERS</a:t>
            </a:r>
            <a:endParaRPr lang="en-US" sz="850" dirty="0"/>
          </a:p>
        </p:txBody>
      </p:sp>
      <p:sp>
        <p:nvSpPr>
          <p:cNvPr id="8" name="blk1"/>
          <p:cNvSpPr/>
          <p:nvPr/>
        </p:nvSpPr>
        <p:spPr>
          <a:xfrm>
            <a:off x="603504" y="373075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Josephine Biwott</a:t>
            </a:r>
            <a:pPr indent="0" marL="0">
              <a:buNone/>
            </a:pPr>
            <a:r>
              <a:rPr lang="en-US" sz="1150" dirty="0">
                <a:solidFill>
                  <a:srgbClr val="AAB7D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·    MACP/35996/0/26</a:t>
            </a:r>
            <a:endParaRPr lang="en-US" sz="1350" dirty="0"/>
          </a:p>
        </p:txBody>
      </p:sp>
      <p:sp>
        <p:nvSpPr>
          <p:cNvPr id="9" name="blk1"/>
          <p:cNvSpPr/>
          <p:nvPr/>
        </p:nvSpPr>
        <p:spPr>
          <a:xfrm>
            <a:off x="603504" y="415137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Cynthia Cherono</a:t>
            </a:r>
            <a:pPr indent="0" marL="0">
              <a:buNone/>
            </a:pPr>
            <a:r>
              <a:rPr lang="en-US" sz="1150" dirty="0">
                <a:solidFill>
                  <a:srgbClr val="AAB7D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·    MACP/35785/4/26</a:t>
            </a:r>
            <a:endParaRPr lang="en-US" sz="1350" dirty="0"/>
          </a:p>
        </p:txBody>
      </p:sp>
      <p:sp>
        <p:nvSpPr>
          <p:cNvPr id="10" name="blk1"/>
          <p:cNvSpPr/>
          <p:nvPr/>
        </p:nvSpPr>
        <p:spPr>
          <a:xfrm>
            <a:off x="603504" y="45720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Yvonne Juliet Awuor</a:t>
            </a:r>
            <a:pPr indent="0" marL="0">
              <a:buNone/>
            </a:pPr>
            <a:r>
              <a:rPr lang="en-US" sz="1150" dirty="0">
                <a:solidFill>
                  <a:srgbClr val="AAB7D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·    MALD/36547/4/26</a:t>
            </a:r>
            <a:endParaRPr lang="en-US" sz="1350" dirty="0"/>
          </a:p>
        </p:txBody>
      </p:sp>
      <p:sp>
        <p:nvSpPr>
          <p:cNvPr id="11" name="blk2"/>
          <p:cNvSpPr/>
          <p:nvPr/>
        </p:nvSpPr>
        <p:spPr>
          <a:xfrm>
            <a:off x="603504" y="541324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COURSE</a:t>
            </a:r>
            <a:endParaRPr lang="en-US" sz="850" dirty="0"/>
          </a:p>
        </p:txBody>
      </p:sp>
      <p:sp>
        <p:nvSpPr>
          <p:cNvPr id="12" name="blk2"/>
          <p:cNvSpPr/>
          <p:nvPr/>
        </p:nvSpPr>
        <p:spPr>
          <a:xfrm>
            <a:off x="603504" y="5650992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MCP504 · Theories of Counseling and Psychotherapy</a:t>
            </a:r>
            <a:endParaRPr lang="en-US" sz="1100" dirty="0"/>
          </a:p>
        </p:txBody>
      </p:sp>
      <p:sp>
        <p:nvSpPr>
          <p:cNvPr id="13" name="blk2"/>
          <p:cNvSpPr/>
          <p:nvPr/>
        </p:nvSpPr>
        <p:spPr>
          <a:xfrm>
            <a:off x="3566160" y="541324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INSTITUTION</a:t>
            </a:r>
            <a:endParaRPr lang="en-US" sz="850" dirty="0"/>
          </a:p>
        </p:txBody>
      </p:sp>
      <p:sp>
        <p:nvSpPr>
          <p:cNvPr id="14" name="blk2"/>
          <p:cNvSpPr/>
          <p:nvPr/>
        </p:nvSpPr>
        <p:spPr>
          <a:xfrm>
            <a:off x="3566160" y="565099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Pan African Christian University</a:t>
            </a:r>
            <a:endParaRPr lang="en-US" sz="1100" dirty="0"/>
          </a:p>
        </p:txBody>
      </p:sp>
      <p:sp>
        <p:nvSpPr>
          <p:cNvPr id="15" name="blk2"/>
          <p:cNvSpPr/>
          <p:nvPr/>
        </p:nvSpPr>
        <p:spPr>
          <a:xfrm>
            <a:off x="5724144" y="54132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LECTURER</a:t>
            </a:r>
            <a:endParaRPr lang="en-US" sz="850" dirty="0"/>
          </a:p>
        </p:txBody>
      </p:sp>
      <p:sp>
        <p:nvSpPr>
          <p:cNvPr id="16" name="blk2"/>
          <p:cNvSpPr/>
          <p:nvPr/>
        </p:nvSpPr>
        <p:spPr>
          <a:xfrm>
            <a:off x="5724144" y="5650992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Dr. Lucy Gachenia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libra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OVERVIEW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Introduction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59536" y="1828800"/>
            <a:ext cx="6949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Experiential and humanistic approach to counselling</a:t>
            </a:r>
            <a:endParaRPr lang="en-US" sz="1600" dirty="0"/>
          </a:p>
        </p:txBody>
      </p:sp>
      <p:sp>
        <p:nvSpPr>
          <p:cNvPr id="6" name="blk1"/>
          <p:cNvSpPr/>
          <p:nvPr/>
        </p:nvSpPr>
        <p:spPr>
          <a:xfrm>
            <a:off x="859536" y="2889504"/>
            <a:ext cx="69494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3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Emphasizes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awareness, present experience and contact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3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Understands individuals within their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environment and relationships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3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Encourages personal responsibility, choice and authentic living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3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Focuses on the client's experience in the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here-and-now</a:t>
            </a:r>
            <a:endParaRPr lang="en-US" sz="1350" dirty="0"/>
          </a:p>
        </p:txBody>
      </p:sp>
      <p:sp>
        <p:nvSpPr>
          <p:cNvPr id="7" name="blk2"/>
          <p:cNvSpPr/>
          <p:nvPr/>
        </p:nvSpPr>
        <p:spPr>
          <a:xfrm>
            <a:off x="603504" y="59436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Joyce &amp; Sills, 2014)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libra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FOUNDATIONS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Historical Background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810512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Emerged during the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1940s and 1950s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Developed partly in response to limitations perceived in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traditional psychoanalysis</a:t>
            </a:r>
            <a:endParaRPr lang="en-US" sz="1300" dirty="0"/>
          </a:p>
        </p:txBody>
      </p:sp>
      <p:sp>
        <p:nvSpPr>
          <p:cNvPr id="6" name="blk2"/>
          <p:cNvSpPr/>
          <p:nvPr/>
        </p:nvSpPr>
        <p:spPr>
          <a:xfrm>
            <a:off x="603504" y="321868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INFLUENCED BY</a:t>
            </a:r>
            <a:endParaRPr lang="en-US" sz="900" dirty="0"/>
          </a:p>
        </p:txBody>
      </p:sp>
      <p:sp>
        <p:nvSpPr>
          <p:cNvPr id="7" name="blk2"/>
          <p:cNvSpPr/>
          <p:nvPr/>
        </p:nvSpPr>
        <p:spPr>
          <a:xfrm>
            <a:off x="603504" y="3456432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psychology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Phenomenology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Existential philosophy</a:t>
            </a:r>
            <a:endParaRPr lang="en-US" sz="1250" dirty="0"/>
          </a:p>
        </p:txBody>
      </p:sp>
      <p:sp>
        <p:nvSpPr>
          <p:cNvPr id="8" name="blk2"/>
          <p:cNvSpPr/>
          <p:nvPr/>
        </p:nvSpPr>
        <p:spPr>
          <a:xfrm>
            <a:off x="5669280" y="3456432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Field theory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Holistic approaches</a:t>
            </a:r>
            <a:endParaRPr lang="en-US" sz="1250" dirty="0"/>
          </a:p>
        </p:txBody>
      </p:sp>
      <p:sp>
        <p:nvSpPr>
          <p:cNvPr id="9" name="blk3"/>
          <p:cNvSpPr/>
          <p:nvPr/>
        </p:nvSpPr>
        <p:spPr>
          <a:xfrm>
            <a:off x="603504" y="4846320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Emphasized experience, awareness and contact</a:t>
            </a:r>
            <a:endParaRPr lang="en-US" sz="1300" dirty="0"/>
          </a:p>
        </p:txBody>
      </p:sp>
      <p:sp>
        <p:nvSpPr>
          <p:cNvPr id="10" name="blk4"/>
          <p:cNvSpPr/>
          <p:nvPr/>
        </p:nvSpPr>
        <p:spPr>
          <a:xfrm>
            <a:off x="603504" y="54681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INTELLECTUAL ROOTS</a:t>
            </a:r>
            <a:endParaRPr lang="en-US" sz="800" dirty="0"/>
          </a:p>
        </p:txBody>
      </p:sp>
      <p:sp>
        <p:nvSpPr>
          <p:cNvPr id="11" name="blk4"/>
          <p:cNvSpPr/>
          <p:nvPr/>
        </p:nvSpPr>
        <p:spPr>
          <a:xfrm>
            <a:off x="603504" y="5705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Psychology</a:t>
            </a:r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Phenomenology</a:t>
            </a:r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Existentialism</a:t>
            </a:r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Field Theory</a:t>
            </a:r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Therapy</a:t>
            </a:r>
            <a:endParaRPr lang="en-US" sz="1050" dirty="0"/>
          </a:p>
        </p:txBody>
      </p:sp>
      <p:sp>
        <p:nvSpPr>
          <p:cNvPr id="12" name="blk4"/>
          <p:cNvSpPr/>
          <p:nvPr/>
        </p:nvSpPr>
        <p:spPr>
          <a:xfrm>
            <a:off x="603504" y="6263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Woldt &amp; Toman, 2005)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libra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FOUNDATIONS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Major Theorists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2660904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Fritz Perls</a:t>
            </a:r>
            <a:endParaRPr lang="en-US" sz="1700" dirty="0"/>
          </a:p>
        </p:txBody>
      </p:sp>
      <p:sp>
        <p:nvSpPr>
          <p:cNvPr id="6" name="blk1"/>
          <p:cNvSpPr/>
          <p:nvPr/>
        </p:nvSpPr>
        <p:spPr>
          <a:xfrm>
            <a:off x="603504" y="3099816"/>
            <a:ext cx="3511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1893–1970</a:t>
            </a:r>
            <a:endParaRPr lang="en-US" sz="1000" dirty="0"/>
          </a:p>
        </p:txBody>
      </p:sp>
      <p:sp>
        <p:nvSpPr>
          <p:cNvPr id="7" name="blk1"/>
          <p:cNvSpPr/>
          <p:nvPr/>
        </p:nvSpPr>
        <p:spPr>
          <a:xfrm>
            <a:off x="603504" y="3593592"/>
            <a:ext cx="3328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Major founder</a:t>
            </a:r>
            <a:endParaRPr lang="en-US" sz="1250" dirty="0"/>
          </a:p>
        </p:txBody>
      </p:sp>
      <p:sp>
        <p:nvSpPr>
          <p:cNvPr id="8" name="blk1"/>
          <p:cNvSpPr/>
          <p:nvPr/>
        </p:nvSpPr>
        <p:spPr>
          <a:xfrm>
            <a:off x="603504" y="4270248"/>
            <a:ext cx="33284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Awareness, experience and responsibility</a:t>
            </a:r>
            <a:endParaRPr lang="en-US" sz="1250" dirty="0"/>
          </a:p>
        </p:txBody>
      </p:sp>
      <p:sp>
        <p:nvSpPr>
          <p:cNvPr id="9" name="blk2"/>
          <p:cNvSpPr/>
          <p:nvPr/>
        </p:nvSpPr>
        <p:spPr>
          <a:xfrm>
            <a:off x="4343400" y="2935224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Laura Perls</a:t>
            </a:r>
            <a:endParaRPr lang="en-US" sz="1700" dirty="0"/>
          </a:p>
        </p:txBody>
      </p:sp>
      <p:sp>
        <p:nvSpPr>
          <p:cNvPr id="10" name="blk2"/>
          <p:cNvSpPr/>
          <p:nvPr/>
        </p:nvSpPr>
        <p:spPr>
          <a:xfrm>
            <a:off x="4343400" y="3374136"/>
            <a:ext cx="3511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1905–1990</a:t>
            </a:r>
            <a:endParaRPr lang="en-US" sz="1000" dirty="0"/>
          </a:p>
        </p:txBody>
      </p:sp>
      <p:sp>
        <p:nvSpPr>
          <p:cNvPr id="11" name="blk2"/>
          <p:cNvSpPr/>
          <p:nvPr/>
        </p:nvSpPr>
        <p:spPr>
          <a:xfrm>
            <a:off x="4343400" y="3867912"/>
            <a:ext cx="3328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Major contributor</a:t>
            </a:r>
            <a:endParaRPr lang="en-US" sz="1250" dirty="0"/>
          </a:p>
        </p:txBody>
      </p:sp>
      <p:sp>
        <p:nvSpPr>
          <p:cNvPr id="12" name="blk2"/>
          <p:cNvSpPr/>
          <p:nvPr/>
        </p:nvSpPr>
        <p:spPr>
          <a:xfrm>
            <a:off x="4343400" y="4544568"/>
            <a:ext cx="33284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Contact, relationship and embodied experience</a:t>
            </a:r>
            <a:endParaRPr lang="en-US" sz="1250" dirty="0"/>
          </a:p>
        </p:txBody>
      </p:sp>
      <p:sp>
        <p:nvSpPr>
          <p:cNvPr id="13" name="blk3"/>
          <p:cNvSpPr/>
          <p:nvPr/>
        </p:nvSpPr>
        <p:spPr>
          <a:xfrm>
            <a:off x="8083296" y="2660904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Paul Goodman</a:t>
            </a:r>
            <a:endParaRPr lang="en-US" sz="1700" dirty="0"/>
          </a:p>
        </p:txBody>
      </p:sp>
      <p:sp>
        <p:nvSpPr>
          <p:cNvPr id="14" name="blk3"/>
          <p:cNvSpPr/>
          <p:nvPr/>
        </p:nvSpPr>
        <p:spPr>
          <a:xfrm>
            <a:off x="8083296" y="3099816"/>
            <a:ext cx="3511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1911–1972</a:t>
            </a:r>
            <a:endParaRPr lang="en-US" sz="1000" dirty="0"/>
          </a:p>
        </p:txBody>
      </p:sp>
      <p:sp>
        <p:nvSpPr>
          <p:cNvPr id="15" name="blk3"/>
          <p:cNvSpPr/>
          <p:nvPr/>
        </p:nvSpPr>
        <p:spPr>
          <a:xfrm>
            <a:off x="8083296" y="3593592"/>
            <a:ext cx="3328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Co-author of Gestalt Therapy (1951)</a:t>
            </a:r>
            <a:endParaRPr lang="en-US" sz="1250" dirty="0"/>
          </a:p>
        </p:txBody>
      </p:sp>
      <p:sp>
        <p:nvSpPr>
          <p:cNvPr id="16" name="blk3"/>
          <p:cNvSpPr/>
          <p:nvPr/>
        </p:nvSpPr>
        <p:spPr>
          <a:xfrm>
            <a:off x="8083296" y="4270248"/>
            <a:ext cx="33284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Major contributor to theoretical formulation</a:t>
            </a:r>
            <a:endParaRPr lang="en-US" sz="1250" dirty="0"/>
          </a:p>
        </p:txBody>
      </p:sp>
      <p:sp>
        <p:nvSpPr>
          <p:cNvPr id="17" name="blk4"/>
          <p:cNvSpPr/>
          <p:nvPr/>
        </p:nvSpPr>
        <p:spPr>
          <a:xfrm>
            <a:off x="603504" y="60807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Woldt &amp; Toman, 2005)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libra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FOUNDATIONS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Core Assumptions of Gestalt Therapy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41248" y="22860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blk1"/>
          <p:cNvSpPr/>
          <p:nvPr/>
        </p:nvSpPr>
        <p:spPr>
          <a:xfrm>
            <a:off x="1499616" y="2286000"/>
            <a:ext cx="2724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People are best understood as whole persons</a:t>
            </a:r>
            <a:endParaRPr lang="en-US" sz="1250" dirty="0"/>
          </a:p>
        </p:txBody>
      </p:sp>
      <p:sp>
        <p:nvSpPr>
          <p:cNvPr id="7" name="blk1"/>
          <p:cNvSpPr/>
          <p:nvPr/>
        </p:nvSpPr>
        <p:spPr>
          <a:xfrm>
            <a:off x="841248" y="2999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blk1"/>
          <p:cNvSpPr/>
          <p:nvPr/>
        </p:nvSpPr>
        <p:spPr>
          <a:xfrm>
            <a:off x="1499616" y="2999232"/>
            <a:ext cx="2724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Human experience is influenced by the environment</a:t>
            </a:r>
            <a:endParaRPr lang="en-US" sz="1250" dirty="0"/>
          </a:p>
        </p:txBody>
      </p:sp>
      <p:sp>
        <p:nvSpPr>
          <p:cNvPr id="9" name="blk1"/>
          <p:cNvSpPr/>
          <p:nvPr/>
        </p:nvSpPr>
        <p:spPr>
          <a:xfrm>
            <a:off x="841248" y="371246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03</a:t>
            </a:r>
            <a:endParaRPr lang="en-US" sz="1300" dirty="0"/>
          </a:p>
        </p:txBody>
      </p:sp>
      <p:sp>
        <p:nvSpPr>
          <p:cNvPr id="10" name="blk1"/>
          <p:cNvSpPr/>
          <p:nvPr/>
        </p:nvSpPr>
        <p:spPr>
          <a:xfrm>
            <a:off x="1499616" y="3712464"/>
            <a:ext cx="2724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 is central to psychological growth</a:t>
            </a:r>
            <a:endParaRPr lang="en-US" sz="1250" dirty="0"/>
          </a:p>
        </p:txBody>
      </p:sp>
      <p:sp>
        <p:nvSpPr>
          <p:cNvPr id="11" name="blk1"/>
          <p:cNvSpPr/>
          <p:nvPr/>
        </p:nvSpPr>
        <p:spPr>
          <a:xfrm>
            <a:off x="841248" y="44256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04</a:t>
            </a:r>
            <a:endParaRPr lang="en-US" sz="1300" dirty="0"/>
          </a:p>
        </p:txBody>
      </p:sp>
      <p:sp>
        <p:nvSpPr>
          <p:cNvPr id="12" name="blk1"/>
          <p:cNvSpPr/>
          <p:nvPr/>
        </p:nvSpPr>
        <p:spPr>
          <a:xfrm>
            <a:off x="1499616" y="4425696"/>
            <a:ext cx="2724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Experience unfolds in the present</a:t>
            </a:r>
            <a:endParaRPr lang="en-US" sz="1250" dirty="0"/>
          </a:p>
        </p:txBody>
      </p:sp>
      <p:sp>
        <p:nvSpPr>
          <p:cNvPr id="13" name="blk2"/>
          <p:cNvSpPr/>
          <p:nvPr/>
        </p:nvSpPr>
        <p:spPr>
          <a:xfrm>
            <a:off x="4864608" y="2633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05</a:t>
            </a:r>
            <a:endParaRPr lang="en-US" sz="1300" dirty="0"/>
          </a:p>
        </p:txBody>
      </p:sp>
      <p:sp>
        <p:nvSpPr>
          <p:cNvPr id="14" name="blk2"/>
          <p:cNvSpPr/>
          <p:nvPr/>
        </p:nvSpPr>
        <p:spPr>
          <a:xfrm>
            <a:off x="5522976" y="263347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People have capacity for choice and self-regulation</a:t>
            </a:r>
            <a:endParaRPr lang="en-US" sz="1250" dirty="0"/>
          </a:p>
        </p:txBody>
      </p:sp>
      <p:sp>
        <p:nvSpPr>
          <p:cNvPr id="15" name="blk2"/>
          <p:cNvSpPr/>
          <p:nvPr/>
        </p:nvSpPr>
        <p:spPr>
          <a:xfrm>
            <a:off x="4864608" y="334670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06</a:t>
            </a:r>
            <a:endParaRPr lang="en-US" sz="1300" dirty="0"/>
          </a:p>
        </p:txBody>
      </p:sp>
      <p:sp>
        <p:nvSpPr>
          <p:cNvPr id="16" name="blk2"/>
          <p:cNvSpPr/>
          <p:nvPr/>
        </p:nvSpPr>
        <p:spPr>
          <a:xfrm>
            <a:off x="5522976" y="3346704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Healthy functioning involves meaningful contact</a:t>
            </a:r>
            <a:endParaRPr lang="en-US" sz="1250" dirty="0"/>
          </a:p>
        </p:txBody>
      </p:sp>
      <p:sp>
        <p:nvSpPr>
          <p:cNvPr id="17" name="blk2"/>
          <p:cNvSpPr/>
          <p:nvPr/>
        </p:nvSpPr>
        <p:spPr>
          <a:xfrm>
            <a:off x="4864608" y="405993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07</a:t>
            </a:r>
            <a:endParaRPr lang="en-US" sz="1300" dirty="0"/>
          </a:p>
        </p:txBody>
      </p:sp>
      <p:sp>
        <p:nvSpPr>
          <p:cNvPr id="18" name="blk2"/>
          <p:cNvSpPr/>
          <p:nvPr/>
        </p:nvSpPr>
        <p:spPr>
          <a:xfrm>
            <a:off x="5413248" y="4023360"/>
            <a:ext cx="23408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Psychological difficulties may involve interruptions in awareness or contact</a:t>
            </a:r>
            <a:endParaRPr lang="en-US" sz="1250" dirty="0"/>
          </a:p>
        </p:txBody>
      </p:sp>
      <p:sp>
        <p:nvSpPr>
          <p:cNvPr id="19" name="blk3"/>
          <p:cNvSpPr/>
          <p:nvPr/>
        </p:nvSpPr>
        <p:spPr>
          <a:xfrm>
            <a:off x="603504" y="6035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Brownell, 2010; Joyce &amp; Sills, 2014)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Awareness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627632"/>
            <a:ext cx="6858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Central concept in Gestalt therapy</a:t>
            </a:r>
            <a:endParaRPr lang="en-US" sz="1450" dirty="0"/>
          </a:p>
        </p:txBody>
      </p:sp>
      <p:sp>
        <p:nvSpPr>
          <p:cNvPr id="6" name="blk2"/>
          <p:cNvSpPr/>
          <p:nvPr/>
        </p:nvSpPr>
        <p:spPr>
          <a:xfrm>
            <a:off x="841248" y="22128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NOTICING</a:t>
            </a:r>
            <a:endParaRPr lang="en-US" sz="900" dirty="0"/>
          </a:p>
        </p:txBody>
      </p:sp>
      <p:sp>
        <p:nvSpPr>
          <p:cNvPr id="7" name="blk2"/>
          <p:cNvSpPr/>
          <p:nvPr/>
        </p:nvSpPr>
        <p:spPr>
          <a:xfrm>
            <a:off x="841248" y="2542032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Thoughts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Feelings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Bodily sensations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Behaviour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Needs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  </a:t>
            </a:r>
            <a:endParaRPr lang="en-US" sz="1300" dirty="0"/>
          </a:p>
        </p:txBody>
      </p:sp>
      <p:sp>
        <p:nvSpPr>
          <p:cNvPr id="8" name="blk3"/>
          <p:cNvSpPr/>
          <p:nvPr/>
        </p:nvSpPr>
        <p:spPr>
          <a:xfrm>
            <a:off x="841248" y="40416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PROCESS</a:t>
            </a:r>
            <a:endParaRPr lang="en-US" sz="900" dirty="0"/>
          </a:p>
        </p:txBody>
      </p:sp>
      <p:sp>
        <p:nvSpPr>
          <p:cNvPr id="9" name="blk3"/>
          <p:cNvSpPr/>
          <p:nvPr/>
        </p:nvSpPr>
        <p:spPr>
          <a:xfrm>
            <a:off x="841248" y="4370832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Focuses on present experience</a:t>
            </a:r>
            <a:endParaRPr lang="en-US" sz="1200" dirty="0"/>
          </a:p>
          <a:p>
            <a:pPr indent="0" marL="0">
              <a:lnSpc>
                <a:spcPct val="130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Creates opportunities for choice and change</a:t>
            </a:r>
            <a:endParaRPr lang="en-US" sz="1200" dirty="0"/>
          </a:p>
        </p:txBody>
      </p:sp>
      <p:sp>
        <p:nvSpPr>
          <p:cNvPr id="10" name="blk3"/>
          <p:cNvSpPr/>
          <p:nvPr/>
        </p:nvSpPr>
        <p:spPr>
          <a:xfrm>
            <a:off x="841248" y="5175504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</a:t>
            </a:r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</a:t>
            </a:r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blk4"/>
          <p:cNvSpPr/>
          <p:nvPr/>
        </p:nvSpPr>
        <p:spPr>
          <a:xfrm>
            <a:off x="603504" y="5989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Joyce &amp; Sills, 2014)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Here-and-Now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22960" y="1810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FOCUS</a:t>
            </a:r>
            <a:endParaRPr lang="en-US" sz="900" dirty="0"/>
          </a:p>
        </p:txBody>
      </p:sp>
      <p:sp>
        <p:nvSpPr>
          <p:cNvPr id="6" name="blk1"/>
          <p:cNvSpPr/>
          <p:nvPr/>
        </p:nvSpPr>
        <p:spPr>
          <a:xfrm>
            <a:off x="822960" y="2139696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Focuses on the client's present experience</a:t>
            </a:r>
            <a:endParaRPr lang="en-US" sz="1300" dirty="0"/>
          </a:p>
        </p:txBody>
      </p:sp>
      <p:sp>
        <p:nvSpPr>
          <p:cNvPr id="7" name="blk1"/>
          <p:cNvSpPr/>
          <p:nvPr/>
        </p:nvSpPr>
        <p:spPr>
          <a:xfrm>
            <a:off x="822960" y="2907792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Includes thoughts, emotions, bodily sensations and behaviour</a:t>
            </a:r>
            <a:endParaRPr lang="en-US" sz="1100" dirty="0"/>
          </a:p>
        </p:txBody>
      </p:sp>
      <p:sp>
        <p:nvSpPr>
          <p:cNvPr id="8" name="blk2"/>
          <p:cNvSpPr/>
          <p:nvPr/>
        </p:nvSpPr>
        <p:spPr>
          <a:xfrm>
            <a:off x="1133856" y="42793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PAST</a:t>
            </a:r>
            <a:endParaRPr lang="en-US" sz="900" dirty="0"/>
          </a:p>
        </p:txBody>
      </p:sp>
      <p:sp>
        <p:nvSpPr>
          <p:cNvPr id="9" name="blk2"/>
          <p:cNvSpPr/>
          <p:nvPr/>
        </p:nvSpPr>
        <p:spPr>
          <a:xfrm>
            <a:off x="1133856" y="4608576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Past experiences are explored through their current impact</a:t>
            </a:r>
            <a:endParaRPr lang="en-US" sz="1300" dirty="0"/>
          </a:p>
        </p:txBody>
      </p:sp>
      <p:sp>
        <p:nvSpPr>
          <p:cNvPr id="10" name="blk3"/>
          <p:cNvSpPr/>
          <p:nvPr/>
        </p:nvSpPr>
        <p:spPr>
          <a:xfrm>
            <a:off x="4526280" y="1810512"/>
            <a:ext cx="4297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Encourages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direct experience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rather than excessive intellectual analysis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therapeutic relationship provides an opportunity for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present-moment awareness</a:t>
            </a:r>
            <a:endParaRPr lang="en-US" sz="1250" dirty="0"/>
          </a:p>
        </p:txBody>
      </p:sp>
      <p:sp>
        <p:nvSpPr>
          <p:cNvPr id="11" name="blk3"/>
          <p:cNvSpPr/>
          <p:nvPr/>
        </p:nvSpPr>
        <p:spPr>
          <a:xfrm>
            <a:off x="4526280" y="59893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Brownell, 2010)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Figure and Ground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78308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One element steps forward as figure against a ground of context.</a:t>
            </a:r>
            <a:endParaRPr lang="en-US" sz="1700" dirty="0"/>
          </a:p>
        </p:txBody>
      </p:sp>
      <p:sp>
        <p:nvSpPr>
          <p:cNvPr id="6" name="blk1"/>
          <p:cNvSpPr/>
          <p:nvPr/>
        </p:nvSpPr>
        <p:spPr>
          <a:xfrm>
            <a:off x="603504" y="329184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Needs and concerns move between figure and ground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figure changes as circumstances change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 helps identify what is most significant in the present</a:t>
            </a:r>
            <a:endParaRPr lang="en-US" sz="1300" dirty="0"/>
          </a:p>
        </p:txBody>
      </p:sp>
      <p:sp>
        <p:nvSpPr>
          <p:cNvPr id="7" name="blk1"/>
          <p:cNvSpPr/>
          <p:nvPr/>
        </p:nvSpPr>
        <p:spPr>
          <a:xfrm>
            <a:off x="603504" y="59893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Woldt &amp; Toman, 2005)</a:t>
            </a:r>
            <a:endParaRPr lang="en-US" sz="950" dirty="0"/>
          </a:p>
        </p:txBody>
      </p:sp>
      <p:sp>
        <p:nvSpPr>
          <p:cNvPr id="8" name="blk2"/>
          <p:cNvSpPr/>
          <p:nvPr/>
        </p:nvSpPr>
        <p:spPr>
          <a:xfrm>
            <a:off x="6016752" y="17190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FIGURE</a:t>
            </a:r>
            <a:endParaRPr lang="en-US" sz="1400" dirty="0"/>
          </a:p>
        </p:txBody>
      </p:sp>
      <p:sp>
        <p:nvSpPr>
          <p:cNvPr id="9" name="blk2"/>
          <p:cNvSpPr/>
          <p:nvPr/>
        </p:nvSpPr>
        <p:spPr>
          <a:xfrm>
            <a:off x="6016752" y="2066544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is most prominent in awareness</a:t>
            </a:r>
            <a:endParaRPr lang="en-US" sz="1200" dirty="0"/>
          </a:p>
        </p:txBody>
      </p:sp>
      <p:sp>
        <p:nvSpPr>
          <p:cNvPr id="10" name="blk2"/>
          <p:cNvSpPr/>
          <p:nvPr/>
        </p:nvSpPr>
        <p:spPr>
          <a:xfrm>
            <a:off x="5760720" y="2578608"/>
            <a:ext cx="5824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↓</a:t>
            </a:r>
            <a:endParaRPr lang="en-US" sz="1800" dirty="0"/>
          </a:p>
        </p:txBody>
      </p:sp>
      <p:sp>
        <p:nvSpPr>
          <p:cNvPr id="11" name="blk2"/>
          <p:cNvSpPr/>
          <p:nvPr/>
        </p:nvSpPr>
        <p:spPr>
          <a:xfrm>
            <a:off x="6016752" y="3127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GROUND</a:t>
            </a:r>
            <a:endParaRPr lang="en-US" sz="1400" dirty="0"/>
          </a:p>
        </p:txBody>
      </p:sp>
      <p:sp>
        <p:nvSpPr>
          <p:cNvPr id="12" name="blk2"/>
          <p:cNvSpPr/>
          <p:nvPr/>
        </p:nvSpPr>
        <p:spPr>
          <a:xfrm>
            <a:off x="6016752" y="347472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surrounding context and experiences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Contact and Contact Boundary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41248" y="1810512"/>
            <a:ext cx="5925312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Interaction between the individual and environment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 boundary: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Point at which the individual and environment meet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Healthy contact allows needs to be addressed while maintaining a sense of self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 involves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engaging, responding and withdrawing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Relationships, culture and circumstances influence contact</a:t>
            </a:r>
            <a:endParaRPr lang="en-US" sz="1300" dirty="0"/>
          </a:p>
        </p:txBody>
      </p:sp>
      <p:sp>
        <p:nvSpPr>
          <p:cNvPr id="6" name="blk2"/>
          <p:cNvSpPr/>
          <p:nvPr/>
        </p:nvSpPr>
        <p:spPr>
          <a:xfrm>
            <a:off x="7772400" y="4846320"/>
            <a:ext cx="3803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INDIVIDUAL</a:t>
            </a:r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↔  </a:t>
            </a:r>
            <a:pPr algn="ctr" indent="0" marL="0">
              <a:lnSpc>
                <a:spcPct val="13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 BOUNDARY</a:t>
            </a:r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↔  </a:t>
            </a:r>
            <a:pPr algn="ctr" indent="0" marL="0">
              <a:lnSpc>
                <a:spcPct val="13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ENVIRONMENT</a:t>
            </a:r>
            <a:endParaRPr lang="en-US" sz="950" dirty="0"/>
          </a:p>
        </p:txBody>
      </p:sp>
      <p:sp>
        <p:nvSpPr>
          <p:cNvPr id="7" name="blk3"/>
          <p:cNvSpPr/>
          <p:nvPr/>
        </p:nvSpPr>
        <p:spPr>
          <a:xfrm>
            <a:off x="603504" y="5989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Joyce &amp; Sills, 2014)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Unfinished Business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59536" y="1810512"/>
            <a:ext cx="6437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Unresolved experiences or emotions</a:t>
            </a:r>
            <a:endParaRPr lang="en-US" sz="1550" dirty="0"/>
          </a:p>
        </p:txBody>
      </p:sp>
      <p:sp>
        <p:nvSpPr>
          <p:cNvPr id="6" name="blk1"/>
          <p:cNvSpPr/>
          <p:nvPr/>
        </p:nvSpPr>
        <p:spPr>
          <a:xfrm>
            <a:off x="859536" y="23408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MAY INCLUDE</a:t>
            </a:r>
            <a:endParaRPr lang="en-US" sz="900" dirty="0"/>
          </a:p>
        </p:txBody>
      </p:sp>
      <p:sp>
        <p:nvSpPr>
          <p:cNvPr id="7" name="blk1"/>
          <p:cNvSpPr/>
          <p:nvPr/>
        </p:nvSpPr>
        <p:spPr>
          <a:xfrm>
            <a:off x="859536" y="2688336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Grief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Anger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Guilt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Resentment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Unmet needs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   </a:t>
            </a:r>
            <a:endParaRPr lang="en-US" sz="1300" dirty="0"/>
          </a:p>
        </p:txBody>
      </p:sp>
      <p:sp>
        <p:nvSpPr>
          <p:cNvPr id="8" name="blk2"/>
          <p:cNvSpPr/>
          <p:nvPr/>
        </p:nvSpPr>
        <p:spPr>
          <a:xfrm>
            <a:off x="859536" y="4334256"/>
            <a:ext cx="6437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remain psychologically active in the present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May interfere with healthy contact</a:t>
            </a:r>
            <a:endParaRPr lang="en-US" sz="1250" dirty="0"/>
          </a:p>
        </p:txBody>
      </p:sp>
      <p:sp>
        <p:nvSpPr>
          <p:cNvPr id="9" name="blk2"/>
          <p:cNvSpPr/>
          <p:nvPr/>
        </p:nvSpPr>
        <p:spPr>
          <a:xfrm>
            <a:off x="859536" y="5120640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Therapy promotes awareness and processing</a:t>
            </a:r>
            <a:endParaRPr lang="en-US" sz="1300" dirty="0"/>
          </a:p>
        </p:txBody>
      </p:sp>
      <p:sp>
        <p:nvSpPr>
          <p:cNvPr id="10" name="blk3"/>
          <p:cNvSpPr/>
          <p:nvPr/>
        </p:nvSpPr>
        <p:spPr>
          <a:xfrm>
            <a:off x="603504" y="58704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Joyce &amp; Sills, 2014)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CORE CONCEPTS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Personal Responsibility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41248" y="1810512"/>
            <a:ext cx="647395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Recognizing one's own choices and responses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Promotes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agency and ownership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Encourages authentic decision-making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Uses language that reflects personal experience</a:t>
            </a:r>
            <a:endParaRPr lang="en-US" sz="1250" dirty="0"/>
          </a:p>
        </p:txBody>
      </p:sp>
      <p:sp>
        <p:nvSpPr>
          <p:cNvPr id="6" name="blk2"/>
          <p:cNvSpPr/>
          <p:nvPr/>
        </p:nvSpPr>
        <p:spPr>
          <a:xfrm>
            <a:off x="603504" y="400507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RESPONSIBILITY  ≠  BLAME</a:t>
            </a:r>
            <a:endParaRPr lang="en-US" sz="1400" dirty="0"/>
          </a:p>
        </p:txBody>
      </p:sp>
      <p:sp>
        <p:nvSpPr>
          <p:cNvPr id="7" name="blk3"/>
          <p:cNvSpPr/>
          <p:nvPr/>
        </p:nvSpPr>
        <p:spPr>
          <a:xfrm>
            <a:off x="603504" y="473659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LANGUAGE IN PRACTICE  ·  EXAMPLE</a:t>
            </a:r>
            <a:endParaRPr lang="en-US" sz="900" dirty="0"/>
          </a:p>
        </p:txBody>
      </p:sp>
      <p:sp>
        <p:nvSpPr>
          <p:cNvPr id="8" name="blk3"/>
          <p:cNvSpPr/>
          <p:nvPr/>
        </p:nvSpPr>
        <p:spPr>
          <a:xfrm>
            <a:off x="603504" y="5047488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“You make me angry.”</a:t>
            </a:r>
            <a:endParaRPr lang="en-US" sz="1450" dirty="0"/>
          </a:p>
        </p:txBody>
      </p:sp>
      <p:sp>
        <p:nvSpPr>
          <p:cNvPr id="9" name="blk3"/>
          <p:cNvSpPr/>
          <p:nvPr/>
        </p:nvSpPr>
        <p:spPr>
          <a:xfrm>
            <a:off x="603504" y="5614416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8097B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“I notice that I become angry when…”</a:t>
            </a:r>
            <a:endParaRPr lang="en-US" sz="1450" dirty="0"/>
          </a:p>
        </p:txBody>
      </p:sp>
      <p:sp>
        <p:nvSpPr>
          <p:cNvPr id="10" name="blk4"/>
          <p:cNvSpPr/>
          <p:nvPr/>
        </p:nvSpPr>
        <p:spPr>
          <a:xfrm>
            <a:off x="7772400" y="5989320"/>
            <a:ext cx="3803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Corey, 2024)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pract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PRACTICE  ·  THE COUNSELLOR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Role of the Gestalt Counsellor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41248" y="2103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ROLE</a:t>
            </a:r>
            <a:endParaRPr lang="en-US" sz="850" dirty="0"/>
          </a:p>
        </p:txBody>
      </p:sp>
      <p:sp>
        <p:nvSpPr>
          <p:cNvPr id="6" name="blk1"/>
          <p:cNvSpPr/>
          <p:nvPr/>
        </p:nvSpPr>
        <p:spPr>
          <a:xfrm>
            <a:off x="841248" y="25146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blk1"/>
          <p:cNvSpPr/>
          <p:nvPr/>
        </p:nvSpPr>
        <p:spPr>
          <a:xfrm>
            <a:off x="1499616" y="2514600"/>
            <a:ext cx="7205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Facilitates awareness</a:t>
            </a:r>
            <a:endParaRPr lang="en-US" sz="1300" dirty="0"/>
          </a:p>
        </p:txBody>
      </p:sp>
      <p:sp>
        <p:nvSpPr>
          <p:cNvPr id="8" name="blk1"/>
          <p:cNvSpPr/>
          <p:nvPr/>
        </p:nvSpPr>
        <p:spPr>
          <a:xfrm>
            <a:off x="841248" y="29900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02</a:t>
            </a:r>
            <a:endParaRPr lang="en-US" sz="1300" dirty="0"/>
          </a:p>
        </p:txBody>
      </p:sp>
      <p:sp>
        <p:nvSpPr>
          <p:cNvPr id="9" name="blk1"/>
          <p:cNvSpPr/>
          <p:nvPr/>
        </p:nvSpPr>
        <p:spPr>
          <a:xfrm>
            <a:off x="1499616" y="2990088"/>
            <a:ext cx="7205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Focuses on present experience</a:t>
            </a:r>
            <a:endParaRPr lang="en-US" sz="1300" dirty="0"/>
          </a:p>
        </p:txBody>
      </p:sp>
      <p:sp>
        <p:nvSpPr>
          <p:cNvPr id="10" name="blk1"/>
          <p:cNvSpPr/>
          <p:nvPr/>
        </p:nvSpPr>
        <p:spPr>
          <a:xfrm>
            <a:off x="841248" y="346557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blk1"/>
          <p:cNvSpPr/>
          <p:nvPr/>
        </p:nvSpPr>
        <p:spPr>
          <a:xfrm>
            <a:off x="1499616" y="3465576"/>
            <a:ext cx="7205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Observes verbal and non-verbal behaviour</a:t>
            </a:r>
            <a:endParaRPr lang="en-US" sz="1300" dirty="0"/>
          </a:p>
        </p:txBody>
      </p:sp>
      <p:sp>
        <p:nvSpPr>
          <p:cNvPr id="12" name="blk1"/>
          <p:cNvSpPr/>
          <p:nvPr/>
        </p:nvSpPr>
        <p:spPr>
          <a:xfrm>
            <a:off x="841248" y="394106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04</a:t>
            </a:r>
            <a:endParaRPr lang="en-US" sz="1300" dirty="0"/>
          </a:p>
        </p:txBody>
      </p:sp>
      <p:sp>
        <p:nvSpPr>
          <p:cNvPr id="13" name="blk1"/>
          <p:cNvSpPr/>
          <p:nvPr/>
        </p:nvSpPr>
        <p:spPr>
          <a:xfrm>
            <a:off x="1499616" y="3941064"/>
            <a:ext cx="7205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Uses the therapeutic relationship</a:t>
            </a:r>
            <a:endParaRPr lang="en-US" sz="1300" dirty="0"/>
          </a:p>
        </p:txBody>
      </p:sp>
      <p:sp>
        <p:nvSpPr>
          <p:cNvPr id="14" name="blk1"/>
          <p:cNvSpPr/>
          <p:nvPr/>
        </p:nvSpPr>
        <p:spPr>
          <a:xfrm>
            <a:off x="841248" y="441655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05</a:t>
            </a:r>
            <a:endParaRPr lang="en-US" sz="1300" dirty="0"/>
          </a:p>
        </p:txBody>
      </p:sp>
      <p:sp>
        <p:nvSpPr>
          <p:cNvPr id="15" name="blk1"/>
          <p:cNvSpPr/>
          <p:nvPr/>
        </p:nvSpPr>
        <p:spPr>
          <a:xfrm>
            <a:off x="1499616" y="4416552"/>
            <a:ext cx="7205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Encourages authentic expression</a:t>
            </a:r>
            <a:endParaRPr lang="en-US" sz="1300" dirty="0"/>
          </a:p>
        </p:txBody>
      </p:sp>
      <p:sp>
        <p:nvSpPr>
          <p:cNvPr id="16" name="blk1"/>
          <p:cNvSpPr/>
          <p:nvPr/>
        </p:nvSpPr>
        <p:spPr>
          <a:xfrm>
            <a:off x="841248" y="489204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06</a:t>
            </a:r>
            <a:endParaRPr lang="en-US" sz="1300" dirty="0"/>
          </a:p>
        </p:txBody>
      </p:sp>
      <p:sp>
        <p:nvSpPr>
          <p:cNvPr id="17" name="blk1"/>
          <p:cNvSpPr/>
          <p:nvPr/>
        </p:nvSpPr>
        <p:spPr>
          <a:xfrm>
            <a:off x="1499616" y="4892040"/>
            <a:ext cx="7205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Explores interruptions in contact</a:t>
            </a:r>
            <a:endParaRPr lang="en-US" sz="1300" dirty="0"/>
          </a:p>
        </p:txBody>
      </p:sp>
      <p:sp>
        <p:nvSpPr>
          <p:cNvPr id="18" name="blk1"/>
          <p:cNvSpPr/>
          <p:nvPr/>
        </p:nvSpPr>
        <p:spPr>
          <a:xfrm>
            <a:off x="841248" y="536752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07</a:t>
            </a:r>
            <a:endParaRPr lang="en-US" sz="1300" dirty="0"/>
          </a:p>
        </p:txBody>
      </p:sp>
      <p:sp>
        <p:nvSpPr>
          <p:cNvPr id="19" name="blk1"/>
          <p:cNvSpPr/>
          <p:nvPr/>
        </p:nvSpPr>
        <p:spPr>
          <a:xfrm>
            <a:off x="1499616" y="5367528"/>
            <a:ext cx="7205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Promotes responsibility and choice</a:t>
            </a:r>
            <a:endParaRPr lang="en-US" sz="1300" dirty="0"/>
          </a:p>
        </p:txBody>
      </p:sp>
      <p:sp>
        <p:nvSpPr>
          <p:cNvPr id="20" name="blk2"/>
          <p:cNvSpPr/>
          <p:nvPr/>
        </p:nvSpPr>
        <p:spPr>
          <a:xfrm>
            <a:off x="603504" y="605332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(Joyce &amp; Sills, 2014; Brownell, 2010)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pract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PRACTICE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Gestalt Therapeutic Techniques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64592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blk1"/>
          <p:cNvSpPr/>
          <p:nvPr/>
        </p:nvSpPr>
        <p:spPr>
          <a:xfrm>
            <a:off x="603504" y="204825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Empty-chair technique</a:t>
            </a:r>
            <a:endParaRPr lang="en-US" sz="1150" dirty="0"/>
          </a:p>
        </p:txBody>
      </p:sp>
      <p:sp>
        <p:nvSpPr>
          <p:cNvPr id="7" name="blk2"/>
          <p:cNvSpPr/>
          <p:nvPr/>
        </p:nvSpPr>
        <p:spPr>
          <a:xfrm>
            <a:off x="4306824" y="190195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02</a:t>
            </a:r>
            <a:endParaRPr lang="en-US" sz="1400" dirty="0"/>
          </a:p>
        </p:txBody>
      </p:sp>
      <p:sp>
        <p:nvSpPr>
          <p:cNvPr id="8" name="blk2"/>
          <p:cNvSpPr/>
          <p:nvPr/>
        </p:nvSpPr>
        <p:spPr>
          <a:xfrm>
            <a:off x="4306824" y="230428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Two-chair dialogue</a:t>
            </a:r>
            <a:endParaRPr lang="en-US" sz="1150" dirty="0"/>
          </a:p>
        </p:txBody>
      </p:sp>
      <p:sp>
        <p:nvSpPr>
          <p:cNvPr id="9" name="blk3"/>
          <p:cNvSpPr/>
          <p:nvPr/>
        </p:nvSpPr>
        <p:spPr>
          <a:xfrm>
            <a:off x="8010144" y="164592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03</a:t>
            </a:r>
            <a:endParaRPr lang="en-US" sz="1400" dirty="0"/>
          </a:p>
        </p:txBody>
      </p:sp>
      <p:sp>
        <p:nvSpPr>
          <p:cNvPr id="10" name="blk3"/>
          <p:cNvSpPr/>
          <p:nvPr/>
        </p:nvSpPr>
        <p:spPr>
          <a:xfrm>
            <a:off x="8010144" y="204825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Exaggeration</a:t>
            </a:r>
            <a:endParaRPr lang="en-US" sz="1150" dirty="0"/>
          </a:p>
        </p:txBody>
      </p:sp>
      <p:sp>
        <p:nvSpPr>
          <p:cNvPr id="11" name="blk1"/>
          <p:cNvSpPr/>
          <p:nvPr/>
        </p:nvSpPr>
        <p:spPr>
          <a:xfrm>
            <a:off x="603504" y="287121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04</a:t>
            </a:r>
            <a:endParaRPr lang="en-US" sz="1400" dirty="0"/>
          </a:p>
        </p:txBody>
      </p:sp>
      <p:sp>
        <p:nvSpPr>
          <p:cNvPr id="12" name="blk1"/>
          <p:cNvSpPr/>
          <p:nvPr/>
        </p:nvSpPr>
        <p:spPr>
          <a:xfrm>
            <a:off x="603504" y="32735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Staying with the feeling</a:t>
            </a:r>
            <a:endParaRPr lang="en-US" sz="1150" dirty="0"/>
          </a:p>
        </p:txBody>
      </p:sp>
      <p:sp>
        <p:nvSpPr>
          <p:cNvPr id="13" name="blk2"/>
          <p:cNvSpPr/>
          <p:nvPr/>
        </p:nvSpPr>
        <p:spPr>
          <a:xfrm>
            <a:off x="4306824" y="312724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05</a:t>
            </a:r>
            <a:endParaRPr lang="en-US" sz="1400" dirty="0"/>
          </a:p>
        </p:txBody>
      </p:sp>
      <p:sp>
        <p:nvSpPr>
          <p:cNvPr id="14" name="blk2"/>
          <p:cNvSpPr/>
          <p:nvPr/>
        </p:nvSpPr>
        <p:spPr>
          <a:xfrm>
            <a:off x="4306824" y="352958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Role-play</a:t>
            </a:r>
            <a:endParaRPr lang="en-US" sz="1150" dirty="0"/>
          </a:p>
        </p:txBody>
      </p:sp>
      <p:sp>
        <p:nvSpPr>
          <p:cNvPr id="15" name="blk3"/>
          <p:cNvSpPr/>
          <p:nvPr/>
        </p:nvSpPr>
        <p:spPr>
          <a:xfrm>
            <a:off x="8010144" y="287121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06</a:t>
            </a:r>
            <a:endParaRPr lang="en-US" sz="1400" dirty="0"/>
          </a:p>
        </p:txBody>
      </p:sp>
      <p:sp>
        <p:nvSpPr>
          <p:cNvPr id="16" name="blk3"/>
          <p:cNvSpPr/>
          <p:nvPr/>
        </p:nvSpPr>
        <p:spPr>
          <a:xfrm>
            <a:off x="8010144" y="32735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Body awareness</a:t>
            </a:r>
            <a:endParaRPr lang="en-US" sz="1150" dirty="0"/>
          </a:p>
        </p:txBody>
      </p:sp>
      <p:sp>
        <p:nvSpPr>
          <p:cNvPr id="17" name="blk1"/>
          <p:cNvSpPr/>
          <p:nvPr/>
        </p:nvSpPr>
        <p:spPr>
          <a:xfrm>
            <a:off x="603504" y="40965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07</a:t>
            </a:r>
            <a:endParaRPr lang="en-US" sz="1400" dirty="0"/>
          </a:p>
        </p:txBody>
      </p:sp>
      <p:sp>
        <p:nvSpPr>
          <p:cNvPr id="18" name="blk1"/>
          <p:cNvSpPr/>
          <p:nvPr/>
        </p:nvSpPr>
        <p:spPr>
          <a:xfrm>
            <a:off x="603504" y="449884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“I” statements</a:t>
            </a:r>
            <a:endParaRPr lang="en-US" sz="1150" dirty="0"/>
          </a:p>
        </p:txBody>
      </p:sp>
      <p:sp>
        <p:nvSpPr>
          <p:cNvPr id="19" name="blk2"/>
          <p:cNvSpPr/>
          <p:nvPr/>
        </p:nvSpPr>
        <p:spPr>
          <a:xfrm>
            <a:off x="4306824" y="435254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08</a:t>
            </a:r>
            <a:endParaRPr lang="en-US" sz="1400" dirty="0"/>
          </a:p>
        </p:txBody>
      </p:sp>
      <p:sp>
        <p:nvSpPr>
          <p:cNvPr id="20" name="blk2"/>
          <p:cNvSpPr/>
          <p:nvPr/>
        </p:nvSpPr>
        <p:spPr>
          <a:xfrm>
            <a:off x="4306824" y="47548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Dream work</a:t>
            </a:r>
            <a:endParaRPr lang="en-US" sz="1150" dirty="0"/>
          </a:p>
        </p:txBody>
      </p:sp>
      <p:sp>
        <p:nvSpPr>
          <p:cNvPr id="21" name="blk3"/>
          <p:cNvSpPr/>
          <p:nvPr/>
        </p:nvSpPr>
        <p:spPr>
          <a:xfrm>
            <a:off x="8010144" y="40965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09</a:t>
            </a:r>
            <a:endParaRPr lang="en-US" sz="1400" dirty="0"/>
          </a:p>
        </p:txBody>
      </p:sp>
      <p:sp>
        <p:nvSpPr>
          <p:cNvPr id="22" name="blk3"/>
          <p:cNvSpPr/>
          <p:nvPr/>
        </p:nvSpPr>
        <p:spPr>
          <a:xfrm>
            <a:off x="8010144" y="449884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Here-and-now questioning</a:t>
            </a:r>
            <a:endParaRPr lang="en-US" sz="1150" dirty="0"/>
          </a:p>
        </p:txBody>
      </p:sp>
      <p:sp>
        <p:nvSpPr>
          <p:cNvPr id="23" name="blk4"/>
          <p:cNvSpPr/>
          <p:nvPr/>
        </p:nvSpPr>
        <p:spPr>
          <a:xfrm>
            <a:off x="603504" y="5623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(Joyce &amp; Sills, 2014)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pract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PRACTICE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Empty-Chair Technique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41248" y="1792224"/>
            <a:ext cx="5376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Client imagines another person in an empty chair</a:t>
            </a:r>
            <a:endParaRPr lang="en-US" sz="1200" dirty="0"/>
          </a:p>
          <a:p>
            <a:pPr indent="0" marL="0">
              <a:lnSpc>
                <a:spcPct val="130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Speaks directly to the imagined person</a:t>
            </a:r>
            <a:endParaRPr lang="en-US" sz="1200" dirty="0"/>
          </a:p>
          <a:p>
            <a:pPr indent="0" marL="0">
              <a:lnSpc>
                <a:spcPct val="130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Brings unresolved experiences into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present awareness</a:t>
            </a:r>
            <a:endParaRPr lang="en-US" sz="1200" dirty="0"/>
          </a:p>
          <a:p>
            <a:pPr indent="0" marL="0">
              <a:lnSpc>
                <a:spcPct val="130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Facilitates expression of unfinished emotions</a:t>
            </a:r>
            <a:endParaRPr lang="en-US" sz="1200" dirty="0"/>
          </a:p>
          <a:p>
            <a:pPr indent="0" marL="0">
              <a:lnSpc>
                <a:spcPct val="130000"/>
              </a:lnSpc>
              <a:spcAft>
                <a:spcPts val="7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May promote new awareness and perspectives</a:t>
            </a:r>
            <a:endParaRPr lang="en-US" sz="1200" dirty="0"/>
          </a:p>
        </p:txBody>
      </p:sp>
      <p:sp>
        <p:nvSpPr>
          <p:cNvPr id="6" name="blk2"/>
          <p:cNvSpPr/>
          <p:nvPr/>
        </p:nvSpPr>
        <p:spPr>
          <a:xfrm>
            <a:off x="1225296" y="42793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097B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“</a:t>
            </a:r>
            <a:endParaRPr lang="en-US" sz="3400" dirty="0"/>
          </a:p>
        </p:txBody>
      </p:sp>
      <p:sp>
        <p:nvSpPr>
          <p:cNvPr id="7" name="blk2"/>
          <p:cNvSpPr/>
          <p:nvPr/>
        </p:nvSpPr>
        <p:spPr>
          <a:xfrm>
            <a:off x="187452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EXAMPLE</a:t>
            </a:r>
            <a:endParaRPr lang="en-US" sz="900" dirty="0"/>
          </a:p>
        </p:txBody>
      </p:sp>
      <p:sp>
        <p:nvSpPr>
          <p:cNvPr id="8" name="blk2"/>
          <p:cNvSpPr/>
          <p:nvPr/>
        </p:nvSpPr>
        <p:spPr>
          <a:xfrm>
            <a:off x="1874520" y="475488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Imagine your father is sitting in that chair. What would you want him to hear from you?</a:t>
            </a:r>
            <a:endParaRPr lang="en-US" sz="1350" dirty="0"/>
          </a:p>
        </p:txBody>
      </p:sp>
      <p:sp>
        <p:nvSpPr>
          <p:cNvPr id="9" name="blk3"/>
          <p:cNvSpPr/>
          <p:nvPr/>
        </p:nvSpPr>
        <p:spPr>
          <a:xfrm>
            <a:off x="6858000" y="5532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SETUP</a:t>
            </a:r>
            <a:endParaRPr lang="en-US" sz="800" dirty="0"/>
          </a:p>
        </p:txBody>
      </p:sp>
      <p:sp>
        <p:nvSpPr>
          <p:cNvPr id="10" name="blk3"/>
          <p:cNvSpPr/>
          <p:nvPr/>
        </p:nvSpPr>
        <p:spPr>
          <a:xfrm>
            <a:off x="6858000" y="5760720"/>
            <a:ext cx="4727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CLIENT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 ↔   </a:t>
            </a:r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IMAGINED PERSON</a:t>
            </a:r>
            <a:endParaRPr lang="en-US" sz="1100" dirty="0"/>
          </a:p>
        </p:txBody>
      </p:sp>
      <p:sp>
        <p:nvSpPr>
          <p:cNvPr id="11" name="blk2"/>
          <p:cNvSpPr/>
          <p:nvPr/>
        </p:nvSpPr>
        <p:spPr>
          <a:xfrm>
            <a:off x="603504" y="6108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(Joyce &amp; Sills, 2014)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pract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PRACTICE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Other Experiential Techniques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1060704" y="175564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TECHNIQUE</a:t>
            </a:r>
            <a:endParaRPr lang="en-US" sz="900" dirty="0"/>
          </a:p>
        </p:txBody>
      </p:sp>
      <p:sp>
        <p:nvSpPr>
          <p:cNvPr id="6" name="blk1"/>
          <p:cNvSpPr/>
          <p:nvPr/>
        </p:nvSpPr>
        <p:spPr>
          <a:xfrm>
            <a:off x="4992624" y="175564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PURPOSE</a:t>
            </a:r>
            <a:endParaRPr lang="en-US" sz="900" dirty="0"/>
          </a:p>
        </p:txBody>
      </p:sp>
      <p:sp>
        <p:nvSpPr>
          <p:cNvPr id="7" name="blk1"/>
          <p:cNvSpPr/>
          <p:nvPr/>
        </p:nvSpPr>
        <p:spPr>
          <a:xfrm>
            <a:off x="1060704" y="228600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Two-chair dialogue</a:t>
            </a:r>
            <a:endParaRPr lang="en-US" sz="1250" dirty="0"/>
          </a:p>
        </p:txBody>
      </p:sp>
      <p:sp>
        <p:nvSpPr>
          <p:cNvPr id="8" name="blk1"/>
          <p:cNvSpPr/>
          <p:nvPr/>
        </p:nvSpPr>
        <p:spPr>
          <a:xfrm>
            <a:off x="4992624" y="228600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Explore opposing parts</a:t>
            </a:r>
            <a:endParaRPr lang="en-US" sz="1200" dirty="0"/>
          </a:p>
        </p:txBody>
      </p:sp>
      <p:sp>
        <p:nvSpPr>
          <p:cNvPr id="9" name="blk1"/>
          <p:cNvSpPr/>
          <p:nvPr/>
        </p:nvSpPr>
        <p:spPr>
          <a:xfrm>
            <a:off x="1060704" y="2889504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Exaggeration</a:t>
            </a:r>
            <a:endParaRPr lang="en-US" sz="1250" dirty="0"/>
          </a:p>
        </p:txBody>
      </p:sp>
      <p:sp>
        <p:nvSpPr>
          <p:cNvPr id="10" name="blk1"/>
          <p:cNvSpPr/>
          <p:nvPr/>
        </p:nvSpPr>
        <p:spPr>
          <a:xfrm>
            <a:off x="4992624" y="2889504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Increase awareness</a:t>
            </a:r>
            <a:endParaRPr lang="en-US" sz="1200" dirty="0"/>
          </a:p>
        </p:txBody>
      </p:sp>
      <p:sp>
        <p:nvSpPr>
          <p:cNvPr id="11" name="blk1"/>
          <p:cNvSpPr/>
          <p:nvPr/>
        </p:nvSpPr>
        <p:spPr>
          <a:xfrm>
            <a:off x="1060704" y="3493008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Staying with the feeling</a:t>
            </a:r>
            <a:endParaRPr lang="en-US" sz="1250" dirty="0"/>
          </a:p>
        </p:txBody>
      </p:sp>
      <p:sp>
        <p:nvSpPr>
          <p:cNvPr id="12" name="blk1"/>
          <p:cNvSpPr/>
          <p:nvPr/>
        </p:nvSpPr>
        <p:spPr>
          <a:xfrm>
            <a:off x="4992624" y="3493008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Explore emerging emotions</a:t>
            </a:r>
            <a:endParaRPr lang="en-US" sz="1200" dirty="0"/>
          </a:p>
        </p:txBody>
      </p:sp>
      <p:sp>
        <p:nvSpPr>
          <p:cNvPr id="13" name="blk1"/>
          <p:cNvSpPr/>
          <p:nvPr/>
        </p:nvSpPr>
        <p:spPr>
          <a:xfrm>
            <a:off x="1060704" y="4096512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Body awareness</a:t>
            </a:r>
            <a:endParaRPr lang="en-US" sz="1250" dirty="0"/>
          </a:p>
        </p:txBody>
      </p:sp>
      <p:sp>
        <p:nvSpPr>
          <p:cNvPr id="14" name="blk1"/>
          <p:cNvSpPr/>
          <p:nvPr/>
        </p:nvSpPr>
        <p:spPr>
          <a:xfrm>
            <a:off x="4992624" y="4096512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Notice physical experience</a:t>
            </a:r>
            <a:endParaRPr lang="en-US" sz="1200" dirty="0"/>
          </a:p>
        </p:txBody>
      </p:sp>
      <p:sp>
        <p:nvSpPr>
          <p:cNvPr id="15" name="blk1"/>
          <p:cNvSpPr/>
          <p:nvPr/>
        </p:nvSpPr>
        <p:spPr>
          <a:xfrm>
            <a:off x="1060704" y="470001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“I” statements</a:t>
            </a:r>
            <a:endParaRPr lang="en-US" sz="1250" dirty="0"/>
          </a:p>
        </p:txBody>
      </p:sp>
      <p:sp>
        <p:nvSpPr>
          <p:cNvPr id="16" name="blk1"/>
          <p:cNvSpPr/>
          <p:nvPr/>
        </p:nvSpPr>
        <p:spPr>
          <a:xfrm>
            <a:off x="4992624" y="4700016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Own personal experience</a:t>
            </a:r>
            <a:endParaRPr lang="en-US" sz="1200" dirty="0"/>
          </a:p>
        </p:txBody>
      </p:sp>
      <p:sp>
        <p:nvSpPr>
          <p:cNvPr id="17" name="blk1"/>
          <p:cNvSpPr/>
          <p:nvPr/>
        </p:nvSpPr>
        <p:spPr>
          <a:xfrm>
            <a:off x="1060704" y="530352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Dream work</a:t>
            </a:r>
            <a:endParaRPr lang="en-US" sz="1250" dirty="0"/>
          </a:p>
        </p:txBody>
      </p:sp>
      <p:sp>
        <p:nvSpPr>
          <p:cNvPr id="18" name="blk1"/>
          <p:cNvSpPr/>
          <p:nvPr/>
        </p:nvSpPr>
        <p:spPr>
          <a:xfrm>
            <a:off x="4992624" y="530352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Explore present meaning</a:t>
            </a:r>
            <a:endParaRPr lang="en-US" sz="1200" dirty="0"/>
          </a:p>
        </p:txBody>
      </p:sp>
      <p:sp>
        <p:nvSpPr>
          <p:cNvPr id="19" name="blk2"/>
          <p:cNvSpPr/>
          <p:nvPr/>
        </p:nvSpPr>
        <p:spPr>
          <a:xfrm>
            <a:off x="603504" y="6236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(Joyce &amp; Sills, 2014)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pract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9692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PRACTICE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Application in Counselling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41248" y="177393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THERAPY CAN BE APPLIED TO</a:t>
            </a:r>
            <a:endParaRPr lang="en-US" sz="900" dirty="0"/>
          </a:p>
        </p:txBody>
      </p:sp>
      <p:sp>
        <p:nvSpPr>
          <p:cNvPr id="6" name="blk1"/>
          <p:cNvSpPr/>
          <p:nvPr/>
        </p:nvSpPr>
        <p:spPr>
          <a:xfrm>
            <a:off x="841248" y="210312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Grief and loss</a:t>
            </a:r>
            <a:endParaRPr lang="en-US" sz="12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Relationship difficulties</a:t>
            </a:r>
            <a:endParaRPr lang="en-US" sz="12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Anxiety and emotional distress</a:t>
            </a:r>
            <a:endParaRPr lang="en-US" sz="12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Unresolved anger</a:t>
            </a:r>
            <a:endParaRPr lang="en-US" sz="1200" dirty="0"/>
          </a:p>
        </p:txBody>
      </p:sp>
      <p:sp>
        <p:nvSpPr>
          <p:cNvPr id="7" name="blk1"/>
          <p:cNvSpPr/>
          <p:nvPr/>
        </p:nvSpPr>
        <p:spPr>
          <a:xfrm>
            <a:off x="4224528" y="2103120"/>
            <a:ext cx="3291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Identity concerns</a:t>
            </a:r>
            <a:endParaRPr lang="en-US" sz="12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Emotional-expression difficulties</a:t>
            </a:r>
            <a:endParaRPr lang="en-US" sz="12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Personal growth</a:t>
            </a:r>
            <a:endParaRPr lang="en-US" sz="12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Unresolved interpersonal experiences</a:t>
            </a:r>
            <a:endParaRPr lang="en-US" sz="1200" dirty="0"/>
          </a:p>
        </p:txBody>
      </p:sp>
      <p:sp>
        <p:nvSpPr>
          <p:cNvPr id="8" name="blk2"/>
          <p:cNvSpPr/>
          <p:nvPr/>
        </p:nvSpPr>
        <p:spPr>
          <a:xfrm>
            <a:off x="841248" y="49377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THERAPEUTIC MOVEMENT</a:t>
            </a:r>
            <a:endParaRPr lang="en-US" sz="850" dirty="0"/>
          </a:p>
        </p:txBody>
      </p:sp>
      <p:sp>
        <p:nvSpPr>
          <p:cNvPr id="9" name="blk2"/>
          <p:cNvSpPr/>
          <p:nvPr/>
        </p:nvSpPr>
        <p:spPr>
          <a:xfrm>
            <a:off x="841248" y="5230368"/>
            <a:ext cx="6291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</a:t>
            </a:r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</a:t>
            </a:r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Responsibility</a:t>
            </a:r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</a:t>
            </a:r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 →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Growth</a:t>
            </a:r>
            <a:endParaRPr lang="en-US" sz="1350" dirty="0"/>
          </a:p>
        </p:txBody>
      </p:sp>
      <p:sp>
        <p:nvSpPr>
          <p:cNvPr id="10" name="blk3"/>
          <p:cNvSpPr/>
          <p:nvPr/>
        </p:nvSpPr>
        <p:spPr>
          <a:xfrm>
            <a:off x="603504" y="614476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(Brownell, 2010; Joyce &amp; Sills, 2014)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sh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Strengths of Gestalt Therapy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664208"/>
            <a:ext cx="3520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Promotes self-awareness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1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Focuses on lived experience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1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Encourages agency and responsibility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1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Integrates mind, emotion and body</a:t>
            </a:r>
            <a:endParaRPr lang="en-US" sz="1300" dirty="0"/>
          </a:p>
        </p:txBody>
      </p:sp>
      <p:sp>
        <p:nvSpPr>
          <p:cNvPr id="6" name="blk2"/>
          <p:cNvSpPr/>
          <p:nvPr/>
        </p:nvSpPr>
        <p:spPr>
          <a:xfrm>
            <a:off x="4443984" y="1938528"/>
            <a:ext cx="33832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Considers person–environment interaction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1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Encourages active client participation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16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Supports experiential emotional processing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sh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Limitations and Criticisms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41248" y="1975104"/>
            <a:ext cx="502920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Some techniques may feel intense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Requires skilled and sensitive application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May be challenging for clients who prefer highly structured approaches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Experiential techniques can be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misused</a:t>
            </a:r>
            <a:endParaRPr lang="en-US" sz="1250" dirty="0"/>
          </a:p>
        </p:txBody>
      </p:sp>
      <p:sp>
        <p:nvSpPr>
          <p:cNvPr id="6" name="blk2"/>
          <p:cNvSpPr/>
          <p:nvPr/>
        </p:nvSpPr>
        <p:spPr>
          <a:xfrm>
            <a:off x="6492240" y="2295144"/>
            <a:ext cx="50292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every intervention suits every client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Cultural context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must be considered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Ethical boundaries are essential</a:t>
            </a:r>
            <a:endParaRPr lang="en-US" sz="1250" dirty="0"/>
          </a:p>
        </p:txBody>
      </p:sp>
      <p:sp>
        <p:nvSpPr>
          <p:cNvPr id="7" name="blk3"/>
          <p:cNvSpPr/>
          <p:nvPr/>
        </p:nvSpPr>
        <p:spPr>
          <a:xfrm>
            <a:off x="603504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(Corey, 2024; Joyce &amp; Sills, 2014)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sh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Amina’s Case Study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859536" y="166420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CLIENT</a:t>
            </a:r>
            <a:endParaRPr lang="en-US" sz="900" dirty="0"/>
          </a:p>
        </p:txBody>
      </p:sp>
      <p:sp>
        <p:nvSpPr>
          <p:cNvPr id="6" name="blk1"/>
          <p:cNvSpPr/>
          <p:nvPr/>
        </p:nvSpPr>
        <p:spPr>
          <a:xfrm>
            <a:off x="859536" y="20116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20-year-old undergraduate scholarship student</a:t>
            </a:r>
            <a:endParaRPr lang="en-US" sz="1300" dirty="0"/>
          </a:p>
        </p:txBody>
      </p:sp>
      <p:sp>
        <p:nvSpPr>
          <p:cNvPr id="7" name="blk2"/>
          <p:cNvSpPr/>
          <p:nvPr/>
        </p:nvSpPr>
        <p:spPr>
          <a:xfrm>
            <a:off x="4069080" y="1645920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· PRESENTING CONCERNS</a:t>
            </a:r>
            <a:endParaRPr lang="en-US" sz="800" dirty="0"/>
          </a:p>
        </p:txBody>
      </p:sp>
      <p:sp>
        <p:nvSpPr>
          <p:cNvPr id="8" name="blk2"/>
          <p:cNvSpPr/>
          <p:nvPr/>
        </p:nvSpPr>
        <p:spPr>
          <a:xfrm>
            <a:off x="4069080" y="2066544"/>
            <a:ext cx="23774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Academic anxiety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Fear of losing scholarship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Fear of disappointing family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Difficulty expressing emotions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Pressure to maintain high grades</a:t>
            </a:r>
            <a:endParaRPr lang="en-US" sz="1100" dirty="0"/>
          </a:p>
        </p:txBody>
      </p:sp>
      <p:sp>
        <p:nvSpPr>
          <p:cNvPr id="9" name="blk3"/>
          <p:cNvSpPr/>
          <p:nvPr/>
        </p:nvSpPr>
        <p:spPr>
          <a:xfrm>
            <a:off x="6620256" y="1920240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· GESTALT CONCEPTUALIZATION</a:t>
            </a:r>
            <a:endParaRPr lang="en-US" sz="800" dirty="0"/>
          </a:p>
        </p:txBody>
      </p:sp>
      <p:sp>
        <p:nvSpPr>
          <p:cNvPr id="10" name="blk3"/>
          <p:cNvSpPr/>
          <p:nvPr/>
        </p:nvSpPr>
        <p:spPr>
          <a:xfrm>
            <a:off x="6620256" y="2340864"/>
            <a:ext cx="23774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Anxiety becomes figure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Possible introjected expectations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Limited awareness of personal needs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Interrupted contact</a:t>
            </a:r>
            <a:endParaRPr lang="en-US" sz="1100" dirty="0"/>
          </a:p>
        </p:txBody>
      </p:sp>
      <p:sp>
        <p:nvSpPr>
          <p:cNvPr id="11" name="blk4"/>
          <p:cNvSpPr/>
          <p:nvPr/>
        </p:nvSpPr>
        <p:spPr>
          <a:xfrm>
            <a:off x="9171432" y="1645920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· POSSIBLE INTERVENTIONS</a:t>
            </a:r>
            <a:endParaRPr lang="en-US" sz="800" dirty="0"/>
          </a:p>
        </p:txBody>
      </p:sp>
      <p:sp>
        <p:nvSpPr>
          <p:cNvPr id="12" name="blk4"/>
          <p:cNvSpPr/>
          <p:nvPr/>
        </p:nvSpPr>
        <p:spPr>
          <a:xfrm>
            <a:off x="9171432" y="2066544"/>
            <a:ext cx="23774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Here-and-now exploration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Body awareness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Staying with the feeling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“I” statements</a:t>
            </a:r>
            <a:endParaRPr lang="en-US" sz="1100" dirty="0"/>
          </a:p>
          <a:p>
            <a:pPr indent="0" marL="0">
              <a:lnSpc>
                <a:spcPct val="125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Exploring introjected beliefs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after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sh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EVALUATION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Critical Evaluation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68249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CONTRIBUTIONS</a:t>
            </a:r>
            <a:endParaRPr lang="en-US" sz="1100" dirty="0"/>
          </a:p>
        </p:txBody>
      </p:sp>
      <p:sp>
        <p:nvSpPr>
          <p:cNvPr id="6" name="blk1"/>
          <p:cNvSpPr/>
          <p:nvPr/>
        </p:nvSpPr>
        <p:spPr>
          <a:xfrm>
            <a:off x="603504" y="2779776"/>
            <a:ext cx="5029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Holistic understanding of human experience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Strong emphasis on awareness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Integrates body, emotion and cognition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Recognizes person–environment interaction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Promotes agency and authentic choice</a:t>
            </a:r>
            <a:endParaRPr lang="en-US" sz="1250" dirty="0"/>
          </a:p>
        </p:txBody>
      </p:sp>
      <p:sp>
        <p:nvSpPr>
          <p:cNvPr id="7" name="blk2"/>
          <p:cNvSpPr/>
          <p:nvPr/>
        </p:nvSpPr>
        <p:spPr>
          <a:xfrm>
            <a:off x="6245352" y="195681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2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CONSIDERATIONS</a:t>
            </a:r>
            <a:endParaRPr lang="en-US" sz="1100" dirty="0"/>
          </a:p>
        </p:txBody>
      </p:sp>
      <p:sp>
        <p:nvSpPr>
          <p:cNvPr id="8" name="blk2"/>
          <p:cNvSpPr/>
          <p:nvPr/>
        </p:nvSpPr>
        <p:spPr>
          <a:xfrm>
            <a:off x="6245352" y="3054096"/>
            <a:ext cx="5029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Cultural adaptation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Client readiness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Therapist competence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Appropriate use of experiential techniques</a:t>
            </a:r>
            <a:endParaRPr lang="en-US" sz="12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Balance between present and past experience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chai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CLOSING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4544568" y="16642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AWARENESS</a:t>
            </a:r>
            <a:endParaRPr lang="en-US" sz="1300" dirty="0"/>
          </a:p>
        </p:txBody>
      </p:sp>
      <p:sp>
        <p:nvSpPr>
          <p:cNvPr id="6" name="blk1"/>
          <p:cNvSpPr/>
          <p:nvPr/>
        </p:nvSpPr>
        <p:spPr>
          <a:xfrm>
            <a:off x="4544568" y="21031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↓</a:t>
            </a:r>
            <a:endParaRPr lang="en-US" sz="1400" dirty="0"/>
          </a:p>
        </p:txBody>
      </p:sp>
      <p:sp>
        <p:nvSpPr>
          <p:cNvPr id="7" name="blk1"/>
          <p:cNvSpPr/>
          <p:nvPr/>
        </p:nvSpPr>
        <p:spPr>
          <a:xfrm>
            <a:off x="4544568" y="24505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HERE-AND-NOW</a:t>
            </a:r>
            <a:endParaRPr lang="en-US" sz="1300" dirty="0"/>
          </a:p>
        </p:txBody>
      </p:sp>
      <p:sp>
        <p:nvSpPr>
          <p:cNvPr id="8" name="blk1"/>
          <p:cNvSpPr/>
          <p:nvPr/>
        </p:nvSpPr>
        <p:spPr>
          <a:xfrm>
            <a:off x="4544568" y="288950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↓</a:t>
            </a:r>
            <a:endParaRPr lang="en-US" sz="1400" dirty="0"/>
          </a:p>
        </p:txBody>
      </p:sp>
      <p:sp>
        <p:nvSpPr>
          <p:cNvPr id="9" name="blk1"/>
          <p:cNvSpPr/>
          <p:nvPr/>
        </p:nvSpPr>
        <p:spPr>
          <a:xfrm>
            <a:off x="4544568" y="323697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CONTACT</a:t>
            </a:r>
            <a:endParaRPr lang="en-US" sz="1300" dirty="0"/>
          </a:p>
        </p:txBody>
      </p:sp>
      <p:sp>
        <p:nvSpPr>
          <p:cNvPr id="10" name="blk1"/>
          <p:cNvSpPr/>
          <p:nvPr/>
        </p:nvSpPr>
        <p:spPr>
          <a:xfrm>
            <a:off x="4544568" y="367588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↓</a:t>
            </a:r>
            <a:endParaRPr lang="en-US" sz="1400" dirty="0"/>
          </a:p>
        </p:txBody>
      </p:sp>
      <p:sp>
        <p:nvSpPr>
          <p:cNvPr id="11" name="blk1"/>
          <p:cNvSpPr/>
          <p:nvPr/>
        </p:nvSpPr>
        <p:spPr>
          <a:xfrm>
            <a:off x="4544568" y="40233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RESPONSIBILITY &amp; CHOICE</a:t>
            </a:r>
            <a:endParaRPr lang="en-US" sz="1300" dirty="0"/>
          </a:p>
        </p:txBody>
      </p:sp>
      <p:sp>
        <p:nvSpPr>
          <p:cNvPr id="12" name="blk1"/>
          <p:cNvSpPr/>
          <p:nvPr/>
        </p:nvSpPr>
        <p:spPr>
          <a:xfrm>
            <a:off x="4544568" y="44622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↓</a:t>
            </a:r>
            <a:endParaRPr lang="en-US" sz="1400" dirty="0"/>
          </a:p>
        </p:txBody>
      </p:sp>
      <p:sp>
        <p:nvSpPr>
          <p:cNvPr id="13" name="blk1"/>
          <p:cNvSpPr/>
          <p:nvPr/>
        </p:nvSpPr>
        <p:spPr>
          <a:xfrm>
            <a:off x="4544568" y="480974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8097B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GROWTH</a:t>
            </a:r>
            <a:endParaRPr lang="en-US" sz="1300" dirty="0"/>
          </a:p>
        </p:txBody>
      </p:sp>
      <p:sp>
        <p:nvSpPr>
          <p:cNvPr id="14" name="blk2"/>
          <p:cNvSpPr/>
          <p:nvPr/>
        </p:nvSpPr>
        <p:spPr>
          <a:xfrm>
            <a:off x="603504" y="5532120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Greater awareness creates greater possibilities for choice and change.</a:t>
            </a:r>
            <a:endParaRPr lang="en-US" sz="1450" dirty="0"/>
          </a:p>
        </p:txBody>
      </p:sp>
      <p:sp>
        <p:nvSpPr>
          <p:cNvPr id="15" name="blk2"/>
          <p:cNvSpPr/>
          <p:nvPr/>
        </p:nvSpPr>
        <p:spPr>
          <a:xfrm>
            <a:off x="603504" y="5989320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(Perls et al., 1951; Joyce &amp; Sills, 2014)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after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 descr="/home/user/Business-e-books/presentations/gestalt-theory-counselling/assets/bg-chai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dr"/>
          <p:cNvSpPr/>
          <p:nvPr/>
        </p:nvSpPr>
        <p:spPr>
          <a:xfrm>
            <a:off x="603504" y="54864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CLOSING</a:t>
            </a:r>
            <a:endParaRPr lang="en-US" sz="900" dirty="0"/>
          </a:p>
        </p:txBody>
      </p:sp>
      <p:sp>
        <p:nvSpPr>
          <p:cNvPr id="4" name="hdr"/>
          <p:cNvSpPr/>
          <p:nvPr/>
        </p:nvSpPr>
        <p:spPr>
          <a:xfrm>
            <a:off x="603504" y="786384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References</a:t>
            </a:r>
            <a:endParaRPr lang="en-US" sz="2600" dirty="0"/>
          </a:p>
        </p:txBody>
      </p:sp>
      <p:sp>
        <p:nvSpPr>
          <p:cNvPr id="5" name="blk1"/>
          <p:cNvSpPr/>
          <p:nvPr/>
        </p:nvSpPr>
        <p:spPr>
          <a:xfrm>
            <a:off x="603504" y="1847088"/>
            <a:ext cx="105156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Brownell, P. (2010).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therapy: A guide to contemporary practice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. Springer Publishing Company.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Corey, G. (2024).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Theory and practice of counseling and psychotherapy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(11th ed.). Cengage Learning.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Joyce, P., &amp; Sills, C. (2014).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Skills in Gestalt counselling &amp; psychotherapy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(3rd ed.). SAGE.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Perls, F. S., Hefferline, R. F., &amp; Goodman, P. (1951).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therapy: Excitement and growth in the human personality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. Julian Press.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Woldt, A. L., &amp; Toman, S. M. (Eds.). (2005).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therapy: History, theory, and practice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. SAGE.</a:t>
            </a:r>
            <a:endParaRPr lang="en-US" sz="1150" dirty="0"/>
          </a:p>
          <a:p>
            <a:pPr indent="0" marL="0">
              <a:lnSpc>
                <a:spcPct val="128000"/>
              </a:lnSpc>
              <a:spcAft>
                <a:spcPts val="1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Yontef, G., &amp; Fuhr, R. (2005). Gestalt therapy theory of change. In A. L. Woldt &amp; S. Toman (Eds.),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Gestalt therapy: History, theory, and practice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 (pp. 81–100). SAGE.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Pan African Christian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Gestalt Theory and Its Application to Counselling</dc:title>
  <dc:subject>MCP504 Theories of Counseling and Psychotherapy</dc:subject>
  <dc:creator>Group 4 — Pan African Christian University</dc:creator>
  <cp:lastModifiedBy>Group 4 — Pan African Christian University</cp:lastModifiedBy>
  <cp:revision>1</cp:revision>
  <dcterms:created xsi:type="dcterms:W3CDTF">2026-10-19T12:22:48Z</dcterms:created>
  <dcterms:modified xsi:type="dcterms:W3CDTF">2026-10-19T12:22:48Z</dcterms:modified>
</cp:coreProperties>
</file>