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g" descr="/home/user/Business-e-books/presentations/gestalt-theory-counselling/assets/h-summi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566928"/>
            <a:ext cx="4892040" cy="5724144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pic>
      <p:sp>
        <p:nvSpPr>
          <p:cNvPr id="4" name="hdr"/>
          <p:cNvSpPr/>
          <p:nvPr/>
        </p:nvSpPr>
        <p:spPr>
          <a:xfrm>
            <a:off x="603504" y="603504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2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GROUP 4 PRESENTATION  ·  MCP504</a:t>
            </a:r>
            <a:endParaRPr lang="en-US" sz="1000" dirty="0"/>
          </a:p>
        </p:txBody>
      </p:sp>
      <p:sp>
        <p:nvSpPr>
          <p:cNvPr id="5" name="hdr"/>
          <p:cNvSpPr/>
          <p:nvPr/>
        </p:nvSpPr>
        <p:spPr>
          <a:xfrm>
            <a:off x="566928" y="950976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Gestalt</a:t>
            </a:r>
            <a:endParaRPr lang="en-US" sz="5200" dirty="0"/>
          </a:p>
        </p:txBody>
      </p:sp>
      <p:sp>
        <p:nvSpPr>
          <p:cNvPr id="6" name="hdr"/>
          <p:cNvSpPr/>
          <p:nvPr/>
        </p:nvSpPr>
        <p:spPr>
          <a:xfrm>
            <a:off x="566928" y="1792224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Theory</a:t>
            </a:r>
            <a:endParaRPr lang="en-US" sz="5200" dirty="0"/>
          </a:p>
        </p:txBody>
      </p:sp>
      <p:sp>
        <p:nvSpPr>
          <p:cNvPr id="7" name="hdr"/>
          <p:cNvSpPr/>
          <p:nvPr/>
        </p:nvSpPr>
        <p:spPr>
          <a:xfrm>
            <a:off x="603504" y="270662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AND ITS APPLICATION TO COUNSELLING</a:t>
            </a:r>
            <a:endParaRPr lang="en-US" sz="1300" dirty="0"/>
          </a:p>
        </p:txBody>
      </p:sp>
      <p:sp>
        <p:nvSpPr>
          <p:cNvPr id="8" name="hdr"/>
          <p:cNvSpPr/>
          <p:nvPr/>
        </p:nvSpPr>
        <p:spPr>
          <a:xfrm>
            <a:off x="621792" y="3017520"/>
            <a:ext cx="1097280" cy="4114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9" name="blk1"/>
          <p:cNvSpPr/>
          <p:nvPr/>
        </p:nvSpPr>
        <p:spPr>
          <a:xfrm>
            <a:off x="603504" y="3255264"/>
            <a:ext cx="5669280" cy="1737360"/>
          </a:xfrm>
          <a:prstGeom prst="roundRect">
            <a:avLst>
              <a:gd name="adj" fmla="val 4737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10" name="blk1"/>
          <p:cNvSpPr/>
          <p:nvPr/>
        </p:nvSpPr>
        <p:spPr>
          <a:xfrm>
            <a:off x="859536" y="34015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PRESENTED BY  ·  GROUP 4 MEMBERS</a:t>
            </a:r>
            <a:endParaRPr lang="en-US" sz="850" dirty="0"/>
          </a:p>
        </p:txBody>
      </p:sp>
      <p:sp>
        <p:nvSpPr>
          <p:cNvPr id="11" name="blk1"/>
          <p:cNvSpPr/>
          <p:nvPr/>
        </p:nvSpPr>
        <p:spPr>
          <a:xfrm>
            <a:off x="859536" y="3694176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Josephine Biwott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·    MACP/35996/0/26</a:t>
            </a:r>
            <a:endParaRPr lang="en-US" sz="1300" dirty="0"/>
          </a:p>
        </p:txBody>
      </p:sp>
      <p:sp>
        <p:nvSpPr>
          <p:cNvPr id="12" name="blk1"/>
          <p:cNvSpPr/>
          <p:nvPr/>
        </p:nvSpPr>
        <p:spPr>
          <a:xfrm>
            <a:off x="859536" y="4050792"/>
            <a:ext cx="5157216" cy="10973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3" name="blk1"/>
          <p:cNvSpPr/>
          <p:nvPr/>
        </p:nvSpPr>
        <p:spPr>
          <a:xfrm>
            <a:off x="859536" y="4096512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Cynthia Cherono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·    MACP/35785/4/26</a:t>
            </a:r>
            <a:endParaRPr lang="en-US" sz="1300" dirty="0"/>
          </a:p>
        </p:txBody>
      </p:sp>
      <p:sp>
        <p:nvSpPr>
          <p:cNvPr id="14" name="blk1"/>
          <p:cNvSpPr/>
          <p:nvPr/>
        </p:nvSpPr>
        <p:spPr>
          <a:xfrm>
            <a:off x="859536" y="4453128"/>
            <a:ext cx="5157216" cy="10973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5" name="blk1"/>
          <p:cNvSpPr/>
          <p:nvPr/>
        </p:nvSpPr>
        <p:spPr>
          <a:xfrm>
            <a:off x="859536" y="4498848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Yvonne Juliet Awuor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·    MALD/36547/4/26</a:t>
            </a:r>
            <a:endParaRPr lang="en-US" sz="1300" dirty="0"/>
          </a:p>
        </p:txBody>
      </p:sp>
      <p:sp>
        <p:nvSpPr>
          <p:cNvPr id="16" name="blk2"/>
          <p:cNvSpPr/>
          <p:nvPr/>
        </p:nvSpPr>
        <p:spPr>
          <a:xfrm>
            <a:off x="621792" y="5248656"/>
            <a:ext cx="5632704" cy="10973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7" name="blk2"/>
          <p:cNvSpPr/>
          <p:nvPr/>
        </p:nvSpPr>
        <p:spPr>
          <a:xfrm>
            <a:off x="3383280" y="5431536"/>
            <a:ext cx="10973" cy="786384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8" name="blk2"/>
          <p:cNvSpPr/>
          <p:nvPr/>
        </p:nvSpPr>
        <p:spPr>
          <a:xfrm>
            <a:off x="5541264" y="5431536"/>
            <a:ext cx="10973" cy="786384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9" name="blk2"/>
          <p:cNvSpPr/>
          <p:nvPr/>
        </p:nvSpPr>
        <p:spPr>
          <a:xfrm>
            <a:off x="603504" y="541324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COURSE</a:t>
            </a:r>
            <a:endParaRPr lang="en-US" sz="850" dirty="0"/>
          </a:p>
        </p:txBody>
      </p:sp>
      <p:sp>
        <p:nvSpPr>
          <p:cNvPr id="20" name="blk2"/>
          <p:cNvSpPr/>
          <p:nvPr/>
        </p:nvSpPr>
        <p:spPr>
          <a:xfrm>
            <a:off x="603504" y="565099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MCP504 · Theories of Counseling and Psychotherapy</a:t>
            </a:r>
            <a:endParaRPr lang="en-US" sz="1100" dirty="0"/>
          </a:p>
        </p:txBody>
      </p:sp>
      <p:sp>
        <p:nvSpPr>
          <p:cNvPr id="21" name="blk2"/>
          <p:cNvSpPr/>
          <p:nvPr/>
        </p:nvSpPr>
        <p:spPr>
          <a:xfrm>
            <a:off x="3566160" y="54132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INSTITUTION</a:t>
            </a:r>
            <a:endParaRPr lang="en-US" sz="850" dirty="0"/>
          </a:p>
        </p:txBody>
      </p:sp>
      <p:sp>
        <p:nvSpPr>
          <p:cNvPr id="22" name="blk2"/>
          <p:cNvSpPr/>
          <p:nvPr/>
        </p:nvSpPr>
        <p:spPr>
          <a:xfrm>
            <a:off x="3566160" y="565099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Pan African Christian University</a:t>
            </a:r>
            <a:endParaRPr lang="en-US" sz="1100" dirty="0"/>
          </a:p>
        </p:txBody>
      </p:sp>
      <p:sp>
        <p:nvSpPr>
          <p:cNvPr id="23" name="blk2"/>
          <p:cNvSpPr/>
          <p:nvPr/>
        </p:nvSpPr>
        <p:spPr>
          <a:xfrm>
            <a:off x="5724144" y="54132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LECTURER</a:t>
            </a:r>
            <a:endParaRPr lang="en-US" sz="850" dirty="0"/>
          </a:p>
        </p:txBody>
      </p:sp>
      <p:sp>
        <p:nvSpPr>
          <p:cNvPr id="24" name="blk2"/>
          <p:cNvSpPr/>
          <p:nvPr/>
        </p:nvSpPr>
        <p:spPr>
          <a:xfrm>
            <a:off x="5724144" y="565099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Dr. Lucy Gachenia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3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OVERVIEW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Introduction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591056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6" name="blk1"/>
          <p:cNvSpPr/>
          <p:nvPr/>
        </p:nvSpPr>
        <p:spPr>
          <a:xfrm>
            <a:off x="859536" y="1828800"/>
            <a:ext cx="49743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Experiential and humanistic approach to counselling</a:t>
            </a:r>
            <a:endParaRPr lang="en-US" sz="1600" dirty="0"/>
          </a:p>
        </p:txBody>
      </p:sp>
      <p:sp>
        <p:nvSpPr>
          <p:cNvPr id="7" name="blk1"/>
          <p:cNvSpPr/>
          <p:nvPr/>
        </p:nvSpPr>
        <p:spPr>
          <a:xfrm>
            <a:off x="877824" y="2688336"/>
            <a:ext cx="4937760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8" name="blk1"/>
          <p:cNvSpPr/>
          <p:nvPr/>
        </p:nvSpPr>
        <p:spPr>
          <a:xfrm>
            <a:off x="859536" y="2889504"/>
            <a:ext cx="49743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Emphasizes </a:t>
            </a:r>
            <a:pPr indent="0" marL="0">
              <a:buNone/>
            </a:pPr>
            <a:r>
              <a:rPr lang="en-US" sz="1350" b="1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awareness, present experience and contact</a:t>
            </a:r>
            <a:endParaRPr lang="en-US" sz="1350" dirty="0"/>
          </a:p>
          <a:p>
            <a:pPr marL="139700" indent="-139700">
              <a:lnSpc>
                <a:spcPct val="130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Understands individuals within their </a:t>
            </a:r>
            <a:pPr indent="0" marL="0">
              <a:buNone/>
            </a:pPr>
            <a:r>
              <a:rPr lang="en-US" sz="1350" b="1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environment and relationships</a:t>
            </a:r>
            <a:endParaRPr lang="en-US" sz="1350" dirty="0"/>
          </a:p>
          <a:p>
            <a:pPr marL="139700" indent="-139700">
              <a:lnSpc>
                <a:spcPct val="130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personal responsibility, choice and authentic living</a:t>
            </a:r>
            <a:endParaRPr lang="en-US" sz="1350" dirty="0"/>
          </a:p>
          <a:p>
            <a:pPr marL="139700" indent="-139700">
              <a:lnSpc>
                <a:spcPct val="130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the client's experience in the </a:t>
            </a:r>
            <a:pPr indent="0" marL="0">
              <a:buNone/>
            </a:pPr>
            <a:r>
              <a:rPr lang="en-US" sz="1350" b="1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here-and-now</a:t>
            </a:r>
            <a:endParaRPr lang="en-US" sz="1350" dirty="0"/>
          </a:p>
        </p:txBody>
      </p:sp>
      <p:pic>
        <p:nvPicPr>
          <p:cNvPr id="9" name="img" descr="/home/user/Business-e-books/presentations/gestalt-theory-counselling/assets/h-conversat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83080"/>
            <a:ext cx="5166360" cy="402336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10" name="blk2"/>
          <p:cNvSpPr/>
          <p:nvPr/>
        </p:nvSpPr>
        <p:spPr>
          <a:xfrm>
            <a:off x="603504" y="5943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Historical Background</a:t>
            </a:r>
            <a:endParaRPr lang="en-US" sz="2600" dirty="0"/>
          </a:p>
        </p:txBody>
      </p:sp>
      <p:pic>
        <p:nvPicPr>
          <p:cNvPr id="5" name="img" descr="/home/user/Business-e-books/presentations/gestalt-theory-counselling/assets/p-histor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591056"/>
            <a:ext cx="2743200" cy="448056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6" name="blk1"/>
          <p:cNvSpPr/>
          <p:nvPr/>
        </p:nvSpPr>
        <p:spPr>
          <a:xfrm>
            <a:off x="3611880" y="1591056"/>
            <a:ext cx="7973568" cy="1316736"/>
          </a:xfrm>
          <a:prstGeom prst="roundRect">
            <a:avLst>
              <a:gd name="adj" fmla="val 625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7" name="blk1"/>
          <p:cNvSpPr/>
          <p:nvPr/>
        </p:nvSpPr>
        <p:spPr>
          <a:xfrm>
            <a:off x="3867912" y="1810512"/>
            <a:ext cx="7461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Emerged during the </a:t>
            </a:r>
            <a:pPr indent="0" marL="0">
              <a:buNone/>
            </a:pPr>
            <a:r>
              <a:rPr lang="en-US" sz="1300" b="1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1940s and 1950s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Developed partly in response to limitations perceived in </a:t>
            </a:r>
            <a:pPr indent="0" marL="0">
              <a:buNone/>
            </a:pPr>
            <a:r>
              <a:rPr lang="en-US" sz="1300" b="1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traditional psychoanalysis</a:t>
            </a:r>
            <a:endParaRPr lang="en-US" sz="1300" dirty="0"/>
          </a:p>
        </p:txBody>
      </p:sp>
      <p:sp>
        <p:nvSpPr>
          <p:cNvPr id="8" name="blk2"/>
          <p:cNvSpPr/>
          <p:nvPr/>
        </p:nvSpPr>
        <p:spPr>
          <a:xfrm>
            <a:off x="3886200" y="3072384"/>
            <a:ext cx="7699248" cy="1517904"/>
          </a:xfrm>
          <a:prstGeom prst="roundRect">
            <a:avLst>
              <a:gd name="adj" fmla="val 5422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9" name="blk2"/>
          <p:cNvSpPr/>
          <p:nvPr/>
        </p:nvSpPr>
        <p:spPr>
          <a:xfrm>
            <a:off x="4142232" y="321868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INFLUENCED BY</a:t>
            </a:r>
            <a:endParaRPr lang="en-US" sz="900" dirty="0"/>
          </a:p>
        </p:txBody>
      </p:sp>
      <p:sp>
        <p:nvSpPr>
          <p:cNvPr id="10" name="blk2"/>
          <p:cNvSpPr/>
          <p:nvPr/>
        </p:nvSpPr>
        <p:spPr>
          <a:xfrm>
            <a:off x="4142232" y="3529584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psychology</a:t>
            </a:r>
            <a:endParaRPr lang="en-US" sz="1100" dirty="0"/>
          </a:p>
        </p:txBody>
      </p:sp>
      <p:sp>
        <p:nvSpPr>
          <p:cNvPr id="11" name="blk2"/>
          <p:cNvSpPr/>
          <p:nvPr/>
        </p:nvSpPr>
        <p:spPr>
          <a:xfrm>
            <a:off x="6702552" y="3529584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Phenomenology</a:t>
            </a:r>
            <a:endParaRPr lang="en-US" sz="1100" dirty="0"/>
          </a:p>
        </p:txBody>
      </p:sp>
      <p:sp>
        <p:nvSpPr>
          <p:cNvPr id="12" name="blk2"/>
          <p:cNvSpPr/>
          <p:nvPr/>
        </p:nvSpPr>
        <p:spPr>
          <a:xfrm>
            <a:off x="8988552" y="3529584"/>
            <a:ext cx="2340864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Existential philosophy</a:t>
            </a:r>
            <a:endParaRPr lang="en-US" sz="1100" dirty="0"/>
          </a:p>
        </p:txBody>
      </p:sp>
      <p:sp>
        <p:nvSpPr>
          <p:cNvPr id="13" name="blk2"/>
          <p:cNvSpPr/>
          <p:nvPr/>
        </p:nvSpPr>
        <p:spPr>
          <a:xfrm>
            <a:off x="4142232" y="4059936"/>
            <a:ext cx="1691640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Field theory</a:t>
            </a:r>
            <a:endParaRPr lang="en-US" sz="1100" dirty="0"/>
          </a:p>
        </p:txBody>
      </p:sp>
      <p:sp>
        <p:nvSpPr>
          <p:cNvPr id="14" name="blk2"/>
          <p:cNvSpPr/>
          <p:nvPr/>
        </p:nvSpPr>
        <p:spPr>
          <a:xfrm>
            <a:off x="6016752" y="4059936"/>
            <a:ext cx="2148840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Holistic approaches</a:t>
            </a:r>
            <a:endParaRPr lang="en-US" sz="1100" dirty="0"/>
          </a:p>
        </p:txBody>
      </p:sp>
      <p:sp>
        <p:nvSpPr>
          <p:cNvPr id="15" name="blk3"/>
          <p:cNvSpPr/>
          <p:nvPr/>
        </p:nvSpPr>
        <p:spPr>
          <a:xfrm>
            <a:off x="3611880" y="4846320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Emphasized experience, awareness and contact</a:t>
            </a:r>
            <a:endParaRPr lang="en-US" sz="1300" dirty="0"/>
          </a:p>
        </p:txBody>
      </p:sp>
      <p:sp>
        <p:nvSpPr>
          <p:cNvPr id="16" name="blk4"/>
          <p:cNvSpPr/>
          <p:nvPr/>
        </p:nvSpPr>
        <p:spPr>
          <a:xfrm>
            <a:off x="3611880" y="5358384"/>
            <a:ext cx="7973568" cy="822960"/>
          </a:xfrm>
          <a:prstGeom prst="roundRect">
            <a:avLst>
              <a:gd name="adj" fmla="val 10000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17" name="blk4"/>
          <p:cNvSpPr/>
          <p:nvPr/>
        </p:nvSpPr>
        <p:spPr>
          <a:xfrm>
            <a:off x="3867912" y="54681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20" kern="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INTELLECTUAL ROOTS</a:t>
            </a:r>
            <a:endParaRPr lang="en-US" sz="800" dirty="0"/>
          </a:p>
        </p:txBody>
      </p:sp>
      <p:sp>
        <p:nvSpPr>
          <p:cNvPr id="18" name="blk4"/>
          <p:cNvSpPr/>
          <p:nvPr/>
        </p:nvSpPr>
        <p:spPr>
          <a:xfrm>
            <a:off x="3867912" y="5705856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Psychology</a:t>
            </a:r>
            <a:pPr algn="l"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Phenomenology</a:t>
            </a:r>
            <a:pPr algn="l"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Existentialism</a:t>
            </a:r>
            <a:pPr algn="l"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Field Theory</a:t>
            </a:r>
            <a:pPr algn="l"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</a:t>
            </a:r>
            <a:endParaRPr lang="en-US" sz="1050" dirty="0"/>
          </a:p>
        </p:txBody>
      </p:sp>
      <p:sp>
        <p:nvSpPr>
          <p:cNvPr id="19" name="blk4"/>
          <p:cNvSpPr/>
          <p:nvPr/>
        </p:nvSpPr>
        <p:spPr>
          <a:xfrm>
            <a:off x="3611880" y="6263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Woldt &amp; Toman, 2005)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1" name="Text 1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30" presetClass="entr" presetSubtype="0" fill="hold" grpId="0" nodeType="after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Major Theorists</a:t>
            </a:r>
            <a:endParaRPr lang="en-US" sz="2600" dirty="0"/>
          </a:p>
        </p:txBody>
      </p:sp>
      <p:pic>
        <p:nvPicPr>
          <p:cNvPr id="5" name="img" descr="/home/user/Business-e-books/presentations/gestalt-theory-counselling/assets/p-theorist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512064"/>
            <a:ext cx="4041648" cy="173736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6" name="blk1"/>
          <p:cNvSpPr/>
          <p:nvPr/>
        </p:nvSpPr>
        <p:spPr>
          <a:xfrm>
            <a:off x="603504" y="2606040"/>
            <a:ext cx="3511296" cy="3127248"/>
          </a:xfrm>
          <a:prstGeom prst="roundRect">
            <a:avLst>
              <a:gd name="adj" fmla="val 2632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7" name="blk1"/>
          <p:cNvSpPr/>
          <p:nvPr/>
        </p:nvSpPr>
        <p:spPr>
          <a:xfrm>
            <a:off x="603504" y="2606040"/>
            <a:ext cx="3511296" cy="6400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8" name="blk1"/>
          <p:cNvSpPr/>
          <p:nvPr/>
        </p:nvSpPr>
        <p:spPr>
          <a:xfrm>
            <a:off x="877824" y="2898648"/>
            <a:ext cx="676656" cy="676656"/>
          </a:xfrm>
          <a:prstGeom prst="ellipse">
            <a:avLst/>
          </a:prstGeom>
          <a:solidFill>
            <a:srgbClr val="E8EDF6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blk1"/>
          <p:cNvSpPr/>
          <p:nvPr/>
        </p:nvSpPr>
        <p:spPr>
          <a:xfrm>
            <a:off x="877824" y="2898648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B5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FP</a:t>
            </a:r>
            <a:endParaRPr lang="en-US" sz="1350" dirty="0"/>
          </a:p>
        </p:txBody>
      </p:sp>
      <p:sp>
        <p:nvSpPr>
          <p:cNvPr id="10" name="blk1"/>
          <p:cNvSpPr/>
          <p:nvPr/>
        </p:nvSpPr>
        <p:spPr>
          <a:xfrm>
            <a:off x="1719072" y="2953512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Fritz Perls</a:t>
            </a:r>
            <a:endParaRPr lang="en-US" sz="1500" dirty="0"/>
          </a:p>
        </p:txBody>
      </p:sp>
      <p:sp>
        <p:nvSpPr>
          <p:cNvPr id="11" name="blk1"/>
          <p:cNvSpPr/>
          <p:nvPr/>
        </p:nvSpPr>
        <p:spPr>
          <a:xfrm>
            <a:off x="1719072" y="3300984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1893–1970</a:t>
            </a:r>
            <a:endParaRPr lang="en-US" sz="1100" dirty="0"/>
          </a:p>
        </p:txBody>
      </p:sp>
      <p:sp>
        <p:nvSpPr>
          <p:cNvPr id="12" name="blk1"/>
          <p:cNvSpPr/>
          <p:nvPr/>
        </p:nvSpPr>
        <p:spPr>
          <a:xfrm>
            <a:off x="877824" y="3776472"/>
            <a:ext cx="2962656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3" name="blk1"/>
          <p:cNvSpPr/>
          <p:nvPr/>
        </p:nvSpPr>
        <p:spPr>
          <a:xfrm>
            <a:off x="877824" y="3922776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Major founder</a:t>
            </a:r>
            <a:endParaRPr lang="en-US" sz="1200" dirty="0"/>
          </a:p>
        </p:txBody>
      </p:sp>
      <p:sp>
        <p:nvSpPr>
          <p:cNvPr id="14" name="blk1"/>
          <p:cNvSpPr/>
          <p:nvPr/>
        </p:nvSpPr>
        <p:spPr>
          <a:xfrm>
            <a:off x="877824" y="454456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Awareness, experience and responsibility</a:t>
            </a:r>
            <a:endParaRPr lang="en-US" sz="1200" dirty="0"/>
          </a:p>
        </p:txBody>
      </p:sp>
      <p:sp>
        <p:nvSpPr>
          <p:cNvPr id="15" name="blk2"/>
          <p:cNvSpPr/>
          <p:nvPr/>
        </p:nvSpPr>
        <p:spPr>
          <a:xfrm>
            <a:off x="4343400" y="2880360"/>
            <a:ext cx="3511296" cy="3127248"/>
          </a:xfrm>
          <a:prstGeom prst="roundRect">
            <a:avLst>
              <a:gd name="adj" fmla="val 2632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6" name="blk2"/>
          <p:cNvSpPr/>
          <p:nvPr/>
        </p:nvSpPr>
        <p:spPr>
          <a:xfrm>
            <a:off x="4343400" y="2880360"/>
            <a:ext cx="3511296" cy="64008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17" name="blk2"/>
          <p:cNvSpPr/>
          <p:nvPr/>
        </p:nvSpPr>
        <p:spPr>
          <a:xfrm>
            <a:off x="4617720" y="3172968"/>
            <a:ext cx="676656" cy="676656"/>
          </a:xfrm>
          <a:prstGeom prst="ellipse">
            <a:avLst/>
          </a:prstGeom>
          <a:solidFill>
            <a:srgbClr val="E8EDF6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8" name="blk2"/>
          <p:cNvSpPr/>
          <p:nvPr/>
        </p:nvSpPr>
        <p:spPr>
          <a:xfrm>
            <a:off x="4617720" y="3172968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B5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LP</a:t>
            </a:r>
            <a:endParaRPr lang="en-US" sz="1350" dirty="0"/>
          </a:p>
        </p:txBody>
      </p:sp>
      <p:sp>
        <p:nvSpPr>
          <p:cNvPr id="19" name="blk2"/>
          <p:cNvSpPr/>
          <p:nvPr/>
        </p:nvSpPr>
        <p:spPr>
          <a:xfrm>
            <a:off x="5458968" y="3227832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Laura Perls</a:t>
            </a:r>
            <a:endParaRPr lang="en-US" sz="1500" dirty="0"/>
          </a:p>
        </p:txBody>
      </p:sp>
      <p:sp>
        <p:nvSpPr>
          <p:cNvPr id="20" name="blk2"/>
          <p:cNvSpPr/>
          <p:nvPr/>
        </p:nvSpPr>
        <p:spPr>
          <a:xfrm>
            <a:off x="5458968" y="3575304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1905–1990</a:t>
            </a:r>
            <a:endParaRPr lang="en-US" sz="1100" dirty="0"/>
          </a:p>
        </p:txBody>
      </p:sp>
      <p:sp>
        <p:nvSpPr>
          <p:cNvPr id="21" name="blk2"/>
          <p:cNvSpPr/>
          <p:nvPr/>
        </p:nvSpPr>
        <p:spPr>
          <a:xfrm>
            <a:off x="4617720" y="4050792"/>
            <a:ext cx="2962656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2" name="blk2"/>
          <p:cNvSpPr/>
          <p:nvPr/>
        </p:nvSpPr>
        <p:spPr>
          <a:xfrm>
            <a:off x="4617720" y="4197096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Major contributor</a:t>
            </a:r>
            <a:endParaRPr lang="en-US" sz="1200" dirty="0"/>
          </a:p>
        </p:txBody>
      </p:sp>
      <p:sp>
        <p:nvSpPr>
          <p:cNvPr id="23" name="blk2"/>
          <p:cNvSpPr/>
          <p:nvPr/>
        </p:nvSpPr>
        <p:spPr>
          <a:xfrm>
            <a:off x="4617720" y="481888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Contact, relationship and embodied experience</a:t>
            </a:r>
            <a:endParaRPr lang="en-US" sz="1200" dirty="0"/>
          </a:p>
        </p:txBody>
      </p:sp>
      <p:sp>
        <p:nvSpPr>
          <p:cNvPr id="24" name="blk3"/>
          <p:cNvSpPr/>
          <p:nvPr/>
        </p:nvSpPr>
        <p:spPr>
          <a:xfrm>
            <a:off x="8083296" y="2606040"/>
            <a:ext cx="3511296" cy="3127248"/>
          </a:xfrm>
          <a:prstGeom prst="roundRect">
            <a:avLst>
              <a:gd name="adj" fmla="val 2632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5" name="blk3"/>
          <p:cNvSpPr/>
          <p:nvPr/>
        </p:nvSpPr>
        <p:spPr>
          <a:xfrm>
            <a:off x="8083296" y="2606040"/>
            <a:ext cx="3511296" cy="6400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26" name="blk3"/>
          <p:cNvSpPr/>
          <p:nvPr/>
        </p:nvSpPr>
        <p:spPr>
          <a:xfrm>
            <a:off x="8357616" y="2898648"/>
            <a:ext cx="676656" cy="676656"/>
          </a:xfrm>
          <a:prstGeom prst="ellipse">
            <a:avLst/>
          </a:prstGeom>
          <a:solidFill>
            <a:srgbClr val="E8EDF6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7" name="blk3"/>
          <p:cNvSpPr/>
          <p:nvPr/>
        </p:nvSpPr>
        <p:spPr>
          <a:xfrm>
            <a:off x="8357616" y="2898648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B5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PG</a:t>
            </a:r>
            <a:endParaRPr lang="en-US" sz="1350" dirty="0"/>
          </a:p>
        </p:txBody>
      </p:sp>
      <p:sp>
        <p:nvSpPr>
          <p:cNvPr id="28" name="blk3"/>
          <p:cNvSpPr/>
          <p:nvPr/>
        </p:nvSpPr>
        <p:spPr>
          <a:xfrm>
            <a:off x="9198864" y="2953512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Paul Goodman</a:t>
            </a:r>
            <a:endParaRPr lang="en-US" sz="1500" dirty="0"/>
          </a:p>
        </p:txBody>
      </p:sp>
      <p:sp>
        <p:nvSpPr>
          <p:cNvPr id="29" name="blk3"/>
          <p:cNvSpPr/>
          <p:nvPr/>
        </p:nvSpPr>
        <p:spPr>
          <a:xfrm>
            <a:off x="9198864" y="3300984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1911–1972</a:t>
            </a:r>
            <a:endParaRPr lang="en-US" sz="1100" dirty="0"/>
          </a:p>
        </p:txBody>
      </p:sp>
      <p:sp>
        <p:nvSpPr>
          <p:cNvPr id="30" name="blk3"/>
          <p:cNvSpPr/>
          <p:nvPr/>
        </p:nvSpPr>
        <p:spPr>
          <a:xfrm>
            <a:off x="8357616" y="3776472"/>
            <a:ext cx="2962656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1" name="blk3"/>
          <p:cNvSpPr/>
          <p:nvPr/>
        </p:nvSpPr>
        <p:spPr>
          <a:xfrm>
            <a:off x="8357616" y="3922776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Co-author of Gestalt Therapy (1951)</a:t>
            </a:r>
            <a:endParaRPr lang="en-US" sz="1200" dirty="0"/>
          </a:p>
        </p:txBody>
      </p:sp>
      <p:sp>
        <p:nvSpPr>
          <p:cNvPr id="32" name="blk3"/>
          <p:cNvSpPr/>
          <p:nvPr/>
        </p:nvSpPr>
        <p:spPr>
          <a:xfrm>
            <a:off x="8357616" y="454456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Major contributor to theoretical formulation</a:t>
            </a:r>
            <a:endParaRPr lang="en-US" sz="1200" dirty="0"/>
          </a:p>
        </p:txBody>
      </p:sp>
      <p:sp>
        <p:nvSpPr>
          <p:cNvPr id="33" name="blk4"/>
          <p:cNvSpPr/>
          <p:nvPr/>
        </p:nvSpPr>
        <p:spPr>
          <a:xfrm>
            <a:off x="603504" y="60807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Woldt &amp; Toman, 2005)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35" name="Text 31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1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4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7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0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3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30" presetClass="entr" presetSubtype="0" fill="hold" grpId="0" nodeType="after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Core Assumptions of Gestalt Therapy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737360"/>
            <a:ext cx="3840480" cy="4160520"/>
          </a:xfrm>
          <a:prstGeom prst="roundRect">
            <a:avLst>
              <a:gd name="adj" fmla="val 2143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6" name="blk1"/>
          <p:cNvSpPr/>
          <p:nvPr/>
        </p:nvSpPr>
        <p:spPr>
          <a:xfrm>
            <a:off x="841248" y="228600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blk1"/>
          <p:cNvSpPr/>
          <p:nvPr/>
        </p:nvSpPr>
        <p:spPr>
          <a:xfrm>
            <a:off x="1389888" y="228600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People are best understood as whole persons</a:t>
            </a:r>
            <a:endParaRPr lang="en-US" sz="1250" dirty="0"/>
          </a:p>
        </p:txBody>
      </p:sp>
      <p:sp>
        <p:nvSpPr>
          <p:cNvPr id="8" name="blk1"/>
          <p:cNvSpPr/>
          <p:nvPr/>
        </p:nvSpPr>
        <p:spPr>
          <a:xfrm>
            <a:off x="841248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050" dirty="0"/>
          </a:p>
        </p:txBody>
      </p:sp>
      <p:sp>
        <p:nvSpPr>
          <p:cNvPr id="9" name="blk1"/>
          <p:cNvSpPr/>
          <p:nvPr/>
        </p:nvSpPr>
        <p:spPr>
          <a:xfrm>
            <a:off x="1389888" y="299923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Human experience is influenced by the environment</a:t>
            </a:r>
            <a:endParaRPr lang="en-US" sz="1250" dirty="0"/>
          </a:p>
        </p:txBody>
      </p:sp>
      <p:sp>
        <p:nvSpPr>
          <p:cNvPr id="10" name="blk1"/>
          <p:cNvSpPr/>
          <p:nvPr/>
        </p:nvSpPr>
        <p:spPr>
          <a:xfrm>
            <a:off x="841248" y="371246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050" dirty="0"/>
          </a:p>
        </p:txBody>
      </p:sp>
      <p:sp>
        <p:nvSpPr>
          <p:cNvPr id="11" name="blk1"/>
          <p:cNvSpPr/>
          <p:nvPr/>
        </p:nvSpPr>
        <p:spPr>
          <a:xfrm>
            <a:off x="1389888" y="371246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 is central to psychological growth</a:t>
            </a:r>
            <a:endParaRPr lang="en-US" sz="1250" dirty="0"/>
          </a:p>
        </p:txBody>
      </p:sp>
      <p:sp>
        <p:nvSpPr>
          <p:cNvPr id="12" name="blk1"/>
          <p:cNvSpPr/>
          <p:nvPr/>
        </p:nvSpPr>
        <p:spPr>
          <a:xfrm>
            <a:off x="841248" y="442569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050" dirty="0"/>
          </a:p>
        </p:txBody>
      </p:sp>
      <p:sp>
        <p:nvSpPr>
          <p:cNvPr id="13" name="blk1"/>
          <p:cNvSpPr/>
          <p:nvPr/>
        </p:nvSpPr>
        <p:spPr>
          <a:xfrm>
            <a:off x="1389888" y="442569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Experience unfolds in the present</a:t>
            </a:r>
            <a:endParaRPr lang="en-US" sz="1250" dirty="0"/>
          </a:p>
        </p:txBody>
      </p:sp>
      <p:sp>
        <p:nvSpPr>
          <p:cNvPr id="14" name="blk2"/>
          <p:cNvSpPr/>
          <p:nvPr/>
        </p:nvSpPr>
        <p:spPr>
          <a:xfrm>
            <a:off x="4626864" y="2103120"/>
            <a:ext cx="3291840" cy="3794760"/>
          </a:xfrm>
          <a:prstGeom prst="roundRect">
            <a:avLst>
              <a:gd name="adj" fmla="val 2500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15" name="blk2"/>
          <p:cNvSpPr/>
          <p:nvPr/>
        </p:nvSpPr>
        <p:spPr>
          <a:xfrm>
            <a:off x="4864608" y="263347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050" dirty="0"/>
          </a:p>
        </p:txBody>
      </p:sp>
      <p:sp>
        <p:nvSpPr>
          <p:cNvPr id="16" name="blk2"/>
          <p:cNvSpPr/>
          <p:nvPr/>
        </p:nvSpPr>
        <p:spPr>
          <a:xfrm>
            <a:off x="5413248" y="263347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People have capacity for choice and self-regulation</a:t>
            </a:r>
            <a:endParaRPr lang="en-US" sz="1250" dirty="0"/>
          </a:p>
        </p:txBody>
      </p:sp>
      <p:sp>
        <p:nvSpPr>
          <p:cNvPr id="17" name="blk2"/>
          <p:cNvSpPr/>
          <p:nvPr/>
        </p:nvSpPr>
        <p:spPr>
          <a:xfrm>
            <a:off x="4864608" y="33467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06</a:t>
            </a:r>
            <a:endParaRPr lang="en-US" sz="1050" dirty="0"/>
          </a:p>
        </p:txBody>
      </p:sp>
      <p:sp>
        <p:nvSpPr>
          <p:cNvPr id="18" name="blk2"/>
          <p:cNvSpPr/>
          <p:nvPr/>
        </p:nvSpPr>
        <p:spPr>
          <a:xfrm>
            <a:off x="5413248" y="33467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Healthy functioning involves meaningful contact</a:t>
            </a:r>
            <a:endParaRPr lang="en-US" sz="1250" dirty="0"/>
          </a:p>
        </p:txBody>
      </p:sp>
      <p:sp>
        <p:nvSpPr>
          <p:cNvPr id="19" name="blk2"/>
          <p:cNvSpPr/>
          <p:nvPr/>
        </p:nvSpPr>
        <p:spPr>
          <a:xfrm>
            <a:off x="4864608" y="405993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07</a:t>
            </a:r>
            <a:endParaRPr lang="en-US" sz="1050" dirty="0"/>
          </a:p>
        </p:txBody>
      </p:sp>
      <p:sp>
        <p:nvSpPr>
          <p:cNvPr id="20" name="blk2"/>
          <p:cNvSpPr/>
          <p:nvPr/>
        </p:nvSpPr>
        <p:spPr>
          <a:xfrm>
            <a:off x="5413248" y="4023360"/>
            <a:ext cx="23408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Psychological difficulties may involve interruptions in awareness or contact</a:t>
            </a:r>
            <a:endParaRPr lang="en-US" sz="1250" dirty="0"/>
          </a:p>
        </p:txBody>
      </p:sp>
      <p:pic>
        <p:nvPicPr>
          <p:cNvPr id="21" name="img" descr="/home/user/Business-e-books/presentations/gestalt-theory-counselling/assets/h-han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1584" y="1737360"/>
            <a:ext cx="3474720" cy="416052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pic>
      <p:sp>
        <p:nvSpPr>
          <p:cNvPr id="22" name="blk3"/>
          <p:cNvSpPr/>
          <p:nvPr/>
        </p:nvSpPr>
        <p:spPr>
          <a:xfrm>
            <a:off x="603504" y="6035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Brownell, 2010; Joyce &amp; Sills, 2014)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Awareness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627632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Central concept in Gestalt therapy</a:t>
            </a:r>
            <a:endParaRPr lang="en-US" sz="1450" dirty="0"/>
          </a:p>
        </p:txBody>
      </p:sp>
      <p:sp>
        <p:nvSpPr>
          <p:cNvPr id="6" name="blk2"/>
          <p:cNvSpPr/>
          <p:nvPr/>
        </p:nvSpPr>
        <p:spPr>
          <a:xfrm>
            <a:off x="603504" y="2157984"/>
            <a:ext cx="6903720" cy="1481328"/>
          </a:xfrm>
          <a:prstGeom prst="roundRect">
            <a:avLst>
              <a:gd name="adj" fmla="val 5556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7" name="blk2"/>
          <p:cNvSpPr/>
          <p:nvPr/>
        </p:nvSpPr>
        <p:spPr>
          <a:xfrm>
            <a:off x="841248" y="23042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NOTICING</a:t>
            </a:r>
            <a:endParaRPr lang="en-US" sz="900" dirty="0"/>
          </a:p>
        </p:txBody>
      </p:sp>
      <p:sp>
        <p:nvSpPr>
          <p:cNvPr id="8" name="blk2"/>
          <p:cNvSpPr/>
          <p:nvPr/>
        </p:nvSpPr>
        <p:spPr>
          <a:xfrm>
            <a:off x="841248" y="2688336"/>
            <a:ext cx="1207008" cy="475488"/>
          </a:xfrm>
          <a:prstGeom prst="roundRect">
            <a:avLst>
              <a:gd name="adj" fmla="val 11538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Thoughts</a:t>
            </a:r>
            <a:endParaRPr lang="en-US" sz="950" dirty="0"/>
          </a:p>
        </p:txBody>
      </p:sp>
      <p:sp>
        <p:nvSpPr>
          <p:cNvPr id="9" name="blk2"/>
          <p:cNvSpPr/>
          <p:nvPr/>
        </p:nvSpPr>
        <p:spPr>
          <a:xfrm>
            <a:off x="2139696" y="2688336"/>
            <a:ext cx="1207008" cy="475488"/>
          </a:xfrm>
          <a:prstGeom prst="roundRect">
            <a:avLst>
              <a:gd name="adj" fmla="val 11538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Feelings</a:t>
            </a:r>
            <a:endParaRPr lang="en-US" sz="950" dirty="0"/>
          </a:p>
        </p:txBody>
      </p:sp>
      <p:sp>
        <p:nvSpPr>
          <p:cNvPr id="10" name="blk2"/>
          <p:cNvSpPr/>
          <p:nvPr/>
        </p:nvSpPr>
        <p:spPr>
          <a:xfrm>
            <a:off x="3438144" y="2688336"/>
            <a:ext cx="1207008" cy="475488"/>
          </a:xfrm>
          <a:prstGeom prst="roundRect">
            <a:avLst>
              <a:gd name="adj" fmla="val 11538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Bodily sensations</a:t>
            </a:r>
            <a:endParaRPr lang="en-US" sz="950" dirty="0"/>
          </a:p>
        </p:txBody>
      </p:sp>
      <p:sp>
        <p:nvSpPr>
          <p:cNvPr id="11" name="blk2"/>
          <p:cNvSpPr/>
          <p:nvPr/>
        </p:nvSpPr>
        <p:spPr>
          <a:xfrm>
            <a:off x="4736592" y="2688336"/>
            <a:ext cx="1207008" cy="475488"/>
          </a:xfrm>
          <a:prstGeom prst="roundRect">
            <a:avLst>
              <a:gd name="adj" fmla="val 11538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Behaviour</a:t>
            </a:r>
            <a:endParaRPr lang="en-US" sz="950" dirty="0"/>
          </a:p>
        </p:txBody>
      </p:sp>
      <p:sp>
        <p:nvSpPr>
          <p:cNvPr id="12" name="blk2"/>
          <p:cNvSpPr/>
          <p:nvPr/>
        </p:nvSpPr>
        <p:spPr>
          <a:xfrm>
            <a:off x="6035040" y="2688336"/>
            <a:ext cx="1207008" cy="475488"/>
          </a:xfrm>
          <a:prstGeom prst="roundRect">
            <a:avLst>
              <a:gd name="adj" fmla="val 11538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Needs</a:t>
            </a:r>
            <a:endParaRPr lang="en-US" sz="950" dirty="0"/>
          </a:p>
        </p:txBody>
      </p:sp>
      <p:sp>
        <p:nvSpPr>
          <p:cNvPr id="13" name="blk3"/>
          <p:cNvSpPr/>
          <p:nvPr/>
        </p:nvSpPr>
        <p:spPr>
          <a:xfrm>
            <a:off x="603504" y="3877056"/>
            <a:ext cx="6903720" cy="2029968"/>
          </a:xfrm>
          <a:prstGeom prst="roundRect">
            <a:avLst>
              <a:gd name="adj" fmla="val 4054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4" name="blk3"/>
          <p:cNvSpPr/>
          <p:nvPr/>
        </p:nvSpPr>
        <p:spPr>
          <a:xfrm>
            <a:off x="841248" y="4041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PROCESS</a:t>
            </a:r>
            <a:endParaRPr lang="en-US" sz="900" dirty="0"/>
          </a:p>
        </p:txBody>
      </p:sp>
      <p:sp>
        <p:nvSpPr>
          <p:cNvPr id="15" name="blk3"/>
          <p:cNvSpPr/>
          <p:nvPr/>
        </p:nvSpPr>
        <p:spPr>
          <a:xfrm>
            <a:off x="859536" y="4416552"/>
            <a:ext cx="109728" cy="10972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6" name="blk3"/>
          <p:cNvSpPr/>
          <p:nvPr/>
        </p:nvSpPr>
        <p:spPr>
          <a:xfrm>
            <a:off x="1078992" y="43068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present experience</a:t>
            </a:r>
            <a:endParaRPr lang="en-US" sz="1200" dirty="0"/>
          </a:p>
        </p:txBody>
      </p:sp>
      <p:sp>
        <p:nvSpPr>
          <p:cNvPr id="17" name="blk3"/>
          <p:cNvSpPr/>
          <p:nvPr/>
        </p:nvSpPr>
        <p:spPr>
          <a:xfrm>
            <a:off x="4288536" y="4416552"/>
            <a:ext cx="109728" cy="10972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8" name="blk3"/>
          <p:cNvSpPr/>
          <p:nvPr/>
        </p:nvSpPr>
        <p:spPr>
          <a:xfrm>
            <a:off x="4507992" y="43068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Creates opportunities for choice and change</a:t>
            </a:r>
            <a:endParaRPr lang="en-US" sz="1200" dirty="0"/>
          </a:p>
        </p:txBody>
      </p:sp>
      <p:sp>
        <p:nvSpPr>
          <p:cNvPr id="19" name="blk3"/>
          <p:cNvSpPr/>
          <p:nvPr/>
        </p:nvSpPr>
        <p:spPr>
          <a:xfrm>
            <a:off x="841248" y="4956048"/>
            <a:ext cx="2240280" cy="603504"/>
          </a:xfrm>
          <a:prstGeom prst="roundRect">
            <a:avLst>
              <a:gd name="adj" fmla="val 9091"/>
            </a:avLst>
          </a:prstGeom>
          <a:solidFill>
            <a:srgbClr val="0A1937"/>
          </a:solidFill>
          <a:ln>
            <a:solidFill>
              <a:srgbClr val="0A19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</a:t>
            </a:r>
            <a:endParaRPr lang="en-US" sz="1250" dirty="0"/>
          </a:p>
        </p:txBody>
      </p:sp>
      <p:sp>
        <p:nvSpPr>
          <p:cNvPr id="20" name="blk3"/>
          <p:cNvSpPr/>
          <p:nvPr/>
        </p:nvSpPr>
        <p:spPr>
          <a:xfrm>
            <a:off x="3127248" y="4956048"/>
            <a:ext cx="502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17E9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blk3"/>
          <p:cNvSpPr/>
          <p:nvPr/>
        </p:nvSpPr>
        <p:spPr>
          <a:xfrm>
            <a:off x="3675888" y="4956048"/>
            <a:ext cx="1737360" cy="603504"/>
          </a:xfrm>
          <a:prstGeom prst="roundRect">
            <a:avLst>
              <a:gd name="adj" fmla="val 9091"/>
            </a:avLst>
          </a:prstGeom>
          <a:solidFill>
            <a:srgbClr val="162B57"/>
          </a:solidFill>
          <a:ln>
            <a:solidFill>
              <a:srgbClr val="162B5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</a:t>
            </a:r>
            <a:endParaRPr lang="en-US" sz="1250" dirty="0"/>
          </a:p>
        </p:txBody>
      </p:sp>
      <p:sp>
        <p:nvSpPr>
          <p:cNvPr id="22" name="blk3"/>
          <p:cNvSpPr/>
          <p:nvPr/>
        </p:nvSpPr>
        <p:spPr>
          <a:xfrm>
            <a:off x="5458968" y="4956048"/>
            <a:ext cx="502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17E9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blk3"/>
          <p:cNvSpPr/>
          <p:nvPr/>
        </p:nvSpPr>
        <p:spPr>
          <a:xfrm>
            <a:off x="6016752" y="4956048"/>
            <a:ext cx="1828800" cy="603504"/>
          </a:xfrm>
          <a:prstGeom prst="roundRect">
            <a:avLst>
              <a:gd name="adj" fmla="val 9091"/>
            </a:avLst>
          </a:prstGeom>
          <a:solidFill>
            <a:srgbClr val="8097BE"/>
          </a:solidFill>
          <a:ln>
            <a:solidFill>
              <a:srgbClr val="8097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93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CHANGE</a:t>
            </a:r>
            <a:endParaRPr lang="en-US" sz="1250" dirty="0"/>
          </a:p>
        </p:txBody>
      </p:sp>
      <p:pic>
        <p:nvPicPr>
          <p:cNvPr id="24" name="img" descr="/home/user/Business-e-books/presentations/gestalt-theory-counselling/assets/h-medita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591056"/>
            <a:ext cx="3803904" cy="4261104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25" name="blk4"/>
          <p:cNvSpPr/>
          <p:nvPr/>
        </p:nvSpPr>
        <p:spPr>
          <a:xfrm>
            <a:off x="603504" y="5989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30" presetClass="entr" presetSubtype="0" fill="hold" grpId="0" nodeType="after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Here-and-Now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591056"/>
            <a:ext cx="3611880" cy="2286000"/>
          </a:xfrm>
          <a:prstGeom prst="roundRect">
            <a:avLst>
              <a:gd name="adj" fmla="val 36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6" name="blk1"/>
          <p:cNvSpPr/>
          <p:nvPr/>
        </p:nvSpPr>
        <p:spPr>
          <a:xfrm>
            <a:off x="603504" y="1591056"/>
            <a:ext cx="3611880" cy="54864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blk1"/>
          <p:cNvSpPr/>
          <p:nvPr/>
        </p:nvSpPr>
        <p:spPr>
          <a:xfrm>
            <a:off x="822960" y="1810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FOCUS</a:t>
            </a:r>
            <a:endParaRPr lang="en-US" sz="900" dirty="0"/>
          </a:p>
        </p:txBody>
      </p:sp>
      <p:sp>
        <p:nvSpPr>
          <p:cNvPr id="8" name="blk1"/>
          <p:cNvSpPr/>
          <p:nvPr/>
        </p:nvSpPr>
        <p:spPr>
          <a:xfrm>
            <a:off x="822960" y="2139696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the client's present experience</a:t>
            </a:r>
            <a:endParaRPr lang="en-US" sz="1300" dirty="0"/>
          </a:p>
        </p:txBody>
      </p:sp>
      <p:sp>
        <p:nvSpPr>
          <p:cNvPr id="9" name="blk1"/>
          <p:cNvSpPr/>
          <p:nvPr/>
        </p:nvSpPr>
        <p:spPr>
          <a:xfrm>
            <a:off x="822960" y="290779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5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Includes thoughts, emotions, bodily sensations and behaviour</a:t>
            </a:r>
            <a:endParaRPr lang="en-US" sz="1100" dirty="0"/>
          </a:p>
        </p:txBody>
      </p:sp>
      <p:sp>
        <p:nvSpPr>
          <p:cNvPr id="10" name="blk2"/>
          <p:cNvSpPr/>
          <p:nvPr/>
        </p:nvSpPr>
        <p:spPr>
          <a:xfrm>
            <a:off x="914400" y="4059936"/>
            <a:ext cx="3291840" cy="1828800"/>
          </a:xfrm>
          <a:prstGeom prst="roundRect">
            <a:avLst>
              <a:gd name="adj" fmla="val 45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1" name="blk2"/>
          <p:cNvSpPr/>
          <p:nvPr/>
        </p:nvSpPr>
        <p:spPr>
          <a:xfrm>
            <a:off x="914400" y="4059936"/>
            <a:ext cx="3291840" cy="54864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12" name="blk2"/>
          <p:cNvSpPr/>
          <p:nvPr/>
        </p:nvSpPr>
        <p:spPr>
          <a:xfrm>
            <a:off x="1133856" y="42793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PAST</a:t>
            </a:r>
            <a:endParaRPr lang="en-US" sz="900" dirty="0"/>
          </a:p>
        </p:txBody>
      </p:sp>
      <p:sp>
        <p:nvSpPr>
          <p:cNvPr id="13" name="blk2"/>
          <p:cNvSpPr/>
          <p:nvPr/>
        </p:nvSpPr>
        <p:spPr>
          <a:xfrm>
            <a:off x="1133856" y="4608576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Past experiences are explored through their current impact</a:t>
            </a:r>
            <a:endParaRPr lang="en-US" sz="1300" dirty="0"/>
          </a:p>
        </p:txBody>
      </p:sp>
      <p:sp>
        <p:nvSpPr>
          <p:cNvPr id="14" name="blk3"/>
          <p:cNvSpPr/>
          <p:nvPr/>
        </p:nvSpPr>
        <p:spPr>
          <a:xfrm>
            <a:off x="4526280" y="1591056"/>
            <a:ext cx="3108960" cy="4297680"/>
          </a:xfrm>
          <a:prstGeom prst="roundRect">
            <a:avLst>
              <a:gd name="adj" fmla="val 2647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5" name="blk3"/>
          <p:cNvSpPr/>
          <p:nvPr/>
        </p:nvSpPr>
        <p:spPr>
          <a:xfrm>
            <a:off x="4764024" y="1810512"/>
            <a:ext cx="2651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4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</a:t>
            </a:r>
            <a:pPr indent="0" marL="0">
              <a:buNone/>
            </a:pPr>
            <a:r>
              <a:rPr lang="en-US" sz="1250" b="1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direct experience</a:t>
            </a:r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rather than excessive intellectual analysis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4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therapeutic relationship provides an opportunity for </a:t>
            </a:r>
            <a:pPr indent="0" marL="0">
              <a:buNone/>
            </a:pPr>
            <a:r>
              <a:rPr lang="en-US" sz="1250" b="1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present-moment awareness</a:t>
            </a:r>
            <a:endParaRPr lang="en-US" sz="1250" dirty="0"/>
          </a:p>
        </p:txBody>
      </p:sp>
      <p:pic>
        <p:nvPicPr>
          <p:cNvPr id="16" name="img" descr="/home/user/Business-e-books/presentations/gestalt-theory-counselling/assets/h-windo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591056"/>
            <a:ext cx="3803904" cy="4261104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17" name="blk3"/>
          <p:cNvSpPr/>
          <p:nvPr/>
        </p:nvSpPr>
        <p:spPr>
          <a:xfrm>
            <a:off x="4526280" y="5989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Brownell, 2010)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9" name="Text 15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Figure and Ground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591056"/>
            <a:ext cx="4846320" cy="4114800"/>
          </a:xfrm>
          <a:prstGeom prst="roundRect">
            <a:avLst>
              <a:gd name="adj" fmla="val 2000"/>
            </a:avLst>
          </a:prstGeom>
          <a:solidFill>
            <a:srgbClr val="0A1937"/>
          </a:solidFill>
          <a:ln w="12700">
            <a:solidFill>
              <a:srgbClr val="0A193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6" name="blk1"/>
          <p:cNvSpPr/>
          <p:nvPr/>
        </p:nvSpPr>
        <p:spPr>
          <a:xfrm>
            <a:off x="1037844" y="1659636"/>
            <a:ext cx="3977640" cy="3977640"/>
          </a:xfrm>
          <a:prstGeom prst="ellipse">
            <a:avLst/>
          </a:prstGeom>
          <a:solidFill>
            <a:srgbClr val="0A1937">
              <a:alpha val="0"/>
            </a:srgbClr>
          </a:solidFill>
          <a:ln w="12700">
            <a:solidFill>
              <a:srgbClr val="46608F"/>
            </a:solidFill>
            <a:prstDash val="solid"/>
          </a:ln>
        </p:spPr>
      </p:sp>
      <p:sp>
        <p:nvSpPr>
          <p:cNvPr id="7" name="blk1"/>
          <p:cNvSpPr/>
          <p:nvPr/>
        </p:nvSpPr>
        <p:spPr>
          <a:xfrm>
            <a:off x="1403604" y="2025396"/>
            <a:ext cx="3246120" cy="3246120"/>
          </a:xfrm>
          <a:prstGeom prst="ellipse">
            <a:avLst/>
          </a:prstGeom>
          <a:solidFill>
            <a:srgbClr val="0A1937">
              <a:alpha val="0"/>
            </a:srgbClr>
          </a:solidFill>
          <a:ln w="12700">
            <a:solidFill>
              <a:srgbClr val="46608F"/>
            </a:solidFill>
            <a:prstDash val="solid"/>
          </a:ln>
        </p:spPr>
      </p:sp>
      <p:sp>
        <p:nvSpPr>
          <p:cNvPr id="8" name="blk1"/>
          <p:cNvSpPr/>
          <p:nvPr/>
        </p:nvSpPr>
        <p:spPr>
          <a:xfrm>
            <a:off x="1723644" y="2345436"/>
            <a:ext cx="2606040" cy="2606040"/>
          </a:xfrm>
          <a:prstGeom prst="ellipse">
            <a:avLst/>
          </a:prstGeom>
          <a:solidFill>
            <a:srgbClr val="0A1937">
              <a:alpha val="0"/>
            </a:srgbClr>
          </a:solidFill>
          <a:ln w="12700">
            <a:solidFill>
              <a:srgbClr val="46608F"/>
            </a:solidFill>
            <a:prstDash val="solid"/>
          </a:ln>
        </p:spPr>
      </p:sp>
      <p:sp>
        <p:nvSpPr>
          <p:cNvPr id="9" name="blk1"/>
          <p:cNvSpPr/>
          <p:nvPr/>
        </p:nvSpPr>
        <p:spPr>
          <a:xfrm>
            <a:off x="2249424" y="2871216"/>
            <a:ext cx="1554480" cy="15544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blk1"/>
          <p:cNvSpPr/>
          <p:nvPr/>
        </p:nvSpPr>
        <p:spPr>
          <a:xfrm>
            <a:off x="2249424" y="451713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20" kern="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FIGURE</a:t>
            </a:r>
            <a:endParaRPr lang="en-US" sz="900" dirty="0"/>
          </a:p>
        </p:txBody>
      </p:sp>
      <p:sp>
        <p:nvSpPr>
          <p:cNvPr id="11" name="blk1"/>
          <p:cNvSpPr/>
          <p:nvPr/>
        </p:nvSpPr>
        <p:spPr>
          <a:xfrm>
            <a:off x="877824" y="52852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AAB7D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GROUND</a:t>
            </a:r>
            <a:endParaRPr lang="en-US" sz="900" dirty="0"/>
          </a:p>
        </p:txBody>
      </p:sp>
      <p:sp>
        <p:nvSpPr>
          <p:cNvPr id="12" name="blk1"/>
          <p:cNvSpPr/>
          <p:nvPr/>
        </p:nvSpPr>
        <p:spPr>
          <a:xfrm>
            <a:off x="603504" y="58338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One element steps forward as figure against a ground of context.</a:t>
            </a:r>
            <a:endParaRPr lang="en-US" sz="900" dirty="0"/>
          </a:p>
        </p:txBody>
      </p:sp>
      <p:sp>
        <p:nvSpPr>
          <p:cNvPr id="13" name="blk2"/>
          <p:cNvSpPr/>
          <p:nvPr/>
        </p:nvSpPr>
        <p:spPr>
          <a:xfrm>
            <a:off x="5760720" y="1591056"/>
            <a:ext cx="5824728" cy="950976"/>
          </a:xfrm>
          <a:prstGeom prst="roundRect">
            <a:avLst>
              <a:gd name="adj" fmla="val 8654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4" name="blk2"/>
          <p:cNvSpPr/>
          <p:nvPr/>
        </p:nvSpPr>
        <p:spPr>
          <a:xfrm>
            <a:off x="5760720" y="1591056"/>
            <a:ext cx="73152" cy="950976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15" name="blk2"/>
          <p:cNvSpPr/>
          <p:nvPr/>
        </p:nvSpPr>
        <p:spPr>
          <a:xfrm>
            <a:off x="6016752" y="17190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FIGURE</a:t>
            </a:r>
            <a:endParaRPr lang="en-US" sz="1400" dirty="0"/>
          </a:p>
        </p:txBody>
      </p:sp>
      <p:sp>
        <p:nvSpPr>
          <p:cNvPr id="16" name="blk2"/>
          <p:cNvSpPr/>
          <p:nvPr/>
        </p:nvSpPr>
        <p:spPr>
          <a:xfrm>
            <a:off x="6016752" y="206654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is most prominent in awareness</a:t>
            </a:r>
            <a:endParaRPr lang="en-US" sz="1200" dirty="0"/>
          </a:p>
        </p:txBody>
      </p:sp>
      <p:sp>
        <p:nvSpPr>
          <p:cNvPr id="17" name="blk2"/>
          <p:cNvSpPr/>
          <p:nvPr/>
        </p:nvSpPr>
        <p:spPr>
          <a:xfrm>
            <a:off x="5760720" y="2578608"/>
            <a:ext cx="5824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800" dirty="0"/>
          </a:p>
        </p:txBody>
      </p:sp>
      <p:sp>
        <p:nvSpPr>
          <p:cNvPr id="18" name="blk2"/>
          <p:cNvSpPr/>
          <p:nvPr/>
        </p:nvSpPr>
        <p:spPr>
          <a:xfrm>
            <a:off x="5760720" y="2999232"/>
            <a:ext cx="5824728" cy="950976"/>
          </a:xfrm>
          <a:prstGeom prst="roundRect">
            <a:avLst>
              <a:gd name="adj" fmla="val 8654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9" name="blk2"/>
          <p:cNvSpPr/>
          <p:nvPr/>
        </p:nvSpPr>
        <p:spPr>
          <a:xfrm>
            <a:off x="5760720" y="2999232"/>
            <a:ext cx="73152" cy="950976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20" name="blk2"/>
          <p:cNvSpPr/>
          <p:nvPr/>
        </p:nvSpPr>
        <p:spPr>
          <a:xfrm>
            <a:off x="6016752" y="3127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GROUND</a:t>
            </a:r>
            <a:endParaRPr lang="en-US" sz="1400" dirty="0"/>
          </a:p>
        </p:txBody>
      </p:sp>
      <p:sp>
        <p:nvSpPr>
          <p:cNvPr id="21" name="blk2"/>
          <p:cNvSpPr/>
          <p:nvPr/>
        </p:nvSpPr>
        <p:spPr>
          <a:xfrm>
            <a:off x="6016752" y="347472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surrounding context and experiences</a:t>
            </a:r>
            <a:endParaRPr lang="en-US" sz="1200" dirty="0"/>
          </a:p>
        </p:txBody>
      </p:sp>
      <p:sp>
        <p:nvSpPr>
          <p:cNvPr id="22" name="blk3"/>
          <p:cNvSpPr/>
          <p:nvPr/>
        </p:nvSpPr>
        <p:spPr>
          <a:xfrm>
            <a:off x="5760720" y="4224528"/>
            <a:ext cx="5824728" cy="1691640"/>
          </a:xfrm>
          <a:prstGeom prst="roundRect">
            <a:avLst>
              <a:gd name="adj" fmla="val 48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3" name="blk3"/>
          <p:cNvSpPr/>
          <p:nvPr/>
        </p:nvSpPr>
        <p:spPr>
          <a:xfrm>
            <a:off x="5998464" y="4443984"/>
            <a:ext cx="5349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9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Needs and concerns move between figure and ground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9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figure changes as circumstances change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9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 helps identify what is most significant in the present</a:t>
            </a:r>
            <a:endParaRPr lang="en-US" sz="1200" dirty="0"/>
          </a:p>
        </p:txBody>
      </p:sp>
      <p:sp>
        <p:nvSpPr>
          <p:cNvPr id="24" name="blk3"/>
          <p:cNvSpPr/>
          <p:nvPr/>
        </p:nvSpPr>
        <p:spPr>
          <a:xfrm>
            <a:off x="5760720" y="6035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Woldt &amp; Toman, 2005)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Contact and Contact Boundary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591056"/>
            <a:ext cx="6400800" cy="4160520"/>
          </a:xfrm>
          <a:prstGeom prst="roundRect">
            <a:avLst>
              <a:gd name="adj" fmla="val 1978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6" name="blk1"/>
          <p:cNvSpPr/>
          <p:nvPr/>
        </p:nvSpPr>
        <p:spPr>
          <a:xfrm>
            <a:off x="841248" y="1810512"/>
            <a:ext cx="592531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300" b="1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Contact: </a:t>
            </a:r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Interaction between the individual and environment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300" b="1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 boundary: </a:t>
            </a:r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Point at which the individual and environment meet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Healthy contact allows needs to be addressed while maintaining a sense of self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 involves </a:t>
            </a:r>
            <a:pPr indent="0" marL="0">
              <a:buNone/>
            </a:pPr>
            <a:r>
              <a:rPr lang="en-US" sz="1300" b="1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engaging, responding and withdrawing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Relationships, culture and circumstances influence contact</a:t>
            </a:r>
            <a:endParaRPr lang="en-US" sz="1300" dirty="0"/>
          </a:p>
        </p:txBody>
      </p:sp>
      <p:pic>
        <p:nvPicPr>
          <p:cNvPr id="7" name="img" descr="/home/user/Business-e-books/presentations/gestalt-theory-counselling/assets/h-listen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591056"/>
            <a:ext cx="3803904" cy="2852928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8" name="blk2"/>
          <p:cNvSpPr/>
          <p:nvPr/>
        </p:nvSpPr>
        <p:spPr>
          <a:xfrm>
            <a:off x="7772400" y="4626864"/>
            <a:ext cx="3803904" cy="1591056"/>
          </a:xfrm>
          <a:prstGeom prst="roundRect">
            <a:avLst>
              <a:gd name="adj" fmla="val 5172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9" name="blk2"/>
          <p:cNvSpPr/>
          <p:nvPr/>
        </p:nvSpPr>
        <p:spPr>
          <a:xfrm>
            <a:off x="7955280" y="5138928"/>
            <a:ext cx="941832" cy="566928"/>
          </a:xfrm>
          <a:prstGeom prst="roundRect">
            <a:avLst>
              <a:gd name="adj" fmla="val 9677"/>
            </a:avLst>
          </a:prstGeom>
          <a:solidFill>
            <a:srgbClr val="0A1937"/>
          </a:solidFill>
          <a:ln>
            <a:solidFill>
              <a:srgbClr val="0A19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INDIVIDUAL</a:t>
            </a:r>
            <a:endParaRPr lang="en-US" sz="850" dirty="0"/>
          </a:p>
        </p:txBody>
      </p:sp>
      <p:sp>
        <p:nvSpPr>
          <p:cNvPr id="10" name="blk2"/>
          <p:cNvSpPr/>
          <p:nvPr/>
        </p:nvSpPr>
        <p:spPr>
          <a:xfrm>
            <a:off x="8915400" y="5138928"/>
            <a:ext cx="256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↔</a:t>
            </a:r>
            <a:endParaRPr lang="en-US" sz="1300" dirty="0"/>
          </a:p>
        </p:txBody>
      </p:sp>
      <p:sp>
        <p:nvSpPr>
          <p:cNvPr id="11" name="blk2"/>
          <p:cNvSpPr/>
          <p:nvPr/>
        </p:nvSpPr>
        <p:spPr>
          <a:xfrm>
            <a:off x="9189720" y="5138928"/>
            <a:ext cx="1170432" cy="566928"/>
          </a:xfrm>
          <a:prstGeom prst="roundRect">
            <a:avLst>
              <a:gd name="adj" fmla="val 9677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 BOUNDARY</a:t>
            </a:r>
            <a:endParaRPr lang="en-US" sz="800" dirty="0"/>
          </a:p>
        </p:txBody>
      </p:sp>
      <p:sp>
        <p:nvSpPr>
          <p:cNvPr id="12" name="blk2"/>
          <p:cNvSpPr/>
          <p:nvPr/>
        </p:nvSpPr>
        <p:spPr>
          <a:xfrm>
            <a:off x="10378440" y="5138928"/>
            <a:ext cx="256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↔</a:t>
            </a:r>
            <a:endParaRPr lang="en-US" sz="1300" dirty="0"/>
          </a:p>
        </p:txBody>
      </p:sp>
      <p:sp>
        <p:nvSpPr>
          <p:cNvPr id="13" name="blk2"/>
          <p:cNvSpPr/>
          <p:nvPr/>
        </p:nvSpPr>
        <p:spPr>
          <a:xfrm>
            <a:off x="10652760" y="5138928"/>
            <a:ext cx="740664" cy="566928"/>
          </a:xfrm>
          <a:prstGeom prst="roundRect">
            <a:avLst>
              <a:gd name="adj" fmla="val 9677"/>
            </a:avLst>
          </a:prstGeom>
          <a:solidFill>
            <a:srgbClr val="5A6B94"/>
          </a:solidFill>
          <a:ln>
            <a:solidFill>
              <a:srgbClr val="5A6B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ENVIRONMENT</a:t>
            </a:r>
            <a:endParaRPr lang="en-US" sz="850" dirty="0"/>
          </a:p>
        </p:txBody>
      </p:sp>
      <p:sp>
        <p:nvSpPr>
          <p:cNvPr id="14" name="blk3"/>
          <p:cNvSpPr/>
          <p:nvPr/>
        </p:nvSpPr>
        <p:spPr>
          <a:xfrm>
            <a:off x="603504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6" name="Text 12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Unfinished Business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591056"/>
            <a:ext cx="6949440" cy="2340864"/>
          </a:xfrm>
          <a:prstGeom prst="roundRect">
            <a:avLst>
              <a:gd name="adj" fmla="val 3516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6" name="blk1"/>
          <p:cNvSpPr/>
          <p:nvPr/>
        </p:nvSpPr>
        <p:spPr>
          <a:xfrm>
            <a:off x="859536" y="1810512"/>
            <a:ext cx="6437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Unresolved experiences or emotions</a:t>
            </a:r>
            <a:endParaRPr lang="en-US" sz="1550" dirty="0"/>
          </a:p>
        </p:txBody>
      </p:sp>
      <p:sp>
        <p:nvSpPr>
          <p:cNvPr id="7" name="blk1"/>
          <p:cNvSpPr/>
          <p:nvPr/>
        </p:nvSpPr>
        <p:spPr>
          <a:xfrm>
            <a:off x="859536" y="23408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MAY INCLUDE</a:t>
            </a:r>
            <a:endParaRPr lang="en-US" sz="900" dirty="0"/>
          </a:p>
        </p:txBody>
      </p:sp>
      <p:sp>
        <p:nvSpPr>
          <p:cNvPr id="8" name="blk1"/>
          <p:cNvSpPr/>
          <p:nvPr/>
        </p:nvSpPr>
        <p:spPr>
          <a:xfrm>
            <a:off x="859536" y="2743200"/>
            <a:ext cx="914400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Grief</a:t>
            </a:r>
            <a:endParaRPr lang="en-US" sz="1100" dirty="0"/>
          </a:p>
        </p:txBody>
      </p:sp>
      <p:sp>
        <p:nvSpPr>
          <p:cNvPr id="9" name="blk1"/>
          <p:cNvSpPr/>
          <p:nvPr/>
        </p:nvSpPr>
        <p:spPr>
          <a:xfrm>
            <a:off x="1920240" y="2743200"/>
            <a:ext cx="914400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Anger</a:t>
            </a:r>
            <a:endParaRPr lang="en-US" sz="1100" dirty="0"/>
          </a:p>
        </p:txBody>
      </p:sp>
      <p:sp>
        <p:nvSpPr>
          <p:cNvPr id="10" name="blk1"/>
          <p:cNvSpPr/>
          <p:nvPr/>
        </p:nvSpPr>
        <p:spPr>
          <a:xfrm>
            <a:off x="2980944" y="2743200"/>
            <a:ext cx="868680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Guilt</a:t>
            </a:r>
            <a:endParaRPr lang="en-US" sz="1100" dirty="0"/>
          </a:p>
        </p:txBody>
      </p:sp>
      <p:sp>
        <p:nvSpPr>
          <p:cNvPr id="11" name="blk1"/>
          <p:cNvSpPr/>
          <p:nvPr/>
        </p:nvSpPr>
        <p:spPr>
          <a:xfrm>
            <a:off x="3995928" y="2743200"/>
            <a:ext cx="1143000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Resentment</a:t>
            </a:r>
            <a:endParaRPr lang="en-US" sz="1100" dirty="0"/>
          </a:p>
        </p:txBody>
      </p:sp>
      <p:sp>
        <p:nvSpPr>
          <p:cNvPr id="12" name="blk1"/>
          <p:cNvSpPr/>
          <p:nvPr/>
        </p:nvSpPr>
        <p:spPr>
          <a:xfrm>
            <a:off x="5285232" y="2743200"/>
            <a:ext cx="1234440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Unmet needs</a:t>
            </a:r>
            <a:endParaRPr lang="en-US" sz="1100" dirty="0"/>
          </a:p>
        </p:txBody>
      </p:sp>
      <p:sp>
        <p:nvSpPr>
          <p:cNvPr id="13" name="blk2"/>
          <p:cNvSpPr/>
          <p:nvPr/>
        </p:nvSpPr>
        <p:spPr>
          <a:xfrm>
            <a:off x="603504" y="4114800"/>
            <a:ext cx="6949440" cy="1572768"/>
          </a:xfrm>
          <a:prstGeom prst="roundRect">
            <a:avLst>
              <a:gd name="adj" fmla="val 5233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4" name="blk2"/>
          <p:cNvSpPr/>
          <p:nvPr/>
        </p:nvSpPr>
        <p:spPr>
          <a:xfrm>
            <a:off x="859536" y="4334256"/>
            <a:ext cx="6437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remain psychologically active in the present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May interfere with healthy contact</a:t>
            </a:r>
            <a:endParaRPr lang="en-US" sz="1250" dirty="0"/>
          </a:p>
        </p:txBody>
      </p:sp>
      <p:sp>
        <p:nvSpPr>
          <p:cNvPr id="15" name="blk2"/>
          <p:cNvSpPr/>
          <p:nvPr/>
        </p:nvSpPr>
        <p:spPr>
          <a:xfrm>
            <a:off x="859536" y="5120640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62B5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Therapy promotes awareness and processing</a:t>
            </a:r>
            <a:endParaRPr lang="en-US" sz="1300" dirty="0"/>
          </a:p>
        </p:txBody>
      </p:sp>
      <p:pic>
        <p:nvPicPr>
          <p:cNvPr id="16" name="img" descr="/home/user/Business-e-books/presentations/gestalt-theory-counselling/assets/h-pensiv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591056"/>
            <a:ext cx="3803904" cy="4261104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17" name="blk3"/>
          <p:cNvSpPr/>
          <p:nvPr/>
        </p:nvSpPr>
        <p:spPr>
          <a:xfrm>
            <a:off x="603504" y="58704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9" name="Text 15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Personal Responsibility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591056"/>
            <a:ext cx="6949440" cy="2194560"/>
          </a:xfrm>
          <a:prstGeom prst="roundRect">
            <a:avLst>
              <a:gd name="adj" fmla="val 375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6" name="blk1"/>
          <p:cNvSpPr/>
          <p:nvPr/>
        </p:nvSpPr>
        <p:spPr>
          <a:xfrm>
            <a:off x="841248" y="1810512"/>
            <a:ext cx="647395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Recognizing one's own choices and responses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Promotes </a:t>
            </a:r>
            <a:pPr indent="0" marL="0">
              <a:buNone/>
            </a:pPr>
            <a:r>
              <a:rPr lang="en-US" sz="1250" b="1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agency and ownership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authentic decision-making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Uses language that reflects personal experience</a:t>
            </a:r>
            <a:endParaRPr lang="en-US" sz="1250" dirty="0"/>
          </a:p>
        </p:txBody>
      </p:sp>
      <p:sp>
        <p:nvSpPr>
          <p:cNvPr id="7" name="blk2"/>
          <p:cNvSpPr/>
          <p:nvPr/>
        </p:nvSpPr>
        <p:spPr>
          <a:xfrm>
            <a:off x="603504" y="4005072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RESPONSIBILITY  ≠  BLAME</a:t>
            </a:r>
            <a:endParaRPr lang="en-US" sz="1250" dirty="0"/>
          </a:p>
        </p:txBody>
      </p:sp>
      <p:sp>
        <p:nvSpPr>
          <p:cNvPr id="8" name="blk3"/>
          <p:cNvSpPr/>
          <p:nvPr/>
        </p:nvSpPr>
        <p:spPr>
          <a:xfrm>
            <a:off x="603504" y="473659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LANGUAGE IN PRACTICE  ·  EXAMPLE</a:t>
            </a:r>
            <a:endParaRPr lang="en-US" sz="900" dirty="0"/>
          </a:p>
        </p:txBody>
      </p:sp>
      <p:sp>
        <p:nvSpPr>
          <p:cNvPr id="9" name="blk3"/>
          <p:cNvSpPr/>
          <p:nvPr/>
        </p:nvSpPr>
        <p:spPr>
          <a:xfrm>
            <a:off x="603504" y="5029200"/>
            <a:ext cx="6949440" cy="621792"/>
          </a:xfrm>
          <a:prstGeom prst="roundRect">
            <a:avLst>
              <a:gd name="adj" fmla="val 8824"/>
            </a:avLst>
          </a:prstGeom>
          <a:solidFill>
            <a:srgbClr val="ECF0F6">
              <a:alpha val="88000"/>
            </a:srgbClr>
          </a:solidFill>
          <a:ln w="12700">
            <a:solidFill>
              <a:srgbClr val="ECF0F6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0" name="blk3"/>
          <p:cNvSpPr/>
          <p:nvPr/>
        </p:nvSpPr>
        <p:spPr>
          <a:xfrm>
            <a:off x="804672" y="5157216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3CCDC"/>
            </a:solidFill>
            <a:prstDash val="solid"/>
          </a:ln>
        </p:spPr>
      </p:sp>
      <p:sp>
        <p:nvSpPr>
          <p:cNvPr id="11" name="blk3"/>
          <p:cNvSpPr/>
          <p:nvPr/>
        </p:nvSpPr>
        <p:spPr>
          <a:xfrm>
            <a:off x="804672" y="5157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✗</a:t>
            </a:r>
            <a:endParaRPr lang="en-US" sz="1200" dirty="0"/>
          </a:p>
        </p:txBody>
      </p:sp>
      <p:sp>
        <p:nvSpPr>
          <p:cNvPr id="12" name="blk3"/>
          <p:cNvSpPr/>
          <p:nvPr/>
        </p:nvSpPr>
        <p:spPr>
          <a:xfrm>
            <a:off x="1335024" y="5029200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“You make me angry.”</a:t>
            </a:r>
            <a:endParaRPr lang="en-US" sz="1300" dirty="0"/>
          </a:p>
        </p:txBody>
      </p:sp>
      <p:sp>
        <p:nvSpPr>
          <p:cNvPr id="13" name="blk3"/>
          <p:cNvSpPr/>
          <p:nvPr/>
        </p:nvSpPr>
        <p:spPr>
          <a:xfrm>
            <a:off x="603504" y="5742432"/>
            <a:ext cx="6949440" cy="621792"/>
          </a:xfrm>
          <a:prstGeom prst="roundRect">
            <a:avLst>
              <a:gd name="adj" fmla="val 8824"/>
            </a:avLst>
          </a:prstGeom>
          <a:solidFill>
            <a:srgbClr val="E3EAF6">
              <a:alpha val="88000"/>
            </a:srgbClr>
          </a:solidFill>
          <a:ln w="12700">
            <a:solidFill>
              <a:srgbClr val="E3EAF6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4" name="blk3"/>
          <p:cNvSpPr/>
          <p:nvPr/>
        </p:nvSpPr>
        <p:spPr>
          <a:xfrm>
            <a:off x="804672" y="587044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FBDD8"/>
            </a:solidFill>
            <a:prstDash val="solid"/>
          </a:ln>
        </p:spPr>
      </p:sp>
      <p:sp>
        <p:nvSpPr>
          <p:cNvPr id="15" name="blk3"/>
          <p:cNvSpPr/>
          <p:nvPr/>
        </p:nvSpPr>
        <p:spPr>
          <a:xfrm>
            <a:off x="804672" y="5870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✓</a:t>
            </a:r>
            <a:endParaRPr lang="en-US" sz="1200" dirty="0"/>
          </a:p>
        </p:txBody>
      </p:sp>
      <p:sp>
        <p:nvSpPr>
          <p:cNvPr id="16" name="blk3"/>
          <p:cNvSpPr/>
          <p:nvPr/>
        </p:nvSpPr>
        <p:spPr>
          <a:xfrm>
            <a:off x="1335024" y="5742432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“I notice that I become angry when…”</a:t>
            </a:r>
            <a:endParaRPr lang="en-US" sz="1300" dirty="0"/>
          </a:p>
        </p:txBody>
      </p:sp>
      <p:pic>
        <p:nvPicPr>
          <p:cNvPr id="17" name="img" descr="/home/user/Business-e-books/presentations/gestalt-theory-counselling/assets/h-walk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591056"/>
            <a:ext cx="3803904" cy="4261104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18" name="blk4"/>
          <p:cNvSpPr/>
          <p:nvPr/>
        </p:nvSpPr>
        <p:spPr>
          <a:xfrm>
            <a:off x="7772400" y="5989320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Corey, 2024)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0" name="Text 1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30" presetClass="entr" presetSubtype="0" fill="hold" grpId="0" nodeType="after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bir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  ·  THE COUNSELLOR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Role of the Gestalt Counsellor</a:t>
            </a:r>
            <a:endParaRPr lang="en-US" sz="2600" dirty="0"/>
          </a:p>
        </p:txBody>
      </p:sp>
      <p:pic>
        <p:nvPicPr>
          <p:cNvPr id="5" name="img" descr="/home/user/Business-e-books/presentations/gestalt-theory-counselling/assets/h-sess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737360"/>
            <a:ext cx="5760720" cy="416052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pic>
      <p:sp>
        <p:nvSpPr>
          <p:cNvPr id="6" name="blk1"/>
          <p:cNvSpPr/>
          <p:nvPr/>
        </p:nvSpPr>
        <p:spPr>
          <a:xfrm>
            <a:off x="6583680" y="2103120"/>
            <a:ext cx="4983480" cy="3794760"/>
          </a:xfrm>
          <a:prstGeom prst="roundRect">
            <a:avLst>
              <a:gd name="adj" fmla="val 2169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7" name="blk1"/>
          <p:cNvSpPr/>
          <p:nvPr/>
        </p:nvSpPr>
        <p:spPr>
          <a:xfrm>
            <a:off x="6821424" y="22860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ROLE</a:t>
            </a:r>
            <a:endParaRPr lang="en-US" sz="850" dirty="0"/>
          </a:p>
        </p:txBody>
      </p:sp>
      <p:sp>
        <p:nvSpPr>
          <p:cNvPr id="8" name="blk1"/>
          <p:cNvSpPr/>
          <p:nvPr/>
        </p:nvSpPr>
        <p:spPr>
          <a:xfrm>
            <a:off x="6821424" y="26517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050" dirty="0"/>
          </a:p>
        </p:txBody>
      </p:sp>
      <p:sp>
        <p:nvSpPr>
          <p:cNvPr id="9" name="blk1"/>
          <p:cNvSpPr/>
          <p:nvPr/>
        </p:nvSpPr>
        <p:spPr>
          <a:xfrm>
            <a:off x="7370064" y="26517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Facilitates awareness</a:t>
            </a:r>
            <a:endParaRPr lang="en-US" sz="1200" dirty="0"/>
          </a:p>
        </p:txBody>
      </p:sp>
      <p:sp>
        <p:nvSpPr>
          <p:cNvPr id="10" name="blk1"/>
          <p:cNvSpPr/>
          <p:nvPr/>
        </p:nvSpPr>
        <p:spPr>
          <a:xfrm>
            <a:off x="6821424" y="3108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050" dirty="0"/>
          </a:p>
        </p:txBody>
      </p:sp>
      <p:sp>
        <p:nvSpPr>
          <p:cNvPr id="11" name="blk1"/>
          <p:cNvSpPr/>
          <p:nvPr/>
        </p:nvSpPr>
        <p:spPr>
          <a:xfrm>
            <a:off x="7370064" y="31089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present experience</a:t>
            </a:r>
            <a:endParaRPr lang="en-US" sz="1200" dirty="0"/>
          </a:p>
        </p:txBody>
      </p:sp>
      <p:sp>
        <p:nvSpPr>
          <p:cNvPr id="12" name="blk1"/>
          <p:cNvSpPr/>
          <p:nvPr/>
        </p:nvSpPr>
        <p:spPr>
          <a:xfrm>
            <a:off x="6821424" y="35661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050" dirty="0"/>
          </a:p>
        </p:txBody>
      </p:sp>
      <p:sp>
        <p:nvSpPr>
          <p:cNvPr id="13" name="blk1"/>
          <p:cNvSpPr/>
          <p:nvPr/>
        </p:nvSpPr>
        <p:spPr>
          <a:xfrm>
            <a:off x="7370064" y="35661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Observes verbal and non-verbal behaviour</a:t>
            </a:r>
            <a:endParaRPr lang="en-US" sz="1200" dirty="0"/>
          </a:p>
        </p:txBody>
      </p:sp>
      <p:sp>
        <p:nvSpPr>
          <p:cNvPr id="14" name="blk1"/>
          <p:cNvSpPr/>
          <p:nvPr/>
        </p:nvSpPr>
        <p:spPr>
          <a:xfrm>
            <a:off x="6821424" y="40233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050" dirty="0"/>
          </a:p>
        </p:txBody>
      </p:sp>
      <p:sp>
        <p:nvSpPr>
          <p:cNvPr id="15" name="blk1"/>
          <p:cNvSpPr/>
          <p:nvPr/>
        </p:nvSpPr>
        <p:spPr>
          <a:xfrm>
            <a:off x="7370064" y="40233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Uses the therapeutic relationship</a:t>
            </a:r>
            <a:endParaRPr lang="en-US" sz="1200" dirty="0"/>
          </a:p>
        </p:txBody>
      </p:sp>
      <p:sp>
        <p:nvSpPr>
          <p:cNvPr id="16" name="blk1"/>
          <p:cNvSpPr/>
          <p:nvPr/>
        </p:nvSpPr>
        <p:spPr>
          <a:xfrm>
            <a:off x="6821424" y="44805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050" dirty="0"/>
          </a:p>
        </p:txBody>
      </p:sp>
      <p:sp>
        <p:nvSpPr>
          <p:cNvPr id="17" name="blk1"/>
          <p:cNvSpPr/>
          <p:nvPr/>
        </p:nvSpPr>
        <p:spPr>
          <a:xfrm>
            <a:off x="7370064" y="44805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authentic expression</a:t>
            </a:r>
            <a:endParaRPr lang="en-US" sz="1200" dirty="0"/>
          </a:p>
        </p:txBody>
      </p:sp>
      <p:sp>
        <p:nvSpPr>
          <p:cNvPr id="18" name="blk1"/>
          <p:cNvSpPr/>
          <p:nvPr/>
        </p:nvSpPr>
        <p:spPr>
          <a:xfrm>
            <a:off x="6821424" y="49377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06</a:t>
            </a:r>
            <a:endParaRPr lang="en-US" sz="1050" dirty="0"/>
          </a:p>
        </p:txBody>
      </p:sp>
      <p:sp>
        <p:nvSpPr>
          <p:cNvPr id="19" name="blk1"/>
          <p:cNvSpPr/>
          <p:nvPr/>
        </p:nvSpPr>
        <p:spPr>
          <a:xfrm>
            <a:off x="7370064" y="49377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Explores interruptions in contact</a:t>
            </a:r>
            <a:endParaRPr lang="en-US" sz="1200" dirty="0"/>
          </a:p>
        </p:txBody>
      </p:sp>
      <p:sp>
        <p:nvSpPr>
          <p:cNvPr id="20" name="blk1"/>
          <p:cNvSpPr/>
          <p:nvPr/>
        </p:nvSpPr>
        <p:spPr>
          <a:xfrm>
            <a:off x="6821424" y="5394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07</a:t>
            </a:r>
            <a:endParaRPr lang="en-US" sz="1050" dirty="0"/>
          </a:p>
        </p:txBody>
      </p:sp>
      <p:sp>
        <p:nvSpPr>
          <p:cNvPr id="21" name="blk1"/>
          <p:cNvSpPr/>
          <p:nvPr/>
        </p:nvSpPr>
        <p:spPr>
          <a:xfrm>
            <a:off x="7370064" y="53949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Promotes responsibility and choice</a:t>
            </a:r>
            <a:endParaRPr lang="en-US" sz="1200" dirty="0"/>
          </a:p>
        </p:txBody>
      </p:sp>
      <p:sp>
        <p:nvSpPr>
          <p:cNvPr id="22" name="blk2"/>
          <p:cNvSpPr/>
          <p:nvPr/>
        </p:nvSpPr>
        <p:spPr>
          <a:xfrm>
            <a:off x="603504" y="605332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(Joyce &amp; Sills, 2014; Brownell, 2010)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3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bir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Gestalt Therapeutic Techniques</a:t>
            </a:r>
            <a:endParaRPr lang="en-US" sz="2600" dirty="0"/>
          </a:p>
        </p:txBody>
      </p:sp>
      <p:pic>
        <p:nvPicPr>
          <p:cNvPr id="5" name="img" descr="/home/user/Business-e-books/presentations/gestalt-theory-counselling/assets/p-chair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591056"/>
            <a:ext cx="2743200" cy="448056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6" name="blk1"/>
          <p:cNvSpPr/>
          <p:nvPr/>
        </p:nvSpPr>
        <p:spPr>
          <a:xfrm>
            <a:off x="3611880" y="1591056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7" name="blk1"/>
          <p:cNvSpPr/>
          <p:nvPr/>
        </p:nvSpPr>
        <p:spPr>
          <a:xfrm>
            <a:off x="3611880" y="1591056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8" name="blk1"/>
          <p:cNvSpPr/>
          <p:nvPr/>
        </p:nvSpPr>
        <p:spPr>
          <a:xfrm>
            <a:off x="3794760" y="17373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050" dirty="0"/>
          </a:p>
        </p:txBody>
      </p:sp>
      <p:sp>
        <p:nvSpPr>
          <p:cNvPr id="9" name="blk1"/>
          <p:cNvSpPr/>
          <p:nvPr/>
        </p:nvSpPr>
        <p:spPr>
          <a:xfrm>
            <a:off x="3794760" y="201168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Empty-chair technique</a:t>
            </a:r>
            <a:endParaRPr lang="en-US" sz="1150" dirty="0"/>
          </a:p>
        </p:txBody>
      </p:sp>
      <p:sp>
        <p:nvSpPr>
          <p:cNvPr id="10" name="blk2"/>
          <p:cNvSpPr/>
          <p:nvPr/>
        </p:nvSpPr>
        <p:spPr>
          <a:xfrm>
            <a:off x="6336792" y="1847088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1" name="blk2"/>
          <p:cNvSpPr/>
          <p:nvPr/>
        </p:nvSpPr>
        <p:spPr>
          <a:xfrm>
            <a:off x="6336792" y="1847088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2" name="blk2"/>
          <p:cNvSpPr/>
          <p:nvPr/>
        </p:nvSpPr>
        <p:spPr>
          <a:xfrm>
            <a:off x="6519672" y="19933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050" dirty="0"/>
          </a:p>
        </p:txBody>
      </p:sp>
      <p:sp>
        <p:nvSpPr>
          <p:cNvPr id="13" name="blk2"/>
          <p:cNvSpPr/>
          <p:nvPr/>
        </p:nvSpPr>
        <p:spPr>
          <a:xfrm>
            <a:off x="6519672" y="2267712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Two-chair dialogue</a:t>
            </a:r>
            <a:endParaRPr lang="en-US" sz="1150" dirty="0"/>
          </a:p>
        </p:txBody>
      </p:sp>
      <p:sp>
        <p:nvSpPr>
          <p:cNvPr id="14" name="blk3"/>
          <p:cNvSpPr/>
          <p:nvPr/>
        </p:nvSpPr>
        <p:spPr>
          <a:xfrm>
            <a:off x="9061704" y="1591056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5" name="blk3"/>
          <p:cNvSpPr/>
          <p:nvPr/>
        </p:nvSpPr>
        <p:spPr>
          <a:xfrm>
            <a:off x="9061704" y="1591056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6" name="blk3"/>
          <p:cNvSpPr/>
          <p:nvPr/>
        </p:nvSpPr>
        <p:spPr>
          <a:xfrm>
            <a:off x="9244584" y="17373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050" dirty="0"/>
          </a:p>
        </p:txBody>
      </p:sp>
      <p:sp>
        <p:nvSpPr>
          <p:cNvPr id="17" name="blk3"/>
          <p:cNvSpPr/>
          <p:nvPr/>
        </p:nvSpPr>
        <p:spPr>
          <a:xfrm>
            <a:off x="9244584" y="201168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Exaggeration</a:t>
            </a:r>
            <a:endParaRPr lang="en-US" sz="1150" dirty="0"/>
          </a:p>
        </p:txBody>
      </p:sp>
      <p:sp>
        <p:nvSpPr>
          <p:cNvPr id="18" name="blk1"/>
          <p:cNvSpPr/>
          <p:nvPr/>
        </p:nvSpPr>
        <p:spPr>
          <a:xfrm>
            <a:off x="3611880" y="2816352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9" name="blk1"/>
          <p:cNvSpPr/>
          <p:nvPr/>
        </p:nvSpPr>
        <p:spPr>
          <a:xfrm>
            <a:off x="3611880" y="2816352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20" name="blk1"/>
          <p:cNvSpPr/>
          <p:nvPr/>
        </p:nvSpPr>
        <p:spPr>
          <a:xfrm>
            <a:off x="3794760" y="296265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050" dirty="0"/>
          </a:p>
        </p:txBody>
      </p:sp>
      <p:sp>
        <p:nvSpPr>
          <p:cNvPr id="21" name="blk1"/>
          <p:cNvSpPr/>
          <p:nvPr/>
        </p:nvSpPr>
        <p:spPr>
          <a:xfrm>
            <a:off x="3794760" y="3236976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Staying with the feeling</a:t>
            </a:r>
            <a:endParaRPr lang="en-US" sz="1150" dirty="0"/>
          </a:p>
        </p:txBody>
      </p:sp>
      <p:sp>
        <p:nvSpPr>
          <p:cNvPr id="22" name="blk2"/>
          <p:cNvSpPr/>
          <p:nvPr/>
        </p:nvSpPr>
        <p:spPr>
          <a:xfrm>
            <a:off x="6336792" y="3072384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3" name="blk2"/>
          <p:cNvSpPr/>
          <p:nvPr/>
        </p:nvSpPr>
        <p:spPr>
          <a:xfrm>
            <a:off x="6336792" y="3072384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24" name="blk2"/>
          <p:cNvSpPr/>
          <p:nvPr/>
        </p:nvSpPr>
        <p:spPr>
          <a:xfrm>
            <a:off x="6519672" y="32186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050" dirty="0"/>
          </a:p>
        </p:txBody>
      </p:sp>
      <p:sp>
        <p:nvSpPr>
          <p:cNvPr id="25" name="blk2"/>
          <p:cNvSpPr/>
          <p:nvPr/>
        </p:nvSpPr>
        <p:spPr>
          <a:xfrm>
            <a:off x="6519672" y="3493008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Role-play</a:t>
            </a:r>
            <a:endParaRPr lang="en-US" sz="1150" dirty="0"/>
          </a:p>
        </p:txBody>
      </p:sp>
      <p:sp>
        <p:nvSpPr>
          <p:cNvPr id="26" name="blk3"/>
          <p:cNvSpPr/>
          <p:nvPr/>
        </p:nvSpPr>
        <p:spPr>
          <a:xfrm>
            <a:off x="9061704" y="2816352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7" name="blk3"/>
          <p:cNvSpPr/>
          <p:nvPr/>
        </p:nvSpPr>
        <p:spPr>
          <a:xfrm>
            <a:off x="9061704" y="2816352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28" name="blk3"/>
          <p:cNvSpPr/>
          <p:nvPr/>
        </p:nvSpPr>
        <p:spPr>
          <a:xfrm>
            <a:off x="9244584" y="296265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06</a:t>
            </a:r>
            <a:endParaRPr lang="en-US" sz="1050" dirty="0"/>
          </a:p>
        </p:txBody>
      </p:sp>
      <p:sp>
        <p:nvSpPr>
          <p:cNvPr id="29" name="blk3"/>
          <p:cNvSpPr/>
          <p:nvPr/>
        </p:nvSpPr>
        <p:spPr>
          <a:xfrm>
            <a:off x="9244584" y="3236976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Body awareness</a:t>
            </a:r>
            <a:endParaRPr lang="en-US" sz="1150" dirty="0"/>
          </a:p>
        </p:txBody>
      </p:sp>
      <p:sp>
        <p:nvSpPr>
          <p:cNvPr id="30" name="blk1"/>
          <p:cNvSpPr/>
          <p:nvPr/>
        </p:nvSpPr>
        <p:spPr>
          <a:xfrm>
            <a:off x="3611880" y="4041648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31" name="blk1"/>
          <p:cNvSpPr/>
          <p:nvPr/>
        </p:nvSpPr>
        <p:spPr>
          <a:xfrm>
            <a:off x="3611880" y="4041648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32" name="blk1"/>
          <p:cNvSpPr/>
          <p:nvPr/>
        </p:nvSpPr>
        <p:spPr>
          <a:xfrm>
            <a:off x="3794760" y="41879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07</a:t>
            </a:r>
            <a:endParaRPr lang="en-US" sz="1050" dirty="0"/>
          </a:p>
        </p:txBody>
      </p:sp>
      <p:sp>
        <p:nvSpPr>
          <p:cNvPr id="33" name="blk1"/>
          <p:cNvSpPr/>
          <p:nvPr/>
        </p:nvSpPr>
        <p:spPr>
          <a:xfrm>
            <a:off x="3794760" y="4462272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“I” statements</a:t>
            </a:r>
            <a:endParaRPr lang="en-US" sz="1150" dirty="0"/>
          </a:p>
        </p:txBody>
      </p:sp>
      <p:sp>
        <p:nvSpPr>
          <p:cNvPr id="34" name="blk2"/>
          <p:cNvSpPr/>
          <p:nvPr/>
        </p:nvSpPr>
        <p:spPr>
          <a:xfrm>
            <a:off x="6336792" y="4297680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35" name="blk2"/>
          <p:cNvSpPr/>
          <p:nvPr/>
        </p:nvSpPr>
        <p:spPr>
          <a:xfrm>
            <a:off x="6336792" y="4297680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36" name="blk2"/>
          <p:cNvSpPr/>
          <p:nvPr/>
        </p:nvSpPr>
        <p:spPr>
          <a:xfrm>
            <a:off x="6519672" y="444398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08</a:t>
            </a:r>
            <a:endParaRPr lang="en-US" sz="1050" dirty="0"/>
          </a:p>
        </p:txBody>
      </p:sp>
      <p:sp>
        <p:nvSpPr>
          <p:cNvPr id="37" name="blk2"/>
          <p:cNvSpPr/>
          <p:nvPr/>
        </p:nvSpPr>
        <p:spPr>
          <a:xfrm>
            <a:off x="6519672" y="4718304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Dream work</a:t>
            </a:r>
            <a:endParaRPr lang="en-US" sz="1150" dirty="0"/>
          </a:p>
        </p:txBody>
      </p:sp>
      <p:sp>
        <p:nvSpPr>
          <p:cNvPr id="38" name="blk3"/>
          <p:cNvSpPr/>
          <p:nvPr/>
        </p:nvSpPr>
        <p:spPr>
          <a:xfrm>
            <a:off x="9061704" y="4041648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39" name="blk3"/>
          <p:cNvSpPr/>
          <p:nvPr/>
        </p:nvSpPr>
        <p:spPr>
          <a:xfrm>
            <a:off x="9061704" y="4041648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0" name="blk3"/>
          <p:cNvSpPr/>
          <p:nvPr/>
        </p:nvSpPr>
        <p:spPr>
          <a:xfrm>
            <a:off x="9244584" y="41879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09</a:t>
            </a:r>
            <a:endParaRPr lang="en-US" sz="1050" dirty="0"/>
          </a:p>
        </p:txBody>
      </p:sp>
      <p:sp>
        <p:nvSpPr>
          <p:cNvPr id="41" name="blk3"/>
          <p:cNvSpPr/>
          <p:nvPr/>
        </p:nvSpPr>
        <p:spPr>
          <a:xfrm>
            <a:off x="9244584" y="4462272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Here-and-now questioning</a:t>
            </a:r>
            <a:endParaRPr lang="en-US" sz="1150" dirty="0"/>
          </a:p>
        </p:txBody>
      </p:sp>
      <p:sp>
        <p:nvSpPr>
          <p:cNvPr id="42" name="blk4"/>
          <p:cNvSpPr/>
          <p:nvPr/>
        </p:nvSpPr>
        <p:spPr>
          <a:xfrm>
            <a:off x="3611880" y="5623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(Joyce &amp; Sills, 2014)</a:t>
            </a:r>
            <a:endParaRPr lang="en-US" sz="950" dirty="0"/>
          </a:p>
        </p:txBody>
      </p:sp>
      <p:sp>
        <p:nvSpPr>
          <p:cNvPr id="43" name="Text 3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44" name="Text 4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1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8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1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4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7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0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30" presetClass="entr" presetSubtype="0" fill="hold" grpId="0" nodeType="after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bir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Empty-Chair Technique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591056"/>
            <a:ext cx="5852160" cy="2377440"/>
          </a:xfrm>
          <a:prstGeom prst="roundRect">
            <a:avLst>
              <a:gd name="adj" fmla="val 3462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6" name="blk1"/>
          <p:cNvSpPr/>
          <p:nvPr/>
        </p:nvSpPr>
        <p:spPr>
          <a:xfrm>
            <a:off x="841248" y="1792224"/>
            <a:ext cx="5376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Client imagines another person in an empty chair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Speaks directly to the imagined person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Brings unresolved experiences into </a:t>
            </a:r>
            <a:pPr indent="0" marL="0">
              <a:buNone/>
            </a:pPr>
            <a:r>
              <a:rPr lang="en-US" sz="1200" b="1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present awareness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Facilitates expression of unfinished emotions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May promote new awareness and perspectives</a:t>
            </a:r>
            <a:endParaRPr lang="en-US" sz="1200" dirty="0"/>
          </a:p>
        </p:txBody>
      </p:sp>
      <p:sp>
        <p:nvSpPr>
          <p:cNvPr id="7" name="blk2"/>
          <p:cNvSpPr/>
          <p:nvPr/>
        </p:nvSpPr>
        <p:spPr>
          <a:xfrm>
            <a:off x="1005840" y="4206240"/>
            <a:ext cx="5449824" cy="1737360"/>
          </a:xfrm>
          <a:prstGeom prst="roundRect">
            <a:avLst>
              <a:gd name="adj" fmla="val 4737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8" name="blk2"/>
          <p:cNvSpPr/>
          <p:nvPr/>
        </p:nvSpPr>
        <p:spPr>
          <a:xfrm>
            <a:off x="1005840" y="4206240"/>
            <a:ext cx="64008" cy="173736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9" name="blk2"/>
          <p:cNvSpPr/>
          <p:nvPr/>
        </p:nvSpPr>
        <p:spPr>
          <a:xfrm>
            <a:off x="1225296" y="4279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6B9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</a:t>
            </a:r>
            <a:endParaRPr lang="en-US" sz="3000" dirty="0"/>
          </a:p>
        </p:txBody>
      </p:sp>
      <p:sp>
        <p:nvSpPr>
          <p:cNvPr id="10" name="blk2"/>
          <p:cNvSpPr/>
          <p:nvPr/>
        </p:nvSpPr>
        <p:spPr>
          <a:xfrm>
            <a:off x="187452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EXAMPLE</a:t>
            </a:r>
            <a:endParaRPr lang="en-US" sz="900" dirty="0"/>
          </a:p>
        </p:txBody>
      </p:sp>
      <p:sp>
        <p:nvSpPr>
          <p:cNvPr id="11" name="blk2"/>
          <p:cNvSpPr/>
          <p:nvPr/>
        </p:nvSpPr>
        <p:spPr>
          <a:xfrm>
            <a:off x="1874520" y="475488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162B5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Imagine your father is sitting in that chair. What would you want him to hear from you?</a:t>
            </a:r>
            <a:endParaRPr lang="en-US" sz="1350" dirty="0"/>
          </a:p>
        </p:txBody>
      </p:sp>
      <p:pic>
        <p:nvPicPr>
          <p:cNvPr id="12" name="img" descr="/home/user/Business-e-books/presentations/gestalt-theory-counselling/assets/p-chai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91056"/>
            <a:ext cx="4910328" cy="3685032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13" name="blk3"/>
          <p:cNvSpPr/>
          <p:nvPr/>
        </p:nvSpPr>
        <p:spPr>
          <a:xfrm>
            <a:off x="6675120" y="5440680"/>
            <a:ext cx="4910328" cy="896112"/>
          </a:xfrm>
          <a:prstGeom prst="roundRect">
            <a:avLst>
              <a:gd name="adj" fmla="val 9184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14" name="blk3"/>
          <p:cNvSpPr/>
          <p:nvPr/>
        </p:nvSpPr>
        <p:spPr>
          <a:xfrm>
            <a:off x="6858000" y="5532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20" kern="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SETUP</a:t>
            </a:r>
            <a:endParaRPr lang="en-US" sz="800" dirty="0"/>
          </a:p>
        </p:txBody>
      </p:sp>
      <p:sp>
        <p:nvSpPr>
          <p:cNvPr id="15" name="blk3"/>
          <p:cNvSpPr/>
          <p:nvPr/>
        </p:nvSpPr>
        <p:spPr>
          <a:xfrm>
            <a:off x="6858000" y="5815584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0A1937"/>
          </a:solidFill>
          <a:ln>
            <a:solidFill>
              <a:srgbClr val="0A19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CLIENT</a:t>
            </a:r>
            <a:endParaRPr lang="en-US" sz="1050" dirty="0"/>
          </a:p>
        </p:txBody>
      </p:sp>
      <p:sp>
        <p:nvSpPr>
          <p:cNvPr id="16" name="blk3"/>
          <p:cNvSpPr/>
          <p:nvPr/>
        </p:nvSpPr>
        <p:spPr>
          <a:xfrm>
            <a:off x="8257032" y="581558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↔</a:t>
            </a:r>
            <a:endParaRPr lang="en-US" sz="1500" dirty="0"/>
          </a:p>
        </p:txBody>
      </p:sp>
      <p:sp>
        <p:nvSpPr>
          <p:cNvPr id="17" name="blk3"/>
          <p:cNvSpPr/>
          <p:nvPr/>
        </p:nvSpPr>
        <p:spPr>
          <a:xfrm>
            <a:off x="8686800" y="5815584"/>
            <a:ext cx="1691640" cy="457200"/>
          </a:xfrm>
          <a:prstGeom prst="roundRect">
            <a:avLst>
              <a:gd name="adj" fmla="val 12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5C6C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IMAGINED PERSON</a:t>
            </a:r>
            <a:endParaRPr lang="en-US" sz="900" dirty="0"/>
          </a:p>
        </p:txBody>
      </p:sp>
      <p:sp>
        <p:nvSpPr>
          <p:cNvPr id="18" name="blk2"/>
          <p:cNvSpPr/>
          <p:nvPr/>
        </p:nvSpPr>
        <p:spPr>
          <a:xfrm>
            <a:off x="603504" y="6108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(Joyce &amp; Sills, 2014)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0" name="Text 1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bir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Other Experiential Techniques</a:t>
            </a:r>
            <a:endParaRPr lang="en-US" sz="2600" dirty="0"/>
          </a:p>
        </p:txBody>
      </p:sp>
      <p:pic>
        <p:nvPicPr>
          <p:cNvPr id="5" name="Image 1" descr="/home/user/Business-e-books/presentations/gestalt-theory-counselling/assets/circle-cand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1008" y="384048"/>
            <a:ext cx="1234440" cy="1234440"/>
          </a:xfrm>
          <a:prstGeom prst="roundRect">
            <a:avLst>
              <a:gd name="adj" fmla="val 5000"/>
            </a:avLst>
          </a:prstGeom>
        </p:spPr>
      </p:pic>
      <p:sp>
        <p:nvSpPr>
          <p:cNvPr id="6" name="blk1"/>
          <p:cNvSpPr/>
          <p:nvPr/>
        </p:nvSpPr>
        <p:spPr>
          <a:xfrm>
            <a:off x="603504" y="1517904"/>
            <a:ext cx="10981944" cy="4553712"/>
          </a:xfrm>
          <a:prstGeom prst="roundRect">
            <a:avLst>
              <a:gd name="adj" fmla="val 1807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7" name="blk1"/>
          <p:cNvSpPr/>
          <p:nvPr/>
        </p:nvSpPr>
        <p:spPr>
          <a:xfrm>
            <a:off x="822960" y="1737360"/>
            <a:ext cx="3931920" cy="45720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8" name="blk1"/>
          <p:cNvSpPr/>
          <p:nvPr/>
        </p:nvSpPr>
        <p:spPr>
          <a:xfrm>
            <a:off x="4754880" y="1737360"/>
            <a:ext cx="6611112" cy="45720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9" name="blk1"/>
          <p:cNvSpPr/>
          <p:nvPr/>
        </p:nvSpPr>
        <p:spPr>
          <a:xfrm>
            <a:off x="1060704" y="1737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TECHNIQUE</a:t>
            </a:r>
            <a:endParaRPr lang="en-US" sz="1050" dirty="0"/>
          </a:p>
        </p:txBody>
      </p:sp>
      <p:sp>
        <p:nvSpPr>
          <p:cNvPr id="10" name="blk1"/>
          <p:cNvSpPr/>
          <p:nvPr/>
        </p:nvSpPr>
        <p:spPr>
          <a:xfrm>
            <a:off x="4992624" y="1737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PURPOSE</a:t>
            </a:r>
            <a:endParaRPr lang="en-US" sz="1050" dirty="0"/>
          </a:p>
        </p:txBody>
      </p:sp>
      <p:sp>
        <p:nvSpPr>
          <p:cNvPr id="11" name="blk1"/>
          <p:cNvSpPr/>
          <p:nvPr/>
        </p:nvSpPr>
        <p:spPr>
          <a:xfrm>
            <a:off x="822960" y="2194560"/>
            <a:ext cx="10543032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blk1"/>
          <p:cNvSpPr/>
          <p:nvPr/>
        </p:nvSpPr>
        <p:spPr>
          <a:xfrm>
            <a:off x="822960" y="2798064"/>
            <a:ext cx="10543032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3" name="blk1"/>
          <p:cNvSpPr/>
          <p:nvPr/>
        </p:nvSpPr>
        <p:spPr>
          <a:xfrm>
            <a:off x="1060704" y="219456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Two-chair dialogue</a:t>
            </a:r>
            <a:endParaRPr lang="en-US" sz="1200" dirty="0"/>
          </a:p>
        </p:txBody>
      </p:sp>
      <p:sp>
        <p:nvSpPr>
          <p:cNvPr id="14" name="blk1"/>
          <p:cNvSpPr/>
          <p:nvPr/>
        </p:nvSpPr>
        <p:spPr>
          <a:xfrm>
            <a:off x="4992624" y="219456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Explore opposing parts</a:t>
            </a:r>
            <a:endParaRPr lang="en-US" sz="1200" dirty="0"/>
          </a:p>
        </p:txBody>
      </p:sp>
      <p:sp>
        <p:nvSpPr>
          <p:cNvPr id="15" name="blk1"/>
          <p:cNvSpPr/>
          <p:nvPr/>
        </p:nvSpPr>
        <p:spPr>
          <a:xfrm>
            <a:off x="822960" y="2798064"/>
            <a:ext cx="10543032" cy="603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16" name="blk1"/>
          <p:cNvSpPr/>
          <p:nvPr/>
        </p:nvSpPr>
        <p:spPr>
          <a:xfrm>
            <a:off x="822960" y="3401568"/>
            <a:ext cx="10543032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7" name="blk1"/>
          <p:cNvSpPr/>
          <p:nvPr/>
        </p:nvSpPr>
        <p:spPr>
          <a:xfrm>
            <a:off x="1060704" y="279806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Exaggeration</a:t>
            </a:r>
            <a:endParaRPr lang="en-US" sz="1200" dirty="0"/>
          </a:p>
        </p:txBody>
      </p:sp>
      <p:sp>
        <p:nvSpPr>
          <p:cNvPr id="18" name="blk1"/>
          <p:cNvSpPr/>
          <p:nvPr/>
        </p:nvSpPr>
        <p:spPr>
          <a:xfrm>
            <a:off x="4992624" y="2798064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Increase awareness</a:t>
            </a:r>
            <a:endParaRPr lang="en-US" sz="1200" dirty="0"/>
          </a:p>
        </p:txBody>
      </p:sp>
      <p:sp>
        <p:nvSpPr>
          <p:cNvPr id="19" name="blk1"/>
          <p:cNvSpPr/>
          <p:nvPr/>
        </p:nvSpPr>
        <p:spPr>
          <a:xfrm>
            <a:off x="822960" y="3401568"/>
            <a:ext cx="10543032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blk1"/>
          <p:cNvSpPr/>
          <p:nvPr/>
        </p:nvSpPr>
        <p:spPr>
          <a:xfrm>
            <a:off x="822960" y="4005072"/>
            <a:ext cx="10543032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1" name="blk1"/>
          <p:cNvSpPr/>
          <p:nvPr/>
        </p:nvSpPr>
        <p:spPr>
          <a:xfrm>
            <a:off x="1060704" y="340156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Staying with the feeling</a:t>
            </a:r>
            <a:endParaRPr lang="en-US" sz="1200" dirty="0"/>
          </a:p>
        </p:txBody>
      </p:sp>
      <p:sp>
        <p:nvSpPr>
          <p:cNvPr id="22" name="blk1"/>
          <p:cNvSpPr/>
          <p:nvPr/>
        </p:nvSpPr>
        <p:spPr>
          <a:xfrm>
            <a:off x="4992624" y="340156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Explore emerging emotions</a:t>
            </a:r>
            <a:endParaRPr lang="en-US" sz="1200" dirty="0"/>
          </a:p>
        </p:txBody>
      </p:sp>
      <p:sp>
        <p:nvSpPr>
          <p:cNvPr id="23" name="blk1"/>
          <p:cNvSpPr/>
          <p:nvPr/>
        </p:nvSpPr>
        <p:spPr>
          <a:xfrm>
            <a:off x="822960" y="4005072"/>
            <a:ext cx="10543032" cy="603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24" name="blk1"/>
          <p:cNvSpPr/>
          <p:nvPr/>
        </p:nvSpPr>
        <p:spPr>
          <a:xfrm>
            <a:off x="822960" y="4608576"/>
            <a:ext cx="10543032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5" name="blk1"/>
          <p:cNvSpPr/>
          <p:nvPr/>
        </p:nvSpPr>
        <p:spPr>
          <a:xfrm>
            <a:off x="1060704" y="400507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Body awareness</a:t>
            </a:r>
            <a:endParaRPr lang="en-US" sz="1200" dirty="0"/>
          </a:p>
        </p:txBody>
      </p:sp>
      <p:sp>
        <p:nvSpPr>
          <p:cNvPr id="26" name="blk1"/>
          <p:cNvSpPr/>
          <p:nvPr/>
        </p:nvSpPr>
        <p:spPr>
          <a:xfrm>
            <a:off x="4992624" y="4005072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Notice physical experience</a:t>
            </a:r>
            <a:endParaRPr lang="en-US" sz="1200" dirty="0"/>
          </a:p>
        </p:txBody>
      </p:sp>
      <p:sp>
        <p:nvSpPr>
          <p:cNvPr id="27" name="blk1"/>
          <p:cNvSpPr/>
          <p:nvPr/>
        </p:nvSpPr>
        <p:spPr>
          <a:xfrm>
            <a:off x="822960" y="4608576"/>
            <a:ext cx="10543032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blk1"/>
          <p:cNvSpPr/>
          <p:nvPr/>
        </p:nvSpPr>
        <p:spPr>
          <a:xfrm>
            <a:off x="822960" y="5212080"/>
            <a:ext cx="10543032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9" name="blk1"/>
          <p:cNvSpPr/>
          <p:nvPr/>
        </p:nvSpPr>
        <p:spPr>
          <a:xfrm>
            <a:off x="1060704" y="460857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“I” statements</a:t>
            </a:r>
            <a:endParaRPr lang="en-US" sz="1200" dirty="0"/>
          </a:p>
        </p:txBody>
      </p:sp>
      <p:sp>
        <p:nvSpPr>
          <p:cNvPr id="30" name="blk1"/>
          <p:cNvSpPr/>
          <p:nvPr/>
        </p:nvSpPr>
        <p:spPr>
          <a:xfrm>
            <a:off x="4992624" y="460857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Own personal experience</a:t>
            </a:r>
            <a:endParaRPr lang="en-US" sz="1200" dirty="0"/>
          </a:p>
        </p:txBody>
      </p:sp>
      <p:sp>
        <p:nvSpPr>
          <p:cNvPr id="31" name="blk1"/>
          <p:cNvSpPr/>
          <p:nvPr/>
        </p:nvSpPr>
        <p:spPr>
          <a:xfrm>
            <a:off x="822960" y="5212080"/>
            <a:ext cx="10543032" cy="603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32" name="blk1"/>
          <p:cNvSpPr/>
          <p:nvPr/>
        </p:nvSpPr>
        <p:spPr>
          <a:xfrm>
            <a:off x="822960" y="5815584"/>
            <a:ext cx="10543032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3" name="blk1"/>
          <p:cNvSpPr/>
          <p:nvPr/>
        </p:nvSpPr>
        <p:spPr>
          <a:xfrm>
            <a:off x="1060704" y="521208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Dream work</a:t>
            </a:r>
            <a:endParaRPr lang="en-US" sz="1200" dirty="0"/>
          </a:p>
        </p:txBody>
      </p:sp>
      <p:sp>
        <p:nvSpPr>
          <p:cNvPr id="34" name="blk1"/>
          <p:cNvSpPr/>
          <p:nvPr/>
        </p:nvSpPr>
        <p:spPr>
          <a:xfrm>
            <a:off x="4992624" y="521208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Explore present meaning</a:t>
            </a:r>
            <a:endParaRPr lang="en-US" sz="1200" dirty="0"/>
          </a:p>
        </p:txBody>
      </p:sp>
      <p:sp>
        <p:nvSpPr>
          <p:cNvPr id="35" name="blk2"/>
          <p:cNvSpPr/>
          <p:nvPr/>
        </p:nvSpPr>
        <p:spPr>
          <a:xfrm>
            <a:off x="603504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(Joyce &amp; Sills, 2014)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1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4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7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0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3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6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9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bir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9692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Application in Counselling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591056"/>
            <a:ext cx="6766560" cy="3017520"/>
          </a:xfrm>
          <a:prstGeom prst="roundRect">
            <a:avLst>
              <a:gd name="adj" fmla="val 2727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6" name="blk1"/>
          <p:cNvSpPr/>
          <p:nvPr/>
        </p:nvSpPr>
        <p:spPr>
          <a:xfrm>
            <a:off x="841248" y="17739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 CAN BE APPLIED TO</a:t>
            </a:r>
            <a:endParaRPr lang="en-US" sz="900" dirty="0"/>
          </a:p>
        </p:txBody>
      </p:sp>
      <p:sp>
        <p:nvSpPr>
          <p:cNvPr id="7" name="blk1"/>
          <p:cNvSpPr/>
          <p:nvPr/>
        </p:nvSpPr>
        <p:spPr>
          <a:xfrm>
            <a:off x="841248" y="2103120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Grief and loss</a:t>
            </a:r>
            <a:endParaRPr lang="en-US" sz="1050" dirty="0"/>
          </a:p>
        </p:txBody>
      </p:sp>
      <p:sp>
        <p:nvSpPr>
          <p:cNvPr id="8" name="blk1"/>
          <p:cNvSpPr/>
          <p:nvPr/>
        </p:nvSpPr>
        <p:spPr>
          <a:xfrm>
            <a:off x="4059936" y="2103120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Relationship difficulties</a:t>
            </a:r>
            <a:endParaRPr lang="en-US" sz="1050" dirty="0"/>
          </a:p>
        </p:txBody>
      </p:sp>
      <p:sp>
        <p:nvSpPr>
          <p:cNvPr id="9" name="blk1"/>
          <p:cNvSpPr/>
          <p:nvPr/>
        </p:nvSpPr>
        <p:spPr>
          <a:xfrm>
            <a:off x="841248" y="2706624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Anxiety and emotional distress</a:t>
            </a:r>
            <a:endParaRPr lang="en-US" sz="1050" dirty="0"/>
          </a:p>
        </p:txBody>
      </p:sp>
      <p:sp>
        <p:nvSpPr>
          <p:cNvPr id="10" name="blk1"/>
          <p:cNvSpPr/>
          <p:nvPr/>
        </p:nvSpPr>
        <p:spPr>
          <a:xfrm>
            <a:off x="4059936" y="2706624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Unresolved anger</a:t>
            </a:r>
            <a:endParaRPr lang="en-US" sz="1050" dirty="0"/>
          </a:p>
        </p:txBody>
      </p:sp>
      <p:sp>
        <p:nvSpPr>
          <p:cNvPr id="11" name="blk1"/>
          <p:cNvSpPr/>
          <p:nvPr/>
        </p:nvSpPr>
        <p:spPr>
          <a:xfrm>
            <a:off x="841248" y="3310128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Identity concerns</a:t>
            </a:r>
            <a:endParaRPr lang="en-US" sz="1050" dirty="0"/>
          </a:p>
        </p:txBody>
      </p:sp>
      <p:sp>
        <p:nvSpPr>
          <p:cNvPr id="12" name="blk1"/>
          <p:cNvSpPr/>
          <p:nvPr/>
        </p:nvSpPr>
        <p:spPr>
          <a:xfrm>
            <a:off x="4059936" y="3310128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Emotional-expression difficulties</a:t>
            </a:r>
            <a:endParaRPr lang="en-US" sz="1050" dirty="0"/>
          </a:p>
        </p:txBody>
      </p:sp>
      <p:sp>
        <p:nvSpPr>
          <p:cNvPr id="13" name="blk1"/>
          <p:cNvSpPr/>
          <p:nvPr/>
        </p:nvSpPr>
        <p:spPr>
          <a:xfrm>
            <a:off x="841248" y="3913632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Personal growth</a:t>
            </a:r>
            <a:endParaRPr lang="en-US" sz="1050" dirty="0"/>
          </a:p>
        </p:txBody>
      </p:sp>
      <p:sp>
        <p:nvSpPr>
          <p:cNvPr id="14" name="blk1"/>
          <p:cNvSpPr/>
          <p:nvPr/>
        </p:nvSpPr>
        <p:spPr>
          <a:xfrm>
            <a:off x="4059936" y="3913632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Unresolved interpersonal experiences</a:t>
            </a:r>
            <a:endParaRPr lang="en-US" sz="1050" dirty="0"/>
          </a:p>
        </p:txBody>
      </p:sp>
      <p:sp>
        <p:nvSpPr>
          <p:cNvPr id="15" name="blk2"/>
          <p:cNvSpPr/>
          <p:nvPr/>
        </p:nvSpPr>
        <p:spPr>
          <a:xfrm>
            <a:off x="603504" y="4800600"/>
            <a:ext cx="6766560" cy="1234440"/>
          </a:xfrm>
          <a:prstGeom prst="roundRect">
            <a:avLst>
              <a:gd name="adj" fmla="val 6667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16" name="blk2"/>
          <p:cNvSpPr/>
          <p:nvPr/>
        </p:nvSpPr>
        <p:spPr>
          <a:xfrm>
            <a:off x="841248" y="49377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THERAPEUTIC MOVEMENT</a:t>
            </a:r>
            <a:endParaRPr lang="en-US" sz="850" dirty="0"/>
          </a:p>
        </p:txBody>
      </p:sp>
      <p:sp>
        <p:nvSpPr>
          <p:cNvPr id="17" name="blk2"/>
          <p:cNvSpPr/>
          <p:nvPr/>
        </p:nvSpPr>
        <p:spPr>
          <a:xfrm>
            <a:off x="841248" y="5230368"/>
            <a:ext cx="6291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</a:t>
            </a:r>
            <a:pPr algn="l" indent="0" marL="0">
              <a:buNone/>
            </a:pPr>
            <a:r>
              <a:rPr lang="en-US" sz="135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</a:t>
            </a:r>
            <a:pPr algn="l" indent="0" marL="0">
              <a:buNone/>
            </a:pPr>
            <a:r>
              <a:rPr lang="en-US" sz="135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Responsibility</a:t>
            </a:r>
            <a:pPr algn="l" indent="0" marL="0">
              <a:buNone/>
            </a:pPr>
            <a:r>
              <a:rPr lang="en-US" sz="135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</a:t>
            </a:r>
            <a:pPr algn="l" indent="0" marL="0">
              <a:buNone/>
            </a:pPr>
            <a:r>
              <a:rPr lang="en-US" sz="135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Growth</a:t>
            </a:r>
            <a:endParaRPr lang="en-US" sz="1350" dirty="0"/>
          </a:p>
        </p:txBody>
      </p:sp>
      <p:pic>
        <p:nvPicPr>
          <p:cNvPr id="18" name="img" descr="/home/user/Business-e-books/presentations/gestalt-theory-counselling/assets/h-gro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591056"/>
            <a:ext cx="4041648" cy="4443984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19" name="blk3"/>
          <p:cNvSpPr/>
          <p:nvPr/>
        </p:nvSpPr>
        <p:spPr>
          <a:xfrm>
            <a:off x="603504" y="614476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(Brownell, 2010; Joyce &amp; Sills, 2014)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1" name="Text 1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sh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Strengths of Gestalt Therapy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591056"/>
            <a:ext cx="3520440" cy="877824"/>
          </a:xfrm>
          <a:prstGeom prst="roundRect">
            <a:avLst>
              <a:gd name="adj" fmla="val 7292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6" name="blk1"/>
          <p:cNvSpPr/>
          <p:nvPr/>
        </p:nvSpPr>
        <p:spPr>
          <a:xfrm>
            <a:off x="749808" y="1856232"/>
            <a:ext cx="347472" cy="34747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7" name="blk1"/>
          <p:cNvSpPr/>
          <p:nvPr/>
        </p:nvSpPr>
        <p:spPr>
          <a:xfrm>
            <a:off x="749808" y="1856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✓</a:t>
            </a:r>
            <a:endParaRPr lang="en-US" sz="1100" dirty="0"/>
          </a:p>
        </p:txBody>
      </p:sp>
      <p:sp>
        <p:nvSpPr>
          <p:cNvPr id="8" name="blk1"/>
          <p:cNvSpPr/>
          <p:nvPr/>
        </p:nvSpPr>
        <p:spPr>
          <a:xfrm>
            <a:off x="1243584" y="159105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Promotes self-awareness</a:t>
            </a:r>
            <a:endParaRPr lang="en-US" sz="1200" dirty="0"/>
          </a:p>
        </p:txBody>
      </p:sp>
      <p:sp>
        <p:nvSpPr>
          <p:cNvPr id="9" name="blk1"/>
          <p:cNvSpPr/>
          <p:nvPr/>
        </p:nvSpPr>
        <p:spPr>
          <a:xfrm>
            <a:off x="603504" y="2596896"/>
            <a:ext cx="3520440" cy="877824"/>
          </a:xfrm>
          <a:prstGeom prst="roundRect">
            <a:avLst>
              <a:gd name="adj" fmla="val 7292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0" name="blk1"/>
          <p:cNvSpPr/>
          <p:nvPr/>
        </p:nvSpPr>
        <p:spPr>
          <a:xfrm>
            <a:off x="749808" y="2862072"/>
            <a:ext cx="347472" cy="34747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11" name="blk1"/>
          <p:cNvSpPr/>
          <p:nvPr/>
        </p:nvSpPr>
        <p:spPr>
          <a:xfrm>
            <a:off x="749808" y="2862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blk1"/>
          <p:cNvSpPr/>
          <p:nvPr/>
        </p:nvSpPr>
        <p:spPr>
          <a:xfrm>
            <a:off x="1243584" y="259689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lived experience</a:t>
            </a:r>
            <a:endParaRPr lang="en-US" sz="1200" dirty="0"/>
          </a:p>
        </p:txBody>
      </p:sp>
      <p:sp>
        <p:nvSpPr>
          <p:cNvPr id="13" name="blk1"/>
          <p:cNvSpPr/>
          <p:nvPr/>
        </p:nvSpPr>
        <p:spPr>
          <a:xfrm>
            <a:off x="603504" y="3602736"/>
            <a:ext cx="3520440" cy="877824"/>
          </a:xfrm>
          <a:prstGeom prst="roundRect">
            <a:avLst>
              <a:gd name="adj" fmla="val 7292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4" name="blk1"/>
          <p:cNvSpPr/>
          <p:nvPr/>
        </p:nvSpPr>
        <p:spPr>
          <a:xfrm>
            <a:off x="749808" y="3867912"/>
            <a:ext cx="347472" cy="34747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15" name="blk1"/>
          <p:cNvSpPr/>
          <p:nvPr/>
        </p:nvSpPr>
        <p:spPr>
          <a:xfrm>
            <a:off x="749808" y="3867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blk1"/>
          <p:cNvSpPr/>
          <p:nvPr/>
        </p:nvSpPr>
        <p:spPr>
          <a:xfrm>
            <a:off x="1243584" y="360273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agency and responsibility</a:t>
            </a:r>
            <a:endParaRPr lang="en-US" sz="1200" dirty="0"/>
          </a:p>
        </p:txBody>
      </p:sp>
      <p:sp>
        <p:nvSpPr>
          <p:cNvPr id="17" name="blk1"/>
          <p:cNvSpPr/>
          <p:nvPr/>
        </p:nvSpPr>
        <p:spPr>
          <a:xfrm>
            <a:off x="603504" y="4608576"/>
            <a:ext cx="3520440" cy="877824"/>
          </a:xfrm>
          <a:prstGeom prst="roundRect">
            <a:avLst>
              <a:gd name="adj" fmla="val 7292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8" name="blk1"/>
          <p:cNvSpPr/>
          <p:nvPr/>
        </p:nvSpPr>
        <p:spPr>
          <a:xfrm>
            <a:off x="749808" y="4873752"/>
            <a:ext cx="347472" cy="34747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19" name="blk1"/>
          <p:cNvSpPr/>
          <p:nvPr/>
        </p:nvSpPr>
        <p:spPr>
          <a:xfrm>
            <a:off x="749808" y="4873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✓</a:t>
            </a:r>
            <a:endParaRPr lang="en-US" sz="1100" dirty="0"/>
          </a:p>
        </p:txBody>
      </p:sp>
      <p:sp>
        <p:nvSpPr>
          <p:cNvPr id="20" name="blk1"/>
          <p:cNvSpPr/>
          <p:nvPr/>
        </p:nvSpPr>
        <p:spPr>
          <a:xfrm>
            <a:off x="1243584" y="460857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Integrates mind, emotion and body</a:t>
            </a:r>
            <a:endParaRPr lang="en-US" sz="1200" dirty="0"/>
          </a:p>
        </p:txBody>
      </p:sp>
      <p:sp>
        <p:nvSpPr>
          <p:cNvPr id="21" name="blk2"/>
          <p:cNvSpPr/>
          <p:nvPr/>
        </p:nvSpPr>
        <p:spPr>
          <a:xfrm>
            <a:off x="4315968" y="1865376"/>
            <a:ext cx="3520440" cy="877824"/>
          </a:xfrm>
          <a:prstGeom prst="roundRect">
            <a:avLst>
              <a:gd name="adj" fmla="val 7292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2" name="blk2"/>
          <p:cNvSpPr/>
          <p:nvPr/>
        </p:nvSpPr>
        <p:spPr>
          <a:xfrm>
            <a:off x="4462272" y="2130552"/>
            <a:ext cx="347472" cy="34747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23" name="blk2"/>
          <p:cNvSpPr/>
          <p:nvPr/>
        </p:nvSpPr>
        <p:spPr>
          <a:xfrm>
            <a:off x="4462272" y="21305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blk2"/>
          <p:cNvSpPr/>
          <p:nvPr/>
        </p:nvSpPr>
        <p:spPr>
          <a:xfrm>
            <a:off x="4956048" y="186537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Considers person–environment interaction</a:t>
            </a:r>
            <a:endParaRPr lang="en-US" sz="1200" dirty="0"/>
          </a:p>
        </p:txBody>
      </p:sp>
      <p:sp>
        <p:nvSpPr>
          <p:cNvPr id="25" name="blk2"/>
          <p:cNvSpPr/>
          <p:nvPr/>
        </p:nvSpPr>
        <p:spPr>
          <a:xfrm>
            <a:off x="4315968" y="2871216"/>
            <a:ext cx="3520440" cy="877824"/>
          </a:xfrm>
          <a:prstGeom prst="roundRect">
            <a:avLst>
              <a:gd name="adj" fmla="val 7292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6" name="blk2"/>
          <p:cNvSpPr/>
          <p:nvPr/>
        </p:nvSpPr>
        <p:spPr>
          <a:xfrm>
            <a:off x="4462272" y="3136392"/>
            <a:ext cx="347472" cy="34747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27" name="blk2"/>
          <p:cNvSpPr/>
          <p:nvPr/>
        </p:nvSpPr>
        <p:spPr>
          <a:xfrm>
            <a:off x="4462272" y="31363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✓</a:t>
            </a:r>
            <a:endParaRPr lang="en-US" sz="1100" dirty="0"/>
          </a:p>
        </p:txBody>
      </p:sp>
      <p:sp>
        <p:nvSpPr>
          <p:cNvPr id="28" name="blk2"/>
          <p:cNvSpPr/>
          <p:nvPr/>
        </p:nvSpPr>
        <p:spPr>
          <a:xfrm>
            <a:off x="4956048" y="287121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active client participation</a:t>
            </a:r>
            <a:endParaRPr lang="en-US" sz="1200" dirty="0"/>
          </a:p>
        </p:txBody>
      </p:sp>
      <p:sp>
        <p:nvSpPr>
          <p:cNvPr id="29" name="blk2"/>
          <p:cNvSpPr/>
          <p:nvPr/>
        </p:nvSpPr>
        <p:spPr>
          <a:xfrm>
            <a:off x="4315968" y="3877056"/>
            <a:ext cx="3520440" cy="877824"/>
          </a:xfrm>
          <a:prstGeom prst="roundRect">
            <a:avLst>
              <a:gd name="adj" fmla="val 7292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30" name="blk2"/>
          <p:cNvSpPr/>
          <p:nvPr/>
        </p:nvSpPr>
        <p:spPr>
          <a:xfrm>
            <a:off x="4462272" y="4142232"/>
            <a:ext cx="347472" cy="34747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31" name="blk2"/>
          <p:cNvSpPr/>
          <p:nvPr/>
        </p:nvSpPr>
        <p:spPr>
          <a:xfrm>
            <a:off x="4462272" y="4142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✓</a:t>
            </a:r>
            <a:endParaRPr lang="en-US" sz="1100" dirty="0"/>
          </a:p>
        </p:txBody>
      </p:sp>
      <p:sp>
        <p:nvSpPr>
          <p:cNvPr id="32" name="blk2"/>
          <p:cNvSpPr/>
          <p:nvPr/>
        </p:nvSpPr>
        <p:spPr>
          <a:xfrm>
            <a:off x="4956048" y="387705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Supports experiential emotional processing</a:t>
            </a:r>
            <a:endParaRPr lang="en-US" sz="1200" dirty="0"/>
          </a:p>
        </p:txBody>
      </p:sp>
      <p:pic>
        <p:nvPicPr>
          <p:cNvPr id="33" name="img" descr="/home/user/Business-e-books/presentations/gestalt-theory-counselling/assets/h-suppor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591056"/>
            <a:ext cx="3584448" cy="416052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34" name="Text 30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35" name="Text 31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3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sh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Limitations and Criticisms</a:t>
            </a:r>
            <a:endParaRPr lang="en-US" sz="2600" dirty="0"/>
          </a:p>
        </p:txBody>
      </p:sp>
      <p:pic>
        <p:nvPicPr>
          <p:cNvPr id="5" name="img" descr="/home/user/Business-e-books/presentations/gestalt-theory-counselling/assets/p-stor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737360"/>
            <a:ext cx="3566160" cy="416052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pic>
      <p:sp>
        <p:nvSpPr>
          <p:cNvPr id="6" name="blk1"/>
          <p:cNvSpPr/>
          <p:nvPr/>
        </p:nvSpPr>
        <p:spPr>
          <a:xfrm>
            <a:off x="4434840" y="1737360"/>
            <a:ext cx="3474720" cy="4160520"/>
          </a:xfrm>
          <a:prstGeom prst="roundRect">
            <a:avLst>
              <a:gd name="adj" fmla="val 2368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7" name="blk1"/>
          <p:cNvSpPr/>
          <p:nvPr/>
        </p:nvSpPr>
        <p:spPr>
          <a:xfrm>
            <a:off x="4672584" y="1975104"/>
            <a:ext cx="2999232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Some techniques may feel intense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Requires skilled and sensitive application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May be challenging for clients who prefer highly structured approaches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Experiential techniques can be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misused</a:t>
            </a:r>
            <a:endParaRPr lang="en-US" sz="1200" dirty="0"/>
          </a:p>
        </p:txBody>
      </p:sp>
      <p:sp>
        <p:nvSpPr>
          <p:cNvPr id="8" name="blk2"/>
          <p:cNvSpPr/>
          <p:nvPr/>
        </p:nvSpPr>
        <p:spPr>
          <a:xfrm>
            <a:off x="8110728" y="2057400"/>
            <a:ext cx="3474720" cy="3840480"/>
          </a:xfrm>
          <a:prstGeom prst="roundRect">
            <a:avLst>
              <a:gd name="adj" fmla="val 2368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9" name="blk2"/>
          <p:cNvSpPr/>
          <p:nvPr/>
        </p:nvSpPr>
        <p:spPr>
          <a:xfrm>
            <a:off x="8348472" y="2295144"/>
            <a:ext cx="299923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every intervention suits every client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Cultural context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must be considered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Ethical boundaries are essential</a:t>
            </a:r>
            <a:endParaRPr lang="en-US" sz="1200" dirty="0"/>
          </a:p>
        </p:txBody>
      </p:sp>
      <p:sp>
        <p:nvSpPr>
          <p:cNvPr id="10" name="blk3"/>
          <p:cNvSpPr/>
          <p:nvPr/>
        </p:nvSpPr>
        <p:spPr>
          <a:xfrm>
            <a:off x="603504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(Corey, 2024; Joyce &amp; Sills, 2014)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sh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Case Application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591056"/>
            <a:ext cx="3246120" cy="4526280"/>
          </a:xfrm>
          <a:prstGeom prst="roundRect">
            <a:avLst>
              <a:gd name="adj" fmla="val 253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pic>
        <p:nvPicPr>
          <p:cNvPr id="6" name="blk1" descr="/home/user/Business-e-books/presentations/gestalt-theory-counselling/assets/h-student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700784"/>
            <a:ext cx="3026664" cy="2816352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7" name="blk1"/>
          <p:cNvSpPr/>
          <p:nvPr/>
        </p:nvSpPr>
        <p:spPr>
          <a:xfrm>
            <a:off x="859536" y="471830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CLIENT</a:t>
            </a:r>
            <a:endParaRPr lang="en-US" sz="900" dirty="0"/>
          </a:p>
        </p:txBody>
      </p:sp>
      <p:sp>
        <p:nvSpPr>
          <p:cNvPr id="8" name="blk1"/>
          <p:cNvSpPr/>
          <p:nvPr/>
        </p:nvSpPr>
        <p:spPr>
          <a:xfrm>
            <a:off x="859536" y="497433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20-year-old undergraduate scholarship student</a:t>
            </a:r>
            <a:endParaRPr lang="en-US" sz="1200" dirty="0"/>
          </a:p>
        </p:txBody>
      </p:sp>
      <p:sp>
        <p:nvSpPr>
          <p:cNvPr id="9" name="blk2"/>
          <p:cNvSpPr/>
          <p:nvPr/>
        </p:nvSpPr>
        <p:spPr>
          <a:xfrm>
            <a:off x="4069080" y="1591056"/>
            <a:ext cx="2414016" cy="4526280"/>
          </a:xfrm>
          <a:prstGeom prst="roundRect">
            <a:avLst>
              <a:gd name="adj" fmla="val 340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0" name="blk2"/>
          <p:cNvSpPr/>
          <p:nvPr/>
        </p:nvSpPr>
        <p:spPr>
          <a:xfrm>
            <a:off x="4069080" y="1591056"/>
            <a:ext cx="2414016" cy="475488"/>
          </a:xfrm>
          <a:prstGeom prst="rect">
            <a:avLst/>
          </a:prstGeom>
          <a:solidFill>
            <a:srgbClr val="0A1937"/>
          </a:solidFill>
          <a:ln/>
        </p:spPr>
      </p:sp>
      <p:sp>
        <p:nvSpPr>
          <p:cNvPr id="11" name="blk2"/>
          <p:cNvSpPr/>
          <p:nvPr/>
        </p:nvSpPr>
        <p:spPr>
          <a:xfrm>
            <a:off x="4187952" y="1591056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7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 · PRESENTING CONCERNS</a:t>
            </a:r>
            <a:endParaRPr lang="en-US" sz="800" dirty="0"/>
          </a:p>
        </p:txBody>
      </p:sp>
      <p:sp>
        <p:nvSpPr>
          <p:cNvPr id="12" name="blk2"/>
          <p:cNvSpPr/>
          <p:nvPr/>
        </p:nvSpPr>
        <p:spPr>
          <a:xfrm>
            <a:off x="4233672" y="2249424"/>
            <a:ext cx="212140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Academic anxiety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Fear of losing scholarship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Fear of disappointing family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Difficulty expressing emotions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Pressure to maintain high grades</a:t>
            </a:r>
            <a:endParaRPr lang="en-US" sz="1050" dirty="0"/>
          </a:p>
        </p:txBody>
      </p:sp>
      <p:sp>
        <p:nvSpPr>
          <p:cNvPr id="13" name="blk3"/>
          <p:cNvSpPr/>
          <p:nvPr/>
        </p:nvSpPr>
        <p:spPr>
          <a:xfrm>
            <a:off x="6620256" y="1865376"/>
            <a:ext cx="2414016" cy="4251960"/>
          </a:xfrm>
          <a:prstGeom prst="roundRect">
            <a:avLst>
              <a:gd name="adj" fmla="val 340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4" name="blk3"/>
          <p:cNvSpPr/>
          <p:nvPr/>
        </p:nvSpPr>
        <p:spPr>
          <a:xfrm>
            <a:off x="6620256" y="1865376"/>
            <a:ext cx="2414016" cy="47548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15" name="blk3"/>
          <p:cNvSpPr/>
          <p:nvPr/>
        </p:nvSpPr>
        <p:spPr>
          <a:xfrm>
            <a:off x="6739128" y="1865376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7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 · GESTALT CONCEPTUALIZATION</a:t>
            </a:r>
            <a:endParaRPr lang="en-US" sz="800" dirty="0"/>
          </a:p>
        </p:txBody>
      </p:sp>
      <p:sp>
        <p:nvSpPr>
          <p:cNvPr id="16" name="blk3"/>
          <p:cNvSpPr/>
          <p:nvPr/>
        </p:nvSpPr>
        <p:spPr>
          <a:xfrm>
            <a:off x="6784848" y="2523744"/>
            <a:ext cx="2121408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Anxiety becomes figure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Possible introjected expectations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Limited awareness of personal needs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Interrupted contact</a:t>
            </a:r>
            <a:endParaRPr lang="en-US" sz="1050" dirty="0"/>
          </a:p>
        </p:txBody>
      </p:sp>
      <p:sp>
        <p:nvSpPr>
          <p:cNvPr id="17" name="blk4"/>
          <p:cNvSpPr/>
          <p:nvPr/>
        </p:nvSpPr>
        <p:spPr>
          <a:xfrm>
            <a:off x="9171432" y="1591056"/>
            <a:ext cx="2414016" cy="4526280"/>
          </a:xfrm>
          <a:prstGeom prst="roundRect">
            <a:avLst>
              <a:gd name="adj" fmla="val 340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8" name="blk4"/>
          <p:cNvSpPr/>
          <p:nvPr/>
        </p:nvSpPr>
        <p:spPr>
          <a:xfrm>
            <a:off x="9171432" y="1591056"/>
            <a:ext cx="2414016" cy="475488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19" name="blk4"/>
          <p:cNvSpPr/>
          <p:nvPr/>
        </p:nvSpPr>
        <p:spPr>
          <a:xfrm>
            <a:off x="9290304" y="1591056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7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 · POSSIBLE INTERVENTIONS</a:t>
            </a:r>
            <a:endParaRPr lang="en-US" sz="800" dirty="0"/>
          </a:p>
        </p:txBody>
      </p:sp>
      <p:sp>
        <p:nvSpPr>
          <p:cNvPr id="20" name="blk4"/>
          <p:cNvSpPr/>
          <p:nvPr/>
        </p:nvSpPr>
        <p:spPr>
          <a:xfrm>
            <a:off x="9336024" y="2249424"/>
            <a:ext cx="212140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Here-and-now exploration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Body awareness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Staying with the feeling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“I” statements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Exploring introjected beliefs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sh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Critical Evaluation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591056"/>
            <a:ext cx="5340096" cy="4535424"/>
          </a:xfrm>
          <a:prstGeom prst="roundRect">
            <a:avLst>
              <a:gd name="adj" fmla="val 181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pic>
        <p:nvPicPr>
          <p:cNvPr id="6" name="blk1" descr="/home/user/Business-e-books/presentations/gestalt-theory-counselling/assets/circle-seedl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1828800"/>
            <a:ext cx="713232" cy="713232"/>
          </a:xfrm>
          <a:prstGeom prst="roundRect">
            <a:avLst>
              <a:gd name="adj" fmla="val 5000"/>
            </a:avLst>
          </a:prstGeom>
        </p:spPr>
      </p:pic>
      <p:sp>
        <p:nvSpPr>
          <p:cNvPr id="7" name="blk1"/>
          <p:cNvSpPr/>
          <p:nvPr/>
        </p:nvSpPr>
        <p:spPr>
          <a:xfrm>
            <a:off x="1773936" y="19751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spc="50" kern="0" dirty="0">
                <a:solidFill>
                  <a:srgbClr val="162B5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CONTRIBUTIONS</a:t>
            </a:r>
            <a:endParaRPr lang="en-US" sz="1550" dirty="0"/>
          </a:p>
        </p:txBody>
      </p:sp>
      <p:sp>
        <p:nvSpPr>
          <p:cNvPr id="8" name="blk1"/>
          <p:cNvSpPr/>
          <p:nvPr/>
        </p:nvSpPr>
        <p:spPr>
          <a:xfrm>
            <a:off x="1773936" y="2414016"/>
            <a:ext cx="822960" cy="36576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9" name="blk1"/>
          <p:cNvSpPr/>
          <p:nvPr/>
        </p:nvSpPr>
        <p:spPr>
          <a:xfrm>
            <a:off x="877824" y="2798064"/>
            <a:ext cx="4791456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0" name="blk1"/>
          <p:cNvSpPr/>
          <p:nvPr/>
        </p:nvSpPr>
        <p:spPr>
          <a:xfrm>
            <a:off x="877824" y="3017520"/>
            <a:ext cx="4791456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Holistic understanding of human experience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Strong emphasis on awareness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Integrates body, emotion and cognition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Recognizes person–environment interaction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Promotes agency and authentic choice</a:t>
            </a:r>
            <a:endParaRPr lang="en-US" sz="1250" dirty="0"/>
          </a:p>
        </p:txBody>
      </p:sp>
      <p:sp>
        <p:nvSpPr>
          <p:cNvPr id="11" name="blk2"/>
          <p:cNvSpPr/>
          <p:nvPr/>
        </p:nvSpPr>
        <p:spPr>
          <a:xfrm>
            <a:off x="6245352" y="1865376"/>
            <a:ext cx="5340096" cy="4535424"/>
          </a:xfrm>
          <a:prstGeom prst="roundRect">
            <a:avLst>
              <a:gd name="adj" fmla="val 181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pic>
        <p:nvPicPr>
          <p:cNvPr id="12" name="blk2" descr="/home/user/Business-e-books/presentations/gestalt-theory-counselling/assets/circle-sca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2103120"/>
            <a:ext cx="713232" cy="713232"/>
          </a:xfrm>
          <a:prstGeom prst="roundRect">
            <a:avLst>
              <a:gd name="adj" fmla="val 5000"/>
            </a:avLst>
          </a:prstGeom>
        </p:spPr>
      </p:pic>
      <p:sp>
        <p:nvSpPr>
          <p:cNvPr id="13" name="blk2"/>
          <p:cNvSpPr/>
          <p:nvPr/>
        </p:nvSpPr>
        <p:spPr>
          <a:xfrm>
            <a:off x="7415784" y="224942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spc="50" kern="0" dirty="0">
                <a:solidFill>
                  <a:srgbClr val="5A6B9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CONSIDERATIONS</a:t>
            </a:r>
            <a:endParaRPr lang="en-US" sz="1550" dirty="0"/>
          </a:p>
        </p:txBody>
      </p:sp>
      <p:sp>
        <p:nvSpPr>
          <p:cNvPr id="14" name="blk2"/>
          <p:cNvSpPr/>
          <p:nvPr/>
        </p:nvSpPr>
        <p:spPr>
          <a:xfrm>
            <a:off x="7415784" y="2688336"/>
            <a:ext cx="822960" cy="36576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15" name="blk2"/>
          <p:cNvSpPr/>
          <p:nvPr/>
        </p:nvSpPr>
        <p:spPr>
          <a:xfrm>
            <a:off x="6519672" y="3072384"/>
            <a:ext cx="4791456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6" name="blk2"/>
          <p:cNvSpPr/>
          <p:nvPr/>
        </p:nvSpPr>
        <p:spPr>
          <a:xfrm>
            <a:off x="6519672" y="3291840"/>
            <a:ext cx="4791456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Cultural adaptation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Client readiness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Therapist competence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Appropriate use of experiential techniques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Balance between present and past experience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8" name="Text 13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4544568" y="1627632"/>
            <a:ext cx="3108960" cy="493776"/>
          </a:xfrm>
          <a:prstGeom prst="roundRect">
            <a:avLst>
              <a:gd name="adj" fmla="val 11111"/>
            </a:avLst>
          </a:prstGeom>
          <a:solidFill>
            <a:srgbClr val="162B57"/>
          </a:solidFill>
          <a:ln w="9525">
            <a:solidFill>
              <a:srgbClr val="4660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</a:t>
            </a:r>
            <a:endParaRPr lang="en-US" sz="1150" dirty="0"/>
          </a:p>
        </p:txBody>
      </p:sp>
      <p:sp>
        <p:nvSpPr>
          <p:cNvPr id="6" name="blk1"/>
          <p:cNvSpPr/>
          <p:nvPr/>
        </p:nvSpPr>
        <p:spPr>
          <a:xfrm>
            <a:off x="4544568" y="208483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400" dirty="0"/>
          </a:p>
        </p:txBody>
      </p:sp>
      <p:sp>
        <p:nvSpPr>
          <p:cNvPr id="7" name="blk1"/>
          <p:cNvSpPr/>
          <p:nvPr/>
        </p:nvSpPr>
        <p:spPr>
          <a:xfrm>
            <a:off x="4544568" y="2432304"/>
            <a:ext cx="3108960" cy="493776"/>
          </a:xfrm>
          <a:prstGeom prst="roundRect">
            <a:avLst>
              <a:gd name="adj" fmla="val 11111"/>
            </a:avLst>
          </a:prstGeom>
          <a:solidFill>
            <a:srgbClr val="162B57"/>
          </a:solidFill>
          <a:ln w="9525">
            <a:solidFill>
              <a:srgbClr val="4660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HERE-AND-NOW</a:t>
            </a:r>
            <a:endParaRPr lang="en-US" sz="1150" dirty="0"/>
          </a:p>
        </p:txBody>
      </p:sp>
      <p:sp>
        <p:nvSpPr>
          <p:cNvPr id="8" name="blk1"/>
          <p:cNvSpPr/>
          <p:nvPr/>
        </p:nvSpPr>
        <p:spPr>
          <a:xfrm>
            <a:off x="4544568" y="288950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400" dirty="0"/>
          </a:p>
        </p:txBody>
      </p:sp>
      <p:sp>
        <p:nvSpPr>
          <p:cNvPr id="9" name="blk1"/>
          <p:cNvSpPr/>
          <p:nvPr/>
        </p:nvSpPr>
        <p:spPr>
          <a:xfrm>
            <a:off x="4544568" y="3236976"/>
            <a:ext cx="3108960" cy="493776"/>
          </a:xfrm>
          <a:prstGeom prst="roundRect">
            <a:avLst>
              <a:gd name="adj" fmla="val 11111"/>
            </a:avLst>
          </a:prstGeom>
          <a:solidFill>
            <a:srgbClr val="162B57"/>
          </a:solidFill>
          <a:ln w="9525">
            <a:solidFill>
              <a:srgbClr val="4660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</a:t>
            </a:r>
            <a:endParaRPr lang="en-US" sz="1150" dirty="0"/>
          </a:p>
        </p:txBody>
      </p:sp>
      <p:sp>
        <p:nvSpPr>
          <p:cNvPr id="10" name="blk1"/>
          <p:cNvSpPr/>
          <p:nvPr/>
        </p:nvSpPr>
        <p:spPr>
          <a:xfrm>
            <a:off x="4544568" y="3694176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blk1"/>
          <p:cNvSpPr/>
          <p:nvPr/>
        </p:nvSpPr>
        <p:spPr>
          <a:xfrm>
            <a:off x="4544568" y="4041648"/>
            <a:ext cx="3108960" cy="493776"/>
          </a:xfrm>
          <a:prstGeom prst="roundRect">
            <a:avLst>
              <a:gd name="adj" fmla="val 11111"/>
            </a:avLst>
          </a:prstGeom>
          <a:solidFill>
            <a:srgbClr val="162B57"/>
          </a:solidFill>
          <a:ln w="9525">
            <a:solidFill>
              <a:srgbClr val="4660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RESPONSIBILITY &amp; CHOICE</a:t>
            </a:r>
            <a:endParaRPr lang="en-US" sz="1150" dirty="0"/>
          </a:p>
        </p:txBody>
      </p:sp>
      <p:sp>
        <p:nvSpPr>
          <p:cNvPr id="12" name="blk1"/>
          <p:cNvSpPr/>
          <p:nvPr/>
        </p:nvSpPr>
        <p:spPr>
          <a:xfrm>
            <a:off x="4544568" y="449884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blk1"/>
          <p:cNvSpPr/>
          <p:nvPr/>
        </p:nvSpPr>
        <p:spPr>
          <a:xfrm>
            <a:off x="4544568" y="4846320"/>
            <a:ext cx="3108960" cy="493776"/>
          </a:xfrm>
          <a:prstGeom prst="roundRect">
            <a:avLst>
              <a:gd name="adj" fmla="val 11111"/>
            </a:avLst>
          </a:prstGeom>
          <a:solidFill>
            <a:srgbClr val="8097BE"/>
          </a:solidFill>
          <a:ln w="12700">
            <a:solidFill>
              <a:srgbClr val="8097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0A1937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GROWTH</a:t>
            </a:r>
            <a:endParaRPr lang="en-US" sz="1150" dirty="0"/>
          </a:p>
        </p:txBody>
      </p:sp>
      <p:pic>
        <p:nvPicPr>
          <p:cNvPr id="14" name="img" descr="/home/user/Business-e-books/presentations/gestalt-theory-counselling/assets/p-summi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737360"/>
            <a:ext cx="3081528" cy="4315968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pic>
      <p:sp>
        <p:nvSpPr>
          <p:cNvPr id="15" name="blk2"/>
          <p:cNvSpPr/>
          <p:nvPr/>
        </p:nvSpPr>
        <p:spPr>
          <a:xfrm>
            <a:off x="603504" y="5532120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Greater awareness creates greater possibilities for choice and change.</a:t>
            </a:r>
            <a:endParaRPr lang="en-US" sz="1450" dirty="0"/>
          </a:p>
        </p:txBody>
      </p:sp>
      <p:sp>
        <p:nvSpPr>
          <p:cNvPr id="16" name="blk2"/>
          <p:cNvSpPr/>
          <p:nvPr/>
        </p:nvSpPr>
        <p:spPr>
          <a:xfrm>
            <a:off x="603504" y="598932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8" name="Text 14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3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References</a:t>
            </a:r>
            <a:endParaRPr lang="en-US" sz="2600" dirty="0"/>
          </a:p>
        </p:txBody>
      </p:sp>
      <p:pic>
        <p:nvPicPr>
          <p:cNvPr id="5" name="img" descr="/home/user/Business-e-books/presentations/gestalt-theory-counselling/assets/p-book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591056"/>
            <a:ext cx="2743200" cy="448056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6" name="blk1"/>
          <p:cNvSpPr/>
          <p:nvPr/>
        </p:nvSpPr>
        <p:spPr>
          <a:xfrm>
            <a:off x="3611880" y="1591056"/>
            <a:ext cx="7973568" cy="4526280"/>
          </a:xfrm>
          <a:prstGeom prst="roundRect">
            <a:avLst>
              <a:gd name="adj" fmla="val 1818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7" name="blk1"/>
          <p:cNvSpPr/>
          <p:nvPr/>
        </p:nvSpPr>
        <p:spPr>
          <a:xfrm>
            <a:off x="3886200" y="1847088"/>
            <a:ext cx="7424928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Brownell, P. (2010).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therapy: A guide to contemporary practice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. Springer Publishing Company.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Corey, G. (2024).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Theory and practice of counseling and psychotherapy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(11th ed.). Cengage Learning.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Joyce, P., &amp; Sills, C. (2014).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Skills in Gestalt counselling &amp; psychotherapy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(3rd ed.). SAGE.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Perls, F. S., Hefferline, R. F., &amp; Goodman, P. (1951).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therapy: Excitement and growth in the human personality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. Julian Press.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Woldt, A. L., &amp; Toman, S. M. (Eds.). (2005).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therapy: History, theory, and practice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. SAGE.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Yontef, G., &amp; Fuhr, R. (2005). Gestalt therapy theory of change. In A. L. Woldt &amp; S. Toman (Eds.),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therapy: History, theory, and practice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(pp. 81–100). SAGE.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9" name="Text 5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30" presetClass="entr" presetSubtype="0" fill="hold" grpId="0" nodeType="after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Pan African Christian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Gestalt Theory and Its Application to Counselling</dc:title>
  <dc:subject>MCP504 Theories of Counseling and Psychotherapy</dc:subject>
  <dc:creator>Group 4 — Pan African Christian University</dc:creator>
  <cp:lastModifiedBy>Group 4 — Pan African Christian University</cp:lastModifiedBy>
  <cp:revision>1</cp:revision>
  <dcterms:created xsi:type="dcterms:W3CDTF">2026-10-06T10:47:38Z</dcterms:created>
  <dcterms:modified xsi:type="dcterms:W3CDTF">2026-10-06T10:47:38Z</dcterms:modified>
</cp:coreProperties>
</file>