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6035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4" name="hdr"/>
          <p:cNvSpPr/>
          <p:nvPr/>
        </p:nvSpPr>
        <p:spPr>
          <a:xfrm>
            <a:off x="566928" y="9509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</a:t>
            </a:r>
            <a:endParaRPr lang="en-US" sz="5200" dirty="0"/>
          </a:p>
        </p:txBody>
      </p:sp>
      <p:sp>
        <p:nvSpPr>
          <p:cNvPr id="5" name="hdr"/>
          <p:cNvSpPr/>
          <p:nvPr/>
        </p:nvSpPr>
        <p:spPr>
          <a:xfrm>
            <a:off x="566928" y="179222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Theory</a:t>
            </a:r>
            <a:endParaRPr lang="en-US" sz="5200" dirty="0"/>
          </a:p>
        </p:txBody>
      </p:sp>
      <p:sp>
        <p:nvSpPr>
          <p:cNvPr id="6" name="hdr"/>
          <p:cNvSpPr/>
          <p:nvPr/>
        </p:nvSpPr>
        <p:spPr>
          <a:xfrm>
            <a:off x="603504" y="27066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ITS APPLICATION TO COUNSELLING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33467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8" name="blk1"/>
          <p:cNvSpPr/>
          <p:nvPr/>
        </p:nvSpPr>
        <p:spPr>
          <a:xfrm>
            <a:off x="603504" y="37307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MACP/35996/0/26</a:t>
            </a:r>
            <a:endParaRPr lang="en-US" sz="1350" dirty="0"/>
          </a:p>
        </p:txBody>
      </p:sp>
      <p:sp>
        <p:nvSpPr>
          <p:cNvPr id="9" name="blk1"/>
          <p:cNvSpPr/>
          <p:nvPr/>
        </p:nvSpPr>
        <p:spPr>
          <a:xfrm>
            <a:off x="603504" y="4151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MACP/35785/4/26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603504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MALD/36547/4/26</a:t>
            </a:r>
            <a:endParaRPr lang="en-US" sz="1350" dirty="0"/>
          </a:p>
        </p:txBody>
      </p:sp>
      <p:sp>
        <p:nvSpPr>
          <p:cNvPr id="11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COURSE</a:t>
            </a:r>
            <a:endParaRPr lang="en-US" sz="850" dirty="0"/>
          </a:p>
        </p:txBody>
      </p:sp>
      <p:sp>
        <p:nvSpPr>
          <p:cNvPr id="12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4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15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LECTURER</a:t>
            </a:r>
            <a:endParaRPr lang="en-US" sz="850" dirty="0"/>
          </a:p>
        </p:txBody>
      </p:sp>
      <p:sp>
        <p:nvSpPr>
          <p:cNvPr id="16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288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6" name="blk1"/>
          <p:cNvSpPr/>
          <p:nvPr/>
        </p:nvSpPr>
        <p:spPr>
          <a:xfrm>
            <a:off x="859536" y="2889504"/>
            <a:ext cx="6949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present experience and contact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 and relationships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50" dirty="0"/>
          </a:p>
        </p:txBody>
      </p:sp>
      <p:sp>
        <p:nvSpPr>
          <p:cNvPr id="7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Historical Background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1051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1940s and 1950s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603504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603504" y="345643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 philosophy</a:t>
            </a:r>
            <a:endParaRPr lang="en-US" sz="1250" dirty="0"/>
          </a:p>
        </p:txBody>
      </p:sp>
      <p:sp>
        <p:nvSpPr>
          <p:cNvPr id="8" name="blk2"/>
          <p:cNvSpPr/>
          <p:nvPr/>
        </p:nvSpPr>
        <p:spPr>
          <a:xfrm>
            <a:off x="5669280" y="345643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approaches</a:t>
            </a:r>
            <a:endParaRPr lang="en-US" sz="1250" dirty="0"/>
          </a:p>
        </p:txBody>
      </p:sp>
      <p:sp>
        <p:nvSpPr>
          <p:cNvPr id="9" name="blk3"/>
          <p:cNvSpPr/>
          <p:nvPr/>
        </p:nvSpPr>
        <p:spPr>
          <a:xfrm>
            <a:off x="603504" y="484632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0" name="blk4"/>
          <p:cNvSpPr/>
          <p:nvPr/>
        </p:nvSpPr>
        <p:spPr>
          <a:xfrm>
            <a:off x="603504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1" name="blk4"/>
          <p:cNvSpPr/>
          <p:nvPr/>
        </p:nvSpPr>
        <p:spPr>
          <a:xfrm>
            <a:off x="603504" y="5705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12" name="blk4"/>
          <p:cNvSpPr/>
          <p:nvPr/>
        </p:nvSpPr>
        <p:spPr>
          <a:xfrm>
            <a:off x="603504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Major Theorists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Fritz Perls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1893–1970</a:t>
            </a:r>
            <a:endParaRPr lang="en-US" sz="1000" dirty="0"/>
          </a:p>
        </p:txBody>
      </p:sp>
      <p:sp>
        <p:nvSpPr>
          <p:cNvPr id="7" name="blk1"/>
          <p:cNvSpPr/>
          <p:nvPr/>
        </p:nvSpPr>
        <p:spPr>
          <a:xfrm>
            <a:off x="603504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603504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4343400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Laura Perls</a:t>
            </a:r>
            <a:endParaRPr lang="en-US" sz="1700" dirty="0"/>
          </a:p>
        </p:txBody>
      </p:sp>
      <p:sp>
        <p:nvSpPr>
          <p:cNvPr id="10" name="blk2"/>
          <p:cNvSpPr/>
          <p:nvPr/>
        </p:nvSpPr>
        <p:spPr>
          <a:xfrm>
            <a:off x="4343400" y="337413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1905–1990</a:t>
            </a:r>
            <a:endParaRPr lang="en-US" sz="1000" dirty="0"/>
          </a:p>
        </p:txBody>
      </p:sp>
      <p:sp>
        <p:nvSpPr>
          <p:cNvPr id="11" name="blk2"/>
          <p:cNvSpPr/>
          <p:nvPr/>
        </p:nvSpPr>
        <p:spPr>
          <a:xfrm>
            <a:off x="4343400" y="386791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12" name="blk2"/>
          <p:cNvSpPr/>
          <p:nvPr/>
        </p:nvSpPr>
        <p:spPr>
          <a:xfrm>
            <a:off x="4343400" y="454456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13" name="blk3"/>
          <p:cNvSpPr/>
          <p:nvPr/>
        </p:nvSpPr>
        <p:spPr>
          <a:xfrm>
            <a:off x="8083296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Paul Goodman</a:t>
            </a:r>
            <a:endParaRPr lang="en-US" sz="1700" dirty="0"/>
          </a:p>
        </p:txBody>
      </p:sp>
      <p:sp>
        <p:nvSpPr>
          <p:cNvPr id="14" name="blk3"/>
          <p:cNvSpPr/>
          <p:nvPr/>
        </p:nvSpPr>
        <p:spPr>
          <a:xfrm>
            <a:off x="8083296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1911–1972</a:t>
            </a:r>
            <a:endParaRPr lang="en-US" sz="1000" dirty="0"/>
          </a:p>
        </p:txBody>
      </p:sp>
      <p:sp>
        <p:nvSpPr>
          <p:cNvPr id="15" name="blk3"/>
          <p:cNvSpPr/>
          <p:nvPr/>
        </p:nvSpPr>
        <p:spPr>
          <a:xfrm>
            <a:off x="8083296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16" name="blk3"/>
          <p:cNvSpPr/>
          <p:nvPr/>
        </p:nvSpPr>
        <p:spPr>
          <a:xfrm>
            <a:off x="8083296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17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Core Assumptions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1499616" y="22860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7" name="blk1"/>
          <p:cNvSpPr/>
          <p:nvPr/>
        </p:nvSpPr>
        <p:spPr>
          <a:xfrm>
            <a:off x="841248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1499616" y="299923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841248" y="37124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1499616" y="371246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1" name="blk1"/>
          <p:cNvSpPr/>
          <p:nvPr/>
        </p:nvSpPr>
        <p:spPr>
          <a:xfrm>
            <a:off x="841248" y="44256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1499616" y="442569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4864608" y="2633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5522976" y="263347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5" name="blk2"/>
          <p:cNvSpPr/>
          <p:nvPr/>
        </p:nvSpPr>
        <p:spPr>
          <a:xfrm>
            <a:off x="4864608" y="33467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6" name="blk2"/>
          <p:cNvSpPr/>
          <p:nvPr/>
        </p:nvSpPr>
        <p:spPr>
          <a:xfrm>
            <a:off x="5522976" y="33467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40599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sp>
        <p:nvSpPr>
          <p:cNvPr id="19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2010; 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Awareness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276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6" name="blk2"/>
          <p:cNvSpPr/>
          <p:nvPr/>
        </p:nvSpPr>
        <p:spPr>
          <a:xfrm>
            <a:off x="841248" y="2212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NOTICING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841248" y="25420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Thoughts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Feelings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Bodily sensations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Behaviour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841248" y="43708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841248" y="517550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Here-and-Now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FOCUS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PAST</a:t>
            </a:r>
            <a:endParaRPr lang="en-US" sz="900" dirty="0"/>
          </a:p>
        </p:txBody>
      </p:sp>
      <p:sp>
        <p:nvSpPr>
          <p:cNvPr id="9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4526280" y="1810512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rather than excessive intellectual analysis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present-moment awareness</a:t>
            </a:r>
            <a:endParaRPr lang="en-US" sz="1250" dirty="0"/>
          </a:p>
        </p:txBody>
      </p:sp>
      <p:sp>
        <p:nvSpPr>
          <p:cNvPr id="11" name="blk3"/>
          <p:cNvSpPr/>
          <p:nvPr/>
        </p:nvSpPr>
        <p:spPr>
          <a:xfrm>
            <a:off x="4526280" y="5989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Figure and 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One element steps forward as figure against a ground of context.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291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and concerns move between figure and ground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figure changes as circumstances change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helps identify what is most significant in the present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5989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8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1400" dirty="0"/>
          </a:p>
        </p:txBody>
      </p:sp>
      <p:sp>
        <p:nvSpPr>
          <p:cNvPr id="9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0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1400" dirty="0"/>
          </a:p>
        </p:txBody>
      </p:sp>
      <p:sp>
        <p:nvSpPr>
          <p:cNvPr id="12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Contact and Contact Boundary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Interaction between the individual and environment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Point at which the individual and environment meet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engaging, responding and withdrawing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7772400" y="4846320"/>
            <a:ext cx="3803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INDIVIDUAL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7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Unfinished Business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6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59536" y="26883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Anger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Guilt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Resentment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Unmet 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remain psychologically active in the present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859536" y="51206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Therapy promotes awareness and processing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Responsibility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Recognizing one's own choices and responses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agency and ownership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decision-making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03504" y="40050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 ≠  BLAME</a:t>
            </a:r>
            <a:endParaRPr lang="en-US" sz="1400" dirty="0"/>
          </a:p>
        </p:txBody>
      </p:sp>
      <p:sp>
        <p:nvSpPr>
          <p:cNvPr id="7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8" name="blk3"/>
          <p:cNvSpPr/>
          <p:nvPr/>
        </p:nvSpPr>
        <p:spPr>
          <a:xfrm>
            <a:off x="603504" y="50474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“You make me angry.”</a:t>
            </a:r>
            <a:endParaRPr lang="en-US" sz="1450" dirty="0"/>
          </a:p>
        </p:txBody>
      </p:sp>
      <p:sp>
        <p:nvSpPr>
          <p:cNvPr id="9" name="blk3"/>
          <p:cNvSpPr/>
          <p:nvPr/>
        </p:nvSpPr>
        <p:spPr>
          <a:xfrm>
            <a:off x="603504" y="561441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 notice that I become angry when…”</a:t>
            </a:r>
            <a:endParaRPr lang="en-US" sz="1450" dirty="0"/>
          </a:p>
        </p:txBody>
      </p:sp>
      <p:sp>
        <p:nvSpPr>
          <p:cNvPr id="10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Corey, 2024)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Role of the Gestalt Counsellor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103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ROLE</a:t>
            </a:r>
            <a:endParaRPr lang="en-US" sz="850" dirty="0"/>
          </a:p>
        </p:txBody>
      </p:sp>
      <p:sp>
        <p:nvSpPr>
          <p:cNvPr id="6" name="blk1"/>
          <p:cNvSpPr/>
          <p:nvPr/>
        </p:nvSpPr>
        <p:spPr>
          <a:xfrm>
            <a:off x="841248" y="2514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1499616" y="251460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awareness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841248" y="2990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blk1"/>
          <p:cNvSpPr/>
          <p:nvPr/>
        </p:nvSpPr>
        <p:spPr>
          <a:xfrm>
            <a:off x="1499616" y="299008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841248" y="3465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blk1"/>
          <p:cNvSpPr/>
          <p:nvPr/>
        </p:nvSpPr>
        <p:spPr>
          <a:xfrm>
            <a:off x="1499616" y="3465576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Observes verbal and non-verbal behaviour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841248" y="39410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blk1"/>
          <p:cNvSpPr/>
          <p:nvPr/>
        </p:nvSpPr>
        <p:spPr>
          <a:xfrm>
            <a:off x="1499616" y="3941064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the therapeutic relationship</a:t>
            </a:r>
            <a:endParaRPr lang="en-US" sz="1300" dirty="0"/>
          </a:p>
        </p:txBody>
      </p:sp>
      <p:sp>
        <p:nvSpPr>
          <p:cNvPr id="14" name="blk1"/>
          <p:cNvSpPr/>
          <p:nvPr/>
        </p:nvSpPr>
        <p:spPr>
          <a:xfrm>
            <a:off x="841248" y="44165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blk1"/>
          <p:cNvSpPr/>
          <p:nvPr/>
        </p:nvSpPr>
        <p:spPr>
          <a:xfrm>
            <a:off x="1499616" y="4416552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expression</a:t>
            </a:r>
            <a:endParaRPr lang="en-US" sz="1300" dirty="0"/>
          </a:p>
        </p:txBody>
      </p:sp>
      <p:sp>
        <p:nvSpPr>
          <p:cNvPr id="16" name="blk1"/>
          <p:cNvSpPr/>
          <p:nvPr/>
        </p:nvSpPr>
        <p:spPr>
          <a:xfrm>
            <a:off x="841248" y="4892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blk1"/>
          <p:cNvSpPr/>
          <p:nvPr/>
        </p:nvSpPr>
        <p:spPr>
          <a:xfrm>
            <a:off x="1499616" y="489204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Explores interruptions in contact</a:t>
            </a:r>
            <a:endParaRPr lang="en-US" sz="1300" dirty="0"/>
          </a:p>
        </p:txBody>
      </p:sp>
      <p:sp>
        <p:nvSpPr>
          <p:cNvPr id="18" name="blk1"/>
          <p:cNvSpPr/>
          <p:nvPr/>
        </p:nvSpPr>
        <p:spPr>
          <a:xfrm>
            <a:off x="841248" y="53675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9" name="blk1"/>
          <p:cNvSpPr/>
          <p:nvPr/>
        </p:nvSpPr>
        <p:spPr>
          <a:xfrm>
            <a:off x="1499616" y="536752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responsibility and choice</a:t>
            </a:r>
            <a:endParaRPr lang="en-US" sz="1300" dirty="0"/>
          </a:p>
        </p:txBody>
      </p:sp>
      <p:sp>
        <p:nvSpPr>
          <p:cNvPr id="20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2014; Brownell, 2010)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 Therapeutic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blk1"/>
          <p:cNvSpPr/>
          <p:nvPr/>
        </p:nvSpPr>
        <p:spPr>
          <a:xfrm>
            <a:off x="60350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7" name="blk2"/>
          <p:cNvSpPr/>
          <p:nvPr/>
        </p:nvSpPr>
        <p:spPr>
          <a:xfrm>
            <a:off x="4306824" y="1901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blk2"/>
          <p:cNvSpPr/>
          <p:nvPr/>
        </p:nvSpPr>
        <p:spPr>
          <a:xfrm>
            <a:off x="4306824" y="23042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9" name="blk3"/>
          <p:cNvSpPr/>
          <p:nvPr/>
        </p:nvSpPr>
        <p:spPr>
          <a:xfrm>
            <a:off x="801014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blk3"/>
          <p:cNvSpPr/>
          <p:nvPr/>
        </p:nvSpPr>
        <p:spPr>
          <a:xfrm>
            <a:off x="801014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1" name="blk1"/>
          <p:cNvSpPr/>
          <p:nvPr/>
        </p:nvSpPr>
        <p:spPr>
          <a:xfrm>
            <a:off x="60350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12" name="blk1"/>
          <p:cNvSpPr/>
          <p:nvPr/>
        </p:nvSpPr>
        <p:spPr>
          <a:xfrm>
            <a:off x="60350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13" name="blk2"/>
          <p:cNvSpPr/>
          <p:nvPr/>
        </p:nvSpPr>
        <p:spPr>
          <a:xfrm>
            <a:off x="4306824" y="3127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14" name="blk2"/>
          <p:cNvSpPr/>
          <p:nvPr/>
        </p:nvSpPr>
        <p:spPr>
          <a:xfrm>
            <a:off x="4306824" y="35295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15" name="blk3"/>
          <p:cNvSpPr/>
          <p:nvPr/>
        </p:nvSpPr>
        <p:spPr>
          <a:xfrm>
            <a:off x="801014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16" name="blk3"/>
          <p:cNvSpPr/>
          <p:nvPr/>
        </p:nvSpPr>
        <p:spPr>
          <a:xfrm>
            <a:off x="801014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17" name="blk1"/>
          <p:cNvSpPr/>
          <p:nvPr/>
        </p:nvSpPr>
        <p:spPr>
          <a:xfrm>
            <a:off x="60350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18" name="blk1"/>
          <p:cNvSpPr/>
          <p:nvPr/>
        </p:nvSpPr>
        <p:spPr>
          <a:xfrm>
            <a:off x="60350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19" name="blk2"/>
          <p:cNvSpPr/>
          <p:nvPr/>
        </p:nvSpPr>
        <p:spPr>
          <a:xfrm>
            <a:off x="4306824" y="43525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20" name="blk2"/>
          <p:cNvSpPr/>
          <p:nvPr/>
        </p:nvSpPr>
        <p:spPr>
          <a:xfrm>
            <a:off x="4306824" y="4754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21" name="blk3"/>
          <p:cNvSpPr/>
          <p:nvPr/>
        </p:nvSpPr>
        <p:spPr>
          <a:xfrm>
            <a:off x="801014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22" name="blk3"/>
          <p:cNvSpPr/>
          <p:nvPr/>
        </p:nvSpPr>
        <p:spPr>
          <a:xfrm>
            <a:off x="801014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23" name="blk4"/>
          <p:cNvSpPr/>
          <p:nvPr/>
        </p:nvSpPr>
        <p:spPr>
          <a:xfrm>
            <a:off x="603504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Empty-Chair Technique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imagines another person in an empty chair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Speaks directly to the imagined person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 awareness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expression of unfinished emotions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6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3400" dirty="0"/>
          </a:p>
        </p:txBody>
      </p:sp>
      <p:sp>
        <p:nvSpPr>
          <p:cNvPr id="7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sp>
        <p:nvSpPr>
          <p:cNvPr id="9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858000" y="576072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↔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IMAGINED PERSON</a:t>
            </a:r>
            <a:endParaRPr lang="en-US" sz="1100" dirty="0"/>
          </a:p>
        </p:txBody>
      </p:sp>
      <p:sp>
        <p:nvSpPr>
          <p:cNvPr id="11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Other Experiential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106070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TECHNIQUE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499262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PURPOSE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1060704" y="22860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4992624" y="228600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1060704" y="2889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4992624" y="28895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1" name="blk1"/>
          <p:cNvSpPr/>
          <p:nvPr/>
        </p:nvSpPr>
        <p:spPr>
          <a:xfrm>
            <a:off x="1060704" y="3493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4992624" y="34930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1060704" y="40965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14" name="blk1"/>
          <p:cNvSpPr/>
          <p:nvPr/>
        </p:nvSpPr>
        <p:spPr>
          <a:xfrm>
            <a:off x="4992624" y="409651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1060704" y="47000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16" name="blk1"/>
          <p:cNvSpPr/>
          <p:nvPr/>
        </p:nvSpPr>
        <p:spPr>
          <a:xfrm>
            <a:off x="4992624" y="470001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1060704" y="53035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18" name="blk1"/>
          <p:cNvSpPr/>
          <p:nvPr/>
        </p:nvSpPr>
        <p:spPr>
          <a:xfrm>
            <a:off x="4992624" y="53035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19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Application in Counselling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41248" y="21031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and loss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and emotional distress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anger</a:t>
            </a:r>
            <a:endParaRPr lang="en-US" sz="1200" dirty="0"/>
          </a:p>
        </p:txBody>
      </p:sp>
      <p:sp>
        <p:nvSpPr>
          <p:cNvPr id="7" name="blk1"/>
          <p:cNvSpPr/>
          <p:nvPr/>
        </p:nvSpPr>
        <p:spPr>
          <a:xfrm>
            <a:off x="4224528" y="21031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concerns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Emotional-expression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 growth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interpersonal experiences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9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50" dirty="0"/>
          </a:p>
        </p:txBody>
      </p:sp>
      <p:sp>
        <p:nvSpPr>
          <p:cNvPr id="10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(Brownell, 2010;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Strengths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64208"/>
            <a:ext cx="3520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self-awareness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lived experience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agency and responsibility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mind, emotion and body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4443984" y="1938528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Considers person–environment interaction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active client participation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Supports experiential emotional processing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and Criticisms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975104"/>
            <a:ext cx="50292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Some techniques may feel intense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skilled and sensitive application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be challenging for clients who prefer highly structured approaches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misused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492240" y="2295144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every intervention suits every client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context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must be considered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Ethical boundaries are essential</a:t>
            </a:r>
            <a:endParaRPr lang="en-US" sz="1250" dirty="0"/>
          </a:p>
        </p:txBody>
      </p:sp>
      <p:sp>
        <p:nvSpPr>
          <p:cNvPr id="7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(Corey, 2024;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Amina’s Case Study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66420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59536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20-year-old undergraduate scholarship student</a:t>
            </a:r>
            <a:endParaRPr lang="en-US" sz="1300" dirty="0"/>
          </a:p>
        </p:txBody>
      </p:sp>
      <p:sp>
        <p:nvSpPr>
          <p:cNvPr id="7" name="blk2"/>
          <p:cNvSpPr/>
          <p:nvPr/>
        </p:nvSpPr>
        <p:spPr>
          <a:xfrm>
            <a:off x="4069080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8" name="blk2"/>
          <p:cNvSpPr/>
          <p:nvPr/>
        </p:nvSpPr>
        <p:spPr>
          <a:xfrm>
            <a:off x="4069080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Academic anxiety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losing scholarship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disappointing family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Difficulty expressing emotions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Pressure to maintain high grades</a:t>
            </a:r>
            <a:endParaRPr lang="en-US" sz="1100" dirty="0"/>
          </a:p>
        </p:txBody>
      </p:sp>
      <p:sp>
        <p:nvSpPr>
          <p:cNvPr id="9" name="blk3"/>
          <p:cNvSpPr/>
          <p:nvPr/>
        </p:nvSpPr>
        <p:spPr>
          <a:xfrm>
            <a:off x="6620256" y="192024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620256" y="234086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becomes figure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Possible introjected expectations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Limited awareness of personal needs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Interrupted contact</a:t>
            </a:r>
            <a:endParaRPr lang="en-US" sz="1100" dirty="0"/>
          </a:p>
        </p:txBody>
      </p:sp>
      <p:sp>
        <p:nvSpPr>
          <p:cNvPr id="11" name="blk4"/>
          <p:cNvSpPr/>
          <p:nvPr/>
        </p:nvSpPr>
        <p:spPr>
          <a:xfrm>
            <a:off x="9171432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12" name="blk4"/>
          <p:cNvSpPr/>
          <p:nvPr/>
        </p:nvSpPr>
        <p:spPr>
          <a:xfrm>
            <a:off x="9171432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exploration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Exploring introjected beliefs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Evaluation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824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CONTRIBUTIONS</a:t>
            </a:r>
            <a:endParaRPr lang="en-US" sz="1100" dirty="0"/>
          </a:p>
        </p:txBody>
      </p:sp>
      <p:sp>
        <p:nvSpPr>
          <p:cNvPr id="6" name="blk1"/>
          <p:cNvSpPr/>
          <p:nvPr/>
        </p:nvSpPr>
        <p:spPr>
          <a:xfrm>
            <a:off x="603504" y="277977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understanding of human experience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 emphasis on awareness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body, emotion and cognition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Recognizes person–environment interaction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7" name="blk2"/>
          <p:cNvSpPr/>
          <p:nvPr/>
        </p:nvSpPr>
        <p:spPr>
          <a:xfrm>
            <a:off x="6245352" y="1956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CONSIDERATIONS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6245352" y="305409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adaptation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readiness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Therapist competence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Appropriate use of experiential techniques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4544568" y="1664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4544568" y="2103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4544568" y="36758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23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&amp; CHOICE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4544568" y="44622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09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5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47088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2026-10-19T12:36:49Z</dcterms:created>
  <dcterms:modified xsi:type="dcterms:W3CDTF">2026-10-19T12:36:49Z</dcterms:modified>
</cp:coreProperties>
</file>