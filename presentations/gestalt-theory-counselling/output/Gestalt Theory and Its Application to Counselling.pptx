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" descr="/home/user/Business-e-books/presentations/gestalt-theory-counselling/assets/p-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66928"/>
            <a:ext cx="4892040" cy="572414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3" name="hdr"/>
          <p:cNvSpPr/>
          <p:nvPr/>
        </p:nvSpPr>
        <p:spPr>
          <a:xfrm>
            <a:off x="603504" y="69494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4" name="hdr"/>
          <p:cNvSpPr/>
          <p:nvPr/>
        </p:nvSpPr>
        <p:spPr>
          <a:xfrm>
            <a:off x="566928" y="914400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GESTALT</a:t>
            </a:r>
            <a:endParaRPr lang="en-US" sz="4400" dirty="0"/>
          </a:p>
        </p:txBody>
      </p:sp>
      <p:sp>
        <p:nvSpPr>
          <p:cNvPr id="5" name="hdr"/>
          <p:cNvSpPr/>
          <p:nvPr/>
        </p:nvSpPr>
        <p:spPr>
          <a:xfrm>
            <a:off x="566928" y="1664208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THEORY</a:t>
            </a:r>
            <a:endParaRPr lang="en-US" sz="4400" dirty="0"/>
          </a:p>
        </p:txBody>
      </p:sp>
      <p:sp>
        <p:nvSpPr>
          <p:cNvPr id="6" name="hdr"/>
          <p:cNvSpPr/>
          <p:nvPr/>
        </p:nvSpPr>
        <p:spPr>
          <a:xfrm>
            <a:off x="603504" y="2560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4EA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AND ITS APPLICATION TO COUNSELLING</a:t>
            </a:r>
            <a:endParaRPr lang="en-US" sz="1400" dirty="0"/>
          </a:p>
        </p:txBody>
      </p:sp>
      <p:sp>
        <p:nvSpPr>
          <p:cNvPr id="7" name="hdr"/>
          <p:cNvSpPr/>
          <p:nvPr/>
        </p:nvSpPr>
        <p:spPr>
          <a:xfrm>
            <a:off x="621792" y="3017520"/>
            <a:ext cx="109728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blk1"/>
          <p:cNvSpPr/>
          <p:nvPr/>
        </p:nvSpPr>
        <p:spPr>
          <a:xfrm>
            <a:off x="603504" y="3255264"/>
            <a:ext cx="5669280" cy="1737360"/>
          </a:xfrm>
          <a:prstGeom prst="roundRect">
            <a:avLst>
              <a:gd name="adj" fmla="val 473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859536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10" name="blk1"/>
          <p:cNvSpPr/>
          <p:nvPr/>
        </p:nvSpPr>
        <p:spPr>
          <a:xfrm>
            <a:off x="859536" y="369417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·    MACP/35996/0/26</a:t>
            </a:r>
            <a:endParaRPr lang="en-US" sz="1300" dirty="0"/>
          </a:p>
        </p:txBody>
      </p:sp>
      <p:sp>
        <p:nvSpPr>
          <p:cNvPr id="11" name="blk1"/>
          <p:cNvSpPr/>
          <p:nvPr/>
        </p:nvSpPr>
        <p:spPr>
          <a:xfrm>
            <a:off x="859536" y="4050792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2" name="blk1"/>
          <p:cNvSpPr/>
          <p:nvPr/>
        </p:nvSpPr>
        <p:spPr>
          <a:xfrm>
            <a:off x="859536" y="409651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·    MACP/35785/4/26</a:t>
            </a:r>
            <a:endParaRPr lang="en-US" sz="1300" dirty="0"/>
          </a:p>
        </p:txBody>
      </p:sp>
      <p:sp>
        <p:nvSpPr>
          <p:cNvPr id="13" name="blk1"/>
          <p:cNvSpPr/>
          <p:nvPr/>
        </p:nvSpPr>
        <p:spPr>
          <a:xfrm>
            <a:off x="859536" y="4453128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4" name="blk1"/>
          <p:cNvSpPr/>
          <p:nvPr/>
        </p:nvSpPr>
        <p:spPr>
          <a:xfrm>
            <a:off x="859536" y="449884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·    MALD/36547/4/26</a:t>
            </a:r>
            <a:endParaRPr lang="en-US" sz="1300" dirty="0"/>
          </a:p>
        </p:txBody>
      </p:sp>
      <p:sp>
        <p:nvSpPr>
          <p:cNvPr id="15" name="blk2"/>
          <p:cNvSpPr/>
          <p:nvPr/>
        </p:nvSpPr>
        <p:spPr>
          <a:xfrm>
            <a:off x="621792" y="5248656"/>
            <a:ext cx="5632704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6" name="blk2"/>
          <p:cNvSpPr/>
          <p:nvPr/>
        </p:nvSpPr>
        <p:spPr>
          <a:xfrm>
            <a:off x="3383280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7" name="blk2"/>
          <p:cNvSpPr/>
          <p:nvPr/>
        </p:nvSpPr>
        <p:spPr>
          <a:xfrm>
            <a:off x="5541264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COURSE</a:t>
            </a:r>
            <a:endParaRPr lang="en-US" sz="850" dirty="0"/>
          </a:p>
        </p:txBody>
      </p:sp>
      <p:sp>
        <p:nvSpPr>
          <p:cNvPr id="19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20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21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22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LECTURER</a:t>
            </a:r>
            <a:endParaRPr lang="en-US" sz="850" dirty="0"/>
          </a:p>
        </p:txBody>
      </p:sp>
      <p:sp>
        <p:nvSpPr>
          <p:cNvPr id="23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INTRODUCTION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59536" y="1828800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7" name="blk1"/>
          <p:cNvSpPr/>
          <p:nvPr/>
        </p:nvSpPr>
        <p:spPr>
          <a:xfrm>
            <a:off x="877824" y="2688336"/>
            <a:ext cx="4937760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8" name="blk1"/>
          <p:cNvSpPr/>
          <p:nvPr/>
        </p:nvSpPr>
        <p:spPr>
          <a:xfrm>
            <a:off x="859536" y="2889504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awareness, present experience and contact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and relationships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here-and-now</a:t>
            </a:r>
            <a:endParaRPr lang="en-US" sz="1350" dirty="0"/>
          </a:p>
        </p:txBody>
      </p:sp>
      <p:pic>
        <p:nvPicPr>
          <p:cNvPr id="9" name="img" descr="/home/user/Business-e-books/presentations/gestalt-theory-counselling/assets/p-in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83080"/>
            <a:ext cx="5166360" cy="4023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0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HISTORICAL BACKGROUND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g" descr="/home/user/Business-e-books/presentations/gestalt-theory-counselling/assets/p-his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7973568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867912" y="1810512"/>
            <a:ext cx="7461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1940s and 1950s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8" name="blk2"/>
          <p:cNvSpPr/>
          <p:nvPr/>
        </p:nvSpPr>
        <p:spPr>
          <a:xfrm>
            <a:off x="3886200" y="3072384"/>
            <a:ext cx="7699248" cy="1517904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4142232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10" name="blk2"/>
          <p:cNvSpPr/>
          <p:nvPr/>
        </p:nvSpPr>
        <p:spPr>
          <a:xfrm>
            <a:off x="4142232" y="352958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Gestalt psychology</a:t>
            </a:r>
            <a:endParaRPr lang="en-US" sz="1100" dirty="0"/>
          </a:p>
        </p:txBody>
      </p:sp>
      <p:sp>
        <p:nvSpPr>
          <p:cNvPr id="11" name="blk2"/>
          <p:cNvSpPr/>
          <p:nvPr/>
        </p:nvSpPr>
        <p:spPr>
          <a:xfrm>
            <a:off x="6702552" y="3529584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Phenomenology</a:t>
            </a:r>
            <a:endParaRPr lang="en-US" sz="1100" dirty="0"/>
          </a:p>
        </p:txBody>
      </p:sp>
      <p:sp>
        <p:nvSpPr>
          <p:cNvPr id="12" name="blk2"/>
          <p:cNvSpPr/>
          <p:nvPr/>
        </p:nvSpPr>
        <p:spPr>
          <a:xfrm>
            <a:off x="8988552" y="3529584"/>
            <a:ext cx="2340864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Existential philosophy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4142232" y="4059936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Field theory</a:t>
            </a:r>
            <a:endParaRPr lang="en-US" sz="1100" dirty="0"/>
          </a:p>
        </p:txBody>
      </p:sp>
      <p:sp>
        <p:nvSpPr>
          <p:cNvPr id="14" name="blk2"/>
          <p:cNvSpPr/>
          <p:nvPr/>
        </p:nvSpPr>
        <p:spPr>
          <a:xfrm>
            <a:off x="6016752" y="4059936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Holistic approaches</a:t>
            </a:r>
            <a:endParaRPr lang="en-US" sz="1100" dirty="0"/>
          </a:p>
        </p:txBody>
      </p:sp>
      <p:sp>
        <p:nvSpPr>
          <p:cNvPr id="15" name="blk3"/>
          <p:cNvSpPr/>
          <p:nvPr/>
        </p:nvSpPr>
        <p:spPr>
          <a:xfrm>
            <a:off x="3611880" y="4846320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blk3"/>
          <p:cNvSpPr/>
          <p:nvPr/>
        </p:nvSpPr>
        <p:spPr>
          <a:xfrm>
            <a:off x="3813048" y="4846320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7" name="blk4"/>
          <p:cNvSpPr/>
          <p:nvPr/>
        </p:nvSpPr>
        <p:spPr>
          <a:xfrm>
            <a:off x="3611880" y="5358384"/>
            <a:ext cx="7973568" cy="822960"/>
          </a:xfrm>
          <a:prstGeom prst="roundRect">
            <a:avLst>
              <a:gd name="adj" fmla="val 100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8" name="blk4"/>
          <p:cNvSpPr/>
          <p:nvPr/>
        </p:nvSpPr>
        <p:spPr>
          <a:xfrm>
            <a:off x="3867912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9" name="blk4"/>
          <p:cNvSpPr/>
          <p:nvPr/>
        </p:nvSpPr>
        <p:spPr>
          <a:xfrm>
            <a:off x="3867912" y="5705856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20" name="blk4"/>
          <p:cNvSpPr/>
          <p:nvPr/>
        </p:nvSpPr>
        <p:spPr>
          <a:xfrm>
            <a:off x="361188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MAJOR THEORISTS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g" descr="/home/user/Business-e-books/presentations/gestalt-theory-counselling/assets/p-theor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512064"/>
            <a:ext cx="4041648" cy="1737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603504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603504" y="2606040"/>
            <a:ext cx="3511296" cy="6400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8" name="blk1"/>
          <p:cNvSpPr/>
          <p:nvPr/>
        </p:nvSpPr>
        <p:spPr>
          <a:xfrm>
            <a:off x="877824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877824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FP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1719072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Fritz Perls</a:t>
            </a:r>
            <a:endParaRPr lang="en-US" sz="1500" dirty="0"/>
          </a:p>
        </p:txBody>
      </p:sp>
      <p:sp>
        <p:nvSpPr>
          <p:cNvPr id="11" name="blk1"/>
          <p:cNvSpPr/>
          <p:nvPr/>
        </p:nvSpPr>
        <p:spPr>
          <a:xfrm>
            <a:off x="1719072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877824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blk1"/>
          <p:cNvSpPr/>
          <p:nvPr/>
        </p:nvSpPr>
        <p:spPr>
          <a:xfrm>
            <a:off x="877824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Major founder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877824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Awareness, experience and responsibility</a:t>
            </a:r>
            <a:endParaRPr lang="en-US" sz="1200" dirty="0"/>
          </a:p>
        </p:txBody>
      </p:sp>
      <p:sp>
        <p:nvSpPr>
          <p:cNvPr id="15" name="blk2"/>
          <p:cNvSpPr/>
          <p:nvPr/>
        </p:nvSpPr>
        <p:spPr>
          <a:xfrm>
            <a:off x="4343400" y="288036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4343400" y="2880360"/>
            <a:ext cx="3511296" cy="6400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7" name="blk2"/>
          <p:cNvSpPr/>
          <p:nvPr/>
        </p:nvSpPr>
        <p:spPr>
          <a:xfrm>
            <a:off x="4617720" y="317296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blk2"/>
          <p:cNvSpPr/>
          <p:nvPr/>
        </p:nvSpPr>
        <p:spPr>
          <a:xfrm>
            <a:off x="4617720" y="31729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LP</a:t>
            </a:r>
            <a:endParaRPr lang="en-US" sz="1350" dirty="0"/>
          </a:p>
        </p:txBody>
      </p:sp>
      <p:sp>
        <p:nvSpPr>
          <p:cNvPr id="19" name="blk2"/>
          <p:cNvSpPr/>
          <p:nvPr/>
        </p:nvSpPr>
        <p:spPr>
          <a:xfrm>
            <a:off x="5458968" y="322783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Laura Perls</a:t>
            </a:r>
            <a:endParaRPr lang="en-US" sz="1500" dirty="0"/>
          </a:p>
        </p:txBody>
      </p:sp>
      <p:sp>
        <p:nvSpPr>
          <p:cNvPr id="20" name="blk2"/>
          <p:cNvSpPr/>
          <p:nvPr/>
        </p:nvSpPr>
        <p:spPr>
          <a:xfrm>
            <a:off x="5458968" y="357530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1" name="blk2"/>
          <p:cNvSpPr/>
          <p:nvPr/>
        </p:nvSpPr>
        <p:spPr>
          <a:xfrm>
            <a:off x="4617720" y="405079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blk2"/>
          <p:cNvSpPr/>
          <p:nvPr/>
        </p:nvSpPr>
        <p:spPr>
          <a:xfrm>
            <a:off x="4617720" y="419709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Major contributor</a:t>
            </a:r>
            <a:endParaRPr lang="en-US" sz="1200" dirty="0"/>
          </a:p>
        </p:txBody>
      </p:sp>
      <p:sp>
        <p:nvSpPr>
          <p:cNvPr id="23" name="blk2"/>
          <p:cNvSpPr/>
          <p:nvPr/>
        </p:nvSpPr>
        <p:spPr>
          <a:xfrm>
            <a:off x="4617720" y="481888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Contact, relationship and embodied experience</a:t>
            </a:r>
            <a:endParaRPr lang="en-US" sz="1200" dirty="0"/>
          </a:p>
        </p:txBody>
      </p:sp>
      <p:sp>
        <p:nvSpPr>
          <p:cNvPr id="24" name="blk3"/>
          <p:cNvSpPr/>
          <p:nvPr/>
        </p:nvSpPr>
        <p:spPr>
          <a:xfrm>
            <a:off x="8083296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5" name="blk3"/>
          <p:cNvSpPr/>
          <p:nvPr/>
        </p:nvSpPr>
        <p:spPr>
          <a:xfrm>
            <a:off x="8083296" y="2606040"/>
            <a:ext cx="3511296" cy="6400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6" name="blk3"/>
          <p:cNvSpPr/>
          <p:nvPr/>
        </p:nvSpPr>
        <p:spPr>
          <a:xfrm>
            <a:off x="8357616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7" name="blk3"/>
          <p:cNvSpPr/>
          <p:nvPr/>
        </p:nvSpPr>
        <p:spPr>
          <a:xfrm>
            <a:off x="8357616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PG</a:t>
            </a:r>
            <a:endParaRPr lang="en-US" sz="1350" dirty="0"/>
          </a:p>
        </p:txBody>
      </p:sp>
      <p:sp>
        <p:nvSpPr>
          <p:cNvPr id="28" name="blk3"/>
          <p:cNvSpPr/>
          <p:nvPr/>
        </p:nvSpPr>
        <p:spPr>
          <a:xfrm>
            <a:off x="9198864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Paul Goodman</a:t>
            </a:r>
            <a:endParaRPr lang="en-US" sz="1500" dirty="0"/>
          </a:p>
        </p:txBody>
      </p:sp>
      <p:sp>
        <p:nvSpPr>
          <p:cNvPr id="29" name="blk3"/>
          <p:cNvSpPr/>
          <p:nvPr/>
        </p:nvSpPr>
        <p:spPr>
          <a:xfrm>
            <a:off x="9198864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0" name="blk3"/>
          <p:cNvSpPr/>
          <p:nvPr/>
        </p:nvSpPr>
        <p:spPr>
          <a:xfrm>
            <a:off x="8357616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1" name="blk3"/>
          <p:cNvSpPr/>
          <p:nvPr/>
        </p:nvSpPr>
        <p:spPr>
          <a:xfrm>
            <a:off x="8357616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Co-author of Gestalt Therapy (1951)</a:t>
            </a:r>
            <a:endParaRPr lang="en-US" sz="1200" dirty="0"/>
          </a:p>
        </p:txBody>
      </p:sp>
      <p:sp>
        <p:nvSpPr>
          <p:cNvPr id="32" name="blk3"/>
          <p:cNvSpPr/>
          <p:nvPr/>
        </p:nvSpPr>
        <p:spPr>
          <a:xfrm>
            <a:off x="8357616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contributor to theoretical formulation</a:t>
            </a:r>
            <a:endParaRPr lang="en-US" sz="1200" dirty="0"/>
          </a:p>
        </p:txBody>
      </p:sp>
      <p:sp>
        <p:nvSpPr>
          <p:cNvPr id="33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5" name="Text 3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ASSUMPTIONS OF GESTALT THERAPY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737360"/>
            <a:ext cx="3840480" cy="4160520"/>
          </a:xfrm>
          <a:prstGeom prst="roundRect">
            <a:avLst>
              <a:gd name="adj" fmla="val 2143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22860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blk1"/>
          <p:cNvSpPr/>
          <p:nvPr/>
        </p:nvSpPr>
        <p:spPr>
          <a:xfrm>
            <a:off x="1389888" y="22860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84124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1389888" y="299923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841248" y="37124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1389888" y="371246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841248" y="442569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1389888" y="442569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4" name="blk2"/>
          <p:cNvSpPr/>
          <p:nvPr/>
        </p:nvSpPr>
        <p:spPr>
          <a:xfrm>
            <a:off x="4626864" y="2103120"/>
            <a:ext cx="3291840" cy="3794760"/>
          </a:xfrm>
          <a:prstGeom prst="roundRect">
            <a:avLst>
              <a:gd name="adj" fmla="val 25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5" name="blk2"/>
          <p:cNvSpPr/>
          <p:nvPr/>
        </p:nvSpPr>
        <p:spPr>
          <a:xfrm>
            <a:off x="4864608" y="263347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1050" dirty="0"/>
          </a:p>
        </p:txBody>
      </p:sp>
      <p:sp>
        <p:nvSpPr>
          <p:cNvPr id="16" name="blk2"/>
          <p:cNvSpPr/>
          <p:nvPr/>
        </p:nvSpPr>
        <p:spPr>
          <a:xfrm>
            <a:off x="5413248" y="26334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1050" dirty="0"/>
          </a:p>
        </p:txBody>
      </p:sp>
      <p:sp>
        <p:nvSpPr>
          <p:cNvPr id="18" name="blk2"/>
          <p:cNvSpPr/>
          <p:nvPr/>
        </p:nvSpPr>
        <p:spPr>
          <a:xfrm>
            <a:off x="5413248" y="33467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9" name="blk2"/>
          <p:cNvSpPr/>
          <p:nvPr/>
        </p:nvSpPr>
        <p:spPr>
          <a:xfrm>
            <a:off x="4864608" y="40599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1050" dirty="0"/>
          </a:p>
        </p:txBody>
      </p:sp>
      <p:sp>
        <p:nvSpPr>
          <p:cNvPr id="20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pic>
        <p:nvPicPr>
          <p:cNvPr id="21" name="img" descr="/home/user/Business-e-books/presentations/gestalt-theory-counselling/assets/p-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737360"/>
            <a:ext cx="3474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22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Brownell, 2010; Joyce &amp; Sills, 2014)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4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AWARENESS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627632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6" name="blk1"/>
          <p:cNvSpPr/>
          <p:nvPr/>
        </p:nvSpPr>
        <p:spPr>
          <a:xfrm>
            <a:off x="804672" y="1627632"/>
            <a:ext cx="6656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7" name="blk2"/>
          <p:cNvSpPr/>
          <p:nvPr/>
        </p:nvSpPr>
        <p:spPr>
          <a:xfrm>
            <a:off x="603504" y="2157984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2"/>
          <p:cNvSpPr/>
          <p:nvPr/>
        </p:nvSpPr>
        <p:spPr>
          <a:xfrm>
            <a:off x="841248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NOTICING</a:t>
            </a:r>
            <a:endParaRPr lang="en-US" sz="900" dirty="0"/>
          </a:p>
        </p:txBody>
      </p:sp>
      <p:sp>
        <p:nvSpPr>
          <p:cNvPr id="9" name="blk2"/>
          <p:cNvSpPr/>
          <p:nvPr/>
        </p:nvSpPr>
        <p:spPr>
          <a:xfrm>
            <a:off x="841248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Thoughts</a:t>
            </a:r>
            <a:endParaRPr lang="en-US" sz="950" dirty="0"/>
          </a:p>
        </p:txBody>
      </p:sp>
      <p:sp>
        <p:nvSpPr>
          <p:cNvPr id="10" name="blk2"/>
          <p:cNvSpPr/>
          <p:nvPr/>
        </p:nvSpPr>
        <p:spPr>
          <a:xfrm>
            <a:off x="2139696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Feelings</a:t>
            </a:r>
            <a:endParaRPr lang="en-US" sz="950" dirty="0"/>
          </a:p>
        </p:txBody>
      </p:sp>
      <p:sp>
        <p:nvSpPr>
          <p:cNvPr id="11" name="blk2"/>
          <p:cNvSpPr/>
          <p:nvPr/>
        </p:nvSpPr>
        <p:spPr>
          <a:xfrm>
            <a:off x="3438144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Bodily sensations</a:t>
            </a:r>
            <a:endParaRPr lang="en-US" sz="950" dirty="0"/>
          </a:p>
        </p:txBody>
      </p:sp>
      <p:sp>
        <p:nvSpPr>
          <p:cNvPr id="12" name="blk2"/>
          <p:cNvSpPr/>
          <p:nvPr/>
        </p:nvSpPr>
        <p:spPr>
          <a:xfrm>
            <a:off x="4736592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Behaviour</a:t>
            </a:r>
            <a:endParaRPr lang="en-US" sz="950" dirty="0"/>
          </a:p>
        </p:txBody>
      </p:sp>
      <p:sp>
        <p:nvSpPr>
          <p:cNvPr id="13" name="blk2"/>
          <p:cNvSpPr/>
          <p:nvPr/>
        </p:nvSpPr>
        <p:spPr>
          <a:xfrm>
            <a:off x="6035040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Needs</a:t>
            </a:r>
            <a:endParaRPr lang="en-US" sz="950" dirty="0"/>
          </a:p>
        </p:txBody>
      </p:sp>
      <p:sp>
        <p:nvSpPr>
          <p:cNvPr id="14" name="blk3"/>
          <p:cNvSpPr/>
          <p:nvPr/>
        </p:nvSpPr>
        <p:spPr>
          <a:xfrm>
            <a:off x="603504" y="3877056"/>
            <a:ext cx="690372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16" name="blk3"/>
          <p:cNvSpPr/>
          <p:nvPr/>
        </p:nvSpPr>
        <p:spPr>
          <a:xfrm>
            <a:off x="859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7" name="blk3"/>
          <p:cNvSpPr/>
          <p:nvPr/>
        </p:nvSpPr>
        <p:spPr>
          <a:xfrm>
            <a:off x="1078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8" name="blk3"/>
          <p:cNvSpPr/>
          <p:nvPr/>
        </p:nvSpPr>
        <p:spPr>
          <a:xfrm>
            <a:off x="4288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9" name="blk3"/>
          <p:cNvSpPr/>
          <p:nvPr/>
        </p:nvSpPr>
        <p:spPr>
          <a:xfrm>
            <a:off x="4507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20" name="blk3"/>
          <p:cNvSpPr/>
          <p:nvPr/>
        </p:nvSpPr>
        <p:spPr>
          <a:xfrm>
            <a:off x="841248" y="4956048"/>
            <a:ext cx="2240280" cy="603504"/>
          </a:xfrm>
          <a:prstGeom prst="roundRect">
            <a:avLst>
              <a:gd name="adj" fmla="val 9091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21" name="blk3"/>
          <p:cNvSpPr/>
          <p:nvPr/>
        </p:nvSpPr>
        <p:spPr>
          <a:xfrm>
            <a:off x="312724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k3"/>
          <p:cNvSpPr/>
          <p:nvPr/>
        </p:nvSpPr>
        <p:spPr>
          <a:xfrm>
            <a:off x="3675888" y="4956048"/>
            <a:ext cx="1737360" cy="603504"/>
          </a:xfrm>
          <a:prstGeom prst="roundRect">
            <a:avLst>
              <a:gd name="adj" fmla="val 9091"/>
            </a:avLst>
          </a:prstGeom>
          <a:solidFill>
            <a:srgbClr val="162B57"/>
          </a:solidFill>
          <a:ln>
            <a:solidFill>
              <a:srgbClr val="162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CHOICE</a:t>
            </a:r>
            <a:endParaRPr lang="en-US" sz="1250" dirty="0"/>
          </a:p>
        </p:txBody>
      </p:sp>
      <p:sp>
        <p:nvSpPr>
          <p:cNvPr id="23" name="blk3"/>
          <p:cNvSpPr/>
          <p:nvPr/>
        </p:nvSpPr>
        <p:spPr>
          <a:xfrm>
            <a:off x="545896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blk3"/>
          <p:cNvSpPr/>
          <p:nvPr/>
        </p:nvSpPr>
        <p:spPr>
          <a:xfrm>
            <a:off x="6016752" y="4956048"/>
            <a:ext cx="1828800" cy="603504"/>
          </a:xfrm>
          <a:prstGeom prst="roundRect">
            <a:avLst>
              <a:gd name="adj" fmla="val 9091"/>
            </a:avLst>
          </a:prstGeom>
          <a:solidFill>
            <a:srgbClr val="8097BE"/>
          </a:solidFill>
          <a:ln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A1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CHANGE</a:t>
            </a:r>
            <a:endParaRPr lang="en-US" sz="1250" dirty="0"/>
          </a:p>
        </p:txBody>
      </p:sp>
      <p:pic>
        <p:nvPicPr>
          <p:cNvPr id="25" name="img" descr="/home/user/Business-e-books/presentations/gestalt-theory-counselling/assets/p-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6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8" name="Text 2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HERE-AND-NOW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603504" y="1591056"/>
            <a:ext cx="3611880" cy="54864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 FOCUS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9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10" name="blk2"/>
          <p:cNvSpPr/>
          <p:nvPr/>
        </p:nvSpPr>
        <p:spPr>
          <a:xfrm>
            <a:off x="914400" y="4059936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914400" y="4059936"/>
            <a:ext cx="3291840" cy="54864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2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 PAST</a:t>
            </a:r>
            <a:endParaRPr lang="en-US" sz="900" dirty="0"/>
          </a:p>
        </p:txBody>
      </p:sp>
      <p:sp>
        <p:nvSpPr>
          <p:cNvPr id="13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4" name="blk3"/>
          <p:cNvSpPr/>
          <p:nvPr/>
        </p:nvSpPr>
        <p:spPr>
          <a:xfrm>
            <a:off x="4526280" y="1591056"/>
            <a:ext cx="3108960" cy="42976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3"/>
          <p:cNvSpPr/>
          <p:nvPr/>
        </p:nvSpPr>
        <p:spPr>
          <a:xfrm>
            <a:off x="4764024" y="1810512"/>
            <a:ext cx="2651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rather than excessive intellectual analysis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present-moment awareness</a:t>
            </a:r>
            <a:endParaRPr lang="en-US" sz="1250" dirty="0"/>
          </a:p>
        </p:txBody>
      </p:sp>
      <p:pic>
        <p:nvPicPr>
          <p:cNvPr id="16" name="img" descr="/home/user/Business-e-books/presentations/gestalt-theory-counselling/assets/p-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591056"/>
            <a:ext cx="3803904" cy="43891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7" name="blk3"/>
          <p:cNvSpPr/>
          <p:nvPr/>
        </p:nvSpPr>
        <p:spPr>
          <a:xfrm>
            <a:off x="4526280" y="5989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Brownell, 2010)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FIGURE AND GROUND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4846320" cy="4114800"/>
          </a:xfrm>
          <a:prstGeom prst="roundRect">
            <a:avLst>
              <a:gd name="adj" fmla="val 2000"/>
            </a:avLst>
          </a:prstGeom>
          <a:solidFill>
            <a:srgbClr val="0A1937"/>
          </a:solidFill>
          <a:ln w="12700">
            <a:solidFill>
              <a:srgbClr val="0A193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1037844" y="1659636"/>
            <a:ext cx="3977640" cy="39776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7" name="blk1"/>
          <p:cNvSpPr/>
          <p:nvPr/>
        </p:nvSpPr>
        <p:spPr>
          <a:xfrm>
            <a:off x="1403604" y="2025396"/>
            <a:ext cx="3246120" cy="324612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8" name="blk1"/>
          <p:cNvSpPr/>
          <p:nvPr/>
        </p:nvSpPr>
        <p:spPr>
          <a:xfrm>
            <a:off x="1723644" y="2345436"/>
            <a:ext cx="2606040" cy="26060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2249424" y="2871216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blk1"/>
          <p:cNvSpPr/>
          <p:nvPr/>
        </p:nvSpPr>
        <p:spPr>
          <a:xfrm>
            <a:off x="2249424" y="451713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FIGURE</a:t>
            </a:r>
            <a:endParaRPr lang="en-US" sz="900" dirty="0"/>
          </a:p>
        </p:txBody>
      </p:sp>
      <p:sp>
        <p:nvSpPr>
          <p:cNvPr id="11" name="blk1"/>
          <p:cNvSpPr/>
          <p:nvPr/>
        </p:nvSpPr>
        <p:spPr>
          <a:xfrm>
            <a:off x="877824" y="5285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AB7D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GROUND</a:t>
            </a:r>
            <a:endParaRPr lang="en-US" sz="900" dirty="0"/>
          </a:p>
        </p:txBody>
      </p:sp>
      <p:sp>
        <p:nvSpPr>
          <p:cNvPr id="12" name="blk1"/>
          <p:cNvSpPr/>
          <p:nvPr/>
        </p:nvSpPr>
        <p:spPr>
          <a:xfrm>
            <a:off x="603504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element steps forward as figure against a ground of context.</a:t>
            </a:r>
            <a:endParaRPr lang="en-US" sz="950" dirty="0"/>
          </a:p>
        </p:txBody>
      </p:sp>
      <p:sp>
        <p:nvSpPr>
          <p:cNvPr id="13" name="blk2"/>
          <p:cNvSpPr/>
          <p:nvPr/>
        </p:nvSpPr>
        <p:spPr>
          <a:xfrm>
            <a:off x="5760720" y="1591056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2"/>
          <p:cNvSpPr/>
          <p:nvPr/>
        </p:nvSpPr>
        <p:spPr>
          <a:xfrm>
            <a:off x="5760720" y="1591056"/>
            <a:ext cx="73152" cy="9509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FIGURE</a:t>
            </a:r>
            <a:endParaRPr lang="en-US" sz="1400" dirty="0"/>
          </a:p>
        </p:txBody>
      </p:sp>
      <p:sp>
        <p:nvSpPr>
          <p:cNvPr id="16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7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B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blk2"/>
          <p:cNvSpPr/>
          <p:nvPr/>
        </p:nvSpPr>
        <p:spPr>
          <a:xfrm>
            <a:off x="5760720" y="2999232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9" name="blk2"/>
          <p:cNvSpPr/>
          <p:nvPr/>
        </p:nvSpPr>
        <p:spPr>
          <a:xfrm>
            <a:off x="5760720" y="2999232"/>
            <a:ext cx="73152" cy="9509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20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GROUND</a:t>
            </a:r>
            <a:endParaRPr lang="en-US" sz="1400" dirty="0"/>
          </a:p>
        </p:txBody>
      </p:sp>
      <p:sp>
        <p:nvSpPr>
          <p:cNvPr id="21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22" name="blk3"/>
          <p:cNvSpPr/>
          <p:nvPr/>
        </p:nvSpPr>
        <p:spPr>
          <a:xfrm>
            <a:off x="5760720" y="4224528"/>
            <a:ext cx="58247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3" name="blk3"/>
          <p:cNvSpPr/>
          <p:nvPr/>
        </p:nvSpPr>
        <p:spPr>
          <a:xfrm>
            <a:off x="5998464" y="4443984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and concerns move between figure and ground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figure changes as circumstances change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Awareness helps identify what is most significant in the present</a:t>
            </a:r>
            <a:endParaRPr lang="en-US" sz="1200" dirty="0"/>
          </a:p>
        </p:txBody>
      </p:sp>
      <p:sp>
        <p:nvSpPr>
          <p:cNvPr id="24" name="blk3"/>
          <p:cNvSpPr/>
          <p:nvPr/>
        </p:nvSpPr>
        <p:spPr>
          <a:xfrm>
            <a:off x="5760720" y="6035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CONTACT AND CONTACT BOUNDARY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64008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 between the individual and environment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at which the individual and environment meet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engaging, responding and withdrawing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pic>
        <p:nvPicPr>
          <p:cNvPr id="7" name="img" descr="/home/user/Business-e-books/presentations/gestalt-theory-counselling/assets/p-m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591056"/>
            <a:ext cx="4361688" cy="327355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2"/>
          <p:cNvSpPr/>
          <p:nvPr/>
        </p:nvSpPr>
        <p:spPr>
          <a:xfrm>
            <a:off x="7223760" y="5010912"/>
            <a:ext cx="4361688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7479792" y="5340096"/>
            <a:ext cx="1024128" cy="548640"/>
          </a:xfrm>
          <a:prstGeom prst="roundRect">
            <a:avLst>
              <a:gd name="adj" fmla="val 10000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INDIVIDUAL</a:t>
            </a:r>
            <a:endParaRPr lang="en-US" sz="850" dirty="0"/>
          </a:p>
        </p:txBody>
      </p:sp>
      <p:sp>
        <p:nvSpPr>
          <p:cNvPr id="10" name="blk2"/>
          <p:cNvSpPr/>
          <p:nvPr/>
        </p:nvSpPr>
        <p:spPr>
          <a:xfrm>
            <a:off x="8503920" y="5340096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↔</a:t>
            </a:r>
            <a:endParaRPr lang="en-US" sz="1300" dirty="0"/>
          </a:p>
        </p:txBody>
      </p:sp>
      <p:sp>
        <p:nvSpPr>
          <p:cNvPr id="11" name="blk2"/>
          <p:cNvSpPr/>
          <p:nvPr/>
        </p:nvSpPr>
        <p:spPr>
          <a:xfrm>
            <a:off x="8796528" y="5340096"/>
            <a:ext cx="1225296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50" kern="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CONTACT BOUNDARY</a:t>
            </a:r>
            <a:endParaRPr lang="en-US" sz="800" dirty="0"/>
          </a:p>
        </p:txBody>
      </p:sp>
      <p:sp>
        <p:nvSpPr>
          <p:cNvPr id="12" name="blk2"/>
          <p:cNvSpPr/>
          <p:nvPr/>
        </p:nvSpPr>
        <p:spPr>
          <a:xfrm>
            <a:off x="10021824" y="5340096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blk2"/>
          <p:cNvSpPr/>
          <p:nvPr/>
        </p:nvSpPr>
        <p:spPr>
          <a:xfrm>
            <a:off x="10314432" y="5340096"/>
            <a:ext cx="859536" cy="548640"/>
          </a:xfrm>
          <a:prstGeom prst="roundRect">
            <a:avLst>
              <a:gd name="adj" fmla="val 10000"/>
            </a:avLst>
          </a:prstGeom>
          <a:solidFill>
            <a:srgbClr val="5A6B94"/>
          </a:solidFill>
          <a:ln>
            <a:solidFill>
              <a:srgbClr val="5A6B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ENVIRONMENT</a:t>
            </a:r>
            <a:endParaRPr lang="en-US" sz="850" dirty="0"/>
          </a:p>
        </p:txBody>
      </p:sp>
      <p:sp>
        <p:nvSpPr>
          <p:cNvPr id="14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UNFINISHED BUSINESS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g" descr="/home/user/Business-e-books/presentations/gestalt-theory-counselling/assets/p-let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7973568" cy="2340864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867912" y="1810512"/>
            <a:ext cx="7461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8" name="blk1"/>
          <p:cNvSpPr/>
          <p:nvPr/>
        </p:nvSpPr>
        <p:spPr>
          <a:xfrm>
            <a:off x="3867912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9" name="blk1"/>
          <p:cNvSpPr/>
          <p:nvPr/>
        </p:nvSpPr>
        <p:spPr>
          <a:xfrm>
            <a:off x="3867912" y="2743200"/>
            <a:ext cx="113385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Grief</a:t>
            </a:r>
            <a:endParaRPr lang="en-US" sz="1100" dirty="0"/>
          </a:p>
        </p:txBody>
      </p:sp>
      <p:sp>
        <p:nvSpPr>
          <p:cNvPr id="10" name="blk1"/>
          <p:cNvSpPr/>
          <p:nvPr/>
        </p:nvSpPr>
        <p:spPr>
          <a:xfrm>
            <a:off x="5166360" y="2743200"/>
            <a:ext cx="113385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Anger</a:t>
            </a:r>
            <a:endParaRPr lang="en-US" sz="1100" dirty="0"/>
          </a:p>
        </p:txBody>
      </p:sp>
      <p:sp>
        <p:nvSpPr>
          <p:cNvPr id="11" name="blk1"/>
          <p:cNvSpPr/>
          <p:nvPr/>
        </p:nvSpPr>
        <p:spPr>
          <a:xfrm>
            <a:off x="6464808" y="2743200"/>
            <a:ext cx="104241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Guilt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7671816" y="2743200"/>
            <a:ext cx="155448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Resentment</a:t>
            </a:r>
            <a:endParaRPr lang="en-US" sz="1100" dirty="0"/>
          </a:p>
        </p:txBody>
      </p:sp>
      <p:sp>
        <p:nvSpPr>
          <p:cNvPr id="13" name="blk1"/>
          <p:cNvSpPr/>
          <p:nvPr/>
        </p:nvSpPr>
        <p:spPr>
          <a:xfrm>
            <a:off x="9390888" y="2743200"/>
            <a:ext cx="173736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Unmet needs</a:t>
            </a:r>
            <a:endParaRPr lang="en-US" sz="1100" dirty="0"/>
          </a:p>
        </p:txBody>
      </p:sp>
      <p:sp>
        <p:nvSpPr>
          <p:cNvPr id="14" name="blk2"/>
          <p:cNvSpPr/>
          <p:nvPr/>
        </p:nvSpPr>
        <p:spPr>
          <a:xfrm>
            <a:off x="3611880" y="4114800"/>
            <a:ext cx="7973568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2"/>
          <p:cNvSpPr/>
          <p:nvPr/>
        </p:nvSpPr>
        <p:spPr>
          <a:xfrm>
            <a:off x="3867912" y="4334256"/>
            <a:ext cx="7461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remain psychologically active in the present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16" name="blk2"/>
          <p:cNvSpPr/>
          <p:nvPr/>
        </p:nvSpPr>
        <p:spPr>
          <a:xfrm>
            <a:off x="3867912" y="5120640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7" name="blk2"/>
          <p:cNvSpPr/>
          <p:nvPr/>
        </p:nvSpPr>
        <p:spPr>
          <a:xfrm>
            <a:off x="4069080" y="5120640"/>
            <a:ext cx="7114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Therapy promotes awareness and processing</a:t>
            </a:r>
            <a:endParaRPr lang="en-US" sz="1300" dirty="0"/>
          </a:p>
        </p:txBody>
      </p:sp>
      <p:sp>
        <p:nvSpPr>
          <p:cNvPr id="18" name="blk3"/>
          <p:cNvSpPr/>
          <p:nvPr/>
        </p:nvSpPr>
        <p:spPr>
          <a:xfrm>
            <a:off x="3611880" y="5870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PERSONAL RESPONSIBILITY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722376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810512"/>
            <a:ext cx="67482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Recognizing one's own choices and responses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agency and ownership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authentic decision-making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7" name="blk2"/>
          <p:cNvSpPr/>
          <p:nvPr/>
        </p:nvSpPr>
        <p:spPr>
          <a:xfrm>
            <a:off x="603504" y="4005072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50" kern="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RESPONSIBILITY  ≠  BLAME</a:t>
            </a:r>
            <a:endParaRPr lang="en-US" sz="1250" dirty="0"/>
          </a:p>
        </p:txBody>
      </p:sp>
      <p:sp>
        <p:nvSpPr>
          <p:cNvPr id="8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603504" y="502920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ECF0F6"/>
          </a:solidFill>
          <a:ln w="12700">
            <a:solidFill>
              <a:srgbClr val="ECF0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3"/>
          <p:cNvSpPr/>
          <p:nvPr/>
        </p:nvSpPr>
        <p:spPr>
          <a:xfrm>
            <a:off x="804672" y="515721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1" name="blk3"/>
          <p:cNvSpPr/>
          <p:nvPr/>
        </p:nvSpPr>
        <p:spPr>
          <a:xfrm>
            <a:off x="804672" y="5157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200" dirty="0"/>
          </a:p>
        </p:txBody>
      </p:sp>
      <p:sp>
        <p:nvSpPr>
          <p:cNvPr id="12" name="blk3"/>
          <p:cNvSpPr/>
          <p:nvPr/>
        </p:nvSpPr>
        <p:spPr>
          <a:xfrm>
            <a:off x="1335024" y="5029200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make me angry.”</a:t>
            </a:r>
            <a:endParaRPr lang="en-US" sz="1300" dirty="0"/>
          </a:p>
        </p:txBody>
      </p:sp>
      <p:sp>
        <p:nvSpPr>
          <p:cNvPr id="13" name="blk3"/>
          <p:cNvSpPr/>
          <p:nvPr/>
        </p:nvSpPr>
        <p:spPr>
          <a:xfrm>
            <a:off x="603504" y="5742432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804672" y="587044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5" name="blk3"/>
          <p:cNvSpPr/>
          <p:nvPr/>
        </p:nvSpPr>
        <p:spPr>
          <a:xfrm>
            <a:off x="804672" y="5870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blk3"/>
          <p:cNvSpPr/>
          <p:nvPr/>
        </p:nvSpPr>
        <p:spPr>
          <a:xfrm>
            <a:off x="1335024" y="5742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notice that I become angry when…”</a:t>
            </a:r>
            <a:endParaRPr lang="en-US" sz="1300" dirty="0"/>
          </a:p>
        </p:txBody>
      </p:sp>
      <p:pic>
        <p:nvPicPr>
          <p:cNvPr id="17" name="img" descr="/home/user/Business-e-books/presentations/gestalt-theory-counselling/assets/p-comp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591056"/>
            <a:ext cx="3584448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8" name="blk4"/>
          <p:cNvSpPr/>
          <p:nvPr/>
        </p:nvSpPr>
        <p:spPr>
          <a:xfrm>
            <a:off x="8001000" y="5897880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Corey, 2024)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 OF THE GESTALT COUNSELLOR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pic>
        <p:nvPicPr>
          <p:cNvPr id="5" name="img" descr="/home/user/Business-e-books/presentations/gestalt-theory-counselling/assets/p-noteb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737360"/>
            <a:ext cx="5760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6583680" y="2103120"/>
            <a:ext cx="4983480" cy="3794760"/>
          </a:xfrm>
          <a:prstGeom prst="roundRect">
            <a:avLst>
              <a:gd name="adj" fmla="val 2169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6821424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 ROLE</a:t>
            </a:r>
            <a:endParaRPr lang="en-US" sz="850" dirty="0"/>
          </a:p>
        </p:txBody>
      </p:sp>
      <p:sp>
        <p:nvSpPr>
          <p:cNvPr id="8" name="blk1"/>
          <p:cNvSpPr/>
          <p:nvPr/>
        </p:nvSpPr>
        <p:spPr>
          <a:xfrm>
            <a:off x="6821424" y="2651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7370064" y="2651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Facilitates awareness</a:t>
            </a:r>
            <a:endParaRPr lang="en-US" sz="1200" dirty="0"/>
          </a:p>
        </p:txBody>
      </p:sp>
      <p:sp>
        <p:nvSpPr>
          <p:cNvPr id="10" name="blk1"/>
          <p:cNvSpPr/>
          <p:nvPr/>
        </p:nvSpPr>
        <p:spPr>
          <a:xfrm>
            <a:off x="6821424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7370064" y="3108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2" name="blk1"/>
          <p:cNvSpPr/>
          <p:nvPr/>
        </p:nvSpPr>
        <p:spPr>
          <a:xfrm>
            <a:off x="6821424" y="35661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7370064" y="35661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Observes verbal and non-verbal behaviour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6821424" y="40233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blk1"/>
          <p:cNvSpPr/>
          <p:nvPr/>
        </p:nvSpPr>
        <p:spPr>
          <a:xfrm>
            <a:off x="7370064" y="40233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the therapeutic relationship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6821424" y="44805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blk1"/>
          <p:cNvSpPr/>
          <p:nvPr/>
        </p:nvSpPr>
        <p:spPr>
          <a:xfrm>
            <a:off x="7370064" y="44805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authentic expression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6821424" y="4937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1050" dirty="0"/>
          </a:p>
        </p:txBody>
      </p:sp>
      <p:sp>
        <p:nvSpPr>
          <p:cNvPr id="19" name="blk1"/>
          <p:cNvSpPr/>
          <p:nvPr/>
        </p:nvSpPr>
        <p:spPr>
          <a:xfrm>
            <a:off x="7370064" y="4937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Explores interruptions in contact</a:t>
            </a:r>
            <a:endParaRPr lang="en-US" sz="1200" dirty="0"/>
          </a:p>
        </p:txBody>
      </p:sp>
      <p:sp>
        <p:nvSpPr>
          <p:cNvPr id="20" name="blk1"/>
          <p:cNvSpPr/>
          <p:nvPr/>
        </p:nvSpPr>
        <p:spPr>
          <a:xfrm>
            <a:off x="6821424" y="5394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1050" dirty="0"/>
          </a:p>
        </p:txBody>
      </p:sp>
      <p:sp>
        <p:nvSpPr>
          <p:cNvPr id="21" name="blk1"/>
          <p:cNvSpPr/>
          <p:nvPr/>
        </p:nvSpPr>
        <p:spPr>
          <a:xfrm>
            <a:off x="7370064" y="5394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Promotes responsibility and choice</a:t>
            </a:r>
            <a:endParaRPr lang="en-US" sz="1200" dirty="0"/>
          </a:p>
        </p:txBody>
      </p:sp>
      <p:sp>
        <p:nvSpPr>
          <p:cNvPr id="22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(Joyce &amp; Sills, 2014; Brownell, 2010)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4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GESTALT THERAPEUTIC TECHNIQUES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g" descr="/home/user/Business-e-books/presentations/gestalt-theory-counselling/assets/p-chairs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611880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blk1"/>
          <p:cNvSpPr/>
          <p:nvPr/>
        </p:nvSpPr>
        <p:spPr>
          <a:xfrm>
            <a:off x="3794760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3794760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10" name="blk2"/>
          <p:cNvSpPr/>
          <p:nvPr/>
        </p:nvSpPr>
        <p:spPr>
          <a:xfrm>
            <a:off x="6336792" y="184708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6336792" y="184708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2" name="blk2"/>
          <p:cNvSpPr/>
          <p:nvPr/>
        </p:nvSpPr>
        <p:spPr>
          <a:xfrm>
            <a:off x="6519672" y="19933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blk2"/>
          <p:cNvSpPr/>
          <p:nvPr/>
        </p:nvSpPr>
        <p:spPr>
          <a:xfrm>
            <a:off x="6519672" y="226771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14" name="blk3"/>
          <p:cNvSpPr/>
          <p:nvPr/>
        </p:nvSpPr>
        <p:spPr>
          <a:xfrm>
            <a:off x="9061704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5" name="blk3"/>
          <p:cNvSpPr/>
          <p:nvPr/>
        </p:nvSpPr>
        <p:spPr>
          <a:xfrm>
            <a:off x="9061704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blk3"/>
          <p:cNvSpPr/>
          <p:nvPr/>
        </p:nvSpPr>
        <p:spPr>
          <a:xfrm>
            <a:off x="9244584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blk3"/>
          <p:cNvSpPr/>
          <p:nvPr/>
        </p:nvSpPr>
        <p:spPr>
          <a:xfrm>
            <a:off x="9244584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8" name="blk1"/>
          <p:cNvSpPr/>
          <p:nvPr/>
        </p:nvSpPr>
        <p:spPr>
          <a:xfrm>
            <a:off x="3611880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9" name="blk1"/>
          <p:cNvSpPr/>
          <p:nvPr/>
        </p:nvSpPr>
        <p:spPr>
          <a:xfrm>
            <a:off x="3611880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0" name="blk1"/>
          <p:cNvSpPr/>
          <p:nvPr/>
        </p:nvSpPr>
        <p:spPr>
          <a:xfrm>
            <a:off x="3794760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21" name="blk1"/>
          <p:cNvSpPr/>
          <p:nvPr/>
        </p:nvSpPr>
        <p:spPr>
          <a:xfrm>
            <a:off x="3794760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22" name="blk2"/>
          <p:cNvSpPr/>
          <p:nvPr/>
        </p:nvSpPr>
        <p:spPr>
          <a:xfrm>
            <a:off x="6336792" y="3072384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3" name="blk2"/>
          <p:cNvSpPr/>
          <p:nvPr/>
        </p:nvSpPr>
        <p:spPr>
          <a:xfrm>
            <a:off x="6336792" y="3072384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4" name="blk2"/>
          <p:cNvSpPr/>
          <p:nvPr/>
        </p:nvSpPr>
        <p:spPr>
          <a:xfrm>
            <a:off x="6519672" y="32186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1050" dirty="0"/>
          </a:p>
        </p:txBody>
      </p:sp>
      <p:sp>
        <p:nvSpPr>
          <p:cNvPr id="25" name="blk2"/>
          <p:cNvSpPr/>
          <p:nvPr/>
        </p:nvSpPr>
        <p:spPr>
          <a:xfrm>
            <a:off x="6519672" y="349300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26" name="blk3"/>
          <p:cNvSpPr/>
          <p:nvPr/>
        </p:nvSpPr>
        <p:spPr>
          <a:xfrm>
            <a:off x="9061704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7" name="blk3"/>
          <p:cNvSpPr/>
          <p:nvPr/>
        </p:nvSpPr>
        <p:spPr>
          <a:xfrm>
            <a:off x="9061704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8" name="blk3"/>
          <p:cNvSpPr/>
          <p:nvPr/>
        </p:nvSpPr>
        <p:spPr>
          <a:xfrm>
            <a:off x="9244584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blk3"/>
          <p:cNvSpPr/>
          <p:nvPr/>
        </p:nvSpPr>
        <p:spPr>
          <a:xfrm>
            <a:off x="9244584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30" name="blk1"/>
          <p:cNvSpPr/>
          <p:nvPr/>
        </p:nvSpPr>
        <p:spPr>
          <a:xfrm>
            <a:off x="3611880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1" name="blk1"/>
          <p:cNvSpPr/>
          <p:nvPr/>
        </p:nvSpPr>
        <p:spPr>
          <a:xfrm>
            <a:off x="3611880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2" name="blk1"/>
          <p:cNvSpPr/>
          <p:nvPr/>
        </p:nvSpPr>
        <p:spPr>
          <a:xfrm>
            <a:off x="3794760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1050" dirty="0"/>
          </a:p>
        </p:txBody>
      </p:sp>
      <p:sp>
        <p:nvSpPr>
          <p:cNvPr id="33" name="blk1"/>
          <p:cNvSpPr/>
          <p:nvPr/>
        </p:nvSpPr>
        <p:spPr>
          <a:xfrm>
            <a:off x="3794760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34" name="blk2"/>
          <p:cNvSpPr/>
          <p:nvPr/>
        </p:nvSpPr>
        <p:spPr>
          <a:xfrm>
            <a:off x="6336792" y="4297680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5" name="blk2"/>
          <p:cNvSpPr/>
          <p:nvPr/>
        </p:nvSpPr>
        <p:spPr>
          <a:xfrm>
            <a:off x="6336792" y="4297680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6" name="blk2"/>
          <p:cNvSpPr/>
          <p:nvPr/>
        </p:nvSpPr>
        <p:spPr>
          <a:xfrm>
            <a:off x="6519672" y="44439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08</a:t>
            </a:r>
            <a:endParaRPr lang="en-US" sz="1050" dirty="0"/>
          </a:p>
        </p:txBody>
      </p:sp>
      <p:sp>
        <p:nvSpPr>
          <p:cNvPr id="37" name="blk2"/>
          <p:cNvSpPr/>
          <p:nvPr/>
        </p:nvSpPr>
        <p:spPr>
          <a:xfrm>
            <a:off x="6519672" y="4718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38" name="blk3"/>
          <p:cNvSpPr/>
          <p:nvPr/>
        </p:nvSpPr>
        <p:spPr>
          <a:xfrm>
            <a:off x="9061704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9" name="blk3"/>
          <p:cNvSpPr/>
          <p:nvPr/>
        </p:nvSpPr>
        <p:spPr>
          <a:xfrm>
            <a:off x="9061704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0" name="blk3"/>
          <p:cNvSpPr/>
          <p:nvPr/>
        </p:nvSpPr>
        <p:spPr>
          <a:xfrm>
            <a:off x="9244584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9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09</a:t>
            </a:r>
            <a:endParaRPr lang="en-US" sz="1050" dirty="0"/>
          </a:p>
        </p:txBody>
      </p:sp>
      <p:sp>
        <p:nvSpPr>
          <p:cNvPr id="41" name="blk3"/>
          <p:cNvSpPr/>
          <p:nvPr/>
        </p:nvSpPr>
        <p:spPr>
          <a:xfrm>
            <a:off x="9244584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42" name="blk4"/>
          <p:cNvSpPr/>
          <p:nvPr/>
        </p:nvSpPr>
        <p:spPr>
          <a:xfrm>
            <a:off x="36118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44" name="Text 4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7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0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3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EMPTY-CHAIR TECHNIQUE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58521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imagines another person in an empty chair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directly to the imagined person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awareness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Facilitates expression of unfinished emotions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7" name="blk2"/>
          <p:cNvSpPr/>
          <p:nvPr/>
        </p:nvSpPr>
        <p:spPr>
          <a:xfrm>
            <a:off x="1005840" y="4206240"/>
            <a:ext cx="544982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2"/>
          <p:cNvSpPr/>
          <p:nvPr/>
        </p:nvSpPr>
        <p:spPr>
          <a:xfrm>
            <a:off x="1005840" y="4206240"/>
            <a:ext cx="64008" cy="173736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9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B9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“</a:t>
            </a:r>
            <a:endParaRPr lang="en-US" sz="3000" dirty="0"/>
          </a:p>
        </p:txBody>
      </p:sp>
      <p:sp>
        <p:nvSpPr>
          <p:cNvPr id="10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EXAMPLE</a:t>
            </a:r>
            <a:endParaRPr lang="en-US" sz="900" dirty="0"/>
          </a:p>
        </p:txBody>
      </p:sp>
      <p:sp>
        <p:nvSpPr>
          <p:cNvPr id="11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Imagine your father is sitting in that chair. What would you want him to hear from you?</a:t>
            </a:r>
            <a:endParaRPr lang="en-US" sz="1300" dirty="0"/>
          </a:p>
        </p:txBody>
      </p:sp>
      <p:pic>
        <p:nvPicPr>
          <p:cNvPr id="12" name="img" descr="/home/user/Business-e-books/presentations/gestalt-theory-counselling/assets/p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591056"/>
            <a:ext cx="4910328" cy="368503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3" name="blk3"/>
          <p:cNvSpPr/>
          <p:nvPr/>
        </p:nvSpPr>
        <p:spPr>
          <a:xfrm>
            <a:off x="6675120" y="5440680"/>
            <a:ext cx="4910328" cy="896112"/>
          </a:xfrm>
          <a:prstGeom prst="roundRect">
            <a:avLst>
              <a:gd name="adj" fmla="val 9184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5" name="blk3"/>
          <p:cNvSpPr/>
          <p:nvPr/>
        </p:nvSpPr>
        <p:spPr>
          <a:xfrm>
            <a:off x="6858000" y="581558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CLIENT</a:t>
            </a:r>
            <a:endParaRPr lang="en-US" sz="1050" dirty="0"/>
          </a:p>
        </p:txBody>
      </p:sp>
      <p:sp>
        <p:nvSpPr>
          <p:cNvPr id="16" name="blk3"/>
          <p:cNvSpPr/>
          <p:nvPr/>
        </p:nvSpPr>
        <p:spPr>
          <a:xfrm>
            <a:off x="8257032" y="5815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↔</a:t>
            </a:r>
            <a:endParaRPr lang="en-US" sz="1500" dirty="0"/>
          </a:p>
        </p:txBody>
      </p:sp>
      <p:sp>
        <p:nvSpPr>
          <p:cNvPr id="17" name="blk3"/>
          <p:cNvSpPr/>
          <p:nvPr/>
        </p:nvSpPr>
        <p:spPr>
          <a:xfrm>
            <a:off x="8686800" y="5815584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5C6C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IMAGINED PERSON</a:t>
            </a:r>
            <a:endParaRPr lang="en-US" sz="900" dirty="0"/>
          </a:p>
        </p:txBody>
      </p:sp>
      <p:sp>
        <p:nvSpPr>
          <p:cNvPr id="18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932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OTHER EXPERIENTIAL TECHNIQUES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age 0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384048"/>
            <a:ext cx="1234440" cy="123444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blk1"/>
          <p:cNvSpPr/>
          <p:nvPr/>
        </p:nvSpPr>
        <p:spPr>
          <a:xfrm>
            <a:off x="603504" y="1517904"/>
            <a:ext cx="10981944" cy="4553712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8" name="blk1"/>
          <p:cNvSpPr/>
          <p:nvPr/>
        </p:nvSpPr>
        <p:spPr>
          <a:xfrm>
            <a:off x="4754880" y="1737360"/>
            <a:ext cx="6611112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blk1"/>
          <p:cNvSpPr/>
          <p:nvPr/>
        </p:nvSpPr>
        <p:spPr>
          <a:xfrm>
            <a:off x="106070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10" name="blk1"/>
          <p:cNvSpPr/>
          <p:nvPr/>
        </p:nvSpPr>
        <p:spPr>
          <a:xfrm>
            <a:off x="499262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PURPOSE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822960" y="2194560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blk1"/>
          <p:cNvSpPr/>
          <p:nvPr/>
        </p:nvSpPr>
        <p:spPr>
          <a:xfrm>
            <a:off x="822960" y="279806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blk1"/>
          <p:cNvSpPr/>
          <p:nvPr/>
        </p:nvSpPr>
        <p:spPr>
          <a:xfrm>
            <a:off x="1060704" y="21945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Two-chair dialogue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4992624" y="219456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822960" y="2798064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6" name="blk1"/>
          <p:cNvSpPr/>
          <p:nvPr/>
        </p:nvSpPr>
        <p:spPr>
          <a:xfrm>
            <a:off x="822960" y="3401568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7" name="blk1"/>
          <p:cNvSpPr/>
          <p:nvPr/>
        </p:nvSpPr>
        <p:spPr>
          <a:xfrm>
            <a:off x="1060704" y="279806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Exaggeration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4992624" y="279806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9" name="blk1"/>
          <p:cNvSpPr/>
          <p:nvPr/>
        </p:nvSpPr>
        <p:spPr>
          <a:xfrm>
            <a:off x="822960" y="3401568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blk1"/>
          <p:cNvSpPr/>
          <p:nvPr/>
        </p:nvSpPr>
        <p:spPr>
          <a:xfrm>
            <a:off x="822960" y="4005072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blk1"/>
          <p:cNvSpPr/>
          <p:nvPr/>
        </p:nvSpPr>
        <p:spPr>
          <a:xfrm>
            <a:off x="1060704" y="34015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Staying with the feeling</a:t>
            </a:r>
            <a:endParaRPr lang="en-US" sz="1200" dirty="0"/>
          </a:p>
        </p:txBody>
      </p:sp>
      <p:sp>
        <p:nvSpPr>
          <p:cNvPr id="22" name="blk1"/>
          <p:cNvSpPr/>
          <p:nvPr/>
        </p:nvSpPr>
        <p:spPr>
          <a:xfrm>
            <a:off x="4992624" y="340156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23" name="blk1"/>
          <p:cNvSpPr/>
          <p:nvPr/>
        </p:nvSpPr>
        <p:spPr>
          <a:xfrm>
            <a:off x="822960" y="4005072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4" name="blk1"/>
          <p:cNvSpPr/>
          <p:nvPr/>
        </p:nvSpPr>
        <p:spPr>
          <a:xfrm>
            <a:off x="822960" y="4608576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5" name="blk1"/>
          <p:cNvSpPr/>
          <p:nvPr/>
        </p:nvSpPr>
        <p:spPr>
          <a:xfrm>
            <a:off x="1060704" y="40050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Body awareness</a:t>
            </a:r>
            <a:endParaRPr lang="en-US" sz="1200" dirty="0"/>
          </a:p>
        </p:txBody>
      </p:sp>
      <p:sp>
        <p:nvSpPr>
          <p:cNvPr id="26" name="blk1"/>
          <p:cNvSpPr/>
          <p:nvPr/>
        </p:nvSpPr>
        <p:spPr>
          <a:xfrm>
            <a:off x="4992624" y="400507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27" name="blk1"/>
          <p:cNvSpPr/>
          <p:nvPr/>
        </p:nvSpPr>
        <p:spPr>
          <a:xfrm>
            <a:off x="822960" y="4608576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blk1"/>
          <p:cNvSpPr/>
          <p:nvPr/>
        </p:nvSpPr>
        <p:spPr>
          <a:xfrm>
            <a:off x="822960" y="5212080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9" name="blk1"/>
          <p:cNvSpPr/>
          <p:nvPr/>
        </p:nvSpPr>
        <p:spPr>
          <a:xfrm>
            <a:off x="1060704" y="46085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“I” statements</a:t>
            </a:r>
            <a:endParaRPr lang="en-US" sz="1200" dirty="0"/>
          </a:p>
        </p:txBody>
      </p:sp>
      <p:sp>
        <p:nvSpPr>
          <p:cNvPr id="30" name="blk1"/>
          <p:cNvSpPr/>
          <p:nvPr/>
        </p:nvSpPr>
        <p:spPr>
          <a:xfrm>
            <a:off x="4992624" y="460857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31" name="blk1"/>
          <p:cNvSpPr/>
          <p:nvPr/>
        </p:nvSpPr>
        <p:spPr>
          <a:xfrm>
            <a:off x="822960" y="5212080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32" name="blk1"/>
          <p:cNvSpPr/>
          <p:nvPr/>
        </p:nvSpPr>
        <p:spPr>
          <a:xfrm>
            <a:off x="822960" y="581558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3" name="blk1"/>
          <p:cNvSpPr/>
          <p:nvPr/>
        </p:nvSpPr>
        <p:spPr>
          <a:xfrm>
            <a:off x="1060704" y="5212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Dream work</a:t>
            </a:r>
            <a:endParaRPr lang="en-US" sz="1200" dirty="0"/>
          </a:p>
        </p:txBody>
      </p:sp>
      <p:sp>
        <p:nvSpPr>
          <p:cNvPr id="34" name="blk1"/>
          <p:cNvSpPr/>
          <p:nvPr/>
        </p:nvSpPr>
        <p:spPr>
          <a:xfrm>
            <a:off x="4992624" y="52120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35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7" name="Text 3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APPLICATION IN COUNSELLING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41248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Grief and loss</a:t>
            </a:r>
            <a:endParaRPr lang="en-US" sz="1050" dirty="0"/>
          </a:p>
        </p:txBody>
      </p:sp>
      <p:sp>
        <p:nvSpPr>
          <p:cNvPr id="8" name="blk1"/>
          <p:cNvSpPr/>
          <p:nvPr/>
        </p:nvSpPr>
        <p:spPr>
          <a:xfrm>
            <a:off x="4059936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Relationship difficulties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841248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Anxiety and emotional distress</a:t>
            </a:r>
            <a:endParaRPr lang="en-US" sz="1050" dirty="0"/>
          </a:p>
        </p:txBody>
      </p:sp>
      <p:sp>
        <p:nvSpPr>
          <p:cNvPr id="10" name="blk1"/>
          <p:cNvSpPr/>
          <p:nvPr/>
        </p:nvSpPr>
        <p:spPr>
          <a:xfrm>
            <a:off x="4059936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Unresolved anger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841248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Identity concerns</a:t>
            </a:r>
            <a:endParaRPr lang="en-US" sz="1050" dirty="0"/>
          </a:p>
        </p:txBody>
      </p:sp>
      <p:sp>
        <p:nvSpPr>
          <p:cNvPr id="12" name="blk1"/>
          <p:cNvSpPr/>
          <p:nvPr/>
        </p:nvSpPr>
        <p:spPr>
          <a:xfrm>
            <a:off x="4059936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Emotional-expression difficulties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841248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Personal growth</a:t>
            </a:r>
            <a:endParaRPr lang="en-US" sz="1050" dirty="0"/>
          </a:p>
        </p:txBody>
      </p:sp>
      <p:sp>
        <p:nvSpPr>
          <p:cNvPr id="14" name="blk1"/>
          <p:cNvSpPr/>
          <p:nvPr/>
        </p:nvSpPr>
        <p:spPr>
          <a:xfrm>
            <a:off x="4059936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Unresolved interpersonal experiences</a:t>
            </a:r>
            <a:endParaRPr lang="en-US" sz="1050" dirty="0"/>
          </a:p>
        </p:txBody>
      </p:sp>
      <p:sp>
        <p:nvSpPr>
          <p:cNvPr id="15" name="blk2"/>
          <p:cNvSpPr/>
          <p:nvPr/>
        </p:nvSpPr>
        <p:spPr>
          <a:xfrm>
            <a:off x="603504" y="4800600"/>
            <a:ext cx="6766560" cy="1234440"/>
          </a:xfrm>
          <a:prstGeom prst="roundRect">
            <a:avLst>
              <a:gd name="adj" fmla="val 666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7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Growth</a:t>
            </a:r>
            <a:endParaRPr lang="en-US" sz="1350" dirty="0"/>
          </a:p>
        </p:txBody>
      </p:sp>
      <p:pic>
        <p:nvPicPr>
          <p:cNvPr id="18" name="img" descr="/home/user/Business-e-books/presentations/gestalt-theory-counselling/assets/p-pa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591056"/>
            <a:ext cx="4041648" cy="444398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9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(Brownell, 2010; Joyce &amp; Sills, 2014)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STRENGTHS OF GESTALT THERAPY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6" name="blk1"/>
          <p:cNvSpPr/>
          <p:nvPr/>
        </p:nvSpPr>
        <p:spPr>
          <a:xfrm>
            <a:off x="749808" y="1856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7" name="blk1"/>
          <p:cNvSpPr/>
          <p:nvPr/>
        </p:nvSpPr>
        <p:spPr>
          <a:xfrm>
            <a:off x="74980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blk1"/>
          <p:cNvSpPr/>
          <p:nvPr/>
        </p:nvSpPr>
        <p:spPr>
          <a:xfrm>
            <a:off x="1243584" y="1591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Promotes self-awareness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603504" y="259689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1"/>
          <p:cNvSpPr/>
          <p:nvPr/>
        </p:nvSpPr>
        <p:spPr>
          <a:xfrm>
            <a:off x="749808" y="286207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1" name="blk1"/>
          <p:cNvSpPr/>
          <p:nvPr/>
        </p:nvSpPr>
        <p:spPr>
          <a:xfrm>
            <a:off x="749808" y="2862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1243584" y="259689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Focuses on lived experience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603504" y="360273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1"/>
          <p:cNvSpPr/>
          <p:nvPr/>
        </p:nvSpPr>
        <p:spPr>
          <a:xfrm>
            <a:off x="749808" y="386791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5" name="blk1"/>
          <p:cNvSpPr/>
          <p:nvPr/>
        </p:nvSpPr>
        <p:spPr>
          <a:xfrm>
            <a:off x="749808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blk1"/>
          <p:cNvSpPr/>
          <p:nvPr/>
        </p:nvSpPr>
        <p:spPr>
          <a:xfrm>
            <a:off x="1243584" y="360273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agency and responsibility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603504" y="46085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8" name="blk1"/>
          <p:cNvSpPr/>
          <p:nvPr/>
        </p:nvSpPr>
        <p:spPr>
          <a:xfrm>
            <a:off x="749808" y="48737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9" name="blk1"/>
          <p:cNvSpPr/>
          <p:nvPr/>
        </p:nvSpPr>
        <p:spPr>
          <a:xfrm>
            <a:off x="74980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blk1"/>
          <p:cNvSpPr/>
          <p:nvPr/>
        </p:nvSpPr>
        <p:spPr>
          <a:xfrm>
            <a:off x="1243584" y="46085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Integrates mind, emotion and body</a:t>
            </a:r>
            <a:endParaRPr lang="en-US" sz="1200" dirty="0"/>
          </a:p>
        </p:txBody>
      </p:sp>
      <p:sp>
        <p:nvSpPr>
          <p:cNvPr id="21" name="blk2"/>
          <p:cNvSpPr/>
          <p:nvPr/>
        </p:nvSpPr>
        <p:spPr>
          <a:xfrm>
            <a:off x="4315968" y="18653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2" name="blk2"/>
          <p:cNvSpPr/>
          <p:nvPr/>
        </p:nvSpPr>
        <p:spPr>
          <a:xfrm>
            <a:off x="4462272" y="21305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3" name="blk2"/>
          <p:cNvSpPr/>
          <p:nvPr/>
        </p:nvSpPr>
        <p:spPr>
          <a:xfrm>
            <a:off x="4462272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blk2"/>
          <p:cNvSpPr/>
          <p:nvPr/>
        </p:nvSpPr>
        <p:spPr>
          <a:xfrm>
            <a:off x="4956048" y="18653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Considers person–environment interaction</a:t>
            </a:r>
            <a:endParaRPr lang="en-US" sz="1200" dirty="0"/>
          </a:p>
        </p:txBody>
      </p:sp>
      <p:sp>
        <p:nvSpPr>
          <p:cNvPr id="25" name="blk2"/>
          <p:cNvSpPr/>
          <p:nvPr/>
        </p:nvSpPr>
        <p:spPr>
          <a:xfrm>
            <a:off x="4315968" y="287121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6" name="blk2"/>
          <p:cNvSpPr/>
          <p:nvPr/>
        </p:nvSpPr>
        <p:spPr>
          <a:xfrm>
            <a:off x="4462272" y="313639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7" name="blk2"/>
          <p:cNvSpPr/>
          <p:nvPr/>
        </p:nvSpPr>
        <p:spPr>
          <a:xfrm>
            <a:off x="4462272" y="3136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blk2"/>
          <p:cNvSpPr/>
          <p:nvPr/>
        </p:nvSpPr>
        <p:spPr>
          <a:xfrm>
            <a:off x="4956048" y="287121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Encourages active client participation</a:t>
            </a:r>
            <a:endParaRPr lang="en-US" sz="1200" dirty="0"/>
          </a:p>
        </p:txBody>
      </p:sp>
      <p:sp>
        <p:nvSpPr>
          <p:cNvPr id="29" name="blk2"/>
          <p:cNvSpPr/>
          <p:nvPr/>
        </p:nvSpPr>
        <p:spPr>
          <a:xfrm>
            <a:off x="4315968" y="3877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0" name="blk2"/>
          <p:cNvSpPr/>
          <p:nvPr/>
        </p:nvSpPr>
        <p:spPr>
          <a:xfrm>
            <a:off x="4462272" y="4142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31" name="blk2"/>
          <p:cNvSpPr/>
          <p:nvPr/>
        </p:nvSpPr>
        <p:spPr>
          <a:xfrm>
            <a:off x="4462272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blk2"/>
          <p:cNvSpPr/>
          <p:nvPr/>
        </p:nvSpPr>
        <p:spPr>
          <a:xfrm>
            <a:off x="4956048" y="3877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experiential emotional processing</a:t>
            </a:r>
            <a:endParaRPr lang="en-US" sz="1200" dirty="0"/>
          </a:p>
        </p:txBody>
      </p:sp>
      <p:pic>
        <p:nvPicPr>
          <p:cNvPr id="33" name="img" descr="/home/user/Business-e-books/presentations/gestalt-theory-counselling/assets/p-sunri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591056"/>
            <a:ext cx="3584448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34" name="Shape 3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5" name="Text 3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9601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LIMITATIONS AND CRITICISMS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pic>
        <p:nvPicPr>
          <p:cNvPr id="5" name="img" descr="/home/user/Business-e-books/presentations/gestalt-theory-counselling/assets/p-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737360"/>
            <a:ext cx="356616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4434840" y="1737360"/>
            <a:ext cx="3474720" cy="416052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4672584" y="1975104"/>
            <a:ext cx="299923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techniques may feel intense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skilled and sensitive application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be challenging for clients who prefer highly structured approaches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misused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110728" y="2057400"/>
            <a:ext cx="3474720" cy="384048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9" name="blk2"/>
          <p:cNvSpPr/>
          <p:nvPr/>
        </p:nvSpPr>
        <p:spPr>
          <a:xfrm>
            <a:off x="8348472" y="2295144"/>
            <a:ext cx="29992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 intervention suits every client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Cultural context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must be considered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Ethical boundaries are essential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(Corey, 2024; Joyce &amp; Sills, 2014)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CASE APPLICATION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6" name="blk1" descr="/home/user/Business-e-books/presentations/gestalt-theory-counselling/assets/p-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3026664" cy="281635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7" name="blk1"/>
          <p:cNvSpPr/>
          <p:nvPr/>
        </p:nvSpPr>
        <p:spPr>
          <a:xfrm>
            <a:off x="859536" y="4718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CLIENT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859536" y="49743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20-year-old undergraduate scholarship student</a:t>
            </a:r>
            <a:endParaRPr lang="en-US" sz="1200" dirty="0"/>
          </a:p>
        </p:txBody>
      </p:sp>
      <p:sp>
        <p:nvSpPr>
          <p:cNvPr id="9" name="blk2"/>
          <p:cNvSpPr/>
          <p:nvPr/>
        </p:nvSpPr>
        <p:spPr>
          <a:xfrm>
            <a:off x="4069080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2"/>
          <p:cNvSpPr/>
          <p:nvPr/>
        </p:nvSpPr>
        <p:spPr>
          <a:xfrm>
            <a:off x="4069080" y="1591056"/>
            <a:ext cx="2414016" cy="475488"/>
          </a:xfrm>
          <a:prstGeom prst="rect">
            <a:avLst/>
          </a:prstGeom>
          <a:solidFill>
            <a:srgbClr val="0A1937"/>
          </a:solidFill>
          <a:ln/>
        </p:spPr>
      </p:sp>
      <p:sp>
        <p:nvSpPr>
          <p:cNvPr id="11" name="blk2"/>
          <p:cNvSpPr/>
          <p:nvPr/>
        </p:nvSpPr>
        <p:spPr>
          <a:xfrm>
            <a:off x="4187952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12" name="blk2"/>
          <p:cNvSpPr/>
          <p:nvPr/>
        </p:nvSpPr>
        <p:spPr>
          <a:xfrm>
            <a:off x="4233672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3" name="blk3"/>
          <p:cNvSpPr/>
          <p:nvPr/>
        </p:nvSpPr>
        <p:spPr>
          <a:xfrm>
            <a:off x="6620256" y="1865376"/>
            <a:ext cx="2414016" cy="425196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4" name="blk3"/>
          <p:cNvSpPr/>
          <p:nvPr/>
        </p:nvSpPr>
        <p:spPr>
          <a:xfrm>
            <a:off x="6620256" y="1865376"/>
            <a:ext cx="2414016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blk3"/>
          <p:cNvSpPr/>
          <p:nvPr/>
        </p:nvSpPr>
        <p:spPr>
          <a:xfrm>
            <a:off x="6739128" y="186537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6" name="blk3"/>
          <p:cNvSpPr/>
          <p:nvPr/>
        </p:nvSpPr>
        <p:spPr>
          <a:xfrm>
            <a:off x="6784848" y="2523744"/>
            <a:ext cx="212140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7" name="blk4"/>
          <p:cNvSpPr/>
          <p:nvPr/>
        </p:nvSpPr>
        <p:spPr>
          <a:xfrm>
            <a:off x="9171432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8" name="blk4"/>
          <p:cNvSpPr/>
          <p:nvPr/>
        </p:nvSpPr>
        <p:spPr>
          <a:xfrm>
            <a:off x="9171432" y="1591056"/>
            <a:ext cx="2414016" cy="47548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blk4"/>
          <p:cNvSpPr/>
          <p:nvPr/>
        </p:nvSpPr>
        <p:spPr>
          <a:xfrm>
            <a:off x="9290304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20" name="blk4"/>
          <p:cNvSpPr/>
          <p:nvPr/>
        </p:nvSpPr>
        <p:spPr>
          <a:xfrm>
            <a:off x="9336024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CRITICAL EVALUATION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blk1"/>
          <p:cNvSpPr/>
          <p:nvPr/>
        </p:nvSpPr>
        <p:spPr>
          <a:xfrm>
            <a:off x="603504" y="159105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6" name="blk1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2880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7" name="blk1"/>
          <p:cNvSpPr/>
          <p:nvPr/>
        </p:nvSpPr>
        <p:spPr>
          <a:xfrm>
            <a:off x="1773936" y="1975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spc="50" kern="0" dirty="0">
                <a:solidFill>
                  <a:srgbClr val="162B57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CONTRIBUTIONS</a:t>
            </a:r>
            <a:endParaRPr lang="en-US" sz="1550" dirty="0"/>
          </a:p>
        </p:txBody>
      </p:sp>
      <p:sp>
        <p:nvSpPr>
          <p:cNvPr id="8" name="blk1"/>
          <p:cNvSpPr/>
          <p:nvPr/>
        </p:nvSpPr>
        <p:spPr>
          <a:xfrm>
            <a:off x="1773936" y="2414016"/>
            <a:ext cx="822960" cy="365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blk1"/>
          <p:cNvSpPr/>
          <p:nvPr/>
        </p:nvSpPr>
        <p:spPr>
          <a:xfrm>
            <a:off x="877824" y="279806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0" name="blk1"/>
          <p:cNvSpPr/>
          <p:nvPr/>
        </p:nvSpPr>
        <p:spPr>
          <a:xfrm>
            <a:off x="877824" y="301752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11" name="blk2"/>
          <p:cNvSpPr/>
          <p:nvPr/>
        </p:nvSpPr>
        <p:spPr>
          <a:xfrm>
            <a:off x="6245352" y="186537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12" name="blk2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13" name="blk2"/>
          <p:cNvSpPr/>
          <p:nvPr/>
        </p:nvSpPr>
        <p:spPr>
          <a:xfrm>
            <a:off x="7415784" y="22494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spc="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CONSIDERATIONS</a:t>
            </a:r>
            <a:endParaRPr lang="en-US" sz="1550" dirty="0"/>
          </a:p>
        </p:txBody>
      </p:sp>
      <p:sp>
        <p:nvSpPr>
          <p:cNvPr id="14" name="blk2"/>
          <p:cNvSpPr/>
          <p:nvPr/>
        </p:nvSpPr>
        <p:spPr>
          <a:xfrm>
            <a:off x="7415784" y="2688336"/>
            <a:ext cx="822960" cy="365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5" name="blk2"/>
          <p:cNvSpPr/>
          <p:nvPr/>
        </p:nvSpPr>
        <p:spPr>
          <a:xfrm>
            <a:off x="6519672" y="307238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blk2"/>
          <p:cNvSpPr/>
          <p:nvPr/>
        </p:nvSpPr>
        <p:spPr>
          <a:xfrm>
            <a:off x="6519672" y="329184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8" name="Text 1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CLOSING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CONCLUSION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5639105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blk1"/>
          <p:cNvSpPr/>
          <p:nvPr/>
        </p:nvSpPr>
        <p:spPr>
          <a:xfrm>
            <a:off x="4544568" y="1627632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0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AWARENESS</a:t>
            </a:r>
            <a:endParaRPr lang="en-US" sz="1150" dirty="0"/>
          </a:p>
        </p:txBody>
      </p:sp>
      <p:sp>
        <p:nvSpPr>
          <p:cNvPr id="6" name="blk1"/>
          <p:cNvSpPr/>
          <p:nvPr/>
        </p:nvSpPr>
        <p:spPr>
          <a:xfrm>
            <a:off x="4544568" y="208483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32304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0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HERE-AND-NOW</a:t>
            </a:r>
            <a:endParaRPr lang="en-US" sz="115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0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CONTACT</a:t>
            </a:r>
            <a:endParaRPr lang="en-US" sz="1150" dirty="0"/>
          </a:p>
        </p:txBody>
      </p:sp>
      <p:sp>
        <p:nvSpPr>
          <p:cNvPr id="10" name="blk1"/>
          <p:cNvSpPr/>
          <p:nvPr/>
        </p:nvSpPr>
        <p:spPr>
          <a:xfrm>
            <a:off x="4544568" y="369417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41648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00" kern="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RESPONSIBILITY &amp; CHOICE</a:t>
            </a:r>
            <a:endParaRPr lang="en-US" sz="1150" dirty="0"/>
          </a:p>
        </p:txBody>
      </p:sp>
      <p:sp>
        <p:nvSpPr>
          <p:cNvPr id="12" name="blk1"/>
          <p:cNvSpPr/>
          <p:nvPr/>
        </p:nvSpPr>
        <p:spPr>
          <a:xfrm>
            <a:off x="4544568" y="4498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46320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00" kern="0" dirty="0">
                <a:solidFill>
                  <a:srgbClr val="0A1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GROWTH</a:t>
            </a:r>
            <a:endParaRPr lang="en-US" sz="1150" dirty="0"/>
          </a:p>
        </p:txBody>
      </p:sp>
      <p:pic>
        <p:nvPicPr>
          <p:cNvPr id="14" name="img" descr="/home/user/Business-e-books/presentations/gestalt-theory-counselling/assets/p-summ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37360"/>
            <a:ext cx="3081528" cy="4315968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15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C9D4EA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6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lus Jakarta Sans SemiBold" pitchFamily="34" charset="0"/>
                <a:ea typeface="Plus Jakarta Sans SemiBold" pitchFamily="34" charset="-122"/>
                <a:cs typeface="Plus Jakarta Sans SemiBold" pitchFamily="34" charset="-120"/>
              </a:rPr>
              <a:t>CLOSING</a:t>
            </a:r>
            <a:endParaRPr lang="en-US" sz="900" dirty="0"/>
          </a:p>
        </p:txBody>
      </p:sp>
      <p:sp>
        <p:nvSpPr>
          <p:cNvPr id="3" name="hdr"/>
          <p:cNvSpPr/>
          <p:nvPr/>
        </p:nvSpPr>
        <p:spPr>
          <a:xfrm>
            <a:off x="603504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4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g" descr="/home/user/Business-e-books/presentations/gestalt-theory-counselling/assets/p-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6" name="blk1"/>
          <p:cNvSpPr/>
          <p:nvPr/>
        </p:nvSpPr>
        <p:spPr>
          <a:xfrm>
            <a:off x="3611880" y="1591056"/>
            <a:ext cx="7973568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7" name="blk1"/>
          <p:cNvSpPr/>
          <p:nvPr/>
        </p:nvSpPr>
        <p:spPr>
          <a:xfrm>
            <a:off x="3886200" y="1847088"/>
            <a:ext cx="742492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0" presetClass="entr" presetSubtype="0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2026-10-06T09:11:27Z</dcterms:created>
  <dcterms:modified xsi:type="dcterms:W3CDTF">2026-10-06T09:11:27Z</dcterms:modified>
</cp:coreProperties>
</file>