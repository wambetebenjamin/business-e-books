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g" descr="/home/user/Business-e-books/presentations/gestalt-theory-counselling/assets/h-summ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66928"/>
            <a:ext cx="4892040" cy="5724144"/>
          </a:xfrm>
          <a:prstGeom prst="rect">
            <a:avLst/>
          </a:prstGeom>
        </p:spPr>
      </p:pic>
      <p:sp>
        <p:nvSpPr>
          <p:cNvPr id="4" name="hdr"/>
          <p:cNvSpPr/>
          <p:nvPr/>
        </p:nvSpPr>
        <p:spPr>
          <a:xfrm>
            <a:off x="603504" y="6035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5" name="hdr"/>
          <p:cNvSpPr/>
          <p:nvPr/>
        </p:nvSpPr>
        <p:spPr>
          <a:xfrm>
            <a:off x="566928" y="95097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</a:t>
            </a:r>
            <a:endParaRPr lang="en-US" sz="5200" dirty="0"/>
          </a:p>
        </p:txBody>
      </p:sp>
      <p:sp>
        <p:nvSpPr>
          <p:cNvPr id="6" name="hdr"/>
          <p:cNvSpPr/>
          <p:nvPr/>
        </p:nvSpPr>
        <p:spPr>
          <a:xfrm>
            <a:off x="566928" y="179222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Theory</a:t>
            </a:r>
            <a:endParaRPr lang="en-US" sz="5200" dirty="0"/>
          </a:p>
        </p:txBody>
      </p:sp>
      <p:sp>
        <p:nvSpPr>
          <p:cNvPr id="7" name="hdr"/>
          <p:cNvSpPr/>
          <p:nvPr/>
        </p:nvSpPr>
        <p:spPr>
          <a:xfrm>
            <a:off x="603504" y="27066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ITS APPLICATION TO COUNSELLING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603504" y="33467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9" name="blk1"/>
          <p:cNvSpPr/>
          <p:nvPr/>
        </p:nvSpPr>
        <p:spPr>
          <a:xfrm>
            <a:off x="603504" y="37307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MACP/35996/0/26</a:t>
            </a:r>
            <a:endParaRPr lang="en-US" sz="1350" dirty="0"/>
          </a:p>
        </p:txBody>
      </p:sp>
      <p:sp>
        <p:nvSpPr>
          <p:cNvPr id="10" name="blk1"/>
          <p:cNvSpPr/>
          <p:nvPr/>
        </p:nvSpPr>
        <p:spPr>
          <a:xfrm>
            <a:off x="603504" y="41513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MACP/35785/4/26</a:t>
            </a:r>
            <a:endParaRPr lang="en-US" sz="1350" dirty="0"/>
          </a:p>
        </p:txBody>
      </p:sp>
      <p:sp>
        <p:nvSpPr>
          <p:cNvPr id="11" name="blk1"/>
          <p:cNvSpPr/>
          <p:nvPr/>
        </p:nvSpPr>
        <p:spPr>
          <a:xfrm>
            <a:off x="603504" y="45720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MALD/36547/4/26</a:t>
            </a:r>
            <a:endParaRPr lang="en-US" sz="1350" dirty="0"/>
          </a:p>
        </p:txBody>
      </p:sp>
      <p:sp>
        <p:nvSpPr>
          <p:cNvPr id="12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COURSE</a:t>
            </a:r>
            <a:endParaRPr lang="en-US" sz="850" dirty="0"/>
          </a:p>
        </p:txBody>
      </p:sp>
      <p:sp>
        <p:nvSpPr>
          <p:cNvPr id="13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14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15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16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LECTURER</a:t>
            </a:r>
            <a:endParaRPr lang="en-US" sz="850" dirty="0"/>
          </a:p>
        </p:txBody>
      </p:sp>
      <p:sp>
        <p:nvSpPr>
          <p:cNvPr id="17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28800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6" name="blk1"/>
          <p:cNvSpPr/>
          <p:nvPr/>
        </p:nvSpPr>
        <p:spPr>
          <a:xfrm>
            <a:off x="859536" y="2889504"/>
            <a:ext cx="49743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✓"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present experience and contact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✓"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 and relationships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✓"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✓"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50" dirty="0"/>
          </a:p>
        </p:txBody>
      </p:sp>
      <p:pic>
        <p:nvPicPr>
          <p:cNvPr id="7" name="img" descr="/home/user/Business-e-books/presentations/gestalt-theory-counselling/assets/h-convers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3080"/>
            <a:ext cx="5166360" cy="4023360"/>
          </a:xfrm>
          <a:prstGeom prst="rect">
            <a:avLst/>
          </a:prstGeom>
        </p:spPr>
      </p:pic>
      <p:sp>
        <p:nvSpPr>
          <p:cNvPr id="8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Historical Background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histor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3867912" y="1810512"/>
            <a:ext cx="7461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1940s and 1950s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7" name="blk2"/>
          <p:cNvSpPr/>
          <p:nvPr/>
        </p:nvSpPr>
        <p:spPr>
          <a:xfrm>
            <a:off x="4142232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8" name="blk2"/>
          <p:cNvSpPr/>
          <p:nvPr/>
        </p:nvSpPr>
        <p:spPr>
          <a:xfrm>
            <a:off x="3886200" y="3456432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 philosophy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7863840" y="34564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approaches</a:t>
            </a:r>
            <a:endParaRPr lang="en-US" sz="1250" dirty="0"/>
          </a:p>
        </p:txBody>
      </p:sp>
      <p:sp>
        <p:nvSpPr>
          <p:cNvPr id="10" name="blk3"/>
          <p:cNvSpPr/>
          <p:nvPr/>
        </p:nvSpPr>
        <p:spPr>
          <a:xfrm>
            <a:off x="3611880" y="484632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1" name="blk4"/>
          <p:cNvSpPr/>
          <p:nvPr/>
        </p:nvSpPr>
        <p:spPr>
          <a:xfrm>
            <a:off x="3867912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12" name="blk4"/>
          <p:cNvSpPr/>
          <p:nvPr/>
        </p:nvSpPr>
        <p:spPr>
          <a:xfrm>
            <a:off x="3867912" y="5705856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13" name="blk4"/>
          <p:cNvSpPr/>
          <p:nvPr/>
        </p:nvSpPr>
        <p:spPr>
          <a:xfrm>
            <a:off x="361188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Major Theorists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theoris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512064"/>
            <a:ext cx="4041648" cy="173736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603504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Fritz Perls</a:t>
            </a:r>
            <a:endParaRPr lang="en-US" sz="1700" dirty="0"/>
          </a:p>
        </p:txBody>
      </p:sp>
      <p:sp>
        <p:nvSpPr>
          <p:cNvPr id="7" name="blk1"/>
          <p:cNvSpPr/>
          <p:nvPr/>
        </p:nvSpPr>
        <p:spPr>
          <a:xfrm>
            <a:off x="603504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1893–1970</a:t>
            </a:r>
            <a:endParaRPr lang="en-US" sz="1000" dirty="0"/>
          </a:p>
        </p:txBody>
      </p:sp>
      <p:sp>
        <p:nvSpPr>
          <p:cNvPr id="8" name="blk1"/>
          <p:cNvSpPr/>
          <p:nvPr/>
        </p:nvSpPr>
        <p:spPr>
          <a:xfrm>
            <a:off x="603504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9" name="blk1"/>
          <p:cNvSpPr/>
          <p:nvPr/>
        </p:nvSpPr>
        <p:spPr>
          <a:xfrm>
            <a:off x="603504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10" name="blk2"/>
          <p:cNvSpPr/>
          <p:nvPr/>
        </p:nvSpPr>
        <p:spPr>
          <a:xfrm>
            <a:off x="4343400" y="293522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Laura Perls</a:t>
            </a:r>
            <a:endParaRPr lang="en-US" sz="1700" dirty="0"/>
          </a:p>
        </p:txBody>
      </p:sp>
      <p:sp>
        <p:nvSpPr>
          <p:cNvPr id="11" name="blk2"/>
          <p:cNvSpPr/>
          <p:nvPr/>
        </p:nvSpPr>
        <p:spPr>
          <a:xfrm>
            <a:off x="4343400" y="337413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1905–1990</a:t>
            </a:r>
            <a:endParaRPr lang="en-US" sz="1000" dirty="0"/>
          </a:p>
        </p:txBody>
      </p:sp>
      <p:sp>
        <p:nvSpPr>
          <p:cNvPr id="12" name="blk2"/>
          <p:cNvSpPr/>
          <p:nvPr/>
        </p:nvSpPr>
        <p:spPr>
          <a:xfrm>
            <a:off x="4343400" y="386791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13" name="blk2"/>
          <p:cNvSpPr/>
          <p:nvPr/>
        </p:nvSpPr>
        <p:spPr>
          <a:xfrm>
            <a:off x="4343400" y="454456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14" name="blk3"/>
          <p:cNvSpPr/>
          <p:nvPr/>
        </p:nvSpPr>
        <p:spPr>
          <a:xfrm>
            <a:off x="8083296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Paul Goodman</a:t>
            </a:r>
            <a:endParaRPr lang="en-US" sz="1700" dirty="0"/>
          </a:p>
        </p:txBody>
      </p:sp>
      <p:sp>
        <p:nvSpPr>
          <p:cNvPr id="15" name="blk3"/>
          <p:cNvSpPr/>
          <p:nvPr/>
        </p:nvSpPr>
        <p:spPr>
          <a:xfrm>
            <a:off x="8083296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1911–1972</a:t>
            </a:r>
            <a:endParaRPr lang="en-US" sz="1000" dirty="0"/>
          </a:p>
        </p:txBody>
      </p:sp>
      <p:sp>
        <p:nvSpPr>
          <p:cNvPr id="16" name="blk3"/>
          <p:cNvSpPr/>
          <p:nvPr/>
        </p:nvSpPr>
        <p:spPr>
          <a:xfrm>
            <a:off x="8083296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17" name="blk3"/>
          <p:cNvSpPr/>
          <p:nvPr/>
        </p:nvSpPr>
        <p:spPr>
          <a:xfrm>
            <a:off x="8083296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18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Core Assumptions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286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1499616" y="22860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7" name="blk1"/>
          <p:cNvSpPr/>
          <p:nvPr/>
        </p:nvSpPr>
        <p:spPr>
          <a:xfrm>
            <a:off x="841248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1499616" y="2999232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9" name="blk1"/>
          <p:cNvSpPr/>
          <p:nvPr/>
        </p:nvSpPr>
        <p:spPr>
          <a:xfrm>
            <a:off x="841248" y="37124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1499616" y="3712464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1" name="blk1"/>
          <p:cNvSpPr/>
          <p:nvPr/>
        </p:nvSpPr>
        <p:spPr>
          <a:xfrm>
            <a:off x="841248" y="44256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1499616" y="4425696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3" name="blk2"/>
          <p:cNvSpPr/>
          <p:nvPr/>
        </p:nvSpPr>
        <p:spPr>
          <a:xfrm>
            <a:off x="4864608" y="2633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5522976" y="263347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5" name="blk2"/>
          <p:cNvSpPr/>
          <p:nvPr/>
        </p:nvSpPr>
        <p:spPr>
          <a:xfrm>
            <a:off x="4864608" y="33467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6" name="blk2"/>
          <p:cNvSpPr/>
          <p:nvPr/>
        </p:nvSpPr>
        <p:spPr>
          <a:xfrm>
            <a:off x="5522976" y="33467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4864608" y="40599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pic>
        <p:nvPicPr>
          <p:cNvPr id="19" name="img" descr="/home/user/Business-e-books/presentations/gestalt-theory-counselling/assets/h-han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4" y="1737360"/>
            <a:ext cx="3474720" cy="4160520"/>
          </a:xfrm>
          <a:prstGeom prst="rect">
            <a:avLst/>
          </a:prstGeom>
        </p:spPr>
      </p:pic>
      <p:sp>
        <p:nvSpPr>
          <p:cNvPr id="20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2010; Joyce &amp; Sills, 2014)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Awareness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276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6" name="blk2"/>
          <p:cNvSpPr/>
          <p:nvPr/>
        </p:nvSpPr>
        <p:spPr>
          <a:xfrm>
            <a:off x="841248" y="22128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NOTICING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841248" y="25420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Thoughts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Feelings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Bodily sensations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Behaviour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    </a:t>
            </a:r>
            <a:endParaRPr lang="en-US" sz="1200" dirty="0"/>
          </a:p>
        </p:txBody>
      </p:sp>
      <p:sp>
        <p:nvSpPr>
          <p:cNvPr id="8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9" name="blk3"/>
          <p:cNvSpPr/>
          <p:nvPr/>
        </p:nvSpPr>
        <p:spPr>
          <a:xfrm>
            <a:off x="841248" y="43708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10" name="blk3"/>
          <p:cNvSpPr/>
          <p:nvPr/>
        </p:nvSpPr>
        <p:spPr>
          <a:xfrm>
            <a:off x="841248" y="517550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CHANGE</a:t>
            </a:r>
            <a:endParaRPr lang="en-US" sz="1400" dirty="0"/>
          </a:p>
        </p:txBody>
      </p:sp>
      <p:pic>
        <p:nvPicPr>
          <p:cNvPr id="11" name="img" descr="/home/user/Business-e-books/presentations/gestalt-theory-counselling/assets/h-medita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ect">
            <a:avLst/>
          </a:prstGeom>
        </p:spPr>
      </p:pic>
      <p:sp>
        <p:nvSpPr>
          <p:cNvPr id="12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Here-and-Now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FOCUS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PAST</a:t>
            </a:r>
            <a:endParaRPr lang="en-US" sz="900" dirty="0"/>
          </a:p>
        </p:txBody>
      </p:sp>
      <p:sp>
        <p:nvSpPr>
          <p:cNvPr id="9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4764024" y="1810512"/>
            <a:ext cx="2651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rather than excessive intellectual analysis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present-moment awareness</a:t>
            </a:r>
            <a:endParaRPr lang="en-US" sz="1250" dirty="0"/>
          </a:p>
        </p:txBody>
      </p:sp>
      <p:pic>
        <p:nvPicPr>
          <p:cNvPr id="11" name="img" descr="/home/user/Business-e-books/presentations/gestalt-theory-counselling/assets/h-windo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ect">
            <a:avLst/>
          </a:prstGeom>
        </p:spPr>
      </p:pic>
      <p:sp>
        <p:nvSpPr>
          <p:cNvPr id="12" name="blk3"/>
          <p:cNvSpPr/>
          <p:nvPr/>
        </p:nvSpPr>
        <p:spPr>
          <a:xfrm>
            <a:off x="4526280" y="5989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Figure and 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1037844" y="1659636"/>
            <a:ext cx="3977640" cy="39776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6" name="blk1"/>
          <p:cNvSpPr/>
          <p:nvPr/>
        </p:nvSpPr>
        <p:spPr>
          <a:xfrm>
            <a:off x="1403604" y="2025396"/>
            <a:ext cx="3246120" cy="324612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7" name="blk1"/>
          <p:cNvSpPr/>
          <p:nvPr/>
        </p:nvSpPr>
        <p:spPr>
          <a:xfrm>
            <a:off x="1723644" y="2345436"/>
            <a:ext cx="2606040" cy="26060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8" name="blk1"/>
          <p:cNvSpPr/>
          <p:nvPr/>
        </p:nvSpPr>
        <p:spPr>
          <a:xfrm>
            <a:off x="2249424" y="2871216"/>
            <a:ext cx="1554480" cy="1554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2249424" y="451713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900" dirty="0"/>
          </a:p>
        </p:txBody>
      </p:sp>
      <p:sp>
        <p:nvSpPr>
          <p:cNvPr id="10" name="blk1"/>
          <p:cNvSpPr/>
          <p:nvPr/>
        </p:nvSpPr>
        <p:spPr>
          <a:xfrm>
            <a:off x="877824" y="5285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900" dirty="0"/>
          </a:p>
        </p:txBody>
      </p:sp>
      <p:sp>
        <p:nvSpPr>
          <p:cNvPr id="11" name="blk1"/>
          <p:cNvSpPr/>
          <p:nvPr/>
        </p:nvSpPr>
        <p:spPr>
          <a:xfrm>
            <a:off x="603504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One element steps forward as figure against a ground of context.</a:t>
            </a:r>
            <a:endParaRPr lang="en-US" sz="900" dirty="0"/>
          </a:p>
        </p:txBody>
      </p:sp>
      <p:sp>
        <p:nvSpPr>
          <p:cNvPr id="12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1400" dirty="0"/>
          </a:p>
        </p:txBody>
      </p:sp>
      <p:sp>
        <p:nvSpPr>
          <p:cNvPr id="13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4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1400" dirty="0"/>
          </a:p>
        </p:txBody>
      </p:sp>
      <p:sp>
        <p:nvSpPr>
          <p:cNvPr id="16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17" name="blk3"/>
          <p:cNvSpPr/>
          <p:nvPr/>
        </p:nvSpPr>
        <p:spPr>
          <a:xfrm>
            <a:off x="5998464" y="4443984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 and concerns move between figure and ground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figure changes as circumstances change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helps identify what is most significant in the present</a:t>
            </a:r>
            <a:endParaRPr lang="en-US" sz="1200" dirty="0"/>
          </a:p>
        </p:txBody>
      </p:sp>
      <p:sp>
        <p:nvSpPr>
          <p:cNvPr id="18" name="blk3"/>
          <p:cNvSpPr/>
          <p:nvPr/>
        </p:nvSpPr>
        <p:spPr>
          <a:xfrm>
            <a:off x="5760720" y="6035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Contact and Contact Boundary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Interaction between the individual and environment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Point at which the individual and environment meet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engaging, responding and withdrawing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pic>
        <p:nvPicPr>
          <p:cNvPr id="6" name="img" descr="/home/user/Business-e-books/presentations/gestalt-theory-counselling/assets/h-liste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2852928"/>
          </a:xfrm>
          <a:prstGeom prst="rect">
            <a:avLst/>
          </a:prstGeom>
        </p:spPr>
      </p:pic>
      <p:sp>
        <p:nvSpPr>
          <p:cNvPr id="7" name="blk2"/>
          <p:cNvSpPr/>
          <p:nvPr/>
        </p:nvSpPr>
        <p:spPr>
          <a:xfrm>
            <a:off x="7772400" y="4846320"/>
            <a:ext cx="3803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INDIVIDUAL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8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Unfinished Business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10512"/>
            <a:ext cx="6437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6" name="blk1"/>
          <p:cNvSpPr/>
          <p:nvPr/>
        </p:nvSpPr>
        <p:spPr>
          <a:xfrm>
            <a:off x="859536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59536" y="26883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Anger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Guilt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Resentment    </a:t>
            </a:r>
            <a:pPr indent="0" marL="0">
              <a:buNone/>
            </a:pPr>
            <a:r>
              <a:rPr lang="en-US" sz="12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Unmet needs    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59536" y="4334256"/>
            <a:ext cx="6437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remain psychologically active in the present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859536" y="51206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Therapy promotes awareness and processing</a:t>
            </a:r>
            <a:endParaRPr lang="en-US" sz="1300" dirty="0"/>
          </a:p>
        </p:txBody>
      </p:sp>
      <p:pic>
        <p:nvPicPr>
          <p:cNvPr id="10" name="img" descr="/home/user/Business-e-books/presentations/gestalt-theory-counselling/assets/h-pensiv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ect">
            <a:avLst/>
          </a:prstGeom>
        </p:spPr>
      </p:pic>
      <p:sp>
        <p:nvSpPr>
          <p:cNvPr id="11" name="blk3"/>
          <p:cNvSpPr/>
          <p:nvPr/>
        </p:nvSpPr>
        <p:spPr>
          <a:xfrm>
            <a:off x="603504" y="5870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Responsibility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6473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Recognizing one's own choices and responses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agency and ownership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decision-making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03504" y="40050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 ≠  BLAME</a:t>
            </a:r>
            <a:endParaRPr lang="en-US" sz="1400" dirty="0"/>
          </a:p>
        </p:txBody>
      </p:sp>
      <p:sp>
        <p:nvSpPr>
          <p:cNvPr id="7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8" name="blk3"/>
          <p:cNvSpPr/>
          <p:nvPr/>
        </p:nvSpPr>
        <p:spPr>
          <a:xfrm>
            <a:off x="603504" y="50474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✗   </a:t>
            </a:r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“You make me angry.”</a:t>
            </a:r>
            <a:endParaRPr lang="en-US" sz="1400" dirty="0"/>
          </a:p>
        </p:txBody>
      </p:sp>
      <p:sp>
        <p:nvSpPr>
          <p:cNvPr id="9" name="blk3"/>
          <p:cNvSpPr/>
          <p:nvPr/>
        </p:nvSpPr>
        <p:spPr>
          <a:xfrm>
            <a:off x="603504" y="561441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 </a:t>
            </a:r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 notice that I become angry when…”</a:t>
            </a:r>
            <a:endParaRPr lang="en-US" sz="1400" dirty="0"/>
          </a:p>
        </p:txBody>
      </p:sp>
      <p:pic>
        <p:nvPicPr>
          <p:cNvPr id="10" name="img" descr="/home/user/Business-e-books/presentations/gestalt-theory-counselling/assets/h-wal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ect">
            <a:avLst/>
          </a:prstGeom>
        </p:spPr>
      </p:pic>
      <p:sp>
        <p:nvSpPr>
          <p:cNvPr id="11" name="blk4"/>
          <p:cNvSpPr/>
          <p:nvPr/>
        </p:nvSpPr>
        <p:spPr>
          <a:xfrm>
            <a:off x="7772400" y="5989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Corey, 2024)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Role of the Gestalt Counsellor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h-sess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5760720" cy="416052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6821424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ROLE</a:t>
            </a:r>
            <a:endParaRPr lang="en-US" sz="850" dirty="0"/>
          </a:p>
        </p:txBody>
      </p:sp>
      <p:sp>
        <p:nvSpPr>
          <p:cNvPr id="7" name="blk1"/>
          <p:cNvSpPr/>
          <p:nvPr/>
        </p:nvSpPr>
        <p:spPr>
          <a:xfrm>
            <a:off x="6821424" y="26517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7479792" y="26517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awareness</a:t>
            </a:r>
            <a:endParaRPr lang="en-US" sz="1200" dirty="0"/>
          </a:p>
        </p:txBody>
      </p:sp>
      <p:sp>
        <p:nvSpPr>
          <p:cNvPr id="9" name="blk1"/>
          <p:cNvSpPr/>
          <p:nvPr/>
        </p:nvSpPr>
        <p:spPr>
          <a:xfrm>
            <a:off x="6821424" y="3108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7479792" y="31089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11" name="blk1"/>
          <p:cNvSpPr/>
          <p:nvPr/>
        </p:nvSpPr>
        <p:spPr>
          <a:xfrm>
            <a:off x="6821424" y="3566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7479792" y="35661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Observes verbal and non-verbal behaviour</a:t>
            </a:r>
            <a:endParaRPr lang="en-US" sz="1200" dirty="0"/>
          </a:p>
        </p:txBody>
      </p:sp>
      <p:sp>
        <p:nvSpPr>
          <p:cNvPr id="13" name="blk1"/>
          <p:cNvSpPr/>
          <p:nvPr/>
        </p:nvSpPr>
        <p:spPr>
          <a:xfrm>
            <a:off x="6821424" y="40233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blk1"/>
          <p:cNvSpPr/>
          <p:nvPr/>
        </p:nvSpPr>
        <p:spPr>
          <a:xfrm>
            <a:off x="7479792" y="40233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the therapeutic relationship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6821424" y="44805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blk1"/>
          <p:cNvSpPr/>
          <p:nvPr/>
        </p:nvSpPr>
        <p:spPr>
          <a:xfrm>
            <a:off x="7479792" y="44805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expression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6821424" y="49377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8" name="blk1"/>
          <p:cNvSpPr/>
          <p:nvPr/>
        </p:nvSpPr>
        <p:spPr>
          <a:xfrm>
            <a:off x="7479792" y="49377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Explores interruptions in contact</a:t>
            </a:r>
            <a:endParaRPr lang="en-US" sz="1200" dirty="0"/>
          </a:p>
        </p:txBody>
      </p:sp>
      <p:sp>
        <p:nvSpPr>
          <p:cNvPr id="19" name="blk1"/>
          <p:cNvSpPr/>
          <p:nvPr/>
        </p:nvSpPr>
        <p:spPr>
          <a:xfrm>
            <a:off x="6821424" y="5394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20" name="blk1"/>
          <p:cNvSpPr/>
          <p:nvPr/>
        </p:nvSpPr>
        <p:spPr>
          <a:xfrm>
            <a:off x="7479792" y="5394960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responsibility and choice</a:t>
            </a:r>
            <a:endParaRPr lang="en-US" sz="1200" dirty="0"/>
          </a:p>
        </p:txBody>
      </p:sp>
      <p:sp>
        <p:nvSpPr>
          <p:cNvPr id="21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2014; Brownell, 2010)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 Therapeutic Techniques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chair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3611880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3611880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8" name="blk2"/>
          <p:cNvSpPr/>
          <p:nvPr/>
        </p:nvSpPr>
        <p:spPr>
          <a:xfrm>
            <a:off x="6336792" y="1901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blk2"/>
          <p:cNvSpPr/>
          <p:nvPr/>
        </p:nvSpPr>
        <p:spPr>
          <a:xfrm>
            <a:off x="6336792" y="23042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10" name="blk3"/>
          <p:cNvSpPr/>
          <p:nvPr/>
        </p:nvSpPr>
        <p:spPr>
          <a:xfrm>
            <a:off x="906170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blk3"/>
          <p:cNvSpPr/>
          <p:nvPr/>
        </p:nvSpPr>
        <p:spPr>
          <a:xfrm>
            <a:off x="906170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12" name="blk1"/>
          <p:cNvSpPr/>
          <p:nvPr/>
        </p:nvSpPr>
        <p:spPr>
          <a:xfrm>
            <a:off x="3611880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3611880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14" name="blk2"/>
          <p:cNvSpPr/>
          <p:nvPr/>
        </p:nvSpPr>
        <p:spPr>
          <a:xfrm>
            <a:off x="6336792" y="3127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15" name="blk2"/>
          <p:cNvSpPr/>
          <p:nvPr/>
        </p:nvSpPr>
        <p:spPr>
          <a:xfrm>
            <a:off x="6336792" y="35295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16" name="blk3"/>
          <p:cNvSpPr/>
          <p:nvPr/>
        </p:nvSpPr>
        <p:spPr>
          <a:xfrm>
            <a:off x="906170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17" name="blk3"/>
          <p:cNvSpPr/>
          <p:nvPr/>
        </p:nvSpPr>
        <p:spPr>
          <a:xfrm>
            <a:off x="906170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18" name="blk1"/>
          <p:cNvSpPr/>
          <p:nvPr/>
        </p:nvSpPr>
        <p:spPr>
          <a:xfrm>
            <a:off x="3611880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19" name="blk1"/>
          <p:cNvSpPr/>
          <p:nvPr/>
        </p:nvSpPr>
        <p:spPr>
          <a:xfrm>
            <a:off x="3611880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20" name="blk2"/>
          <p:cNvSpPr/>
          <p:nvPr/>
        </p:nvSpPr>
        <p:spPr>
          <a:xfrm>
            <a:off x="6336792" y="43525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21" name="blk2"/>
          <p:cNvSpPr/>
          <p:nvPr/>
        </p:nvSpPr>
        <p:spPr>
          <a:xfrm>
            <a:off x="6336792" y="4754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22" name="blk3"/>
          <p:cNvSpPr/>
          <p:nvPr/>
        </p:nvSpPr>
        <p:spPr>
          <a:xfrm>
            <a:off x="906170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23" name="blk3"/>
          <p:cNvSpPr/>
          <p:nvPr/>
        </p:nvSpPr>
        <p:spPr>
          <a:xfrm>
            <a:off x="906170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24" name="blk4"/>
          <p:cNvSpPr/>
          <p:nvPr/>
        </p:nvSpPr>
        <p:spPr>
          <a:xfrm>
            <a:off x="36118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Empty-Chair Technique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imagines another person in an empty chair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Speaks directly to the imagined person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 awareness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expression of unfinished emotions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6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097B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</a:t>
            </a:r>
            <a:endParaRPr lang="en-US" sz="3400" dirty="0"/>
          </a:p>
        </p:txBody>
      </p:sp>
      <p:sp>
        <p:nvSpPr>
          <p:cNvPr id="7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EXAMPLE</a:t>
            </a:r>
            <a:endParaRPr lang="en-US" sz="900" dirty="0"/>
          </a:p>
        </p:txBody>
      </p:sp>
      <p:sp>
        <p:nvSpPr>
          <p:cNvPr id="8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Imagine your father is sitting in that chair. What would you want him to hear from you?</a:t>
            </a:r>
            <a:endParaRPr lang="en-US" sz="1350" dirty="0"/>
          </a:p>
        </p:txBody>
      </p:sp>
      <p:pic>
        <p:nvPicPr>
          <p:cNvPr id="9" name="img" descr="/home/user/Business-e-books/presentations/gestalt-theory-counselling/assets/p-chai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056"/>
            <a:ext cx="4910328" cy="3685032"/>
          </a:xfrm>
          <a:prstGeom prst="rect">
            <a:avLst/>
          </a:prstGeom>
        </p:spPr>
      </p:pic>
      <p:sp>
        <p:nvSpPr>
          <p:cNvPr id="10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1" name="blk3"/>
          <p:cNvSpPr/>
          <p:nvPr/>
        </p:nvSpPr>
        <p:spPr>
          <a:xfrm>
            <a:off x="6858000" y="5760720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↔  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IMAGINED PERSON</a:t>
            </a:r>
            <a:endParaRPr lang="en-US" sz="1100" dirty="0"/>
          </a:p>
        </p:txBody>
      </p:sp>
      <p:sp>
        <p:nvSpPr>
          <p:cNvPr id="12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Other Experiential Techniques</a:t>
            </a:r>
            <a:endParaRPr lang="en-US" sz="2600" dirty="0"/>
          </a:p>
        </p:txBody>
      </p:sp>
      <p:pic>
        <p:nvPicPr>
          <p:cNvPr id="5" name="Image 1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1008" y="384048"/>
            <a:ext cx="1234440" cy="123444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106070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TECHNIQUE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499262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PURPOSE</a:t>
            </a:r>
            <a:endParaRPr lang="en-US" sz="900" dirty="0"/>
          </a:p>
        </p:txBody>
      </p:sp>
      <p:sp>
        <p:nvSpPr>
          <p:cNvPr id="8" name="blk1"/>
          <p:cNvSpPr/>
          <p:nvPr/>
        </p:nvSpPr>
        <p:spPr>
          <a:xfrm>
            <a:off x="1060704" y="22860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9" name="blk1"/>
          <p:cNvSpPr/>
          <p:nvPr/>
        </p:nvSpPr>
        <p:spPr>
          <a:xfrm>
            <a:off x="4992624" y="228600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10" name="blk1"/>
          <p:cNvSpPr/>
          <p:nvPr/>
        </p:nvSpPr>
        <p:spPr>
          <a:xfrm>
            <a:off x="1060704" y="28895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1" name="blk1"/>
          <p:cNvSpPr/>
          <p:nvPr/>
        </p:nvSpPr>
        <p:spPr>
          <a:xfrm>
            <a:off x="4992624" y="28895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12" name="blk1"/>
          <p:cNvSpPr/>
          <p:nvPr/>
        </p:nvSpPr>
        <p:spPr>
          <a:xfrm>
            <a:off x="1060704" y="3493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3" name="blk1"/>
          <p:cNvSpPr/>
          <p:nvPr/>
        </p:nvSpPr>
        <p:spPr>
          <a:xfrm>
            <a:off x="4992624" y="34930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1060704" y="40965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15" name="blk1"/>
          <p:cNvSpPr/>
          <p:nvPr/>
        </p:nvSpPr>
        <p:spPr>
          <a:xfrm>
            <a:off x="4992624" y="409651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16" name="blk1"/>
          <p:cNvSpPr/>
          <p:nvPr/>
        </p:nvSpPr>
        <p:spPr>
          <a:xfrm>
            <a:off x="1060704" y="47000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17" name="blk1"/>
          <p:cNvSpPr/>
          <p:nvPr/>
        </p:nvSpPr>
        <p:spPr>
          <a:xfrm>
            <a:off x="4992624" y="470001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18" name="blk1"/>
          <p:cNvSpPr/>
          <p:nvPr/>
        </p:nvSpPr>
        <p:spPr>
          <a:xfrm>
            <a:off x="1060704" y="53035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19" name="blk1"/>
          <p:cNvSpPr/>
          <p:nvPr/>
        </p:nvSpPr>
        <p:spPr>
          <a:xfrm>
            <a:off x="4992624" y="53035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20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bi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Application in Counselling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41248" y="21031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 and loss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 difficulties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and emotional distress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anger</a:t>
            </a:r>
            <a:endParaRPr lang="en-US" sz="1200" dirty="0"/>
          </a:p>
        </p:txBody>
      </p:sp>
      <p:sp>
        <p:nvSpPr>
          <p:cNvPr id="7" name="blk1"/>
          <p:cNvSpPr/>
          <p:nvPr/>
        </p:nvSpPr>
        <p:spPr>
          <a:xfrm>
            <a:off x="4224528" y="21031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concerns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Emotional-expression difficulties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 growth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interpersonal experiences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9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50" dirty="0"/>
          </a:p>
        </p:txBody>
      </p:sp>
      <p:pic>
        <p:nvPicPr>
          <p:cNvPr id="10" name="img" descr="/home/user/Business-e-books/presentations/gestalt-theory-counselling/assets/h-gro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591056"/>
            <a:ext cx="4041648" cy="4443984"/>
          </a:xfrm>
          <a:prstGeom prst="rect">
            <a:avLst/>
          </a:prstGeom>
        </p:spPr>
      </p:pic>
      <p:sp>
        <p:nvSpPr>
          <p:cNvPr id="11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(Brownell, 2010; Joyce &amp; Sills, 2014)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Strengths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64208"/>
            <a:ext cx="3520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self-awareness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lived experience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agency and responsibility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mind, emotion and body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4443984" y="1938528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Considers person–environment interaction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active client participation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600"/>
              </a:spcAft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Supports experiential emotional processing</a:t>
            </a:r>
            <a:endParaRPr lang="en-US" sz="1300" dirty="0"/>
          </a:p>
        </p:txBody>
      </p:sp>
      <p:pic>
        <p:nvPicPr>
          <p:cNvPr id="7" name="img" descr="/home/user/Business-e-books/presentations/gestalt-theory-counselling/assets/h-sup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591056"/>
            <a:ext cx="3584448" cy="4160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and Criticisms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stor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3566160" cy="416052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4672584" y="1975104"/>
            <a:ext cx="2999232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Some techniques may feel intense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Requires skilled and sensitive application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be challenging for clients who prefer highly structured approaches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misused</a:t>
            </a:r>
            <a:endParaRPr lang="en-US" sz="1200" dirty="0"/>
          </a:p>
        </p:txBody>
      </p:sp>
      <p:sp>
        <p:nvSpPr>
          <p:cNvPr id="7" name="blk2"/>
          <p:cNvSpPr/>
          <p:nvPr/>
        </p:nvSpPr>
        <p:spPr>
          <a:xfrm>
            <a:off x="8348472" y="2295144"/>
            <a:ext cx="29992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every intervention suits every client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context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must be considered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Ethical boundaries are essential</a:t>
            </a:r>
            <a:endParaRPr lang="en-US" sz="1200" dirty="0"/>
          </a:p>
        </p:txBody>
      </p:sp>
      <p:sp>
        <p:nvSpPr>
          <p:cNvPr id="8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(Corey, 2024; Joyce &amp; Sills, 2014)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Case Application</a:t>
            </a:r>
            <a:endParaRPr lang="en-US" sz="2600" dirty="0"/>
          </a:p>
        </p:txBody>
      </p:sp>
      <p:pic>
        <p:nvPicPr>
          <p:cNvPr id="5" name="blk1" descr="/home/user/Business-e-books/presentations/gestalt-theory-counselling/assets/h-studen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00784"/>
            <a:ext cx="3026664" cy="2816352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859536" y="4718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59536" y="49743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20-year-old undergraduate scholarship student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4069080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9" name="blk2"/>
          <p:cNvSpPr/>
          <p:nvPr/>
        </p:nvSpPr>
        <p:spPr>
          <a:xfrm>
            <a:off x="4069080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Academic anxiety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losing scholarship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disappointing family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Difficulty expressing emotions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Pressure to maintain high grades</a:t>
            </a:r>
            <a:endParaRPr lang="en-US" sz="1100" dirty="0"/>
          </a:p>
        </p:txBody>
      </p:sp>
      <p:sp>
        <p:nvSpPr>
          <p:cNvPr id="10" name="blk3"/>
          <p:cNvSpPr/>
          <p:nvPr/>
        </p:nvSpPr>
        <p:spPr>
          <a:xfrm>
            <a:off x="6620256" y="192024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1" name="blk3"/>
          <p:cNvSpPr/>
          <p:nvPr/>
        </p:nvSpPr>
        <p:spPr>
          <a:xfrm>
            <a:off x="6620256" y="234086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becomes figure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Possible introjected expectations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Limited awareness of personal needs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Interrupted contact</a:t>
            </a:r>
            <a:endParaRPr lang="en-US" sz="1100" dirty="0"/>
          </a:p>
        </p:txBody>
      </p:sp>
      <p:sp>
        <p:nvSpPr>
          <p:cNvPr id="12" name="blk4"/>
          <p:cNvSpPr/>
          <p:nvPr/>
        </p:nvSpPr>
        <p:spPr>
          <a:xfrm>
            <a:off x="9171432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13" name="blk4"/>
          <p:cNvSpPr/>
          <p:nvPr/>
        </p:nvSpPr>
        <p:spPr>
          <a:xfrm>
            <a:off x="9171432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exploration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00" dirty="0"/>
          </a:p>
          <a:p>
            <a:pPr marL="139700" indent="-139700">
              <a:lnSpc>
                <a:spcPct val="125000"/>
              </a:lnSpc>
              <a:spcAft>
                <a:spcPts val="900"/>
              </a:spcAft>
              <a:buSzPct val="100000"/>
              <a:buChar char="✓"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Exploring introjected beliefs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Critical Evaluation</a:t>
            </a:r>
            <a:endParaRPr lang="en-US" sz="2600" dirty="0"/>
          </a:p>
        </p:txBody>
      </p:sp>
      <p:pic>
        <p:nvPicPr>
          <p:cNvPr id="5" name="blk1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682496"/>
            <a:ext cx="713232" cy="713232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1517904" y="18836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CONTRIBUTIONS</a:t>
            </a:r>
            <a:endParaRPr lang="en-US" sz="1100" dirty="0"/>
          </a:p>
        </p:txBody>
      </p:sp>
      <p:sp>
        <p:nvSpPr>
          <p:cNvPr id="7" name="blk1"/>
          <p:cNvSpPr/>
          <p:nvPr/>
        </p:nvSpPr>
        <p:spPr>
          <a:xfrm>
            <a:off x="603504" y="277977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agency and authentic choice</a:t>
            </a:r>
            <a:endParaRPr lang="en-US" sz="1250" dirty="0"/>
          </a:p>
        </p:txBody>
      </p:sp>
      <p:pic>
        <p:nvPicPr>
          <p:cNvPr id="8" name="blk2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956816"/>
            <a:ext cx="713232" cy="713232"/>
          </a:xfrm>
          <a:prstGeom prst="rect">
            <a:avLst/>
          </a:prstGeom>
        </p:spPr>
      </p:pic>
      <p:sp>
        <p:nvSpPr>
          <p:cNvPr id="9" name="blk2"/>
          <p:cNvSpPr/>
          <p:nvPr/>
        </p:nvSpPr>
        <p:spPr>
          <a:xfrm>
            <a:off x="7159752" y="21579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CONSIDERATIONS</a:t>
            </a:r>
            <a:endParaRPr lang="en-US" sz="1100" dirty="0"/>
          </a:p>
        </p:txBody>
      </p:sp>
      <p:sp>
        <p:nvSpPr>
          <p:cNvPr id="10" name="blk2"/>
          <p:cNvSpPr/>
          <p:nvPr/>
        </p:nvSpPr>
        <p:spPr>
          <a:xfrm>
            <a:off x="6245352" y="305409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4544568" y="1664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4544568" y="2103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4544568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4544568" y="28895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32369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4544568" y="36758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4023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&amp; CHOICE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4544568" y="44622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809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00" dirty="0"/>
          </a:p>
        </p:txBody>
      </p:sp>
      <p:pic>
        <p:nvPicPr>
          <p:cNvPr id="14" name="img" descr="/home/user/Business-e-books/presentations/gestalt-theory-counselling/assets/p-summ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37360"/>
            <a:ext cx="3081528" cy="4315968"/>
          </a:xfrm>
          <a:prstGeom prst="rect">
            <a:avLst/>
          </a:prstGeom>
        </p:spPr>
      </p:pic>
      <p:sp>
        <p:nvSpPr>
          <p:cNvPr id="15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6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References</a:t>
            </a:r>
            <a:endParaRPr lang="en-US" sz="2600" dirty="0"/>
          </a:p>
        </p:txBody>
      </p:sp>
      <p:pic>
        <p:nvPicPr>
          <p:cNvPr id="5" name="img" descr="/home/user/Business-e-books/presentations/gestalt-theory-counselling/assets/p-boo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ect">
            <a:avLst/>
          </a:prstGeom>
        </p:spPr>
      </p:pic>
      <p:sp>
        <p:nvSpPr>
          <p:cNvPr id="6" name="blk1"/>
          <p:cNvSpPr/>
          <p:nvPr/>
        </p:nvSpPr>
        <p:spPr>
          <a:xfrm>
            <a:off x="3886200" y="1847088"/>
            <a:ext cx="742492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0" presetClass="entr" presetSubtype="0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2026-10-06T11:05:52Z</dcterms:created>
  <dcterms:modified xsi:type="dcterms:W3CDTF">2026-10-06T11:05:52Z</dcterms:modified>
</cp:coreProperties>
</file>