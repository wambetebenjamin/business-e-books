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900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jp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n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>
            <a:outerShdw blurRad="914400" dist="50800" dir="5400000" algn="ctr" rotWithShape="0">
              <a:srgbClr val="000000">
                <a:alpha val="29000"/>
              </a:srgbClr>
            </a:outerShdw>
          </a:effectLst>
        </p:spPr>
      </p:pic>
      <p:pic>
        <p:nvPicPr>
          <p:cNvPr id="3" name="img" descr="/home/user/Business-e-books/presentations/gestalt-theory-counselling/assets/h-summi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566928"/>
            <a:ext cx="4892040" cy="5724144"/>
          </a:xfrm>
          <a:prstGeom prst="roundRect">
            <a:avLst>
              <a:gd name="adj" fmla="val 5000"/>
            </a:avLst>
          </a:prstGeom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pic>
      <p:sp>
        <p:nvSpPr>
          <p:cNvPr id="4" name="hdr"/>
          <p:cNvSpPr/>
          <p:nvPr/>
        </p:nvSpPr>
        <p:spPr>
          <a:xfrm>
            <a:off x="603504" y="60350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 4 PRESENTATION  ·  MCP504</a:t>
            </a:r>
            <a:endParaRPr lang="en-US" sz="1000" dirty="0"/>
          </a:p>
        </p:txBody>
      </p:sp>
      <p:sp>
        <p:nvSpPr>
          <p:cNvPr id="5" name="hdr"/>
          <p:cNvSpPr/>
          <p:nvPr/>
        </p:nvSpPr>
        <p:spPr>
          <a:xfrm>
            <a:off x="566928" y="950976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Gestalt</a:t>
            </a:r>
            <a:endParaRPr lang="en-US" sz="5200" dirty="0"/>
          </a:p>
        </p:txBody>
      </p:sp>
      <p:sp>
        <p:nvSpPr>
          <p:cNvPr id="6" name="hdr"/>
          <p:cNvSpPr/>
          <p:nvPr/>
        </p:nvSpPr>
        <p:spPr>
          <a:xfrm>
            <a:off x="566928" y="1792224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Theory</a:t>
            </a:r>
            <a:endParaRPr lang="en-US" sz="5200" dirty="0"/>
          </a:p>
        </p:txBody>
      </p:sp>
      <p:sp>
        <p:nvSpPr>
          <p:cNvPr id="7" name="hdr"/>
          <p:cNvSpPr/>
          <p:nvPr/>
        </p:nvSpPr>
        <p:spPr>
          <a:xfrm>
            <a:off x="603504" y="270662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 ITS APPLICATION TO COUNSELLING</a:t>
            </a:r>
            <a:endParaRPr lang="en-US" sz="1300" dirty="0"/>
          </a:p>
        </p:txBody>
      </p:sp>
      <p:sp>
        <p:nvSpPr>
          <p:cNvPr id="8" name="hdr"/>
          <p:cNvSpPr/>
          <p:nvPr/>
        </p:nvSpPr>
        <p:spPr>
          <a:xfrm>
            <a:off x="621792" y="3017520"/>
            <a:ext cx="1097280" cy="41148"/>
          </a:xfrm>
          <a:prstGeom prst="rect">
            <a:avLst/>
          </a:prstGeom>
          <a:solidFill>
            <a:srgbClr val="8097BE"/>
          </a:solidFill>
          <a:ln/>
        </p:spPr>
      </p:sp>
      <p:sp>
        <p:nvSpPr>
          <p:cNvPr id="9" name="blk1"/>
          <p:cNvSpPr/>
          <p:nvPr/>
        </p:nvSpPr>
        <p:spPr>
          <a:xfrm>
            <a:off x="603504" y="3255264"/>
            <a:ext cx="5669280" cy="1737360"/>
          </a:xfrm>
          <a:prstGeom prst="roundRect">
            <a:avLst>
              <a:gd name="adj" fmla="val 4737"/>
            </a:avLst>
          </a:prstGeom>
          <a:solidFill>
            <a:srgbClr val="162B57"/>
          </a:solidFill>
          <a:ln w="12700">
            <a:solidFill>
              <a:srgbClr val="162B57"/>
            </a:solidFill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10" name="blk1"/>
          <p:cNvSpPr/>
          <p:nvPr/>
        </p:nvSpPr>
        <p:spPr>
          <a:xfrm>
            <a:off x="859536" y="34015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PRESENTED BY  ·  GROUP 4 MEMBERS</a:t>
            </a:r>
            <a:endParaRPr lang="en-US" sz="850" dirty="0"/>
          </a:p>
        </p:txBody>
      </p:sp>
      <p:sp>
        <p:nvSpPr>
          <p:cNvPr id="11" name="blk1"/>
          <p:cNvSpPr/>
          <p:nvPr/>
        </p:nvSpPr>
        <p:spPr>
          <a:xfrm>
            <a:off x="859536" y="369417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Josephine Biwott</a:t>
            </a:r>
            <a:r>
              <a:rPr lang="en-US" sz="1150" dirty="0">
                <a:solidFill>
                  <a:srgbClr val="AAB7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 ·    MACP/35996/0/26</a:t>
            </a:r>
            <a:endParaRPr lang="en-US" sz="1300" dirty="0"/>
          </a:p>
        </p:txBody>
      </p:sp>
      <p:sp>
        <p:nvSpPr>
          <p:cNvPr id="12" name="blk1"/>
          <p:cNvSpPr/>
          <p:nvPr/>
        </p:nvSpPr>
        <p:spPr>
          <a:xfrm>
            <a:off x="859536" y="4050792"/>
            <a:ext cx="5157216" cy="10973"/>
          </a:xfrm>
          <a:prstGeom prst="rect">
            <a:avLst/>
          </a:prstGeom>
          <a:solidFill>
            <a:srgbClr val="31415F"/>
          </a:solidFill>
          <a:ln/>
        </p:spPr>
      </p:sp>
      <p:sp>
        <p:nvSpPr>
          <p:cNvPr id="13" name="blk1"/>
          <p:cNvSpPr/>
          <p:nvPr/>
        </p:nvSpPr>
        <p:spPr>
          <a:xfrm>
            <a:off x="859536" y="40965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Cynthia Cherono</a:t>
            </a:r>
            <a:r>
              <a:rPr lang="en-US" sz="1150" dirty="0">
                <a:solidFill>
                  <a:srgbClr val="AAB7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 ·    MACP/35785/4/26</a:t>
            </a:r>
            <a:endParaRPr lang="en-US" sz="1300" dirty="0"/>
          </a:p>
        </p:txBody>
      </p:sp>
      <p:sp>
        <p:nvSpPr>
          <p:cNvPr id="14" name="blk1"/>
          <p:cNvSpPr/>
          <p:nvPr/>
        </p:nvSpPr>
        <p:spPr>
          <a:xfrm>
            <a:off x="859536" y="4453128"/>
            <a:ext cx="5157216" cy="10973"/>
          </a:xfrm>
          <a:prstGeom prst="rect">
            <a:avLst/>
          </a:prstGeom>
          <a:solidFill>
            <a:srgbClr val="31415F"/>
          </a:solidFill>
          <a:ln/>
        </p:spPr>
      </p:sp>
      <p:sp>
        <p:nvSpPr>
          <p:cNvPr id="15" name="blk1"/>
          <p:cNvSpPr/>
          <p:nvPr/>
        </p:nvSpPr>
        <p:spPr>
          <a:xfrm>
            <a:off x="859536" y="449884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Yvonne Juliet Awuor</a:t>
            </a:r>
            <a:r>
              <a:rPr lang="en-US" sz="1150" dirty="0">
                <a:solidFill>
                  <a:srgbClr val="AAB7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  ·    MALD/36547/4/26</a:t>
            </a:r>
            <a:endParaRPr lang="en-US" sz="1300" dirty="0"/>
          </a:p>
        </p:txBody>
      </p:sp>
      <p:sp>
        <p:nvSpPr>
          <p:cNvPr id="16" name="blk2"/>
          <p:cNvSpPr/>
          <p:nvPr/>
        </p:nvSpPr>
        <p:spPr>
          <a:xfrm>
            <a:off x="621792" y="5248656"/>
            <a:ext cx="5632704" cy="10973"/>
          </a:xfrm>
          <a:prstGeom prst="rect">
            <a:avLst/>
          </a:prstGeom>
          <a:solidFill>
            <a:srgbClr val="31415F"/>
          </a:solidFill>
          <a:ln/>
        </p:spPr>
      </p:sp>
      <p:sp>
        <p:nvSpPr>
          <p:cNvPr id="17" name="blk2"/>
          <p:cNvSpPr/>
          <p:nvPr/>
        </p:nvSpPr>
        <p:spPr>
          <a:xfrm>
            <a:off x="3383280" y="5431536"/>
            <a:ext cx="10973" cy="786384"/>
          </a:xfrm>
          <a:prstGeom prst="rect">
            <a:avLst/>
          </a:prstGeom>
          <a:solidFill>
            <a:srgbClr val="31415F"/>
          </a:solidFill>
          <a:ln/>
        </p:spPr>
      </p:sp>
      <p:sp>
        <p:nvSpPr>
          <p:cNvPr id="18" name="blk2"/>
          <p:cNvSpPr/>
          <p:nvPr/>
        </p:nvSpPr>
        <p:spPr>
          <a:xfrm>
            <a:off x="5541264" y="5431536"/>
            <a:ext cx="10973" cy="786384"/>
          </a:xfrm>
          <a:prstGeom prst="rect">
            <a:avLst/>
          </a:prstGeom>
          <a:solidFill>
            <a:srgbClr val="31415F"/>
          </a:solidFill>
          <a:ln/>
        </p:spPr>
      </p:sp>
      <p:sp>
        <p:nvSpPr>
          <p:cNvPr id="19" name="blk2"/>
          <p:cNvSpPr/>
          <p:nvPr/>
        </p:nvSpPr>
        <p:spPr>
          <a:xfrm>
            <a:off x="603504" y="54132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COURSE</a:t>
            </a:r>
            <a:endParaRPr lang="en-US" sz="850" dirty="0"/>
          </a:p>
        </p:txBody>
      </p:sp>
      <p:sp>
        <p:nvSpPr>
          <p:cNvPr id="20" name="blk2"/>
          <p:cNvSpPr/>
          <p:nvPr/>
        </p:nvSpPr>
        <p:spPr>
          <a:xfrm>
            <a:off x="603504" y="565099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MCP504 · Theories of Counseling and Psychotherapy</a:t>
            </a:r>
            <a:endParaRPr lang="en-US" sz="1100" dirty="0"/>
          </a:p>
        </p:txBody>
      </p:sp>
      <p:sp>
        <p:nvSpPr>
          <p:cNvPr id="21" name="blk2"/>
          <p:cNvSpPr/>
          <p:nvPr/>
        </p:nvSpPr>
        <p:spPr>
          <a:xfrm>
            <a:off x="3566160" y="54132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INSTITUTION</a:t>
            </a:r>
            <a:endParaRPr lang="en-US" sz="850" dirty="0"/>
          </a:p>
        </p:txBody>
      </p:sp>
      <p:sp>
        <p:nvSpPr>
          <p:cNvPr id="22" name="blk2"/>
          <p:cNvSpPr/>
          <p:nvPr/>
        </p:nvSpPr>
        <p:spPr>
          <a:xfrm>
            <a:off x="3566160" y="565099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Pan African Christian University</a:t>
            </a:r>
            <a:endParaRPr lang="en-US" sz="1100" dirty="0"/>
          </a:p>
        </p:txBody>
      </p:sp>
      <p:sp>
        <p:nvSpPr>
          <p:cNvPr id="23" name="blk2"/>
          <p:cNvSpPr/>
          <p:nvPr/>
        </p:nvSpPr>
        <p:spPr>
          <a:xfrm>
            <a:off x="5724144" y="54132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LECTURER</a:t>
            </a:r>
            <a:endParaRPr lang="en-US" sz="850" dirty="0"/>
          </a:p>
        </p:txBody>
      </p:sp>
      <p:sp>
        <p:nvSpPr>
          <p:cNvPr id="24" name="blk2"/>
          <p:cNvSpPr/>
          <p:nvPr/>
        </p:nvSpPr>
        <p:spPr>
          <a:xfrm>
            <a:off x="5724144" y="565099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Dr. Lucy Gachenia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0" presetClass="entr" presetSubtype="0" fill="hold" nodeType="after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rid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6" name="blk1"/>
          <p:cNvSpPr/>
          <p:nvPr/>
        </p:nvSpPr>
        <p:spPr>
          <a:xfrm>
            <a:off x="859536" y="1828800"/>
            <a:ext cx="49743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Experiential and humanistic approach to counselling</a:t>
            </a:r>
            <a:endParaRPr lang="en-US" sz="1600" dirty="0"/>
          </a:p>
        </p:txBody>
      </p:sp>
      <p:sp>
        <p:nvSpPr>
          <p:cNvPr id="7" name="blk1"/>
          <p:cNvSpPr/>
          <p:nvPr/>
        </p:nvSpPr>
        <p:spPr>
          <a:xfrm>
            <a:off x="877824" y="2688336"/>
            <a:ext cx="4937760" cy="11887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8" name="blk1"/>
          <p:cNvSpPr/>
          <p:nvPr/>
        </p:nvSpPr>
        <p:spPr>
          <a:xfrm>
            <a:off x="859536" y="2889504"/>
            <a:ext cx="497433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30000"/>
              </a:lnSpc>
              <a:spcAft>
                <a:spcPts val="1300"/>
              </a:spcAft>
              <a:buSzPct val="100000"/>
              <a:buChar char="–"/>
            </a:pPr>
            <a:r>
              <a:rPr lang="en-US" sz="135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Emphasizes </a:t>
            </a:r>
            <a:r>
              <a:rPr lang="en-US" sz="1350" b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awareness, present experience and contact</a:t>
            </a:r>
            <a:endParaRPr lang="en-US" sz="1350" dirty="0"/>
          </a:p>
          <a:p>
            <a:pPr marL="139700" indent="-139700">
              <a:lnSpc>
                <a:spcPct val="130000"/>
              </a:lnSpc>
              <a:spcAft>
                <a:spcPts val="1300"/>
              </a:spcAft>
              <a:buSzPct val="100000"/>
              <a:buChar char="–"/>
            </a:pPr>
            <a:r>
              <a:rPr lang="en-US" sz="135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Understands individuals within their </a:t>
            </a:r>
            <a:r>
              <a:rPr lang="en-US" sz="1350" b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environment and relationships</a:t>
            </a:r>
            <a:endParaRPr lang="en-US" sz="1350" dirty="0"/>
          </a:p>
          <a:p>
            <a:pPr marL="139700" indent="-139700">
              <a:lnSpc>
                <a:spcPct val="130000"/>
              </a:lnSpc>
              <a:spcAft>
                <a:spcPts val="1300"/>
              </a:spcAft>
              <a:buSzPct val="100000"/>
              <a:buChar char="–"/>
            </a:pPr>
            <a:r>
              <a:rPr lang="en-US" sz="135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Encourages personal responsibility, choice and authentic living</a:t>
            </a:r>
            <a:endParaRPr lang="en-US" sz="1350" dirty="0"/>
          </a:p>
          <a:p>
            <a:pPr marL="139700" indent="-139700">
              <a:lnSpc>
                <a:spcPct val="130000"/>
              </a:lnSpc>
              <a:spcAft>
                <a:spcPts val="1300"/>
              </a:spcAft>
              <a:buSzPct val="100000"/>
              <a:buChar char="–"/>
            </a:pPr>
            <a:r>
              <a:rPr lang="en-US" sz="135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Focuses on the client's experience in the </a:t>
            </a:r>
            <a:r>
              <a:rPr lang="en-US" sz="1350" b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here-and-now</a:t>
            </a:r>
            <a:endParaRPr lang="en-US" sz="1350" dirty="0"/>
          </a:p>
        </p:txBody>
      </p:sp>
      <p:pic>
        <p:nvPicPr>
          <p:cNvPr id="9" name="img" descr="/home/user/Business-e-books/presentations/gestalt-theory-counselling/assets/h-conversa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783080"/>
            <a:ext cx="5166360" cy="4023360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10" name="blk2"/>
          <p:cNvSpPr/>
          <p:nvPr/>
        </p:nvSpPr>
        <p:spPr>
          <a:xfrm>
            <a:off x="603504" y="5943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Joyce &amp; Sills, 2014)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0" presetClass="entr" presetSubtype="0" fill="hold" nodeType="after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rid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Historical Background</a:t>
            </a:r>
            <a:endParaRPr lang="en-US" sz="4000" dirty="0"/>
          </a:p>
        </p:txBody>
      </p:sp>
      <p:pic>
        <p:nvPicPr>
          <p:cNvPr id="5" name="img" descr="/home/user/Business-e-books/presentations/gestalt-theory-counselling/assets/p-histor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591056"/>
            <a:ext cx="2743200" cy="4480560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6" name="blk1"/>
          <p:cNvSpPr/>
          <p:nvPr/>
        </p:nvSpPr>
        <p:spPr>
          <a:xfrm>
            <a:off x="3611880" y="1591056"/>
            <a:ext cx="7973568" cy="1316736"/>
          </a:xfrm>
          <a:prstGeom prst="roundRect">
            <a:avLst>
              <a:gd name="adj" fmla="val 625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7" name="blk1"/>
          <p:cNvSpPr/>
          <p:nvPr/>
        </p:nvSpPr>
        <p:spPr>
          <a:xfrm>
            <a:off x="3867912" y="1810512"/>
            <a:ext cx="7461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Emerged during the </a:t>
            </a:r>
            <a:r>
              <a:rPr lang="en-US" sz="1400" b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1940s and 1950s</a:t>
            </a:r>
            <a:endParaRPr lang="en-US" sz="1400" dirty="0"/>
          </a:p>
          <a:p>
            <a:pPr marL="285750" indent="-285750">
              <a:lnSpc>
                <a:spcPct val="13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Developed partly in response to limitations perceived in </a:t>
            </a:r>
            <a:r>
              <a:rPr lang="en-US" sz="1400" b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traditional psychoanalysis</a:t>
            </a:r>
            <a:endParaRPr lang="en-US" sz="1400" dirty="0"/>
          </a:p>
        </p:txBody>
      </p:sp>
      <p:sp>
        <p:nvSpPr>
          <p:cNvPr id="8" name="blk2"/>
          <p:cNvSpPr/>
          <p:nvPr/>
        </p:nvSpPr>
        <p:spPr>
          <a:xfrm>
            <a:off x="3886200" y="3072384"/>
            <a:ext cx="7699248" cy="1517904"/>
          </a:xfrm>
          <a:prstGeom prst="roundRect">
            <a:avLst>
              <a:gd name="adj" fmla="val 542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9" name="blk2"/>
          <p:cNvSpPr/>
          <p:nvPr/>
        </p:nvSpPr>
        <p:spPr>
          <a:xfrm>
            <a:off x="4142232" y="32186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INFLUENCED BY</a:t>
            </a:r>
            <a:endParaRPr lang="en-US" sz="900" dirty="0"/>
          </a:p>
        </p:txBody>
      </p:sp>
      <p:sp>
        <p:nvSpPr>
          <p:cNvPr id="10" name="blk2"/>
          <p:cNvSpPr/>
          <p:nvPr/>
        </p:nvSpPr>
        <p:spPr>
          <a:xfrm>
            <a:off x="4142232" y="3529584"/>
            <a:ext cx="2395728" cy="457200"/>
          </a:xfrm>
          <a:prstGeom prst="roundRect">
            <a:avLst>
              <a:gd name="adj" fmla="val 12000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Gestalt psychology</a:t>
            </a:r>
            <a:endParaRPr lang="en-US" sz="1600" dirty="0"/>
          </a:p>
        </p:txBody>
      </p:sp>
      <p:sp>
        <p:nvSpPr>
          <p:cNvPr id="11" name="blk2"/>
          <p:cNvSpPr/>
          <p:nvPr/>
        </p:nvSpPr>
        <p:spPr>
          <a:xfrm>
            <a:off x="6702552" y="3529584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Phenomenology</a:t>
            </a:r>
            <a:endParaRPr lang="en-US" sz="1600" dirty="0"/>
          </a:p>
        </p:txBody>
      </p:sp>
      <p:sp>
        <p:nvSpPr>
          <p:cNvPr id="12" name="blk2"/>
          <p:cNvSpPr/>
          <p:nvPr/>
        </p:nvSpPr>
        <p:spPr>
          <a:xfrm>
            <a:off x="8988552" y="3529584"/>
            <a:ext cx="2340864" cy="457200"/>
          </a:xfrm>
          <a:prstGeom prst="roundRect">
            <a:avLst>
              <a:gd name="adj" fmla="val 12000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Existential </a:t>
            </a: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philosophy</a:t>
            </a:r>
            <a:endParaRPr lang="en-US" sz="1600" dirty="0"/>
          </a:p>
        </p:txBody>
      </p:sp>
      <p:sp>
        <p:nvSpPr>
          <p:cNvPr id="13" name="blk2"/>
          <p:cNvSpPr/>
          <p:nvPr/>
        </p:nvSpPr>
        <p:spPr>
          <a:xfrm>
            <a:off x="4142232" y="4059936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Field theory</a:t>
            </a:r>
            <a:endParaRPr lang="en-US" sz="1600" dirty="0"/>
          </a:p>
        </p:txBody>
      </p:sp>
      <p:sp>
        <p:nvSpPr>
          <p:cNvPr id="14" name="blk2"/>
          <p:cNvSpPr/>
          <p:nvPr/>
        </p:nvSpPr>
        <p:spPr>
          <a:xfrm>
            <a:off x="6016752" y="4059936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Holistic approaches</a:t>
            </a:r>
            <a:endParaRPr lang="en-US" sz="1600" dirty="0"/>
          </a:p>
        </p:txBody>
      </p:sp>
      <p:sp>
        <p:nvSpPr>
          <p:cNvPr id="15" name="blk3"/>
          <p:cNvSpPr/>
          <p:nvPr/>
        </p:nvSpPr>
        <p:spPr>
          <a:xfrm>
            <a:off x="3611880" y="484632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Emphasized experience, awareness and contact</a:t>
            </a:r>
            <a:endParaRPr lang="en-US" sz="1600" dirty="0"/>
          </a:p>
        </p:txBody>
      </p:sp>
      <p:sp>
        <p:nvSpPr>
          <p:cNvPr id="16" name="blk4"/>
          <p:cNvSpPr/>
          <p:nvPr/>
        </p:nvSpPr>
        <p:spPr>
          <a:xfrm>
            <a:off x="3611880" y="5358384"/>
            <a:ext cx="7973568" cy="822960"/>
          </a:xfrm>
          <a:prstGeom prst="roundRect">
            <a:avLst>
              <a:gd name="adj" fmla="val 10000"/>
            </a:avLst>
          </a:prstGeom>
          <a:solidFill>
            <a:srgbClr val="162B57"/>
          </a:solidFill>
          <a:ln w="12700">
            <a:solidFill>
              <a:srgbClr val="162B57"/>
            </a:solidFill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17" name="blk4"/>
          <p:cNvSpPr/>
          <p:nvPr/>
        </p:nvSpPr>
        <p:spPr>
          <a:xfrm>
            <a:off x="3867912" y="5468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2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INTELLECTUAL ROOTS</a:t>
            </a:r>
            <a:endParaRPr lang="en-US" sz="800" dirty="0"/>
          </a:p>
        </p:txBody>
      </p:sp>
      <p:sp>
        <p:nvSpPr>
          <p:cNvPr id="18" name="blk4"/>
          <p:cNvSpPr/>
          <p:nvPr/>
        </p:nvSpPr>
        <p:spPr>
          <a:xfrm>
            <a:off x="3867912" y="5705856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Gestalt Psychology</a:t>
            </a:r>
            <a:r>
              <a:rPr lang="en-US" sz="120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→  </a:t>
            </a: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Phenomenology</a:t>
            </a:r>
            <a:r>
              <a:rPr lang="en-US" sz="120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→  </a:t>
            </a: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Existentialism</a:t>
            </a:r>
            <a:r>
              <a:rPr lang="en-US" sz="120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→  </a:t>
            </a: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Field Theory</a:t>
            </a:r>
            <a:r>
              <a:rPr lang="en-US" sz="120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→  </a:t>
            </a: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Gestalt Therapy</a:t>
            </a:r>
            <a:endParaRPr lang="en-US" sz="1200" dirty="0"/>
          </a:p>
        </p:txBody>
      </p:sp>
      <p:sp>
        <p:nvSpPr>
          <p:cNvPr id="19" name="blk4"/>
          <p:cNvSpPr/>
          <p:nvPr/>
        </p:nvSpPr>
        <p:spPr>
          <a:xfrm>
            <a:off x="3611880" y="6263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Woldt &amp; Toman, 2005)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after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0" presetClass="entr" presetSubtype="0" fill="hold" nodeType="after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rid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Major Theorists</a:t>
            </a:r>
            <a:endParaRPr lang="en-US" sz="2600" dirty="0"/>
          </a:p>
        </p:txBody>
      </p:sp>
      <p:pic>
        <p:nvPicPr>
          <p:cNvPr id="5" name="img" descr="/home/user/Business-e-books/presentations/gestalt-theory-counselling/assets/p-theorist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2064"/>
            <a:ext cx="4041648" cy="1737360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6" name="blk1"/>
          <p:cNvSpPr/>
          <p:nvPr/>
        </p:nvSpPr>
        <p:spPr>
          <a:xfrm>
            <a:off x="603504" y="2606040"/>
            <a:ext cx="3511296" cy="3127248"/>
          </a:xfrm>
          <a:prstGeom prst="roundRect">
            <a:avLst>
              <a:gd name="adj" fmla="val 263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8" name="blk1"/>
          <p:cNvSpPr/>
          <p:nvPr/>
        </p:nvSpPr>
        <p:spPr>
          <a:xfrm>
            <a:off x="877824" y="2898648"/>
            <a:ext cx="676656" cy="676656"/>
          </a:xfrm>
          <a:prstGeom prst="ellipse">
            <a:avLst/>
          </a:prstGeom>
          <a:solidFill>
            <a:srgbClr val="E8EDF6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" name="blk1"/>
          <p:cNvSpPr/>
          <p:nvPr/>
        </p:nvSpPr>
        <p:spPr>
          <a:xfrm>
            <a:off x="877824" y="289864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B5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FP</a:t>
            </a:r>
            <a:endParaRPr lang="en-US" sz="1350" dirty="0"/>
          </a:p>
        </p:txBody>
      </p:sp>
      <p:sp>
        <p:nvSpPr>
          <p:cNvPr id="10" name="blk1"/>
          <p:cNvSpPr/>
          <p:nvPr/>
        </p:nvSpPr>
        <p:spPr>
          <a:xfrm>
            <a:off x="1719072" y="295351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Fritz Perls</a:t>
            </a:r>
            <a:endParaRPr lang="en-US" sz="1500" dirty="0"/>
          </a:p>
        </p:txBody>
      </p:sp>
      <p:sp>
        <p:nvSpPr>
          <p:cNvPr id="11" name="blk1"/>
          <p:cNvSpPr/>
          <p:nvPr/>
        </p:nvSpPr>
        <p:spPr>
          <a:xfrm>
            <a:off x="1719072" y="330098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5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1893–1970</a:t>
            </a:r>
            <a:endParaRPr lang="en-US" sz="1100" dirty="0"/>
          </a:p>
        </p:txBody>
      </p:sp>
      <p:sp>
        <p:nvSpPr>
          <p:cNvPr id="12" name="blk1"/>
          <p:cNvSpPr/>
          <p:nvPr/>
        </p:nvSpPr>
        <p:spPr>
          <a:xfrm>
            <a:off x="877824" y="3776472"/>
            <a:ext cx="2962656" cy="11887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13" name="blk1"/>
          <p:cNvSpPr/>
          <p:nvPr/>
        </p:nvSpPr>
        <p:spPr>
          <a:xfrm>
            <a:off x="877824" y="3922776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Major founder</a:t>
            </a:r>
            <a:endParaRPr lang="en-US" sz="1200" dirty="0"/>
          </a:p>
        </p:txBody>
      </p:sp>
      <p:sp>
        <p:nvSpPr>
          <p:cNvPr id="14" name="blk1"/>
          <p:cNvSpPr/>
          <p:nvPr/>
        </p:nvSpPr>
        <p:spPr>
          <a:xfrm>
            <a:off x="877824" y="454456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Awareness, experience and responsibility</a:t>
            </a:r>
            <a:endParaRPr lang="en-US" sz="1200" dirty="0"/>
          </a:p>
        </p:txBody>
      </p:sp>
      <p:sp>
        <p:nvSpPr>
          <p:cNvPr id="15" name="blk2"/>
          <p:cNvSpPr/>
          <p:nvPr/>
        </p:nvSpPr>
        <p:spPr>
          <a:xfrm>
            <a:off x="4343400" y="2880360"/>
            <a:ext cx="3511296" cy="3127248"/>
          </a:xfrm>
          <a:prstGeom prst="roundRect">
            <a:avLst>
              <a:gd name="adj" fmla="val 263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7" name="blk2"/>
          <p:cNvSpPr/>
          <p:nvPr/>
        </p:nvSpPr>
        <p:spPr>
          <a:xfrm>
            <a:off x="4617720" y="3172968"/>
            <a:ext cx="676656" cy="676656"/>
          </a:xfrm>
          <a:prstGeom prst="ellipse">
            <a:avLst/>
          </a:prstGeom>
          <a:solidFill>
            <a:srgbClr val="E8EDF6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blk2"/>
          <p:cNvSpPr/>
          <p:nvPr/>
        </p:nvSpPr>
        <p:spPr>
          <a:xfrm>
            <a:off x="4617720" y="317296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B5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LP</a:t>
            </a:r>
            <a:endParaRPr lang="en-US" sz="1350" dirty="0"/>
          </a:p>
        </p:txBody>
      </p:sp>
      <p:sp>
        <p:nvSpPr>
          <p:cNvPr id="19" name="blk2"/>
          <p:cNvSpPr/>
          <p:nvPr/>
        </p:nvSpPr>
        <p:spPr>
          <a:xfrm>
            <a:off x="5458968" y="322783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Laura Perls</a:t>
            </a:r>
            <a:endParaRPr lang="en-US" sz="1500" dirty="0"/>
          </a:p>
        </p:txBody>
      </p:sp>
      <p:sp>
        <p:nvSpPr>
          <p:cNvPr id="20" name="blk2"/>
          <p:cNvSpPr/>
          <p:nvPr/>
        </p:nvSpPr>
        <p:spPr>
          <a:xfrm>
            <a:off x="5458968" y="357530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5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1905–1990</a:t>
            </a:r>
            <a:endParaRPr lang="en-US" sz="1100" dirty="0"/>
          </a:p>
        </p:txBody>
      </p:sp>
      <p:sp>
        <p:nvSpPr>
          <p:cNvPr id="21" name="blk2"/>
          <p:cNvSpPr/>
          <p:nvPr/>
        </p:nvSpPr>
        <p:spPr>
          <a:xfrm>
            <a:off x="4617720" y="4050792"/>
            <a:ext cx="2962656" cy="11887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22" name="blk2"/>
          <p:cNvSpPr/>
          <p:nvPr/>
        </p:nvSpPr>
        <p:spPr>
          <a:xfrm>
            <a:off x="4617720" y="4197096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Major contributor</a:t>
            </a:r>
            <a:endParaRPr lang="en-US" sz="1200" dirty="0"/>
          </a:p>
        </p:txBody>
      </p:sp>
      <p:sp>
        <p:nvSpPr>
          <p:cNvPr id="23" name="blk2"/>
          <p:cNvSpPr/>
          <p:nvPr/>
        </p:nvSpPr>
        <p:spPr>
          <a:xfrm>
            <a:off x="4617720" y="481888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Contact, relationship and embodied experience</a:t>
            </a:r>
            <a:endParaRPr lang="en-US" sz="1200" dirty="0"/>
          </a:p>
        </p:txBody>
      </p:sp>
      <p:sp>
        <p:nvSpPr>
          <p:cNvPr id="24" name="blk3"/>
          <p:cNvSpPr/>
          <p:nvPr/>
        </p:nvSpPr>
        <p:spPr>
          <a:xfrm>
            <a:off x="8083296" y="2606040"/>
            <a:ext cx="3511296" cy="3127248"/>
          </a:xfrm>
          <a:prstGeom prst="roundRect">
            <a:avLst>
              <a:gd name="adj" fmla="val 263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26" name="blk3"/>
          <p:cNvSpPr/>
          <p:nvPr/>
        </p:nvSpPr>
        <p:spPr>
          <a:xfrm>
            <a:off x="8357616" y="2898648"/>
            <a:ext cx="676656" cy="676656"/>
          </a:xfrm>
          <a:prstGeom prst="ellipse">
            <a:avLst/>
          </a:prstGeom>
          <a:solidFill>
            <a:srgbClr val="E8EDF6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7" name="blk3"/>
          <p:cNvSpPr/>
          <p:nvPr/>
        </p:nvSpPr>
        <p:spPr>
          <a:xfrm>
            <a:off x="8357616" y="289864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B5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PG</a:t>
            </a:r>
            <a:endParaRPr lang="en-US" sz="1350" dirty="0"/>
          </a:p>
        </p:txBody>
      </p:sp>
      <p:sp>
        <p:nvSpPr>
          <p:cNvPr id="28" name="blk3"/>
          <p:cNvSpPr/>
          <p:nvPr/>
        </p:nvSpPr>
        <p:spPr>
          <a:xfrm>
            <a:off x="9198864" y="295351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Paul Goodman</a:t>
            </a:r>
            <a:endParaRPr lang="en-US" sz="1500" dirty="0"/>
          </a:p>
        </p:txBody>
      </p:sp>
      <p:sp>
        <p:nvSpPr>
          <p:cNvPr id="29" name="blk3"/>
          <p:cNvSpPr/>
          <p:nvPr/>
        </p:nvSpPr>
        <p:spPr>
          <a:xfrm>
            <a:off x="9198864" y="330098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5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1911–1972</a:t>
            </a:r>
            <a:endParaRPr lang="en-US" sz="1100" dirty="0"/>
          </a:p>
        </p:txBody>
      </p:sp>
      <p:sp>
        <p:nvSpPr>
          <p:cNvPr id="30" name="blk3"/>
          <p:cNvSpPr/>
          <p:nvPr/>
        </p:nvSpPr>
        <p:spPr>
          <a:xfrm>
            <a:off x="8357616" y="3776472"/>
            <a:ext cx="2962656" cy="11887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31" name="blk3"/>
          <p:cNvSpPr/>
          <p:nvPr/>
        </p:nvSpPr>
        <p:spPr>
          <a:xfrm>
            <a:off x="8357616" y="3922776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Co-author of Gestalt Therapy (1951)</a:t>
            </a:r>
            <a:endParaRPr lang="en-US" sz="1200" dirty="0"/>
          </a:p>
        </p:txBody>
      </p:sp>
      <p:sp>
        <p:nvSpPr>
          <p:cNvPr id="32" name="blk3"/>
          <p:cNvSpPr/>
          <p:nvPr/>
        </p:nvSpPr>
        <p:spPr>
          <a:xfrm>
            <a:off x="8357616" y="454456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Major contributor to theoretical formulation</a:t>
            </a:r>
            <a:endParaRPr lang="en-US" sz="1200" dirty="0"/>
          </a:p>
        </p:txBody>
      </p:sp>
      <p:sp>
        <p:nvSpPr>
          <p:cNvPr id="33" name="blk4"/>
          <p:cNvSpPr/>
          <p:nvPr/>
        </p:nvSpPr>
        <p:spPr>
          <a:xfrm>
            <a:off x="603504" y="6080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Woldt &amp; Toman, 2005)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nodeType="after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0" presetClass="entr" presetSubtype="0" fill="hold" nodeType="after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rid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Core Assumptions of Gestalt Therapy</a:t>
            </a:r>
            <a:endParaRPr lang="en-US" sz="2600" dirty="0"/>
          </a:p>
        </p:txBody>
      </p:sp>
      <p:sp>
        <p:nvSpPr>
          <p:cNvPr id="5" name="blk1"/>
          <p:cNvSpPr/>
          <p:nvPr/>
        </p:nvSpPr>
        <p:spPr>
          <a:xfrm>
            <a:off x="603504" y="1737360"/>
            <a:ext cx="3840480" cy="4160520"/>
          </a:xfrm>
          <a:prstGeom prst="roundRect">
            <a:avLst>
              <a:gd name="adj" fmla="val 2143"/>
            </a:avLst>
          </a:prstGeom>
          <a:solidFill>
            <a:srgbClr val="162B57">
              <a:alpha val="91000"/>
            </a:srgbClr>
          </a:solidFill>
          <a:ln w="12700">
            <a:solidFill>
              <a:srgbClr val="162B57"/>
            </a:solidFill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6" name="blk1"/>
          <p:cNvSpPr/>
          <p:nvPr/>
        </p:nvSpPr>
        <p:spPr>
          <a:xfrm>
            <a:off x="841248" y="22860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blk1"/>
          <p:cNvSpPr/>
          <p:nvPr/>
        </p:nvSpPr>
        <p:spPr>
          <a:xfrm>
            <a:off x="1389888" y="22860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People are best understood as whole persons</a:t>
            </a:r>
            <a:endParaRPr lang="en-US" sz="1400" dirty="0"/>
          </a:p>
        </p:txBody>
      </p:sp>
      <p:sp>
        <p:nvSpPr>
          <p:cNvPr id="8" name="blk1"/>
          <p:cNvSpPr/>
          <p:nvPr/>
        </p:nvSpPr>
        <p:spPr>
          <a:xfrm>
            <a:off x="841248" y="2999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blk1"/>
          <p:cNvSpPr/>
          <p:nvPr/>
        </p:nvSpPr>
        <p:spPr>
          <a:xfrm>
            <a:off x="1389888" y="29992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Human experience is influenced by the environment</a:t>
            </a:r>
            <a:endParaRPr lang="en-US" sz="1400" dirty="0"/>
          </a:p>
        </p:txBody>
      </p:sp>
      <p:sp>
        <p:nvSpPr>
          <p:cNvPr id="10" name="blk1"/>
          <p:cNvSpPr/>
          <p:nvPr/>
        </p:nvSpPr>
        <p:spPr>
          <a:xfrm>
            <a:off x="841248" y="37124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blk1"/>
          <p:cNvSpPr/>
          <p:nvPr/>
        </p:nvSpPr>
        <p:spPr>
          <a:xfrm>
            <a:off x="1389888" y="371246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Awareness is central to psychological growth</a:t>
            </a:r>
            <a:endParaRPr lang="en-US" sz="1400" dirty="0"/>
          </a:p>
        </p:txBody>
      </p:sp>
      <p:sp>
        <p:nvSpPr>
          <p:cNvPr id="12" name="blk1"/>
          <p:cNvSpPr/>
          <p:nvPr/>
        </p:nvSpPr>
        <p:spPr>
          <a:xfrm>
            <a:off x="841248" y="44256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blk1"/>
          <p:cNvSpPr/>
          <p:nvPr/>
        </p:nvSpPr>
        <p:spPr>
          <a:xfrm>
            <a:off x="1389888" y="44256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Experience unfolds in the present</a:t>
            </a:r>
            <a:endParaRPr lang="en-US" sz="1400" dirty="0"/>
          </a:p>
        </p:txBody>
      </p:sp>
      <p:sp>
        <p:nvSpPr>
          <p:cNvPr id="14" name="blk2"/>
          <p:cNvSpPr/>
          <p:nvPr/>
        </p:nvSpPr>
        <p:spPr>
          <a:xfrm>
            <a:off x="4681728" y="2087167"/>
            <a:ext cx="3291840" cy="3794760"/>
          </a:xfrm>
          <a:prstGeom prst="roundRect">
            <a:avLst>
              <a:gd name="adj" fmla="val 2500"/>
            </a:avLst>
          </a:prstGeom>
          <a:solidFill>
            <a:srgbClr val="162B57">
              <a:alpha val="91000"/>
            </a:srgbClr>
          </a:solidFill>
          <a:ln w="12700">
            <a:solidFill>
              <a:srgbClr val="162B57"/>
            </a:solidFill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15" name="blk2"/>
          <p:cNvSpPr/>
          <p:nvPr/>
        </p:nvSpPr>
        <p:spPr>
          <a:xfrm>
            <a:off x="4864608" y="26334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600" dirty="0"/>
          </a:p>
        </p:txBody>
      </p:sp>
      <p:sp>
        <p:nvSpPr>
          <p:cNvPr id="16" name="blk2"/>
          <p:cNvSpPr/>
          <p:nvPr/>
        </p:nvSpPr>
        <p:spPr>
          <a:xfrm>
            <a:off x="5413248" y="26334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People have capacity for choice and self-regulation</a:t>
            </a:r>
            <a:endParaRPr lang="en-US" sz="1400" dirty="0"/>
          </a:p>
        </p:txBody>
      </p:sp>
      <p:sp>
        <p:nvSpPr>
          <p:cNvPr id="17" name="blk2"/>
          <p:cNvSpPr/>
          <p:nvPr/>
        </p:nvSpPr>
        <p:spPr>
          <a:xfrm>
            <a:off x="4864608" y="33467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1600" dirty="0"/>
          </a:p>
        </p:txBody>
      </p:sp>
      <p:sp>
        <p:nvSpPr>
          <p:cNvPr id="18" name="blk2"/>
          <p:cNvSpPr/>
          <p:nvPr/>
        </p:nvSpPr>
        <p:spPr>
          <a:xfrm>
            <a:off x="5413248" y="33467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Healthy functioning involves meaningful contact</a:t>
            </a:r>
            <a:endParaRPr lang="en-US" sz="1400" dirty="0"/>
          </a:p>
        </p:txBody>
      </p:sp>
      <p:sp>
        <p:nvSpPr>
          <p:cNvPr id="19" name="blk2"/>
          <p:cNvSpPr/>
          <p:nvPr/>
        </p:nvSpPr>
        <p:spPr>
          <a:xfrm>
            <a:off x="4864608" y="4059936"/>
            <a:ext cx="420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07</a:t>
            </a:r>
            <a:endParaRPr lang="en-US" sz="1600" dirty="0"/>
          </a:p>
        </p:txBody>
      </p:sp>
      <p:sp>
        <p:nvSpPr>
          <p:cNvPr id="20" name="blk2"/>
          <p:cNvSpPr/>
          <p:nvPr/>
        </p:nvSpPr>
        <p:spPr>
          <a:xfrm>
            <a:off x="5413248" y="4023360"/>
            <a:ext cx="23408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Psychological difficulties may involve interruptions in awareness or contact</a:t>
            </a:r>
            <a:endParaRPr lang="en-US" sz="1400" dirty="0"/>
          </a:p>
        </p:txBody>
      </p:sp>
      <p:pic>
        <p:nvPicPr>
          <p:cNvPr id="21" name="img" descr="/home/user/Business-e-books/presentations/gestalt-theory-counselling/assets/h-hand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1737360"/>
            <a:ext cx="3474720" cy="4160520"/>
          </a:xfrm>
          <a:prstGeom prst="roundRect">
            <a:avLst>
              <a:gd name="adj" fmla="val 5000"/>
            </a:avLst>
          </a:prstGeom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pic>
      <p:sp>
        <p:nvSpPr>
          <p:cNvPr id="22" name="blk3"/>
          <p:cNvSpPr/>
          <p:nvPr/>
        </p:nvSpPr>
        <p:spPr>
          <a:xfrm>
            <a:off x="603504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Brownell, 2010; Joyce &amp; Sills, 2014)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0" presetClass="entr" presetSubtype="0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fo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Awareness</a:t>
            </a:r>
            <a:endParaRPr lang="en-US" sz="4400" dirty="0"/>
          </a:p>
        </p:txBody>
      </p:sp>
      <p:sp>
        <p:nvSpPr>
          <p:cNvPr id="5" name="blk1"/>
          <p:cNvSpPr/>
          <p:nvPr/>
        </p:nvSpPr>
        <p:spPr>
          <a:xfrm>
            <a:off x="603504" y="162763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Central concept in Gestalt therapy</a:t>
            </a:r>
            <a:endParaRPr lang="en-US" sz="1450" dirty="0"/>
          </a:p>
        </p:txBody>
      </p:sp>
      <p:sp>
        <p:nvSpPr>
          <p:cNvPr id="6" name="blk2"/>
          <p:cNvSpPr/>
          <p:nvPr/>
        </p:nvSpPr>
        <p:spPr>
          <a:xfrm>
            <a:off x="603504" y="2157984"/>
            <a:ext cx="6903720" cy="1481328"/>
          </a:xfrm>
          <a:prstGeom prst="roundRect">
            <a:avLst>
              <a:gd name="adj" fmla="val 555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7" name="blk2"/>
          <p:cNvSpPr/>
          <p:nvPr/>
        </p:nvSpPr>
        <p:spPr>
          <a:xfrm>
            <a:off x="841248" y="23042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NOTICING</a:t>
            </a:r>
            <a:endParaRPr lang="en-US" sz="900" dirty="0"/>
          </a:p>
        </p:txBody>
      </p:sp>
      <p:sp>
        <p:nvSpPr>
          <p:cNvPr id="8" name="blk2"/>
          <p:cNvSpPr/>
          <p:nvPr/>
        </p:nvSpPr>
        <p:spPr>
          <a:xfrm>
            <a:off x="841248" y="2688336"/>
            <a:ext cx="1207008" cy="475488"/>
          </a:xfrm>
          <a:prstGeom prst="roundRect">
            <a:avLst>
              <a:gd name="adj" fmla="val 11538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Thoughts</a:t>
            </a:r>
            <a:endParaRPr lang="en-US" sz="1400" dirty="0"/>
          </a:p>
        </p:txBody>
      </p:sp>
      <p:sp>
        <p:nvSpPr>
          <p:cNvPr id="9" name="blk2"/>
          <p:cNvSpPr/>
          <p:nvPr/>
        </p:nvSpPr>
        <p:spPr>
          <a:xfrm>
            <a:off x="2139696" y="2688336"/>
            <a:ext cx="1207008" cy="475488"/>
          </a:xfrm>
          <a:prstGeom prst="roundRect">
            <a:avLst>
              <a:gd name="adj" fmla="val 11538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Feelings</a:t>
            </a:r>
            <a:endParaRPr lang="en-US" sz="1400" dirty="0"/>
          </a:p>
        </p:txBody>
      </p:sp>
      <p:sp>
        <p:nvSpPr>
          <p:cNvPr id="10" name="blk2"/>
          <p:cNvSpPr/>
          <p:nvPr/>
        </p:nvSpPr>
        <p:spPr>
          <a:xfrm>
            <a:off x="3438144" y="2688336"/>
            <a:ext cx="1207008" cy="475488"/>
          </a:xfrm>
          <a:prstGeom prst="roundRect">
            <a:avLst>
              <a:gd name="adj" fmla="val 11538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Bodily sensations</a:t>
            </a:r>
            <a:endParaRPr lang="en-US" sz="1400" dirty="0"/>
          </a:p>
        </p:txBody>
      </p:sp>
      <p:sp>
        <p:nvSpPr>
          <p:cNvPr id="11" name="blk2"/>
          <p:cNvSpPr/>
          <p:nvPr/>
        </p:nvSpPr>
        <p:spPr>
          <a:xfrm>
            <a:off x="4736592" y="2688336"/>
            <a:ext cx="1207008" cy="475488"/>
          </a:xfrm>
          <a:prstGeom prst="roundRect">
            <a:avLst>
              <a:gd name="adj" fmla="val 11538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Behaviour</a:t>
            </a:r>
            <a:endParaRPr lang="en-US" sz="1400" dirty="0"/>
          </a:p>
        </p:txBody>
      </p:sp>
      <p:sp>
        <p:nvSpPr>
          <p:cNvPr id="12" name="blk2"/>
          <p:cNvSpPr/>
          <p:nvPr/>
        </p:nvSpPr>
        <p:spPr>
          <a:xfrm>
            <a:off x="6035040" y="2688336"/>
            <a:ext cx="1207008" cy="475488"/>
          </a:xfrm>
          <a:prstGeom prst="roundRect">
            <a:avLst>
              <a:gd name="adj" fmla="val 11538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Needs</a:t>
            </a:r>
            <a:endParaRPr lang="en-US" sz="1400" dirty="0"/>
          </a:p>
        </p:txBody>
      </p:sp>
      <p:sp>
        <p:nvSpPr>
          <p:cNvPr id="13" name="blk3"/>
          <p:cNvSpPr/>
          <p:nvPr/>
        </p:nvSpPr>
        <p:spPr>
          <a:xfrm>
            <a:off x="603504" y="3877056"/>
            <a:ext cx="6903720" cy="2029968"/>
          </a:xfrm>
          <a:prstGeom prst="roundRect">
            <a:avLst>
              <a:gd name="adj" fmla="val 405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4" name="blk3"/>
          <p:cNvSpPr/>
          <p:nvPr/>
        </p:nvSpPr>
        <p:spPr>
          <a:xfrm>
            <a:off x="841248" y="4041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PROCESS</a:t>
            </a:r>
            <a:endParaRPr lang="en-US" sz="900" dirty="0"/>
          </a:p>
        </p:txBody>
      </p:sp>
      <p:sp>
        <p:nvSpPr>
          <p:cNvPr id="15" name="blk3"/>
          <p:cNvSpPr/>
          <p:nvPr/>
        </p:nvSpPr>
        <p:spPr>
          <a:xfrm>
            <a:off x="859536" y="4416552"/>
            <a:ext cx="109728" cy="109728"/>
          </a:xfrm>
          <a:prstGeom prst="rect">
            <a:avLst/>
          </a:prstGeom>
          <a:solidFill>
            <a:srgbClr val="8097BE"/>
          </a:solidFill>
          <a:ln/>
        </p:spPr>
      </p:sp>
      <p:sp>
        <p:nvSpPr>
          <p:cNvPr id="16" name="blk3"/>
          <p:cNvSpPr/>
          <p:nvPr/>
        </p:nvSpPr>
        <p:spPr>
          <a:xfrm>
            <a:off x="1078992" y="43068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Focuses on present experience</a:t>
            </a:r>
            <a:endParaRPr lang="en-US" sz="1200" dirty="0"/>
          </a:p>
        </p:txBody>
      </p:sp>
      <p:sp>
        <p:nvSpPr>
          <p:cNvPr id="17" name="blk3"/>
          <p:cNvSpPr/>
          <p:nvPr/>
        </p:nvSpPr>
        <p:spPr>
          <a:xfrm>
            <a:off x="4288536" y="4416552"/>
            <a:ext cx="109728" cy="109728"/>
          </a:xfrm>
          <a:prstGeom prst="rect">
            <a:avLst/>
          </a:prstGeom>
          <a:solidFill>
            <a:srgbClr val="8097BE"/>
          </a:solidFill>
          <a:ln/>
        </p:spPr>
      </p:sp>
      <p:sp>
        <p:nvSpPr>
          <p:cNvPr id="18" name="blk3"/>
          <p:cNvSpPr/>
          <p:nvPr/>
        </p:nvSpPr>
        <p:spPr>
          <a:xfrm>
            <a:off x="4507992" y="43068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Creates opportunities for choice and change</a:t>
            </a:r>
            <a:endParaRPr lang="en-US" sz="1200" dirty="0"/>
          </a:p>
        </p:txBody>
      </p:sp>
      <p:sp>
        <p:nvSpPr>
          <p:cNvPr id="19" name="blk3"/>
          <p:cNvSpPr/>
          <p:nvPr/>
        </p:nvSpPr>
        <p:spPr>
          <a:xfrm>
            <a:off x="1548819" y="4946904"/>
            <a:ext cx="1532709" cy="603504"/>
          </a:xfrm>
          <a:prstGeom prst="roundRect">
            <a:avLst>
              <a:gd name="adj" fmla="val 9091"/>
            </a:avLst>
          </a:prstGeom>
          <a:solidFill>
            <a:srgbClr val="0A1937"/>
          </a:solidFill>
          <a:ln>
            <a:solidFill>
              <a:srgbClr val="0A193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AWARENESS</a:t>
            </a:r>
            <a:endParaRPr lang="en-US" sz="1250" dirty="0"/>
          </a:p>
        </p:txBody>
      </p:sp>
      <p:sp>
        <p:nvSpPr>
          <p:cNvPr id="20" name="blk3"/>
          <p:cNvSpPr/>
          <p:nvPr/>
        </p:nvSpPr>
        <p:spPr>
          <a:xfrm>
            <a:off x="3127248" y="4956048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17E9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blk3"/>
          <p:cNvSpPr/>
          <p:nvPr/>
        </p:nvSpPr>
        <p:spPr>
          <a:xfrm>
            <a:off x="3675888" y="4956048"/>
            <a:ext cx="1737360" cy="603504"/>
          </a:xfrm>
          <a:prstGeom prst="roundRect">
            <a:avLst>
              <a:gd name="adj" fmla="val 9091"/>
            </a:avLst>
          </a:prstGeom>
          <a:solidFill>
            <a:srgbClr val="162B57"/>
          </a:solidFill>
          <a:ln>
            <a:solidFill>
              <a:srgbClr val="162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CHOICE</a:t>
            </a:r>
            <a:endParaRPr lang="en-US" sz="1250" dirty="0"/>
          </a:p>
        </p:txBody>
      </p:sp>
      <p:sp>
        <p:nvSpPr>
          <p:cNvPr id="22" name="blk3"/>
          <p:cNvSpPr/>
          <p:nvPr/>
        </p:nvSpPr>
        <p:spPr>
          <a:xfrm>
            <a:off x="5458968" y="4956048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17E9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blk3"/>
          <p:cNvSpPr/>
          <p:nvPr/>
        </p:nvSpPr>
        <p:spPr>
          <a:xfrm>
            <a:off x="6005468" y="4956048"/>
            <a:ext cx="1298448" cy="603504"/>
          </a:xfrm>
          <a:prstGeom prst="roundRect">
            <a:avLst>
              <a:gd name="adj" fmla="val 9091"/>
            </a:avLst>
          </a:prstGeom>
          <a:solidFill>
            <a:srgbClr val="8097BE"/>
          </a:solidFill>
          <a:ln>
            <a:solidFill>
              <a:srgbClr val="8097B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93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CHANGE</a:t>
            </a:r>
            <a:endParaRPr lang="en-US" sz="1250" dirty="0"/>
          </a:p>
        </p:txBody>
      </p:sp>
      <p:pic>
        <p:nvPicPr>
          <p:cNvPr id="24" name="img" descr="/home/user/Business-e-books/presentations/gestalt-theory-counselling/assets/h-medita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591056"/>
            <a:ext cx="3803904" cy="4261104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25" name="blk4"/>
          <p:cNvSpPr/>
          <p:nvPr/>
        </p:nvSpPr>
        <p:spPr>
          <a:xfrm>
            <a:off x="603504" y="5989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Joyce &amp; Sills, 2014)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after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0" presetClass="entr" presetSubtype="0" fill="hold" nodeType="after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fo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Here-and-Now</a:t>
            </a:r>
            <a:endParaRPr lang="en-US" sz="26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7" name="blk1"/>
          <p:cNvSpPr/>
          <p:nvPr/>
        </p:nvSpPr>
        <p:spPr>
          <a:xfrm>
            <a:off x="822960" y="1810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FOCUS</a:t>
            </a:r>
            <a:endParaRPr lang="en-US" sz="900" dirty="0"/>
          </a:p>
        </p:txBody>
      </p:sp>
      <p:sp>
        <p:nvSpPr>
          <p:cNvPr id="8" name="blk1"/>
          <p:cNvSpPr/>
          <p:nvPr/>
        </p:nvSpPr>
        <p:spPr>
          <a:xfrm>
            <a:off x="822960" y="213969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Focuses on the client's present experience</a:t>
            </a:r>
            <a:endParaRPr lang="en-US" sz="2000" dirty="0"/>
          </a:p>
        </p:txBody>
      </p:sp>
      <p:sp>
        <p:nvSpPr>
          <p:cNvPr id="9" name="blk1"/>
          <p:cNvSpPr/>
          <p:nvPr/>
        </p:nvSpPr>
        <p:spPr>
          <a:xfrm>
            <a:off x="822960" y="290779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59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Includes thoughts, emotions, bodily sensations and behaviour</a:t>
            </a:r>
            <a:endParaRPr lang="en-US" sz="1600" dirty="0"/>
          </a:p>
        </p:txBody>
      </p:sp>
      <p:sp>
        <p:nvSpPr>
          <p:cNvPr id="10" name="blk2"/>
          <p:cNvSpPr/>
          <p:nvPr/>
        </p:nvSpPr>
        <p:spPr>
          <a:xfrm>
            <a:off x="914400" y="4059936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2" name="blk2"/>
          <p:cNvSpPr/>
          <p:nvPr/>
        </p:nvSpPr>
        <p:spPr>
          <a:xfrm>
            <a:off x="1133856" y="42793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PAST</a:t>
            </a:r>
            <a:endParaRPr lang="en-US" sz="900" dirty="0"/>
          </a:p>
        </p:txBody>
      </p:sp>
      <p:sp>
        <p:nvSpPr>
          <p:cNvPr id="13" name="blk2"/>
          <p:cNvSpPr/>
          <p:nvPr/>
        </p:nvSpPr>
        <p:spPr>
          <a:xfrm>
            <a:off x="1133856" y="4608576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Past experiences are explored through their current impact</a:t>
            </a:r>
            <a:endParaRPr lang="en-US" dirty="0"/>
          </a:p>
        </p:txBody>
      </p:sp>
      <p:sp>
        <p:nvSpPr>
          <p:cNvPr id="14" name="blk3"/>
          <p:cNvSpPr/>
          <p:nvPr/>
        </p:nvSpPr>
        <p:spPr>
          <a:xfrm>
            <a:off x="4526280" y="1591056"/>
            <a:ext cx="3108960" cy="4297680"/>
          </a:xfrm>
          <a:prstGeom prst="roundRect">
            <a:avLst>
              <a:gd name="adj" fmla="val 264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5" name="blk3"/>
          <p:cNvSpPr/>
          <p:nvPr/>
        </p:nvSpPr>
        <p:spPr>
          <a:xfrm>
            <a:off x="4764024" y="1810512"/>
            <a:ext cx="2651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Encourages </a:t>
            </a:r>
            <a:r>
              <a:rPr lang="en-US" b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direct experience</a:t>
            </a:r>
            <a:r>
              <a:rPr lang="en-US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rather than excessive intellectual analysis</a:t>
            </a:r>
            <a:endParaRPr lang="en-US" dirty="0"/>
          </a:p>
          <a:p>
            <a:pPr marL="285750" indent="-285750">
              <a:lnSpc>
                <a:spcPct val="13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therapeutic relationship provides an opportunity for </a:t>
            </a:r>
            <a:r>
              <a:rPr lang="en-US" b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present-moment awareness</a:t>
            </a:r>
            <a:endParaRPr lang="en-US" dirty="0"/>
          </a:p>
        </p:txBody>
      </p:sp>
      <p:pic>
        <p:nvPicPr>
          <p:cNvPr id="16" name="img" descr="/home/user/Business-e-books/presentations/gestalt-theory-counselling/assets/h-windo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591056"/>
            <a:ext cx="3803904" cy="4261104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17" name="blk3"/>
          <p:cNvSpPr/>
          <p:nvPr/>
        </p:nvSpPr>
        <p:spPr>
          <a:xfrm>
            <a:off x="4526280" y="5989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Brownell, 2010)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0" presetClass="entr" presetSubtype="0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fo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Figure and Ground</a:t>
            </a:r>
            <a:endParaRPr lang="en-US" sz="48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4846320" cy="4114800"/>
          </a:xfrm>
          <a:prstGeom prst="roundRect">
            <a:avLst>
              <a:gd name="adj" fmla="val 2000"/>
            </a:avLst>
          </a:prstGeom>
          <a:noFill/>
          <a:ln w="12700">
            <a:noFill/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6" name="blk1"/>
          <p:cNvSpPr/>
          <p:nvPr/>
        </p:nvSpPr>
        <p:spPr>
          <a:xfrm>
            <a:off x="1037844" y="1659636"/>
            <a:ext cx="3977640" cy="3977640"/>
          </a:xfrm>
          <a:prstGeom prst="ellipse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blk1"/>
          <p:cNvSpPr/>
          <p:nvPr/>
        </p:nvSpPr>
        <p:spPr>
          <a:xfrm>
            <a:off x="1403604" y="2025396"/>
            <a:ext cx="3246120" cy="3246120"/>
          </a:xfrm>
          <a:prstGeom prst="ellipse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blk1"/>
          <p:cNvSpPr/>
          <p:nvPr/>
        </p:nvSpPr>
        <p:spPr>
          <a:xfrm>
            <a:off x="1723644" y="2345436"/>
            <a:ext cx="2606040" cy="2606040"/>
          </a:xfrm>
          <a:prstGeom prst="ellipse">
            <a:avLst/>
          </a:prstGeom>
          <a:solidFill>
            <a:srgbClr val="0A1937">
              <a:alpha val="0"/>
            </a:srgb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blk1"/>
          <p:cNvSpPr/>
          <p:nvPr/>
        </p:nvSpPr>
        <p:spPr>
          <a:xfrm>
            <a:off x="2249424" y="2871216"/>
            <a:ext cx="1554480" cy="1554480"/>
          </a:xfrm>
          <a:prstGeom prst="ellips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blk1"/>
          <p:cNvSpPr/>
          <p:nvPr/>
        </p:nvSpPr>
        <p:spPr>
          <a:xfrm>
            <a:off x="2249424" y="45171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22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FIGURE</a:t>
            </a:r>
            <a:endParaRPr lang="en-US" dirty="0"/>
          </a:p>
        </p:txBody>
      </p:sp>
      <p:sp>
        <p:nvSpPr>
          <p:cNvPr id="11" name="blk1"/>
          <p:cNvSpPr/>
          <p:nvPr/>
        </p:nvSpPr>
        <p:spPr>
          <a:xfrm>
            <a:off x="423899" y="5345933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20" dirty="0">
                <a:solidFill>
                  <a:srgbClr val="AAB7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GROUND</a:t>
            </a:r>
            <a:endParaRPr lang="en-US" sz="2400" dirty="0"/>
          </a:p>
        </p:txBody>
      </p:sp>
      <p:sp>
        <p:nvSpPr>
          <p:cNvPr id="12" name="blk1"/>
          <p:cNvSpPr/>
          <p:nvPr/>
        </p:nvSpPr>
        <p:spPr>
          <a:xfrm>
            <a:off x="603504" y="5833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element steps forward as figure against a ground of context</a:t>
            </a:r>
            <a:r>
              <a:rPr lang="en-US" sz="90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</a:t>
            </a:r>
            <a:endParaRPr lang="en-US" sz="900" dirty="0"/>
          </a:p>
        </p:txBody>
      </p:sp>
      <p:sp>
        <p:nvSpPr>
          <p:cNvPr id="13" name="blk2"/>
          <p:cNvSpPr/>
          <p:nvPr/>
        </p:nvSpPr>
        <p:spPr>
          <a:xfrm>
            <a:off x="5760720" y="1591056"/>
            <a:ext cx="5824728" cy="950976"/>
          </a:xfrm>
          <a:prstGeom prst="roundRect">
            <a:avLst>
              <a:gd name="adj" fmla="val 8654"/>
            </a:avLst>
          </a:prstGeom>
          <a:noFill/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5" name="blk2"/>
          <p:cNvSpPr/>
          <p:nvPr/>
        </p:nvSpPr>
        <p:spPr>
          <a:xfrm>
            <a:off x="6016752" y="17190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50" dirty="0">
                <a:solidFill>
                  <a:schemeClr val="bg2">
                    <a:lumMod val="90000"/>
                  </a:scheme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FIGURE</a:t>
            </a:r>
            <a:endParaRPr lang="en-US" sz="20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6" name="blk2"/>
          <p:cNvSpPr/>
          <p:nvPr/>
        </p:nvSpPr>
        <p:spPr>
          <a:xfrm>
            <a:off x="6016752" y="206654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is most prominent in awareness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7" name="blk2"/>
          <p:cNvSpPr/>
          <p:nvPr/>
        </p:nvSpPr>
        <p:spPr>
          <a:xfrm>
            <a:off x="5760720" y="2578608"/>
            <a:ext cx="5824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blk2"/>
          <p:cNvSpPr/>
          <p:nvPr/>
        </p:nvSpPr>
        <p:spPr>
          <a:xfrm>
            <a:off x="5760720" y="2999232"/>
            <a:ext cx="5824728" cy="950976"/>
          </a:xfrm>
          <a:prstGeom prst="roundRect">
            <a:avLst>
              <a:gd name="adj" fmla="val 8654"/>
            </a:avLst>
          </a:prstGeom>
          <a:noFill/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20" name="blk2"/>
          <p:cNvSpPr/>
          <p:nvPr/>
        </p:nvSpPr>
        <p:spPr>
          <a:xfrm>
            <a:off x="6016752" y="3127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5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GROUND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1" name="blk2"/>
          <p:cNvSpPr/>
          <p:nvPr/>
        </p:nvSpPr>
        <p:spPr>
          <a:xfrm>
            <a:off x="6016752" y="34747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surrounding context and experiences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blk3"/>
          <p:cNvSpPr/>
          <p:nvPr/>
        </p:nvSpPr>
        <p:spPr>
          <a:xfrm>
            <a:off x="5760720" y="4224528"/>
            <a:ext cx="5824728" cy="1691640"/>
          </a:xfrm>
          <a:prstGeom prst="roundRect">
            <a:avLst>
              <a:gd name="adj" fmla="val 4865"/>
            </a:avLst>
          </a:prstGeom>
          <a:noFill/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23" name="blk3"/>
          <p:cNvSpPr/>
          <p:nvPr/>
        </p:nvSpPr>
        <p:spPr>
          <a:xfrm>
            <a:off x="5998464" y="4343400"/>
            <a:ext cx="53492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spcAft>
                <a:spcPts val="9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Needs and concerns move between figure and ground</a:t>
            </a:r>
            <a:endParaRPr lang="en-US" sz="1600" dirty="0">
              <a:solidFill>
                <a:schemeClr val="bg2">
                  <a:lumMod val="90000"/>
                </a:schemeClr>
              </a:solidFill>
            </a:endParaRPr>
          </a:p>
          <a:p>
            <a:pPr marL="285750" indent="-285750">
              <a:lnSpc>
                <a:spcPct val="130000"/>
              </a:lnSpc>
              <a:spcAft>
                <a:spcPts val="9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figure changes as circumstances change</a:t>
            </a:r>
            <a:endParaRPr lang="en-US" sz="1600" dirty="0">
              <a:solidFill>
                <a:schemeClr val="bg2">
                  <a:lumMod val="90000"/>
                </a:schemeClr>
              </a:solidFill>
            </a:endParaRPr>
          </a:p>
          <a:p>
            <a:pPr marL="285750" indent="-285750">
              <a:lnSpc>
                <a:spcPct val="130000"/>
              </a:lnSpc>
              <a:spcAft>
                <a:spcPts val="9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Awareness helps identify what is most significant in the present</a:t>
            </a:r>
            <a:endParaRPr lang="en-US" sz="16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4" name="blk3"/>
          <p:cNvSpPr/>
          <p:nvPr/>
        </p:nvSpPr>
        <p:spPr>
          <a:xfrm>
            <a:off x="5760720" y="60350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Woldt &amp; Toman, 2005)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fo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Contact and Contact Boundary</a:t>
            </a:r>
            <a:endParaRPr lang="en-US" sz="40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6400800" cy="4160520"/>
          </a:xfrm>
          <a:prstGeom prst="roundRect">
            <a:avLst>
              <a:gd name="adj" fmla="val 1978"/>
            </a:avLst>
          </a:prstGeom>
          <a:noFill/>
          <a:ln w="12700">
            <a:noFill/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6" name="blk1"/>
          <p:cNvSpPr/>
          <p:nvPr/>
        </p:nvSpPr>
        <p:spPr>
          <a:xfrm>
            <a:off x="841248" y="1810512"/>
            <a:ext cx="592531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Contact: </a:t>
            </a:r>
            <a:r>
              <a:rPr lang="en-US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Interaction between the individual and environment</a:t>
            </a: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Contact boundary: </a:t>
            </a:r>
            <a:r>
              <a:rPr lang="en-US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Point at which the individual and environment meet</a:t>
            </a: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Healthy contact allows needs to be addressed while maintaining a sense of self</a:t>
            </a: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Contact involves </a:t>
            </a:r>
            <a:r>
              <a:rPr lang="en-US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engaging, responding and withdrawing</a:t>
            </a: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Relationships, culture and circumstances influence contact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7" name="img" descr="/home/user/Business-e-books/presentations/gestalt-theory-counselling/assets/h-listen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591056"/>
            <a:ext cx="3803904" cy="2852928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8" name="blk2"/>
          <p:cNvSpPr/>
          <p:nvPr/>
        </p:nvSpPr>
        <p:spPr>
          <a:xfrm>
            <a:off x="7772400" y="4626864"/>
            <a:ext cx="4105072" cy="1591056"/>
          </a:xfrm>
          <a:prstGeom prst="roundRect">
            <a:avLst>
              <a:gd name="adj" fmla="val 5172"/>
            </a:avLst>
          </a:prstGeom>
          <a:noFill/>
          <a:ln w="12700">
            <a:noFill/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9" name="blk2"/>
          <p:cNvSpPr/>
          <p:nvPr/>
        </p:nvSpPr>
        <p:spPr>
          <a:xfrm>
            <a:off x="7022592" y="5138928"/>
            <a:ext cx="1810512" cy="566928"/>
          </a:xfrm>
          <a:prstGeom prst="roundRect">
            <a:avLst>
              <a:gd name="adj" fmla="val 9677"/>
            </a:avLst>
          </a:prstGeom>
          <a:solidFill>
            <a:srgbClr val="0A1937"/>
          </a:solidFill>
          <a:ln>
            <a:solidFill>
              <a:srgbClr val="0A193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INDIVIDUAL</a:t>
            </a:r>
            <a:endParaRPr lang="en-US" sz="1200" dirty="0"/>
          </a:p>
        </p:txBody>
      </p:sp>
      <p:sp>
        <p:nvSpPr>
          <p:cNvPr id="10" name="blk2"/>
          <p:cNvSpPr/>
          <p:nvPr/>
        </p:nvSpPr>
        <p:spPr>
          <a:xfrm>
            <a:off x="8915400" y="513892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↔</a:t>
            </a:r>
            <a:endParaRPr lang="en-US" sz="1300" dirty="0"/>
          </a:p>
        </p:txBody>
      </p:sp>
      <p:sp>
        <p:nvSpPr>
          <p:cNvPr id="11" name="blk2"/>
          <p:cNvSpPr/>
          <p:nvPr/>
        </p:nvSpPr>
        <p:spPr>
          <a:xfrm>
            <a:off x="9189720" y="5138928"/>
            <a:ext cx="1170432" cy="566928"/>
          </a:xfrm>
          <a:prstGeom prst="roundRect">
            <a:avLst>
              <a:gd name="adj" fmla="val 9677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CONTACT BOUNDARY</a:t>
            </a:r>
            <a:endParaRPr lang="en-US" sz="1200" dirty="0"/>
          </a:p>
        </p:txBody>
      </p:sp>
      <p:sp>
        <p:nvSpPr>
          <p:cNvPr id="12" name="blk2"/>
          <p:cNvSpPr/>
          <p:nvPr/>
        </p:nvSpPr>
        <p:spPr>
          <a:xfrm>
            <a:off x="10378440" y="513892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↔</a:t>
            </a:r>
            <a:endParaRPr lang="en-US" sz="1300" dirty="0"/>
          </a:p>
        </p:txBody>
      </p:sp>
      <p:sp>
        <p:nvSpPr>
          <p:cNvPr id="13" name="blk2"/>
          <p:cNvSpPr/>
          <p:nvPr/>
        </p:nvSpPr>
        <p:spPr>
          <a:xfrm>
            <a:off x="10652760" y="5138928"/>
            <a:ext cx="1307008" cy="566928"/>
          </a:xfrm>
          <a:prstGeom prst="roundRect">
            <a:avLst>
              <a:gd name="adj" fmla="val 9677"/>
            </a:avLst>
          </a:prstGeom>
          <a:solidFill>
            <a:srgbClr val="5A6B94"/>
          </a:solidFill>
          <a:ln>
            <a:solidFill>
              <a:srgbClr val="5A6B9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14" name="blk3"/>
          <p:cNvSpPr/>
          <p:nvPr/>
        </p:nvSpPr>
        <p:spPr>
          <a:xfrm>
            <a:off x="603504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Joyce &amp; Sills, 2014)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0" presetClass="entr" presetSubtype="0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fo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noFill/>
        </p:spPr>
      </p:pic>
      <p:sp>
        <p:nvSpPr>
          <p:cNvPr id="3" name="hdr"/>
          <p:cNvSpPr/>
          <p:nvPr/>
        </p:nvSpPr>
        <p:spPr>
          <a:xfrm>
            <a:off x="603504" y="54864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Unfinished Business</a:t>
            </a:r>
            <a:endParaRPr lang="en-US" sz="26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6949440" cy="2340864"/>
          </a:xfrm>
          <a:prstGeom prst="roundRect">
            <a:avLst>
              <a:gd name="adj" fmla="val 3516"/>
            </a:avLst>
          </a:prstGeom>
          <a:noFill/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6" name="blk1"/>
          <p:cNvSpPr/>
          <p:nvPr/>
        </p:nvSpPr>
        <p:spPr>
          <a:xfrm>
            <a:off x="859536" y="1810512"/>
            <a:ext cx="6437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Unresolved experiences or emotions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blk1"/>
          <p:cNvSpPr/>
          <p:nvPr/>
        </p:nvSpPr>
        <p:spPr>
          <a:xfrm>
            <a:off x="859536" y="23408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2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MAY</a:t>
            </a:r>
            <a:r>
              <a:rPr lang="en-US" sz="1400" b="1" kern="0" spc="22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1400" b="1" kern="0" spc="22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INCLUDE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blk1"/>
          <p:cNvSpPr/>
          <p:nvPr/>
        </p:nvSpPr>
        <p:spPr>
          <a:xfrm>
            <a:off x="859536" y="2743200"/>
            <a:ext cx="914400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1400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Grief</a:t>
            </a:r>
            <a:endParaRPr lang="en-US" sz="1100" kern="1400" dirty="0"/>
          </a:p>
        </p:txBody>
      </p:sp>
      <p:sp>
        <p:nvSpPr>
          <p:cNvPr id="9" name="blk1"/>
          <p:cNvSpPr/>
          <p:nvPr/>
        </p:nvSpPr>
        <p:spPr>
          <a:xfrm>
            <a:off x="1920240" y="2743200"/>
            <a:ext cx="914400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1400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Anger</a:t>
            </a:r>
            <a:endParaRPr lang="en-US" sz="1100" kern="1400" dirty="0"/>
          </a:p>
        </p:txBody>
      </p:sp>
      <p:sp>
        <p:nvSpPr>
          <p:cNvPr id="10" name="blk1"/>
          <p:cNvSpPr/>
          <p:nvPr/>
        </p:nvSpPr>
        <p:spPr>
          <a:xfrm>
            <a:off x="2980944" y="2743200"/>
            <a:ext cx="868680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1400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Guilt</a:t>
            </a:r>
            <a:endParaRPr lang="en-US" sz="1100" kern="1400" dirty="0"/>
          </a:p>
        </p:txBody>
      </p:sp>
      <p:sp>
        <p:nvSpPr>
          <p:cNvPr id="11" name="blk1"/>
          <p:cNvSpPr/>
          <p:nvPr/>
        </p:nvSpPr>
        <p:spPr>
          <a:xfrm>
            <a:off x="3995928" y="2743200"/>
            <a:ext cx="1143000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1400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Resentment</a:t>
            </a:r>
            <a:endParaRPr lang="en-US" sz="1100" kern="1400" dirty="0"/>
          </a:p>
        </p:txBody>
      </p:sp>
      <p:sp>
        <p:nvSpPr>
          <p:cNvPr id="12" name="blk1"/>
          <p:cNvSpPr/>
          <p:nvPr/>
        </p:nvSpPr>
        <p:spPr>
          <a:xfrm>
            <a:off x="5285232" y="2743200"/>
            <a:ext cx="1234440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1400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Unmet needs</a:t>
            </a:r>
            <a:endParaRPr lang="en-US" sz="1100" kern="1400" dirty="0"/>
          </a:p>
        </p:txBody>
      </p:sp>
      <p:sp>
        <p:nvSpPr>
          <p:cNvPr id="13" name="blk2"/>
          <p:cNvSpPr/>
          <p:nvPr/>
        </p:nvSpPr>
        <p:spPr>
          <a:xfrm>
            <a:off x="603504" y="4114800"/>
            <a:ext cx="6949440" cy="1572768"/>
          </a:xfrm>
          <a:prstGeom prst="roundRect">
            <a:avLst>
              <a:gd name="adj" fmla="val 5233"/>
            </a:avLst>
          </a:prstGeom>
          <a:noFill/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4" name="blk2"/>
          <p:cNvSpPr/>
          <p:nvPr/>
        </p:nvSpPr>
        <p:spPr>
          <a:xfrm>
            <a:off x="859536" y="4334256"/>
            <a:ext cx="6437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 remain psychologically active in the present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May interfere with healthy contact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blk2"/>
          <p:cNvSpPr/>
          <p:nvPr/>
        </p:nvSpPr>
        <p:spPr>
          <a:xfrm>
            <a:off x="859536" y="512064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Therapy promotes awareness and processing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6" name="img" descr="/home/user/Business-e-books/presentations/gestalt-theory-counselling/assets/h-pensiv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591056"/>
            <a:ext cx="3803904" cy="4261104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17" name="blk3"/>
          <p:cNvSpPr/>
          <p:nvPr/>
        </p:nvSpPr>
        <p:spPr>
          <a:xfrm>
            <a:off x="603504" y="5870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Joyce &amp; Sills, 2014)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0" presetClass="entr" presetSubtype="0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fo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Personal Responsibility</a:t>
            </a:r>
            <a:endParaRPr lang="en-US" sz="26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6949440" cy="2194560"/>
          </a:xfrm>
          <a:prstGeom prst="roundRect">
            <a:avLst>
              <a:gd name="adj" fmla="val 3750"/>
            </a:avLst>
          </a:prstGeom>
          <a:noFill/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6" name="blk1"/>
          <p:cNvSpPr/>
          <p:nvPr/>
        </p:nvSpPr>
        <p:spPr>
          <a:xfrm>
            <a:off x="841248" y="1810512"/>
            <a:ext cx="64739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Recognizing one's own choices and responses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Promotes </a:t>
            </a:r>
            <a:r>
              <a:rPr lang="en-US" sz="20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agency and ownership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Encourages authentic decision-making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Uses language that reflects personal experience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blk2"/>
          <p:cNvSpPr/>
          <p:nvPr/>
        </p:nvSpPr>
        <p:spPr>
          <a:xfrm>
            <a:off x="603504" y="4005072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RESPONSIBILITY  ≠  BLAME</a:t>
            </a:r>
            <a:endParaRPr lang="en-US" sz="1250" dirty="0"/>
          </a:p>
        </p:txBody>
      </p:sp>
      <p:sp>
        <p:nvSpPr>
          <p:cNvPr id="8" name="blk3"/>
          <p:cNvSpPr/>
          <p:nvPr/>
        </p:nvSpPr>
        <p:spPr>
          <a:xfrm>
            <a:off x="603504" y="47365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LANGUAGE IN PRACTICE  ·  EXAMPLE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9" name="blk3"/>
          <p:cNvSpPr/>
          <p:nvPr/>
        </p:nvSpPr>
        <p:spPr>
          <a:xfrm>
            <a:off x="603504" y="5029200"/>
            <a:ext cx="6949440" cy="621792"/>
          </a:xfrm>
          <a:prstGeom prst="roundRect">
            <a:avLst>
              <a:gd name="adj" fmla="val 8824"/>
            </a:avLst>
          </a:prstGeom>
          <a:solidFill>
            <a:srgbClr val="ECF0F6">
              <a:alpha val="88000"/>
            </a:srgbClr>
          </a:solidFill>
          <a:ln w="12700">
            <a:solidFill>
              <a:srgbClr val="ECF0F6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0" name="blk3"/>
          <p:cNvSpPr/>
          <p:nvPr/>
        </p:nvSpPr>
        <p:spPr>
          <a:xfrm>
            <a:off x="804672" y="515721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CDC"/>
            </a:solidFill>
            <a:prstDash val="solid"/>
          </a:ln>
        </p:spPr>
      </p:sp>
      <p:sp>
        <p:nvSpPr>
          <p:cNvPr id="11" name="blk3"/>
          <p:cNvSpPr/>
          <p:nvPr/>
        </p:nvSpPr>
        <p:spPr>
          <a:xfrm>
            <a:off x="804672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✗</a:t>
            </a:r>
            <a:endParaRPr lang="en-US" sz="1200" dirty="0"/>
          </a:p>
        </p:txBody>
      </p:sp>
      <p:sp>
        <p:nvSpPr>
          <p:cNvPr id="12" name="blk3"/>
          <p:cNvSpPr/>
          <p:nvPr/>
        </p:nvSpPr>
        <p:spPr>
          <a:xfrm>
            <a:off x="1335024" y="502920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“You make me angry.”</a:t>
            </a:r>
            <a:endParaRPr lang="en-US" sz="1300" dirty="0"/>
          </a:p>
        </p:txBody>
      </p:sp>
      <p:sp>
        <p:nvSpPr>
          <p:cNvPr id="13" name="blk3"/>
          <p:cNvSpPr/>
          <p:nvPr/>
        </p:nvSpPr>
        <p:spPr>
          <a:xfrm>
            <a:off x="603504" y="5742432"/>
            <a:ext cx="6949440" cy="621792"/>
          </a:xfrm>
          <a:prstGeom prst="roundRect">
            <a:avLst>
              <a:gd name="adj" fmla="val 8824"/>
            </a:avLst>
          </a:prstGeom>
          <a:solidFill>
            <a:srgbClr val="E3EAF6">
              <a:alpha val="88000"/>
            </a:srgbClr>
          </a:solidFill>
          <a:ln w="12700">
            <a:solidFill>
              <a:srgbClr val="E3EAF6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4" name="blk3"/>
          <p:cNvSpPr/>
          <p:nvPr/>
        </p:nvSpPr>
        <p:spPr>
          <a:xfrm>
            <a:off x="804672" y="587044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FBDD8"/>
            </a:solidFill>
            <a:prstDash val="solid"/>
          </a:ln>
        </p:spPr>
      </p:sp>
      <p:sp>
        <p:nvSpPr>
          <p:cNvPr id="15" name="blk3"/>
          <p:cNvSpPr/>
          <p:nvPr/>
        </p:nvSpPr>
        <p:spPr>
          <a:xfrm>
            <a:off x="804672" y="5870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blk3"/>
          <p:cNvSpPr/>
          <p:nvPr/>
        </p:nvSpPr>
        <p:spPr>
          <a:xfrm>
            <a:off x="1335024" y="574243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“I notice that I become angry when…”</a:t>
            </a:r>
            <a:endParaRPr lang="en-US" sz="1300" dirty="0"/>
          </a:p>
        </p:txBody>
      </p:sp>
      <p:pic>
        <p:nvPicPr>
          <p:cNvPr id="17" name="img" descr="/home/user/Business-e-books/presentations/gestalt-theory-counselling/assets/h-walk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591056"/>
            <a:ext cx="3803904" cy="4261104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18" name="blk4"/>
          <p:cNvSpPr/>
          <p:nvPr/>
        </p:nvSpPr>
        <p:spPr>
          <a:xfrm>
            <a:off x="7772400" y="598932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Corey, 2024)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after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0" presetClass="entr" presetSubtype="0" fill="hold" nodeType="after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bir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572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PRACTICE  ·  THE COUNSELLOR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Role of the Gestalt Counsellor</a:t>
            </a:r>
            <a:endParaRPr lang="en-US" sz="2600" dirty="0"/>
          </a:p>
        </p:txBody>
      </p:sp>
      <p:pic>
        <p:nvPicPr>
          <p:cNvPr id="5" name="img" descr="/home/user/Business-e-books/presentations/gestalt-theory-counselling/assets/h-sess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737360"/>
            <a:ext cx="5760720" cy="4160520"/>
          </a:xfrm>
          <a:prstGeom prst="roundRect">
            <a:avLst>
              <a:gd name="adj" fmla="val 5000"/>
            </a:avLst>
          </a:prstGeom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pic>
      <p:sp>
        <p:nvSpPr>
          <p:cNvPr id="6" name="blk1"/>
          <p:cNvSpPr/>
          <p:nvPr/>
        </p:nvSpPr>
        <p:spPr>
          <a:xfrm>
            <a:off x="6583680" y="2103120"/>
            <a:ext cx="4983480" cy="3794760"/>
          </a:xfrm>
          <a:prstGeom prst="roundRect">
            <a:avLst>
              <a:gd name="adj" fmla="val 2169"/>
            </a:avLst>
          </a:prstGeom>
          <a:noFill/>
          <a:ln w="12700">
            <a:noFill/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7" name="blk1"/>
          <p:cNvSpPr/>
          <p:nvPr/>
        </p:nvSpPr>
        <p:spPr>
          <a:xfrm>
            <a:off x="6821424" y="2286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22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ROLE</a:t>
            </a:r>
            <a:endParaRPr lang="en-US" sz="3600" dirty="0">
              <a:solidFill>
                <a:schemeClr val="bg2"/>
              </a:solidFill>
            </a:endParaRPr>
          </a:p>
        </p:txBody>
      </p:sp>
      <p:sp>
        <p:nvSpPr>
          <p:cNvPr id="8" name="blk1"/>
          <p:cNvSpPr/>
          <p:nvPr/>
        </p:nvSpPr>
        <p:spPr>
          <a:xfrm>
            <a:off x="6821424" y="26517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9" name="blk1"/>
          <p:cNvSpPr/>
          <p:nvPr/>
        </p:nvSpPr>
        <p:spPr>
          <a:xfrm>
            <a:off x="7370064" y="26517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rbel" panose="020B0503020204020204" pitchFamily="34" charset="0"/>
                <a:ea typeface="Outfit" pitchFamily="34" charset="-122"/>
                <a:cs typeface="Outfit" pitchFamily="34" charset="-120"/>
              </a:rPr>
              <a:t>Facilitates awareness</a:t>
            </a:r>
            <a:endParaRPr lang="en-US" sz="2400" dirty="0">
              <a:latin typeface="Corbel" panose="020B0503020204020204" pitchFamily="34" charset="0"/>
            </a:endParaRPr>
          </a:p>
        </p:txBody>
      </p:sp>
      <p:sp>
        <p:nvSpPr>
          <p:cNvPr id="10" name="blk1"/>
          <p:cNvSpPr/>
          <p:nvPr/>
        </p:nvSpPr>
        <p:spPr>
          <a:xfrm>
            <a:off x="6821424" y="31089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1" name="blk1"/>
          <p:cNvSpPr/>
          <p:nvPr/>
        </p:nvSpPr>
        <p:spPr>
          <a:xfrm>
            <a:off x="7370064" y="31089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rbel" panose="020B0503020204020204" pitchFamily="34" charset="0"/>
                <a:ea typeface="Outfit" pitchFamily="34" charset="-122"/>
                <a:cs typeface="Outfit" pitchFamily="34" charset="-120"/>
              </a:rPr>
              <a:t>Focuses on present experience</a:t>
            </a:r>
            <a:endParaRPr lang="en-US" sz="2000" dirty="0">
              <a:latin typeface="Corbel" panose="020B0503020204020204" pitchFamily="34" charset="0"/>
            </a:endParaRPr>
          </a:p>
        </p:txBody>
      </p:sp>
      <p:sp>
        <p:nvSpPr>
          <p:cNvPr id="12" name="blk1"/>
          <p:cNvSpPr/>
          <p:nvPr/>
        </p:nvSpPr>
        <p:spPr>
          <a:xfrm>
            <a:off x="6821424" y="35661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3" name="blk1"/>
          <p:cNvSpPr/>
          <p:nvPr/>
        </p:nvSpPr>
        <p:spPr>
          <a:xfrm>
            <a:off x="7370063" y="3566160"/>
            <a:ext cx="46144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orbel" panose="020B0503020204020204" pitchFamily="34" charset="0"/>
                <a:ea typeface="Outfit" pitchFamily="34" charset="-122"/>
                <a:cs typeface="Outfit" pitchFamily="34" charset="-120"/>
              </a:rPr>
              <a:t>Observes verbal and non-verbal behaviour</a:t>
            </a:r>
            <a:endParaRPr lang="en-US" dirty="0">
              <a:latin typeface="Corbel" panose="020B0503020204020204" pitchFamily="34" charset="0"/>
            </a:endParaRPr>
          </a:p>
        </p:txBody>
      </p:sp>
      <p:sp>
        <p:nvSpPr>
          <p:cNvPr id="14" name="blk1"/>
          <p:cNvSpPr/>
          <p:nvPr/>
        </p:nvSpPr>
        <p:spPr>
          <a:xfrm>
            <a:off x="6821424" y="40233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5" name="blk1"/>
          <p:cNvSpPr/>
          <p:nvPr/>
        </p:nvSpPr>
        <p:spPr>
          <a:xfrm>
            <a:off x="7370064" y="40233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rbel" panose="020B0503020204020204" pitchFamily="34" charset="0"/>
                <a:ea typeface="Outfit" pitchFamily="34" charset="-122"/>
                <a:cs typeface="Outfit" pitchFamily="34" charset="-120"/>
              </a:rPr>
              <a:t>Uses the therapeutic relationship</a:t>
            </a:r>
            <a:endParaRPr lang="en-US" sz="2000" dirty="0">
              <a:latin typeface="Corbel" panose="020B0503020204020204" pitchFamily="34" charset="0"/>
            </a:endParaRPr>
          </a:p>
        </p:txBody>
      </p:sp>
      <p:sp>
        <p:nvSpPr>
          <p:cNvPr id="16" name="blk1"/>
          <p:cNvSpPr/>
          <p:nvPr/>
        </p:nvSpPr>
        <p:spPr>
          <a:xfrm>
            <a:off x="6821424" y="44805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7" name="blk1"/>
          <p:cNvSpPr/>
          <p:nvPr/>
        </p:nvSpPr>
        <p:spPr>
          <a:xfrm>
            <a:off x="7370064" y="44805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orbel" panose="020B0503020204020204" pitchFamily="34" charset="0"/>
                <a:ea typeface="Outfit" pitchFamily="34" charset="-122"/>
                <a:cs typeface="Outfit" pitchFamily="34" charset="-120"/>
              </a:rPr>
              <a:t>Encourages authentic expression</a:t>
            </a:r>
            <a:endParaRPr lang="en-US" dirty="0">
              <a:latin typeface="Corbel" panose="020B0503020204020204" pitchFamily="34" charset="0"/>
            </a:endParaRPr>
          </a:p>
        </p:txBody>
      </p:sp>
      <p:sp>
        <p:nvSpPr>
          <p:cNvPr id="18" name="blk1"/>
          <p:cNvSpPr/>
          <p:nvPr/>
        </p:nvSpPr>
        <p:spPr>
          <a:xfrm>
            <a:off x="6821424" y="49377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9" name="blk1"/>
          <p:cNvSpPr/>
          <p:nvPr/>
        </p:nvSpPr>
        <p:spPr>
          <a:xfrm>
            <a:off x="7370064" y="49377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FFFFFF"/>
                </a:solidFill>
                <a:latin typeface="Corbel" panose="020B0503020204020204" pitchFamily="34" charset="0"/>
                <a:ea typeface="Outfit" pitchFamily="34" charset="-122"/>
                <a:cs typeface="Outfit" pitchFamily="34" charset="-120"/>
              </a:rPr>
              <a:t>Explores interruptions </a:t>
            </a:r>
            <a:r>
              <a:rPr lang="en-US" dirty="0" err="1">
                <a:solidFill>
                  <a:srgbClr val="FFFFFF"/>
                </a:solidFill>
                <a:latin typeface="Corbel" panose="020B0503020204020204" pitchFamily="34" charset="0"/>
                <a:ea typeface="Outfit" pitchFamily="34" charset="-122"/>
                <a:cs typeface="Outfit" pitchFamily="34" charset="-120"/>
              </a:rPr>
              <a:t>incontact</a:t>
            </a:r>
            <a:endParaRPr lang="en-US" dirty="0">
              <a:latin typeface="Corbel" panose="020B0503020204020204" pitchFamily="34" charset="0"/>
            </a:endParaRPr>
          </a:p>
        </p:txBody>
      </p:sp>
      <p:sp>
        <p:nvSpPr>
          <p:cNvPr id="20" name="blk1"/>
          <p:cNvSpPr/>
          <p:nvPr/>
        </p:nvSpPr>
        <p:spPr>
          <a:xfrm>
            <a:off x="6821424" y="53949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07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21" name="blk1"/>
          <p:cNvSpPr/>
          <p:nvPr/>
        </p:nvSpPr>
        <p:spPr>
          <a:xfrm>
            <a:off x="7370064" y="53949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orbel" panose="020B0503020204020204" pitchFamily="34" charset="0"/>
                <a:ea typeface="Outfit" pitchFamily="34" charset="-122"/>
                <a:cs typeface="Outfit" pitchFamily="34" charset="-120"/>
              </a:rPr>
              <a:t>Promotes responsibility and choice</a:t>
            </a:r>
            <a:endParaRPr lang="en-US" dirty="0">
              <a:latin typeface="Corbel" panose="020B0503020204020204" pitchFamily="34" charset="0"/>
            </a:endParaRPr>
          </a:p>
        </p:txBody>
      </p:sp>
      <p:sp>
        <p:nvSpPr>
          <p:cNvPr id="22" name="blk2"/>
          <p:cNvSpPr/>
          <p:nvPr/>
        </p:nvSpPr>
        <p:spPr>
          <a:xfrm>
            <a:off x="603504" y="60533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(Joyce &amp; Sills, 2014; Brownell, 2010)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0" presetClass="entr" presetSubtype="0" fill="hold" nodeType="after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bir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PRACTICE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Gestalt Therapeutic Techniques</a:t>
            </a:r>
            <a:endParaRPr lang="en-US" sz="2600" dirty="0"/>
          </a:p>
        </p:txBody>
      </p:sp>
      <p:pic>
        <p:nvPicPr>
          <p:cNvPr id="5" name="img" descr="/home/user/Business-e-books/presentations/gestalt-theory-counselling/assets/p-chair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591056"/>
            <a:ext cx="2743200" cy="4480560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6" name="blk1"/>
          <p:cNvSpPr/>
          <p:nvPr/>
        </p:nvSpPr>
        <p:spPr>
          <a:xfrm>
            <a:off x="3611880" y="1591056"/>
            <a:ext cx="2505456" cy="1060704"/>
          </a:xfrm>
          <a:prstGeom prst="roundRect">
            <a:avLst>
              <a:gd name="adj" fmla="val 6034"/>
            </a:avLst>
          </a:prstGeom>
          <a:solidFill>
            <a:schemeClr val="bg1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8" name="blk1"/>
          <p:cNvSpPr/>
          <p:nvPr/>
        </p:nvSpPr>
        <p:spPr>
          <a:xfrm>
            <a:off x="3794760" y="1737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blk1"/>
          <p:cNvSpPr/>
          <p:nvPr/>
        </p:nvSpPr>
        <p:spPr>
          <a:xfrm>
            <a:off x="3794760" y="201168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Empty-chair technique</a:t>
            </a:r>
            <a:endParaRPr lang="en-US" sz="1600" dirty="0"/>
          </a:p>
        </p:txBody>
      </p:sp>
      <p:sp>
        <p:nvSpPr>
          <p:cNvPr id="10" name="blk2"/>
          <p:cNvSpPr/>
          <p:nvPr/>
        </p:nvSpPr>
        <p:spPr>
          <a:xfrm>
            <a:off x="6336792" y="1847088"/>
            <a:ext cx="2505456" cy="1060704"/>
          </a:xfrm>
          <a:prstGeom prst="roundRect">
            <a:avLst>
              <a:gd name="adj" fmla="val 603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2" name="blk2"/>
          <p:cNvSpPr/>
          <p:nvPr/>
        </p:nvSpPr>
        <p:spPr>
          <a:xfrm>
            <a:off x="6519672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blk2"/>
          <p:cNvSpPr/>
          <p:nvPr/>
        </p:nvSpPr>
        <p:spPr>
          <a:xfrm>
            <a:off x="6519672" y="2267712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Two-chair dialogue</a:t>
            </a:r>
            <a:endParaRPr lang="en-US" sz="1600" dirty="0"/>
          </a:p>
        </p:txBody>
      </p:sp>
      <p:sp>
        <p:nvSpPr>
          <p:cNvPr id="14" name="blk3"/>
          <p:cNvSpPr/>
          <p:nvPr/>
        </p:nvSpPr>
        <p:spPr>
          <a:xfrm>
            <a:off x="9061704" y="1591056"/>
            <a:ext cx="2505456" cy="1060704"/>
          </a:xfrm>
          <a:prstGeom prst="roundRect">
            <a:avLst>
              <a:gd name="adj" fmla="val 603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6" name="blk3"/>
          <p:cNvSpPr/>
          <p:nvPr/>
        </p:nvSpPr>
        <p:spPr>
          <a:xfrm>
            <a:off x="9244584" y="1737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blk3"/>
          <p:cNvSpPr/>
          <p:nvPr/>
        </p:nvSpPr>
        <p:spPr>
          <a:xfrm>
            <a:off x="9244584" y="201168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Exaggeration</a:t>
            </a:r>
            <a:endParaRPr lang="en-US" sz="1600" dirty="0"/>
          </a:p>
        </p:txBody>
      </p:sp>
      <p:sp>
        <p:nvSpPr>
          <p:cNvPr id="18" name="blk1"/>
          <p:cNvSpPr/>
          <p:nvPr/>
        </p:nvSpPr>
        <p:spPr>
          <a:xfrm>
            <a:off x="3611880" y="2816352"/>
            <a:ext cx="2505456" cy="1060704"/>
          </a:xfrm>
          <a:prstGeom prst="roundRect">
            <a:avLst>
              <a:gd name="adj" fmla="val 603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20" name="blk1"/>
          <p:cNvSpPr/>
          <p:nvPr/>
        </p:nvSpPr>
        <p:spPr>
          <a:xfrm>
            <a:off x="3794760" y="29626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blk1"/>
          <p:cNvSpPr/>
          <p:nvPr/>
        </p:nvSpPr>
        <p:spPr>
          <a:xfrm>
            <a:off x="3794760" y="3236976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Staying with the feeling</a:t>
            </a:r>
            <a:endParaRPr lang="en-US" sz="1600" dirty="0"/>
          </a:p>
        </p:txBody>
      </p:sp>
      <p:sp>
        <p:nvSpPr>
          <p:cNvPr id="22" name="blk2"/>
          <p:cNvSpPr/>
          <p:nvPr/>
        </p:nvSpPr>
        <p:spPr>
          <a:xfrm>
            <a:off x="6336792" y="3072384"/>
            <a:ext cx="2505456" cy="1060704"/>
          </a:xfrm>
          <a:prstGeom prst="roundRect">
            <a:avLst>
              <a:gd name="adj" fmla="val 603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24" name="blk2"/>
          <p:cNvSpPr/>
          <p:nvPr/>
        </p:nvSpPr>
        <p:spPr>
          <a:xfrm>
            <a:off x="6519672" y="3218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blk2"/>
          <p:cNvSpPr/>
          <p:nvPr/>
        </p:nvSpPr>
        <p:spPr>
          <a:xfrm>
            <a:off x="6519672" y="349300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Role-play</a:t>
            </a:r>
            <a:endParaRPr lang="en-US" sz="1600" dirty="0"/>
          </a:p>
        </p:txBody>
      </p:sp>
      <p:sp>
        <p:nvSpPr>
          <p:cNvPr id="26" name="blk3"/>
          <p:cNvSpPr/>
          <p:nvPr/>
        </p:nvSpPr>
        <p:spPr>
          <a:xfrm>
            <a:off x="9061704" y="2816352"/>
            <a:ext cx="2505456" cy="1060704"/>
          </a:xfrm>
          <a:prstGeom prst="roundRect">
            <a:avLst>
              <a:gd name="adj" fmla="val 603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28" name="blk3"/>
          <p:cNvSpPr/>
          <p:nvPr/>
        </p:nvSpPr>
        <p:spPr>
          <a:xfrm>
            <a:off x="9244584" y="29626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blk3"/>
          <p:cNvSpPr/>
          <p:nvPr/>
        </p:nvSpPr>
        <p:spPr>
          <a:xfrm>
            <a:off x="9244584" y="3236976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Body awareness</a:t>
            </a:r>
            <a:endParaRPr lang="en-US" sz="1600" dirty="0"/>
          </a:p>
        </p:txBody>
      </p:sp>
      <p:sp>
        <p:nvSpPr>
          <p:cNvPr id="30" name="blk1"/>
          <p:cNvSpPr/>
          <p:nvPr/>
        </p:nvSpPr>
        <p:spPr>
          <a:xfrm>
            <a:off x="3611880" y="4041648"/>
            <a:ext cx="2505456" cy="1060704"/>
          </a:xfrm>
          <a:prstGeom prst="roundRect">
            <a:avLst>
              <a:gd name="adj" fmla="val 603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32" name="blk1"/>
          <p:cNvSpPr/>
          <p:nvPr/>
        </p:nvSpPr>
        <p:spPr>
          <a:xfrm>
            <a:off x="3794760" y="4187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07</a:t>
            </a:r>
            <a:endParaRPr lang="en-US" sz="1400" dirty="0"/>
          </a:p>
        </p:txBody>
      </p:sp>
      <p:sp>
        <p:nvSpPr>
          <p:cNvPr id="33" name="blk1"/>
          <p:cNvSpPr/>
          <p:nvPr/>
        </p:nvSpPr>
        <p:spPr>
          <a:xfrm>
            <a:off x="3794760" y="4462272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“I” statements</a:t>
            </a:r>
            <a:endParaRPr lang="en-US" sz="1600" dirty="0"/>
          </a:p>
        </p:txBody>
      </p:sp>
      <p:sp>
        <p:nvSpPr>
          <p:cNvPr id="34" name="blk2"/>
          <p:cNvSpPr/>
          <p:nvPr/>
        </p:nvSpPr>
        <p:spPr>
          <a:xfrm>
            <a:off x="6336792" y="4297680"/>
            <a:ext cx="2505456" cy="1060704"/>
          </a:xfrm>
          <a:prstGeom prst="roundRect">
            <a:avLst>
              <a:gd name="adj" fmla="val 603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36" name="blk2"/>
          <p:cNvSpPr/>
          <p:nvPr/>
        </p:nvSpPr>
        <p:spPr>
          <a:xfrm>
            <a:off x="6519672" y="44439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08</a:t>
            </a:r>
            <a:endParaRPr lang="en-US" sz="1400" dirty="0"/>
          </a:p>
        </p:txBody>
      </p:sp>
      <p:sp>
        <p:nvSpPr>
          <p:cNvPr id="37" name="blk2"/>
          <p:cNvSpPr/>
          <p:nvPr/>
        </p:nvSpPr>
        <p:spPr>
          <a:xfrm>
            <a:off x="6519672" y="471830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Dream work</a:t>
            </a:r>
            <a:endParaRPr lang="en-US" sz="1600" dirty="0"/>
          </a:p>
        </p:txBody>
      </p:sp>
      <p:sp>
        <p:nvSpPr>
          <p:cNvPr id="38" name="blk3"/>
          <p:cNvSpPr/>
          <p:nvPr/>
        </p:nvSpPr>
        <p:spPr>
          <a:xfrm>
            <a:off x="9061704" y="4041648"/>
            <a:ext cx="2505456" cy="1060704"/>
          </a:xfrm>
          <a:prstGeom prst="roundRect">
            <a:avLst>
              <a:gd name="adj" fmla="val 603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40" name="blk3"/>
          <p:cNvSpPr/>
          <p:nvPr/>
        </p:nvSpPr>
        <p:spPr>
          <a:xfrm>
            <a:off x="9244584" y="4187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09</a:t>
            </a:r>
            <a:endParaRPr lang="en-US" sz="1400" dirty="0"/>
          </a:p>
        </p:txBody>
      </p:sp>
      <p:sp>
        <p:nvSpPr>
          <p:cNvPr id="41" name="blk3"/>
          <p:cNvSpPr/>
          <p:nvPr/>
        </p:nvSpPr>
        <p:spPr>
          <a:xfrm>
            <a:off x="9244584" y="4462272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Here-and-now questioning</a:t>
            </a:r>
            <a:endParaRPr lang="en-US" sz="1600" dirty="0"/>
          </a:p>
        </p:txBody>
      </p:sp>
      <p:sp>
        <p:nvSpPr>
          <p:cNvPr id="42" name="blk4"/>
          <p:cNvSpPr/>
          <p:nvPr/>
        </p:nvSpPr>
        <p:spPr>
          <a:xfrm>
            <a:off x="3611880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(Joyce &amp; Sills, 2014)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2" fill="hold" nodeType="after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0" presetClass="entr" presetSubtype="0" fill="hold" nodeType="after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bir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PRACTICE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Empty-Chair Technique</a:t>
            </a:r>
            <a:endParaRPr lang="en-US" sz="44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5852160" cy="2377440"/>
          </a:xfrm>
          <a:prstGeom prst="roundRect">
            <a:avLst>
              <a:gd name="adj" fmla="val 3462"/>
            </a:avLst>
          </a:prstGeom>
          <a:solidFill>
            <a:srgbClr val="FFFFFF">
              <a:alpha val="68000"/>
            </a:srgbClr>
          </a:solidFill>
          <a:ln w="12700">
            <a:noFill/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6" name="blk1"/>
          <p:cNvSpPr/>
          <p:nvPr/>
        </p:nvSpPr>
        <p:spPr>
          <a:xfrm>
            <a:off x="841248" y="1792224"/>
            <a:ext cx="5376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Client imagines another person in an empty chair</a:t>
            </a:r>
            <a:endParaRPr lang="en-US" sz="1600" dirty="0"/>
          </a:p>
          <a:p>
            <a:pPr marL="171450" indent="-171450">
              <a:lnSpc>
                <a:spcPct val="13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Speaks directly to the imagined person</a:t>
            </a:r>
            <a:endParaRPr lang="en-US" sz="1600" dirty="0"/>
          </a:p>
          <a:p>
            <a:pPr marL="171450" indent="-171450">
              <a:lnSpc>
                <a:spcPct val="13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Brings unresolved experiences into </a:t>
            </a:r>
            <a:r>
              <a:rPr lang="en-US" sz="1600" b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present awareness</a:t>
            </a:r>
            <a:endParaRPr lang="en-US" sz="1600" dirty="0"/>
          </a:p>
          <a:p>
            <a:pPr marL="171450" indent="-171450">
              <a:lnSpc>
                <a:spcPct val="13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Facilitates expression of unfinished emotions</a:t>
            </a:r>
            <a:endParaRPr lang="en-US" sz="1600" dirty="0"/>
          </a:p>
          <a:p>
            <a:pPr marL="171450" indent="-171450">
              <a:lnSpc>
                <a:spcPct val="13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May promote new awareness and perspectives</a:t>
            </a:r>
            <a:endParaRPr lang="en-US" sz="1600" dirty="0"/>
          </a:p>
        </p:txBody>
      </p:sp>
      <p:sp>
        <p:nvSpPr>
          <p:cNvPr id="7" name="blk2"/>
          <p:cNvSpPr/>
          <p:nvPr/>
        </p:nvSpPr>
        <p:spPr>
          <a:xfrm>
            <a:off x="1005840" y="4206240"/>
            <a:ext cx="5449824" cy="1737360"/>
          </a:xfrm>
          <a:prstGeom prst="roundRect">
            <a:avLst>
              <a:gd name="adj" fmla="val 473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8" name="blk2"/>
          <p:cNvSpPr/>
          <p:nvPr/>
        </p:nvSpPr>
        <p:spPr>
          <a:xfrm>
            <a:off x="1005840" y="4206240"/>
            <a:ext cx="64008" cy="1737360"/>
          </a:xfrm>
          <a:prstGeom prst="rect">
            <a:avLst/>
          </a:prstGeom>
          <a:solidFill>
            <a:srgbClr val="8097BE"/>
          </a:solidFill>
          <a:ln/>
        </p:spPr>
      </p:sp>
      <p:sp>
        <p:nvSpPr>
          <p:cNvPr id="9" name="blk2"/>
          <p:cNvSpPr/>
          <p:nvPr/>
        </p:nvSpPr>
        <p:spPr>
          <a:xfrm>
            <a:off x="1225296" y="4279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6B9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3000" dirty="0"/>
          </a:p>
        </p:txBody>
      </p:sp>
      <p:sp>
        <p:nvSpPr>
          <p:cNvPr id="10" name="blk2"/>
          <p:cNvSpPr/>
          <p:nvPr/>
        </p:nvSpPr>
        <p:spPr>
          <a:xfrm>
            <a:off x="1874520" y="4425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EXAMPLE</a:t>
            </a:r>
            <a:endParaRPr lang="en-US" sz="900" dirty="0"/>
          </a:p>
        </p:txBody>
      </p:sp>
      <p:sp>
        <p:nvSpPr>
          <p:cNvPr id="11" name="blk2"/>
          <p:cNvSpPr/>
          <p:nvPr/>
        </p:nvSpPr>
        <p:spPr>
          <a:xfrm>
            <a:off x="1874520" y="475488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i="1" dirty="0">
                <a:solidFill>
                  <a:srgbClr val="162B5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Imagine your father is sitting in that chair. What would you want him to hear from you?</a:t>
            </a:r>
            <a:endParaRPr lang="en-US" dirty="0"/>
          </a:p>
        </p:txBody>
      </p:sp>
      <p:pic>
        <p:nvPicPr>
          <p:cNvPr id="12" name="img" descr="/home/user/Business-e-books/presentations/gestalt-theory-counselling/assets/p-chai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591056"/>
            <a:ext cx="4910328" cy="3685032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13" name="blk3"/>
          <p:cNvSpPr/>
          <p:nvPr/>
        </p:nvSpPr>
        <p:spPr>
          <a:xfrm>
            <a:off x="6675120" y="5440680"/>
            <a:ext cx="4910328" cy="896112"/>
          </a:xfrm>
          <a:prstGeom prst="roundRect">
            <a:avLst>
              <a:gd name="adj" fmla="val 9184"/>
            </a:avLst>
          </a:prstGeom>
          <a:solidFill>
            <a:srgbClr val="162B57"/>
          </a:solidFill>
          <a:ln w="12700">
            <a:solidFill>
              <a:srgbClr val="162B57"/>
            </a:solidFill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14" name="blk3"/>
          <p:cNvSpPr/>
          <p:nvPr/>
        </p:nvSpPr>
        <p:spPr>
          <a:xfrm>
            <a:off x="6858000" y="5532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2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SETUP</a:t>
            </a:r>
            <a:endParaRPr lang="en-US" sz="1400" dirty="0"/>
          </a:p>
        </p:txBody>
      </p:sp>
      <p:sp>
        <p:nvSpPr>
          <p:cNvPr id="15" name="blk3"/>
          <p:cNvSpPr/>
          <p:nvPr/>
        </p:nvSpPr>
        <p:spPr>
          <a:xfrm>
            <a:off x="6858000" y="5815584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0A1937"/>
          </a:solidFill>
          <a:ln>
            <a:solidFill>
              <a:srgbClr val="0A193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5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CLIENT</a:t>
            </a:r>
            <a:endParaRPr lang="en-US" dirty="0"/>
          </a:p>
        </p:txBody>
      </p:sp>
      <p:sp>
        <p:nvSpPr>
          <p:cNvPr id="16" name="blk3"/>
          <p:cNvSpPr/>
          <p:nvPr/>
        </p:nvSpPr>
        <p:spPr>
          <a:xfrm>
            <a:off x="8257032" y="58155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↔</a:t>
            </a:r>
            <a:endParaRPr lang="en-US" sz="1500" dirty="0"/>
          </a:p>
        </p:txBody>
      </p:sp>
      <p:sp>
        <p:nvSpPr>
          <p:cNvPr id="17" name="blk3"/>
          <p:cNvSpPr/>
          <p:nvPr/>
        </p:nvSpPr>
        <p:spPr>
          <a:xfrm>
            <a:off x="8686800" y="5815584"/>
            <a:ext cx="2694562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C6C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5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IMAGINED PERSON</a:t>
            </a:r>
            <a:endParaRPr lang="en-US" dirty="0"/>
          </a:p>
        </p:txBody>
      </p:sp>
      <p:sp>
        <p:nvSpPr>
          <p:cNvPr id="18" name="blk2"/>
          <p:cNvSpPr/>
          <p:nvPr/>
        </p:nvSpPr>
        <p:spPr>
          <a:xfrm>
            <a:off x="603504" y="6108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(Joyce &amp; Sills, 2014)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0" presetClass="entr" presetSubtype="0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bir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PRACTICE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Other Experiential Techniques</a:t>
            </a:r>
            <a:endParaRPr lang="en-US" sz="2600" dirty="0"/>
          </a:p>
        </p:txBody>
      </p:sp>
      <p:pic>
        <p:nvPicPr>
          <p:cNvPr id="5" name="Image 1" descr="/home/user/Business-e-books/presentations/gestalt-theory-counselling/assets/circle-cand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08" y="384048"/>
            <a:ext cx="1234440" cy="1234440"/>
          </a:xfrm>
          <a:prstGeom prst="roundRect">
            <a:avLst>
              <a:gd name="adj" fmla="val 5000"/>
            </a:avLst>
          </a:prstGeom>
        </p:spPr>
      </p:pic>
      <p:sp>
        <p:nvSpPr>
          <p:cNvPr id="6" name="blk1"/>
          <p:cNvSpPr/>
          <p:nvPr/>
        </p:nvSpPr>
        <p:spPr>
          <a:xfrm>
            <a:off x="603504" y="1517904"/>
            <a:ext cx="10981944" cy="4553712"/>
          </a:xfrm>
          <a:prstGeom prst="roundRect">
            <a:avLst>
              <a:gd name="adj" fmla="val 180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7" name="blk1"/>
          <p:cNvSpPr/>
          <p:nvPr/>
        </p:nvSpPr>
        <p:spPr>
          <a:xfrm>
            <a:off x="822960" y="1737360"/>
            <a:ext cx="3931920" cy="457200"/>
          </a:xfrm>
          <a:prstGeom prst="rect">
            <a:avLst/>
          </a:prstGeom>
          <a:solidFill>
            <a:srgbClr val="162B57"/>
          </a:solidFill>
          <a:ln/>
        </p:spPr>
      </p:sp>
      <p:sp>
        <p:nvSpPr>
          <p:cNvPr id="8" name="blk1"/>
          <p:cNvSpPr/>
          <p:nvPr/>
        </p:nvSpPr>
        <p:spPr>
          <a:xfrm>
            <a:off x="4754880" y="1737360"/>
            <a:ext cx="6611112" cy="457200"/>
          </a:xfrm>
          <a:prstGeom prst="rect">
            <a:avLst/>
          </a:prstGeom>
          <a:solidFill>
            <a:srgbClr val="162B57"/>
          </a:solidFill>
          <a:ln/>
        </p:spPr>
      </p:sp>
      <p:sp>
        <p:nvSpPr>
          <p:cNvPr id="9" name="blk1"/>
          <p:cNvSpPr/>
          <p:nvPr/>
        </p:nvSpPr>
        <p:spPr>
          <a:xfrm>
            <a:off x="1060704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TECHNIQUE</a:t>
            </a:r>
            <a:endParaRPr lang="en-US" sz="1050" dirty="0"/>
          </a:p>
        </p:txBody>
      </p:sp>
      <p:sp>
        <p:nvSpPr>
          <p:cNvPr id="10" name="blk1"/>
          <p:cNvSpPr/>
          <p:nvPr/>
        </p:nvSpPr>
        <p:spPr>
          <a:xfrm>
            <a:off x="4992624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PURPOSE</a:t>
            </a:r>
            <a:endParaRPr lang="en-US" sz="1050" dirty="0"/>
          </a:p>
        </p:txBody>
      </p:sp>
      <p:sp>
        <p:nvSpPr>
          <p:cNvPr id="11" name="blk1"/>
          <p:cNvSpPr/>
          <p:nvPr/>
        </p:nvSpPr>
        <p:spPr>
          <a:xfrm>
            <a:off x="822960" y="2194560"/>
            <a:ext cx="1054303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blk1"/>
          <p:cNvSpPr/>
          <p:nvPr/>
        </p:nvSpPr>
        <p:spPr>
          <a:xfrm>
            <a:off x="822960" y="2798064"/>
            <a:ext cx="10543032" cy="10973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13" name="blk1"/>
          <p:cNvSpPr/>
          <p:nvPr/>
        </p:nvSpPr>
        <p:spPr>
          <a:xfrm>
            <a:off x="1060704" y="21945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Two-chair dialogue</a:t>
            </a:r>
            <a:endParaRPr lang="en-US" sz="1200" dirty="0"/>
          </a:p>
        </p:txBody>
      </p:sp>
      <p:sp>
        <p:nvSpPr>
          <p:cNvPr id="14" name="blk1"/>
          <p:cNvSpPr/>
          <p:nvPr/>
        </p:nvSpPr>
        <p:spPr>
          <a:xfrm>
            <a:off x="4992624" y="219456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Explore opposing parts</a:t>
            </a:r>
            <a:endParaRPr lang="en-US" sz="1200" dirty="0"/>
          </a:p>
        </p:txBody>
      </p:sp>
      <p:sp>
        <p:nvSpPr>
          <p:cNvPr id="15" name="blk1"/>
          <p:cNvSpPr/>
          <p:nvPr/>
        </p:nvSpPr>
        <p:spPr>
          <a:xfrm>
            <a:off x="822960" y="2798064"/>
            <a:ext cx="10543032" cy="6035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6" name="blk1"/>
          <p:cNvSpPr/>
          <p:nvPr/>
        </p:nvSpPr>
        <p:spPr>
          <a:xfrm>
            <a:off x="822960" y="3401568"/>
            <a:ext cx="10543032" cy="10973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17" name="blk1"/>
          <p:cNvSpPr/>
          <p:nvPr/>
        </p:nvSpPr>
        <p:spPr>
          <a:xfrm>
            <a:off x="1060704" y="279806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Exaggeration</a:t>
            </a:r>
            <a:endParaRPr lang="en-US" sz="1200" dirty="0"/>
          </a:p>
        </p:txBody>
      </p:sp>
      <p:sp>
        <p:nvSpPr>
          <p:cNvPr id="18" name="blk1"/>
          <p:cNvSpPr/>
          <p:nvPr/>
        </p:nvSpPr>
        <p:spPr>
          <a:xfrm>
            <a:off x="4992624" y="279806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Increase awareness</a:t>
            </a:r>
            <a:endParaRPr lang="en-US" sz="1200" dirty="0"/>
          </a:p>
        </p:txBody>
      </p:sp>
      <p:sp>
        <p:nvSpPr>
          <p:cNvPr id="19" name="blk1"/>
          <p:cNvSpPr/>
          <p:nvPr/>
        </p:nvSpPr>
        <p:spPr>
          <a:xfrm>
            <a:off x="822960" y="3401568"/>
            <a:ext cx="1054303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blk1"/>
          <p:cNvSpPr/>
          <p:nvPr/>
        </p:nvSpPr>
        <p:spPr>
          <a:xfrm>
            <a:off x="822960" y="4005072"/>
            <a:ext cx="10543032" cy="10973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21" name="blk1"/>
          <p:cNvSpPr/>
          <p:nvPr/>
        </p:nvSpPr>
        <p:spPr>
          <a:xfrm>
            <a:off x="1060704" y="340156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Staying with the feeling</a:t>
            </a:r>
            <a:endParaRPr lang="en-US" sz="1200" dirty="0"/>
          </a:p>
        </p:txBody>
      </p:sp>
      <p:sp>
        <p:nvSpPr>
          <p:cNvPr id="22" name="blk1"/>
          <p:cNvSpPr/>
          <p:nvPr/>
        </p:nvSpPr>
        <p:spPr>
          <a:xfrm>
            <a:off x="4992624" y="3401568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Explore emerging emotions</a:t>
            </a:r>
            <a:endParaRPr lang="en-US" sz="1200" dirty="0"/>
          </a:p>
        </p:txBody>
      </p:sp>
      <p:sp>
        <p:nvSpPr>
          <p:cNvPr id="23" name="blk1"/>
          <p:cNvSpPr/>
          <p:nvPr/>
        </p:nvSpPr>
        <p:spPr>
          <a:xfrm>
            <a:off x="822960" y="4005072"/>
            <a:ext cx="10543032" cy="6035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4" name="blk1"/>
          <p:cNvSpPr/>
          <p:nvPr/>
        </p:nvSpPr>
        <p:spPr>
          <a:xfrm>
            <a:off x="822960" y="4608576"/>
            <a:ext cx="10543032" cy="10973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25" name="blk1"/>
          <p:cNvSpPr/>
          <p:nvPr/>
        </p:nvSpPr>
        <p:spPr>
          <a:xfrm>
            <a:off x="1060704" y="400507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Body awareness</a:t>
            </a:r>
            <a:endParaRPr lang="en-US" sz="1200" dirty="0"/>
          </a:p>
        </p:txBody>
      </p:sp>
      <p:sp>
        <p:nvSpPr>
          <p:cNvPr id="26" name="blk1"/>
          <p:cNvSpPr/>
          <p:nvPr/>
        </p:nvSpPr>
        <p:spPr>
          <a:xfrm>
            <a:off x="4992624" y="4005072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Notice physical experience</a:t>
            </a:r>
            <a:endParaRPr lang="en-US" sz="1200" dirty="0"/>
          </a:p>
        </p:txBody>
      </p:sp>
      <p:sp>
        <p:nvSpPr>
          <p:cNvPr id="27" name="blk1"/>
          <p:cNvSpPr/>
          <p:nvPr/>
        </p:nvSpPr>
        <p:spPr>
          <a:xfrm>
            <a:off x="822960" y="4608576"/>
            <a:ext cx="1054303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blk1"/>
          <p:cNvSpPr/>
          <p:nvPr/>
        </p:nvSpPr>
        <p:spPr>
          <a:xfrm>
            <a:off x="822960" y="5212080"/>
            <a:ext cx="10543032" cy="10973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29" name="blk1"/>
          <p:cNvSpPr/>
          <p:nvPr/>
        </p:nvSpPr>
        <p:spPr>
          <a:xfrm>
            <a:off x="1060704" y="460857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“I” statements</a:t>
            </a:r>
            <a:endParaRPr lang="en-US" sz="1200" dirty="0"/>
          </a:p>
        </p:txBody>
      </p:sp>
      <p:sp>
        <p:nvSpPr>
          <p:cNvPr id="30" name="blk1"/>
          <p:cNvSpPr/>
          <p:nvPr/>
        </p:nvSpPr>
        <p:spPr>
          <a:xfrm>
            <a:off x="4992624" y="4608576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Own personal experience</a:t>
            </a:r>
            <a:endParaRPr lang="en-US" sz="1200" dirty="0"/>
          </a:p>
        </p:txBody>
      </p:sp>
      <p:sp>
        <p:nvSpPr>
          <p:cNvPr id="31" name="blk1"/>
          <p:cNvSpPr/>
          <p:nvPr/>
        </p:nvSpPr>
        <p:spPr>
          <a:xfrm>
            <a:off x="822960" y="5212080"/>
            <a:ext cx="10543032" cy="6035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2" name="blk1"/>
          <p:cNvSpPr/>
          <p:nvPr/>
        </p:nvSpPr>
        <p:spPr>
          <a:xfrm>
            <a:off x="822960" y="5815584"/>
            <a:ext cx="10543032" cy="10973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33" name="blk1"/>
          <p:cNvSpPr/>
          <p:nvPr/>
        </p:nvSpPr>
        <p:spPr>
          <a:xfrm>
            <a:off x="1060704" y="52120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Dream work</a:t>
            </a:r>
            <a:endParaRPr lang="en-US" sz="1200" dirty="0"/>
          </a:p>
        </p:txBody>
      </p:sp>
      <p:sp>
        <p:nvSpPr>
          <p:cNvPr id="34" name="blk1"/>
          <p:cNvSpPr/>
          <p:nvPr/>
        </p:nvSpPr>
        <p:spPr>
          <a:xfrm>
            <a:off x="4992624" y="521208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Explore present meaning</a:t>
            </a:r>
            <a:endParaRPr lang="en-US" sz="1200" dirty="0"/>
          </a:p>
        </p:txBody>
      </p:sp>
      <p:sp>
        <p:nvSpPr>
          <p:cNvPr id="35" name="blk2"/>
          <p:cNvSpPr/>
          <p:nvPr/>
        </p:nvSpPr>
        <p:spPr>
          <a:xfrm>
            <a:off x="603504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(Joyce &amp; Sills, 2014)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bir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PRACTICE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Application in Counselling</a:t>
            </a:r>
            <a:endParaRPr lang="en-US" sz="26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6766560" cy="3017520"/>
          </a:xfrm>
          <a:prstGeom prst="roundRect">
            <a:avLst>
              <a:gd name="adj" fmla="val 272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6" name="blk1"/>
          <p:cNvSpPr/>
          <p:nvPr/>
        </p:nvSpPr>
        <p:spPr>
          <a:xfrm>
            <a:off x="841248" y="1773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GESTALT THERAPY CAN BE APPLIED TO</a:t>
            </a:r>
            <a:endParaRPr lang="en-US" sz="900" dirty="0"/>
          </a:p>
        </p:txBody>
      </p:sp>
      <p:sp>
        <p:nvSpPr>
          <p:cNvPr id="7" name="blk1"/>
          <p:cNvSpPr/>
          <p:nvPr/>
        </p:nvSpPr>
        <p:spPr>
          <a:xfrm>
            <a:off x="841248" y="2103120"/>
            <a:ext cx="3054096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Grief and loss</a:t>
            </a:r>
            <a:endParaRPr lang="en-US" sz="1050" dirty="0"/>
          </a:p>
        </p:txBody>
      </p:sp>
      <p:sp>
        <p:nvSpPr>
          <p:cNvPr id="8" name="blk1"/>
          <p:cNvSpPr/>
          <p:nvPr/>
        </p:nvSpPr>
        <p:spPr>
          <a:xfrm>
            <a:off x="4059936" y="2103120"/>
            <a:ext cx="3054096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Relationship difficulties</a:t>
            </a:r>
            <a:endParaRPr lang="en-US" sz="1050" dirty="0"/>
          </a:p>
        </p:txBody>
      </p:sp>
      <p:sp>
        <p:nvSpPr>
          <p:cNvPr id="9" name="blk1"/>
          <p:cNvSpPr/>
          <p:nvPr/>
        </p:nvSpPr>
        <p:spPr>
          <a:xfrm>
            <a:off x="841248" y="2706624"/>
            <a:ext cx="3054096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Anxiety and emotional distress</a:t>
            </a:r>
            <a:endParaRPr lang="en-US" sz="1050" dirty="0"/>
          </a:p>
        </p:txBody>
      </p:sp>
      <p:sp>
        <p:nvSpPr>
          <p:cNvPr id="10" name="blk1"/>
          <p:cNvSpPr/>
          <p:nvPr/>
        </p:nvSpPr>
        <p:spPr>
          <a:xfrm>
            <a:off x="4059936" y="2706624"/>
            <a:ext cx="3054096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Unresolved anger</a:t>
            </a:r>
            <a:endParaRPr lang="en-US" sz="1050" dirty="0"/>
          </a:p>
        </p:txBody>
      </p:sp>
      <p:sp>
        <p:nvSpPr>
          <p:cNvPr id="11" name="blk1"/>
          <p:cNvSpPr/>
          <p:nvPr/>
        </p:nvSpPr>
        <p:spPr>
          <a:xfrm>
            <a:off x="841248" y="3310128"/>
            <a:ext cx="3054096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Identity concerns</a:t>
            </a:r>
            <a:endParaRPr lang="en-US" sz="1050" dirty="0"/>
          </a:p>
        </p:txBody>
      </p:sp>
      <p:sp>
        <p:nvSpPr>
          <p:cNvPr id="12" name="blk1"/>
          <p:cNvSpPr/>
          <p:nvPr/>
        </p:nvSpPr>
        <p:spPr>
          <a:xfrm>
            <a:off x="4059936" y="3310128"/>
            <a:ext cx="3054096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Emotional-expression difficulties</a:t>
            </a:r>
            <a:endParaRPr lang="en-US" sz="1050" dirty="0"/>
          </a:p>
        </p:txBody>
      </p:sp>
      <p:sp>
        <p:nvSpPr>
          <p:cNvPr id="13" name="blk1"/>
          <p:cNvSpPr/>
          <p:nvPr/>
        </p:nvSpPr>
        <p:spPr>
          <a:xfrm>
            <a:off x="841248" y="3913632"/>
            <a:ext cx="3054096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Personal growth</a:t>
            </a:r>
            <a:endParaRPr lang="en-US" sz="1050" dirty="0"/>
          </a:p>
        </p:txBody>
      </p:sp>
      <p:sp>
        <p:nvSpPr>
          <p:cNvPr id="14" name="blk1"/>
          <p:cNvSpPr/>
          <p:nvPr/>
        </p:nvSpPr>
        <p:spPr>
          <a:xfrm>
            <a:off x="4059936" y="3913632"/>
            <a:ext cx="3054096" cy="493776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>
            <a:solidFill>
              <a:srgbClr val="E8ED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Unresolved interpersonal experiences</a:t>
            </a:r>
            <a:endParaRPr lang="en-US" sz="1050" dirty="0"/>
          </a:p>
        </p:txBody>
      </p:sp>
      <p:sp>
        <p:nvSpPr>
          <p:cNvPr id="15" name="blk2"/>
          <p:cNvSpPr/>
          <p:nvPr/>
        </p:nvSpPr>
        <p:spPr>
          <a:xfrm>
            <a:off x="603504" y="4800600"/>
            <a:ext cx="6766560" cy="1234440"/>
          </a:xfrm>
          <a:prstGeom prst="roundRect">
            <a:avLst>
              <a:gd name="adj" fmla="val 6667"/>
            </a:avLst>
          </a:prstGeom>
          <a:solidFill>
            <a:srgbClr val="162B57"/>
          </a:solidFill>
          <a:ln w="12700">
            <a:solidFill>
              <a:srgbClr val="162B57"/>
            </a:solidFill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16" name="blk2"/>
          <p:cNvSpPr/>
          <p:nvPr/>
        </p:nvSpPr>
        <p:spPr>
          <a:xfrm>
            <a:off x="841248" y="4937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THERAPEUTIC MOVEMENT</a:t>
            </a:r>
            <a:endParaRPr lang="en-US" sz="850" dirty="0"/>
          </a:p>
        </p:txBody>
      </p:sp>
      <p:sp>
        <p:nvSpPr>
          <p:cNvPr id="17" name="blk2"/>
          <p:cNvSpPr/>
          <p:nvPr/>
        </p:nvSpPr>
        <p:spPr>
          <a:xfrm>
            <a:off x="841248" y="5230368"/>
            <a:ext cx="6291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Awareness</a:t>
            </a:r>
            <a:r>
              <a:rPr lang="en-US" sz="135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→  </a:t>
            </a:r>
            <a:r>
              <a:rPr lang="en-US" sz="13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Contact</a:t>
            </a:r>
            <a:r>
              <a:rPr lang="en-US" sz="135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→  </a:t>
            </a:r>
            <a:r>
              <a:rPr lang="en-US" sz="13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Responsibility</a:t>
            </a:r>
            <a:r>
              <a:rPr lang="en-US" sz="135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→  </a:t>
            </a:r>
            <a:r>
              <a:rPr lang="en-US" sz="13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Choice</a:t>
            </a:r>
            <a:r>
              <a:rPr lang="en-US" sz="1350" dirty="0">
                <a:solidFill>
                  <a:srgbClr val="8097B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→  </a:t>
            </a:r>
            <a:r>
              <a:rPr lang="en-US" sz="13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Growth</a:t>
            </a:r>
            <a:endParaRPr lang="en-US" sz="1350" dirty="0"/>
          </a:p>
        </p:txBody>
      </p:sp>
      <p:pic>
        <p:nvPicPr>
          <p:cNvPr id="18" name="img" descr="/home/user/Business-e-books/presentations/gestalt-theory-counselling/assets/h-gro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591056"/>
            <a:ext cx="4041648" cy="4443984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19" name="blk3"/>
          <p:cNvSpPr/>
          <p:nvPr/>
        </p:nvSpPr>
        <p:spPr>
          <a:xfrm>
            <a:off x="603504" y="61447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(Brownell, 2010; Joyce &amp; Sills, 2014)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0" presetClass="entr" presetSubtype="0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sho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Strengths of Gestalt Therapy</a:t>
            </a:r>
            <a:endParaRPr lang="en-US" sz="26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3520440" cy="877824"/>
          </a:xfrm>
          <a:prstGeom prst="roundRect">
            <a:avLst>
              <a:gd name="adj" fmla="val 729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6" name="blk1"/>
          <p:cNvSpPr/>
          <p:nvPr/>
        </p:nvSpPr>
        <p:spPr>
          <a:xfrm>
            <a:off x="749808" y="1856232"/>
            <a:ext cx="347472" cy="347472"/>
          </a:xfrm>
          <a:prstGeom prst="ellipse">
            <a:avLst/>
          </a:prstGeom>
          <a:solidFill>
            <a:srgbClr val="E8EDF6"/>
          </a:solidFill>
          <a:ln w="12700">
            <a:solidFill>
              <a:srgbClr val="C7D2E6"/>
            </a:solidFill>
            <a:prstDash val="solid"/>
          </a:ln>
        </p:spPr>
      </p:sp>
      <p:sp>
        <p:nvSpPr>
          <p:cNvPr id="7" name="blk1"/>
          <p:cNvSpPr/>
          <p:nvPr/>
        </p:nvSpPr>
        <p:spPr>
          <a:xfrm>
            <a:off x="749808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blk1"/>
          <p:cNvSpPr/>
          <p:nvPr/>
        </p:nvSpPr>
        <p:spPr>
          <a:xfrm>
            <a:off x="1243584" y="1591056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Promotes self-awareness</a:t>
            </a:r>
            <a:endParaRPr lang="en-US" sz="1200" dirty="0"/>
          </a:p>
        </p:txBody>
      </p:sp>
      <p:sp>
        <p:nvSpPr>
          <p:cNvPr id="9" name="blk1"/>
          <p:cNvSpPr/>
          <p:nvPr/>
        </p:nvSpPr>
        <p:spPr>
          <a:xfrm>
            <a:off x="603504" y="2596896"/>
            <a:ext cx="3520440" cy="877824"/>
          </a:xfrm>
          <a:prstGeom prst="roundRect">
            <a:avLst>
              <a:gd name="adj" fmla="val 729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0" name="blk1"/>
          <p:cNvSpPr/>
          <p:nvPr/>
        </p:nvSpPr>
        <p:spPr>
          <a:xfrm>
            <a:off x="749808" y="2862072"/>
            <a:ext cx="347472" cy="347472"/>
          </a:xfrm>
          <a:prstGeom prst="ellipse">
            <a:avLst/>
          </a:prstGeom>
          <a:solidFill>
            <a:srgbClr val="E8EDF6"/>
          </a:solidFill>
          <a:ln w="12700">
            <a:solidFill>
              <a:srgbClr val="C7D2E6"/>
            </a:solidFill>
            <a:prstDash val="solid"/>
          </a:ln>
        </p:spPr>
      </p:sp>
      <p:sp>
        <p:nvSpPr>
          <p:cNvPr id="11" name="blk1"/>
          <p:cNvSpPr/>
          <p:nvPr/>
        </p:nvSpPr>
        <p:spPr>
          <a:xfrm>
            <a:off x="749808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blk1"/>
          <p:cNvSpPr/>
          <p:nvPr/>
        </p:nvSpPr>
        <p:spPr>
          <a:xfrm>
            <a:off x="1243584" y="2596896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Focuses on lived experience</a:t>
            </a:r>
            <a:endParaRPr lang="en-US" sz="1200" dirty="0"/>
          </a:p>
        </p:txBody>
      </p:sp>
      <p:sp>
        <p:nvSpPr>
          <p:cNvPr id="13" name="blk1"/>
          <p:cNvSpPr/>
          <p:nvPr/>
        </p:nvSpPr>
        <p:spPr>
          <a:xfrm>
            <a:off x="603504" y="3602736"/>
            <a:ext cx="3520440" cy="877824"/>
          </a:xfrm>
          <a:prstGeom prst="roundRect">
            <a:avLst>
              <a:gd name="adj" fmla="val 729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4" name="blk1"/>
          <p:cNvSpPr/>
          <p:nvPr/>
        </p:nvSpPr>
        <p:spPr>
          <a:xfrm>
            <a:off x="749808" y="3867912"/>
            <a:ext cx="347472" cy="347472"/>
          </a:xfrm>
          <a:prstGeom prst="ellipse">
            <a:avLst/>
          </a:prstGeom>
          <a:solidFill>
            <a:srgbClr val="E8EDF6"/>
          </a:solidFill>
          <a:ln w="12700">
            <a:solidFill>
              <a:srgbClr val="C7D2E6"/>
            </a:solidFill>
            <a:prstDash val="solid"/>
          </a:ln>
        </p:spPr>
      </p:sp>
      <p:sp>
        <p:nvSpPr>
          <p:cNvPr id="15" name="blk1"/>
          <p:cNvSpPr/>
          <p:nvPr/>
        </p:nvSpPr>
        <p:spPr>
          <a:xfrm>
            <a:off x="749808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blk1"/>
          <p:cNvSpPr/>
          <p:nvPr/>
        </p:nvSpPr>
        <p:spPr>
          <a:xfrm>
            <a:off x="1243584" y="3602736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Encourages agency and responsibility</a:t>
            </a:r>
            <a:endParaRPr lang="en-US" sz="1200" dirty="0"/>
          </a:p>
        </p:txBody>
      </p:sp>
      <p:sp>
        <p:nvSpPr>
          <p:cNvPr id="17" name="blk1"/>
          <p:cNvSpPr/>
          <p:nvPr/>
        </p:nvSpPr>
        <p:spPr>
          <a:xfrm>
            <a:off x="603504" y="4608576"/>
            <a:ext cx="3520440" cy="877824"/>
          </a:xfrm>
          <a:prstGeom prst="roundRect">
            <a:avLst>
              <a:gd name="adj" fmla="val 729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8" name="blk1"/>
          <p:cNvSpPr/>
          <p:nvPr/>
        </p:nvSpPr>
        <p:spPr>
          <a:xfrm>
            <a:off x="749808" y="4873752"/>
            <a:ext cx="347472" cy="347472"/>
          </a:xfrm>
          <a:prstGeom prst="ellipse">
            <a:avLst/>
          </a:prstGeom>
          <a:solidFill>
            <a:srgbClr val="E8EDF6"/>
          </a:solidFill>
          <a:ln w="12700">
            <a:solidFill>
              <a:srgbClr val="C7D2E6"/>
            </a:solidFill>
            <a:prstDash val="solid"/>
          </a:ln>
        </p:spPr>
      </p:sp>
      <p:sp>
        <p:nvSpPr>
          <p:cNvPr id="19" name="blk1"/>
          <p:cNvSpPr/>
          <p:nvPr/>
        </p:nvSpPr>
        <p:spPr>
          <a:xfrm>
            <a:off x="749808" y="4873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blk1"/>
          <p:cNvSpPr/>
          <p:nvPr/>
        </p:nvSpPr>
        <p:spPr>
          <a:xfrm>
            <a:off x="1243584" y="4608576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Integrates mind, emotion and body</a:t>
            </a:r>
            <a:endParaRPr lang="en-US" sz="1200" dirty="0"/>
          </a:p>
        </p:txBody>
      </p:sp>
      <p:sp>
        <p:nvSpPr>
          <p:cNvPr id="21" name="blk2"/>
          <p:cNvSpPr/>
          <p:nvPr/>
        </p:nvSpPr>
        <p:spPr>
          <a:xfrm>
            <a:off x="4315968" y="1865376"/>
            <a:ext cx="3520440" cy="877824"/>
          </a:xfrm>
          <a:prstGeom prst="roundRect">
            <a:avLst>
              <a:gd name="adj" fmla="val 729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22" name="blk2"/>
          <p:cNvSpPr/>
          <p:nvPr/>
        </p:nvSpPr>
        <p:spPr>
          <a:xfrm>
            <a:off x="4462272" y="2130552"/>
            <a:ext cx="347472" cy="347472"/>
          </a:xfrm>
          <a:prstGeom prst="ellipse">
            <a:avLst/>
          </a:prstGeom>
          <a:solidFill>
            <a:srgbClr val="E8EDF6"/>
          </a:solidFill>
          <a:ln w="12700">
            <a:solidFill>
              <a:srgbClr val="C7D2E6"/>
            </a:solidFill>
            <a:prstDash val="solid"/>
          </a:ln>
        </p:spPr>
      </p:sp>
      <p:sp>
        <p:nvSpPr>
          <p:cNvPr id="23" name="blk2"/>
          <p:cNvSpPr/>
          <p:nvPr/>
        </p:nvSpPr>
        <p:spPr>
          <a:xfrm>
            <a:off x="4462272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blk2"/>
          <p:cNvSpPr/>
          <p:nvPr/>
        </p:nvSpPr>
        <p:spPr>
          <a:xfrm>
            <a:off x="4956048" y="1865376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Considers person–environment interaction</a:t>
            </a:r>
            <a:endParaRPr lang="en-US" sz="1200" dirty="0"/>
          </a:p>
        </p:txBody>
      </p:sp>
      <p:sp>
        <p:nvSpPr>
          <p:cNvPr id="25" name="blk2"/>
          <p:cNvSpPr/>
          <p:nvPr/>
        </p:nvSpPr>
        <p:spPr>
          <a:xfrm>
            <a:off x="4315968" y="2871216"/>
            <a:ext cx="3520440" cy="877824"/>
          </a:xfrm>
          <a:prstGeom prst="roundRect">
            <a:avLst>
              <a:gd name="adj" fmla="val 729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26" name="blk2"/>
          <p:cNvSpPr/>
          <p:nvPr/>
        </p:nvSpPr>
        <p:spPr>
          <a:xfrm>
            <a:off x="4462272" y="3136392"/>
            <a:ext cx="347472" cy="347472"/>
          </a:xfrm>
          <a:prstGeom prst="ellipse">
            <a:avLst/>
          </a:prstGeom>
          <a:solidFill>
            <a:srgbClr val="E8EDF6"/>
          </a:solidFill>
          <a:ln w="12700">
            <a:solidFill>
              <a:srgbClr val="C7D2E6"/>
            </a:solidFill>
            <a:prstDash val="solid"/>
          </a:ln>
        </p:spPr>
      </p:sp>
      <p:sp>
        <p:nvSpPr>
          <p:cNvPr id="27" name="blk2"/>
          <p:cNvSpPr/>
          <p:nvPr/>
        </p:nvSpPr>
        <p:spPr>
          <a:xfrm>
            <a:off x="4462272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blk2"/>
          <p:cNvSpPr/>
          <p:nvPr/>
        </p:nvSpPr>
        <p:spPr>
          <a:xfrm>
            <a:off x="4956048" y="2871216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Encourages active client participation</a:t>
            </a:r>
            <a:endParaRPr lang="en-US" sz="1200" dirty="0"/>
          </a:p>
        </p:txBody>
      </p:sp>
      <p:sp>
        <p:nvSpPr>
          <p:cNvPr id="29" name="blk2"/>
          <p:cNvSpPr/>
          <p:nvPr/>
        </p:nvSpPr>
        <p:spPr>
          <a:xfrm>
            <a:off x="4315968" y="3877056"/>
            <a:ext cx="3520440" cy="877824"/>
          </a:xfrm>
          <a:prstGeom prst="roundRect">
            <a:avLst>
              <a:gd name="adj" fmla="val 7292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30" name="blk2"/>
          <p:cNvSpPr/>
          <p:nvPr/>
        </p:nvSpPr>
        <p:spPr>
          <a:xfrm>
            <a:off x="4462272" y="4142232"/>
            <a:ext cx="347472" cy="347472"/>
          </a:xfrm>
          <a:prstGeom prst="ellipse">
            <a:avLst/>
          </a:prstGeom>
          <a:solidFill>
            <a:srgbClr val="E8EDF6"/>
          </a:solidFill>
          <a:ln w="12700">
            <a:solidFill>
              <a:srgbClr val="C7D2E6"/>
            </a:solidFill>
            <a:prstDash val="solid"/>
          </a:ln>
        </p:spPr>
      </p:sp>
      <p:sp>
        <p:nvSpPr>
          <p:cNvPr id="31" name="blk2"/>
          <p:cNvSpPr/>
          <p:nvPr/>
        </p:nvSpPr>
        <p:spPr>
          <a:xfrm>
            <a:off x="4462272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blk2"/>
          <p:cNvSpPr/>
          <p:nvPr/>
        </p:nvSpPr>
        <p:spPr>
          <a:xfrm>
            <a:off x="4956048" y="3877056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Supports experiential emotional processing</a:t>
            </a:r>
            <a:endParaRPr lang="en-US" sz="1200" dirty="0"/>
          </a:p>
        </p:txBody>
      </p:sp>
      <p:pic>
        <p:nvPicPr>
          <p:cNvPr id="33" name="img" descr="/home/user/Business-e-books/presentations/gestalt-theory-counselling/assets/h-suppor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591056"/>
            <a:ext cx="3584448" cy="4160520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34" name="Text 30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0" presetClass="entr" presetSubtype="0" fill="hold" nodeType="after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sho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Limitations and Criticisms</a:t>
            </a:r>
            <a:endParaRPr lang="en-US" sz="4800" dirty="0"/>
          </a:p>
        </p:txBody>
      </p:sp>
      <p:pic>
        <p:nvPicPr>
          <p:cNvPr id="5" name="img" descr="/home/user/Business-e-books/presentations/gestalt-theory-counselling/assets/p-stor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737360"/>
            <a:ext cx="3566160" cy="4160520"/>
          </a:xfrm>
          <a:prstGeom prst="roundRect">
            <a:avLst>
              <a:gd name="adj" fmla="val 5000"/>
            </a:avLst>
          </a:prstGeom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pic>
      <p:sp>
        <p:nvSpPr>
          <p:cNvPr id="6" name="blk1"/>
          <p:cNvSpPr/>
          <p:nvPr/>
        </p:nvSpPr>
        <p:spPr>
          <a:xfrm>
            <a:off x="4434840" y="1737360"/>
            <a:ext cx="3474720" cy="4160520"/>
          </a:xfrm>
          <a:prstGeom prst="roundRect">
            <a:avLst>
              <a:gd name="adj" fmla="val 2368"/>
            </a:avLst>
          </a:prstGeom>
          <a:noFill/>
          <a:ln w="12700">
            <a:solidFill>
              <a:schemeClr val="bg1"/>
            </a:solidFill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7" name="blk1"/>
          <p:cNvSpPr/>
          <p:nvPr/>
        </p:nvSpPr>
        <p:spPr>
          <a:xfrm>
            <a:off x="4672584" y="1975104"/>
            <a:ext cx="299923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Some techniques may feel intense</a:t>
            </a:r>
            <a:endParaRPr lang="en-US" dirty="0"/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Requires skilled and sensitive application</a:t>
            </a:r>
            <a:endParaRPr lang="en-US" dirty="0"/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May be challenging for clients who prefer highly structured approaches</a:t>
            </a:r>
            <a:endParaRPr lang="en-US" dirty="0"/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Experiential techniques can be </a:t>
            </a:r>
            <a:r>
              <a:rPr lang="en-US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misused</a:t>
            </a:r>
            <a:endParaRPr lang="en-US" dirty="0"/>
          </a:p>
        </p:txBody>
      </p:sp>
      <p:sp>
        <p:nvSpPr>
          <p:cNvPr id="8" name="blk2"/>
          <p:cNvSpPr/>
          <p:nvPr/>
        </p:nvSpPr>
        <p:spPr>
          <a:xfrm>
            <a:off x="8110728" y="1737360"/>
            <a:ext cx="3474720" cy="3840480"/>
          </a:xfrm>
          <a:prstGeom prst="roundRect">
            <a:avLst>
              <a:gd name="adj" fmla="val 2368"/>
            </a:avLst>
          </a:prstGeom>
          <a:noFill/>
          <a:ln w="12700">
            <a:solidFill>
              <a:schemeClr val="bg1"/>
            </a:solidFill>
            <a:prstDash val="solid"/>
          </a:ln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9" name="blk2"/>
          <p:cNvSpPr/>
          <p:nvPr/>
        </p:nvSpPr>
        <p:spPr>
          <a:xfrm>
            <a:off x="8348472" y="1975104"/>
            <a:ext cx="299923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every intervention suits every client</a:t>
            </a:r>
            <a:endParaRPr lang="en-US" sz="20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Cultural context</a:t>
            </a:r>
            <a:r>
              <a:rPr lang="en-US" sz="20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must be considered</a:t>
            </a:r>
            <a:endParaRPr lang="en-US" sz="20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Ethical boundaries are essential</a:t>
            </a:r>
            <a:endParaRPr lang="en-US" sz="2000" dirty="0"/>
          </a:p>
        </p:txBody>
      </p:sp>
      <p:sp>
        <p:nvSpPr>
          <p:cNvPr id="10" name="blk3"/>
          <p:cNvSpPr/>
          <p:nvPr/>
        </p:nvSpPr>
        <p:spPr>
          <a:xfrm>
            <a:off x="603504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(Corey, 2024; Joyce &amp; Sills, 2014)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0" presetClass="entr" presetSubtype="0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sho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Case Application</a:t>
            </a:r>
            <a:endParaRPr lang="en-US" sz="44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3246120" cy="4526280"/>
          </a:xfrm>
          <a:prstGeom prst="roundRect">
            <a:avLst>
              <a:gd name="adj" fmla="val 253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pic>
        <p:nvPicPr>
          <p:cNvPr id="6" name="blk1" descr="/home/user/Business-e-books/presentations/gestalt-theory-counselling/assets/h-student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700784"/>
            <a:ext cx="3026664" cy="2816352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7" name="blk1"/>
          <p:cNvSpPr/>
          <p:nvPr/>
        </p:nvSpPr>
        <p:spPr>
          <a:xfrm>
            <a:off x="859536" y="47183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CLIENT</a:t>
            </a:r>
            <a:endParaRPr lang="en-US" sz="900" dirty="0"/>
          </a:p>
        </p:txBody>
      </p:sp>
      <p:sp>
        <p:nvSpPr>
          <p:cNvPr id="8" name="blk1"/>
          <p:cNvSpPr/>
          <p:nvPr/>
        </p:nvSpPr>
        <p:spPr>
          <a:xfrm>
            <a:off x="859536" y="497433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20-year-old undergraduate scholarship student</a:t>
            </a:r>
            <a:endParaRPr lang="en-US" sz="1600" dirty="0"/>
          </a:p>
        </p:txBody>
      </p:sp>
      <p:sp>
        <p:nvSpPr>
          <p:cNvPr id="9" name="blk2"/>
          <p:cNvSpPr/>
          <p:nvPr/>
        </p:nvSpPr>
        <p:spPr>
          <a:xfrm>
            <a:off x="4069080" y="1591056"/>
            <a:ext cx="2414016" cy="4526280"/>
          </a:xfrm>
          <a:prstGeom prst="roundRect">
            <a:avLst>
              <a:gd name="adj" fmla="val 340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0" name="blk2"/>
          <p:cNvSpPr/>
          <p:nvPr/>
        </p:nvSpPr>
        <p:spPr>
          <a:xfrm>
            <a:off x="4069080" y="1591056"/>
            <a:ext cx="2414016" cy="475488"/>
          </a:xfrm>
          <a:prstGeom prst="rect">
            <a:avLst/>
          </a:prstGeom>
          <a:solidFill>
            <a:srgbClr val="0A1937"/>
          </a:solidFill>
          <a:ln/>
        </p:spPr>
      </p:sp>
      <p:sp>
        <p:nvSpPr>
          <p:cNvPr id="11" name="blk2"/>
          <p:cNvSpPr/>
          <p:nvPr/>
        </p:nvSpPr>
        <p:spPr>
          <a:xfrm>
            <a:off x="4187952" y="1591056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7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 · PRESENTING CONCERNS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blk2"/>
          <p:cNvSpPr/>
          <p:nvPr/>
        </p:nvSpPr>
        <p:spPr>
          <a:xfrm>
            <a:off x="4233672" y="2249424"/>
            <a:ext cx="212140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Academic anxiety</a:t>
            </a:r>
            <a:endParaRPr lang="en-US" sz="14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Fear of losing scholarship</a:t>
            </a:r>
            <a:endParaRPr lang="en-US" sz="14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Fear of disappointing family</a:t>
            </a:r>
            <a:endParaRPr lang="en-US" sz="14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Difficulty expressing emotions</a:t>
            </a:r>
            <a:endParaRPr lang="en-US" sz="14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Pressure to maintain high grades</a:t>
            </a:r>
            <a:endParaRPr lang="en-US" sz="1400" dirty="0"/>
          </a:p>
        </p:txBody>
      </p:sp>
      <p:sp>
        <p:nvSpPr>
          <p:cNvPr id="13" name="blk3"/>
          <p:cNvSpPr/>
          <p:nvPr/>
        </p:nvSpPr>
        <p:spPr>
          <a:xfrm>
            <a:off x="6620256" y="1865376"/>
            <a:ext cx="2414016" cy="4251960"/>
          </a:xfrm>
          <a:prstGeom prst="roundRect">
            <a:avLst>
              <a:gd name="adj" fmla="val 340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4" name="blk3"/>
          <p:cNvSpPr/>
          <p:nvPr/>
        </p:nvSpPr>
        <p:spPr>
          <a:xfrm>
            <a:off x="6620256" y="1865376"/>
            <a:ext cx="2414016" cy="475488"/>
          </a:xfrm>
          <a:prstGeom prst="rect">
            <a:avLst/>
          </a:prstGeom>
          <a:solidFill>
            <a:srgbClr val="162B57"/>
          </a:solidFill>
          <a:ln/>
        </p:spPr>
      </p:sp>
      <p:sp>
        <p:nvSpPr>
          <p:cNvPr id="15" name="blk3"/>
          <p:cNvSpPr/>
          <p:nvPr/>
        </p:nvSpPr>
        <p:spPr>
          <a:xfrm>
            <a:off x="6739128" y="1865376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7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 · GESTALT CONCEPTUALIZATION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blk3"/>
          <p:cNvSpPr/>
          <p:nvPr/>
        </p:nvSpPr>
        <p:spPr>
          <a:xfrm>
            <a:off x="6784848" y="2523744"/>
            <a:ext cx="21214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Anxiety becomes figure</a:t>
            </a:r>
            <a:endParaRPr lang="en-US" sz="16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Possible introjected expectations</a:t>
            </a:r>
            <a:endParaRPr lang="en-US" sz="16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Limited awareness of personal needs</a:t>
            </a:r>
            <a:endParaRPr lang="en-US" sz="16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Interrupted contact</a:t>
            </a:r>
            <a:endParaRPr lang="en-US" sz="1600" dirty="0"/>
          </a:p>
        </p:txBody>
      </p:sp>
      <p:sp>
        <p:nvSpPr>
          <p:cNvPr id="17" name="blk4"/>
          <p:cNvSpPr/>
          <p:nvPr/>
        </p:nvSpPr>
        <p:spPr>
          <a:xfrm>
            <a:off x="9171432" y="1591056"/>
            <a:ext cx="2414016" cy="4526280"/>
          </a:xfrm>
          <a:prstGeom prst="roundRect">
            <a:avLst>
              <a:gd name="adj" fmla="val 340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8" name="blk4"/>
          <p:cNvSpPr/>
          <p:nvPr/>
        </p:nvSpPr>
        <p:spPr>
          <a:xfrm>
            <a:off x="9171432" y="1591056"/>
            <a:ext cx="2414016" cy="475488"/>
          </a:xfrm>
          <a:prstGeom prst="rect">
            <a:avLst/>
          </a:prstGeom>
          <a:solidFill>
            <a:srgbClr val="5A6B94"/>
          </a:solidFill>
          <a:ln/>
        </p:spPr>
      </p:sp>
      <p:sp>
        <p:nvSpPr>
          <p:cNvPr id="19" name="blk4"/>
          <p:cNvSpPr/>
          <p:nvPr/>
        </p:nvSpPr>
        <p:spPr>
          <a:xfrm>
            <a:off x="9290304" y="1591056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7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 · POSSIBLE INTERVENTIONS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blk4"/>
          <p:cNvSpPr/>
          <p:nvPr/>
        </p:nvSpPr>
        <p:spPr>
          <a:xfrm>
            <a:off x="9336024" y="2249424"/>
            <a:ext cx="212140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Here-and-now exploration</a:t>
            </a:r>
            <a:endParaRPr lang="en-US" sz="16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Body awareness</a:t>
            </a:r>
            <a:endParaRPr lang="en-US" sz="16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Staying with the feeling</a:t>
            </a:r>
            <a:endParaRPr lang="en-US" sz="16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“I” statements</a:t>
            </a:r>
            <a:endParaRPr lang="en-US" sz="1600" dirty="0"/>
          </a:p>
          <a:p>
            <a:pPr marL="171450" indent="-171450">
              <a:lnSpc>
                <a:spcPct val="12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Exploring introjected beliefs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after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sho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Critical Evaluation</a:t>
            </a:r>
            <a:endParaRPr lang="en-US" sz="2600" dirty="0"/>
          </a:p>
        </p:txBody>
      </p:sp>
      <p:sp>
        <p:nvSpPr>
          <p:cNvPr id="5" name="blk1"/>
          <p:cNvSpPr/>
          <p:nvPr/>
        </p:nvSpPr>
        <p:spPr>
          <a:xfrm>
            <a:off x="603504" y="1591056"/>
            <a:ext cx="5340096" cy="4535424"/>
          </a:xfrm>
          <a:prstGeom prst="roundRect">
            <a:avLst>
              <a:gd name="adj" fmla="val 181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pic>
        <p:nvPicPr>
          <p:cNvPr id="6" name="blk1" descr="/home/user/Business-e-books/presentations/gestalt-theory-counselling/assets/circle-seed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1828800"/>
            <a:ext cx="713232" cy="713232"/>
          </a:xfrm>
          <a:prstGeom prst="roundRect">
            <a:avLst>
              <a:gd name="adj" fmla="val 5000"/>
            </a:avLst>
          </a:prstGeom>
        </p:spPr>
      </p:pic>
      <p:sp>
        <p:nvSpPr>
          <p:cNvPr id="7" name="blk1"/>
          <p:cNvSpPr/>
          <p:nvPr/>
        </p:nvSpPr>
        <p:spPr>
          <a:xfrm>
            <a:off x="1773936" y="1975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162B5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CONTRIBUTIONS</a:t>
            </a:r>
            <a:endParaRPr lang="en-US" sz="1550" dirty="0"/>
          </a:p>
        </p:txBody>
      </p:sp>
      <p:sp>
        <p:nvSpPr>
          <p:cNvPr id="8" name="blk1"/>
          <p:cNvSpPr/>
          <p:nvPr/>
        </p:nvSpPr>
        <p:spPr>
          <a:xfrm>
            <a:off x="1773936" y="2414016"/>
            <a:ext cx="822960" cy="36576"/>
          </a:xfrm>
          <a:prstGeom prst="rect">
            <a:avLst/>
          </a:prstGeom>
          <a:solidFill>
            <a:srgbClr val="162B57"/>
          </a:solidFill>
          <a:ln/>
        </p:spPr>
      </p:sp>
      <p:sp>
        <p:nvSpPr>
          <p:cNvPr id="9" name="blk1"/>
          <p:cNvSpPr/>
          <p:nvPr/>
        </p:nvSpPr>
        <p:spPr>
          <a:xfrm>
            <a:off x="877824" y="2798064"/>
            <a:ext cx="4791456" cy="11887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10" name="blk1"/>
          <p:cNvSpPr/>
          <p:nvPr/>
        </p:nvSpPr>
        <p:spPr>
          <a:xfrm>
            <a:off x="877824" y="3017520"/>
            <a:ext cx="47914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Holistic understanding of human experience</a:t>
            </a:r>
            <a:endParaRPr lang="en-US" dirty="0"/>
          </a:p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Strong emphasis on awareness</a:t>
            </a:r>
            <a:endParaRPr lang="en-US" dirty="0"/>
          </a:p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Integrates body, emotion and cognition</a:t>
            </a:r>
            <a:endParaRPr lang="en-US" dirty="0"/>
          </a:p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Recognizes person–environment interaction</a:t>
            </a:r>
            <a:endParaRPr lang="en-US" dirty="0"/>
          </a:p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Promotes agency and authentic choice</a:t>
            </a:r>
            <a:endParaRPr lang="en-US" dirty="0"/>
          </a:p>
        </p:txBody>
      </p:sp>
      <p:sp>
        <p:nvSpPr>
          <p:cNvPr id="11" name="blk2"/>
          <p:cNvSpPr/>
          <p:nvPr/>
        </p:nvSpPr>
        <p:spPr>
          <a:xfrm>
            <a:off x="6245352" y="1591056"/>
            <a:ext cx="5340096" cy="4535424"/>
          </a:xfrm>
          <a:prstGeom prst="roundRect">
            <a:avLst>
              <a:gd name="adj" fmla="val 181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pic>
        <p:nvPicPr>
          <p:cNvPr id="12" name="blk2" descr="/home/user/Business-e-books/presentations/gestalt-theory-counselling/assets/circle-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2103120"/>
            <a:ext cx="713232" cy="713232"/>
          </a:xfrm>
          <a:prstGeom prst="roundRect">
            <a:avLst>
              <a:gd name="adj" fmla="val 5000"/>
            </a:avLst>
          </a:prstGeom>
        </p:spPr>
      </p:pic>
      <p:sp>
        <p:nvSpPr>
          <p:cNvPr id="13" name="blk2"/>
          <p:cNvSpPr/>
          <p:nvPr/>
        </p:nvSpPr>
        <p:spPr>
          <a:xfrm>
            <a:off x="7415784" y="22494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5A6B9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CONSIDERATIONS</a:t>
            </a:r>
            <a:endParaRPr lang="en-US" sz="1550" dirty="0"/>
          </a:p>
        </p:txBody>
      </p:sp>
      <p:sp>
        <p:nvSpPr>
          <p:cNvPr id="14" name="blk2"/>
          <p:cNvSpPr/>
          <p:nvPr/>
        </p:nvSpPr>
        <p:spPr>
          <a:xfrm>
            <a:off x="7415784" y="2688336"/>
            <a:ext cx="822960" cy="36576"/>
          </a:xfrm>
          <a:prstGeom prst="rect">
            <a:avLst/>
          </a:prstGeom>
          <a:solidFill>
            <a:srgbClr val="5A6B94"/>
          </a:solidFill>
          <a:ln/>
        </p:spPr>
      </p:sp>
      <p:sp>
        <p:nvSpPr>
          <p:cNvPr id="15" name="blk2"/>
          <p:cNvSpPr/>
          <p:nvPr/>
        </p:nvSpPr>
        <p:spPr>
          <a:xfrm>
            <a:off x="6519672" y="3072384"/>
            <a:ext cx="4791456" cy="11887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16" name="blk2"/>
          <p:cNvSpPr/>
          <p:nvPr/>
        </p:nvSpPr>
        <p:spPr>
          <a:xfrm>
            <a:off x="6519672" y="3291840"/>
            <a:ext cx="47914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Cultural adaptation</a:t>
            </a:r>
            <a:endParaRPr lang="en-US" sz="1600" dirty="0"/>
          </a:p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Client readiness</a:t>
            </a:r>
            <a:endParaRPr lang="en-US" sz="1600" dirty="0"/>
          </a:p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Therapist competence</a:t>
            </a:r>
            <a:endParaRPr lang="en-US" sz="1600" dirty="0"/>
          </a:p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Appropriate use of experiential techniques</a:t>
            </a:r>
            <a:endParaRPr lang="en-US" sz="1600" dirty="0"/>
          </a:p>
          <a:p>
            <a:pPr marL="285750" indent="-285750">
              <a:lnSpc>
                <a:spcPct val="130000"/>
              </a:lnSpc>
              <a:spcAft>
                <a:spcPts val="11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Balance between present and past experience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night.jp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927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CLOSING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5" name="blk1"/>
          <p:cNvSpPr/>
          <p:nvPr/>
        </p:nvSpPr>
        <p:spPr>
          <a:xfrm>
            <a:off x="4544568" y="1627632"/>
            <a:ext cx="3108960" cy="493776"/>
          </a:xfrm>
          <a:prstGeom prst="roundRect">
            <a:avLst>
              <a:gd name="adj" fmla="val 11111"/>
            </a:avLst>
          </a:prstGeom>
          <a:solidFill>
            <a:srgbClr val="162B57"/>
          </a:solidFill>
          <a:ln w="9525">
            <a:solidFill>
              <a:srgbClr val="4660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AWARENESS</a:t>
            </a:r>
            <a:endParaRPr lang="en-US" sz="1150" dirty="0"/>
          </a:p>
        </p:txBody>
      </p:sp>
      <p:sp>
        <p:nvSpPr>
          <p:cNvPr id="6" name="blk1"/>
          <p:cNvSpPr/>
          <p:nvPr/>
        </p:nvSpPr>
        <p:spPr>
          <a:xfrm>
            <a:off x="4544568" y="20848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blk1"/>
          <p:cNvSpPr/>
          <p:nvPr/>
        </p:nvSpPr>
        <p:spPr>
          <a:xfrm>
            <a:off x="4544568" y="2432304"/>
            <a:ext cx="3108960" cy="493776"/>
          </a:xfrm>
          <a:prstGeom prst="roundRect">
            <a:avLst>
              <a:gd name="adj" fmla="val 11111"/>
            </a:avLst>
          </a:prstGeom>
          <a:solidFill>
            <a:srgbClr val="162B57"/>
          </a:solidFill>
          <a:ln w="9525">
            <a:solidFill>
              <a:srgbClr val="4660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HERE-AND-NOW</a:t>
            </a:r>
            <a:endParaRPr lang="en-US" sz="1150" dirty="0"/>
          </a:p>
        </p:txBody>
      </p:sp>
      <p:sp>
        <p:nvSpPr>
          <p:cNvPr id="8" name="blk1"/>
          <p:cNvSpPr/>
          <p:nvPr/>
        </p:nvSpPr>
        <p:spPr>
          <a:xfrm>
            <a:off x="4544568" y="28895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blk1"/>
          <p:cNvSpPr/>
          <p:nvPr/>
        </p:nvSpPr>
        <p:spPr>
          <a:xfrm>
            <a:off x="4544568" y="3236976"/>
            <a:ext cx="3108960" cy="493776"/>
          </a:xfrm>
          <a:prstGeom prst="roundRect">
            <a:avLst>
              <a:gd name="adj" fmla="val 11111"/>
            </a:avLst>
          </a:prstGeom>
          <a:solidFill>
            <a:srgbClr val="162B57"/>
          </a:solidFill>
          <a:ln w="9525">
            <a:solidFill>
              <a:srgbClr val="4660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CONTACT</a:t>
            </a:r>
            <a:endParaRPr lang="en-US" sz="1150" dirty="0"/>
          </a:p>
        </p:txBody>
      </p:sp>
      <p:sp>
        <p:nvSpPr>
          <p:cNvPr id="10" name="blk1"/>
          <p:cNvSpPr/>
          <p:nvPr/>
        </p:nvSpPr>
        <p:spPr>
          <a:xfrm>
            <a:off x="4544568" y="36941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blk1"/>
          <p:cNvSpPr/>
          <p:nvPr/>
        </p:nvSpPr>
        <p:spPr>
          <a:xfrm>
            <a:off x="4544568" y="4041648"/>
            <a:ext cx="3108960" cy="493776"/>
          </a:xfrm>
          <a:prstGeom prst="roundRect">
            <a:avLst>
              <a:gd name="adj" fmla="val 11111"/>
            </a:avLst>
          </a:prstGeom>
          <a:solidFill>
            <a:srgbClr val="162B57"/>
          </a:solidFill>
          <a:ln w="9525">
            <a:solidFill>
              <a:srgbClr val="4660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RESPONSIBILITY &amp; CHOICE</a:t>
            </a:r>
            <a:endParaRPr lang="en-US" sz="1150" dirty="0"/>
          </a:p>
        </p:txBody>
      </p:sp>
      <p:sp>
        <p:nvSpPr>
          <p:cNvPr id="12" name="blk1"/>
          <p:cNvSpPr/>
          <p:nvPr/>
        </p:nvSpPr>
        <p:spPr>
          <a:xfrm>
            <a:off x="4544568" y="44988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blk1"/>
          <p:cNvSpPr/>
          <p:nvPr/>
        </p:nvSpPr>
        <p:spPr>
          <a:xfrm>
            <a:off x="4544568" y="4846320"/>
            <a:ext cx="3108960" cy="493776"/>
          </a:xfrm>
          <a:prstGeom prst="roundRect">
            <a:avLst>
              <a:gd name="adj" fmla="val 11111"/>
            </a:avLst>
          </a:prstGeom>
          <a:solidFill>
            <a:srgbClr val="8097BE"/>
          </a:solidFill>
          <a:ln w="12700">
            <a:solidFill>
              <a:srgbClr val="8097B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0A193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GROWTH</a:t>
            </a:r>
            <a:endParaRPr lang="en-US" sz="1150" dirty="0"/>
          </a:p>
        </p:txBody>
      </p:sp>
      <p:pic>
        <p:nvPicPr>
          <p:cNvPr id="14" name="img" descr="/home/user/Business-e-books/presentations/gestalt-theory-counselling/assets/p-summi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1737360"/>
            <a:ext cx="3081528" cy="4315968"/>
          </a:xfrm>
          <a:prstGeom prst="roundRect">
            <a:avLst>
              <a:gd name="adj" fmla="val 5000"/>
            </a:avLst>
          </a:prstGeom>
          <a:effectLst>
            <a:outerShdw blurRad="177800" dist="63500" dir="5400000" algn="bl" rotWithShape="0">
              <a:srgbClr val="000000">
                <a:alpha val="32000"/>
              </a:srgbClr>
            </a:outerShdw>
          </a:effectLst>
        </p:spPr>
      </p:pic>
      <p:sp>
        <p:nvSpPr>
          <p:cNvPr id="15" name="blk2"/>
          <p:cNvSpPr/>
          <p:nvPr/>
        </p:nvSpPr>
        <p:spPr>
          <a:xfrm>
            <a:off x="603504" y="553212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Greater awareness creates greater possibilities for choice and change.</a:t>
            </a:r>
            <a:endParaRPr lang="en-US" sz="1450" dirty="0"/>
          </a:p>
        </p:txBody>
      </p:sp>
      <p:sp>
        <p:nvSpPr>
          <p:cNvPr id="16" name="blk2"/>
          <p:cNvSpPr/>
          <p:nvPr/>
        </p:nvSpPr>
        <p:spPr>
          <a:xfrm>
            <a:off x="603504" y="59893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(Perls et al., 1951; Joyce &amp; Sills, 2014)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0" presetClass="entr" presetSubtype="0" fill="hold" nodeType="after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/home/user/Business-e-books/presentations/gestalt-theory-counselling/assets/bg-n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dr"/>
          <p:cNvSpPr/>
          <p:nvPr/>
        </p:nvSpPr>
        <p:spPr>
          <a:xfrm>
            <a:off x="603504" y="5486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CLOSING</a:t>
            </a:r>
            <a:endParaRPr lang="en-US" sz="900" dirty="0"/>
          </a:p>
        </p:txBody>
      </p:sp>
      <p:sp>
        <p:nvSpPr>
          <p:cNvPr id="4" name="hdr"/>
          <p:cNvSpPr/>
          <p:nvPr/>
        </p:nvSpPr>
        <p:spPr>
          <a:xfrm>
            <a:off x="603504" y="78638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References</a:t>
            </a:r>
            <a:endParaRPr lang="en-US" sz="4400" dirty="0"/>
          </a:p>
        </p:txBody>
      </p:sp>
      <p:pic>
        <p:nvPicPr>
          <p:cNvPr id="5" name="img" descr="/home/user/Business-e-books/presentations/gestalt-theory-counselling/assets/p-book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591056"/>
            <a:ext cx="2743200" cy="4480560"/>
          </a:xfrm>
          <a:prstGeom prst="roundRect">
            <a:avLst>
              <a:gd name="adj" fmla="val 5000"/>
            </a:avLst>
          </a:prstGeom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pic>
      <p:sp>
        <p:nvSpPr>
          <p:cNvPr id="6" name="blk1"/>
          <p:cNvSpPr/>
          <p:nvPr/>
        </p:nvSpPr>
        <p:spPr>
          <a:xfrm>
            <a:off x="3611880" y="1591056"/>
            <a:ext cx="7973568" cy="4526280"/>
          </a:xfrm>
          <a:prstGeom prst="roundRect">
            <a:avLst>
              <a:gd name="adj" fmla="val 181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7" name="blk1"/>
          <p:cNvSpPr/>
          <p:nvPr/>
        </p:nvSpPr>
        <p:spPr>
          <a:xfrm>
            <a:off x="3886200" y="1847088"/>
            <a:ext cx="742492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Brownell, P. (2010). </a:t>
            </a:r>
            <a:r>
              <a:rPr lang="en-US" sz="1400" i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Gestalt therapy: A guide to contemporary practice</a:t>
            </a: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. Springer Publishing Company.</a:t>
            </a:r>
            <a:endParaRPr lang="en-US" sz="1400" dirty="0"/>
          </a:p>
          <a:p>
            <a:pPr marL="0" indent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Corey, G. (2024). </a:t>
            </a:r>
            <a:r>
              <a:rPr lang="en-US" sz="1400" i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Theory and practice of counseling and psychotherapy</a:t>
            </a: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(11th ed.). Cengage Learning.</a:t>
            </a:r>
            <a:endParaRPr lang="en-US" sz="1400" dirty="0"/>
          </a:p>
          <a:p>
            <a:pPr marL="0" indent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Joyce, P., &amp; Sills, C. (2014). </a:t>
            </a:r>
            <a:r>
              <a:rPr lang="en-US" sz="1400" i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Skills in Gestalt counselling &amp; psychotherapy</a:t>
            </a: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(3rd ed.). SAGE.</a:t>
            </a:r>
            <a:endParaRPr lang="en-US" sz="1400" dirty="0"/>
          </a:p>
          <a:p>
            <a:pPr marL="0" indent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Perls, F. S., Hefferline, R. F., &amp; Goodman, P. (1951). </a:t>
            </a:r>
            <a:r>
              <a:rPr lang="en-US" sz="1400" i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Gestalt therapy: Excitement and growth in the human personality</a:t>
            </a: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. Julian Press.</a:t>
            </a:r>
            <a:endParaRPr lang="en-US" sz="1400" dirty="0"/>
          </a:p>
          <a:p>
            <a:pPr marL="0" indent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Woldt, A. L., &amp; Toman, S. M. (Eds.). (2005). </a:t>
            </a:r>
            <a:r>
              <a:rPr lang="en-US" sz="1400" i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Gestalt therapy: History, theory, and practice</a:t>
            </a: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. SAGE.</a:t>
            </a:r>
            <a:endParaRPr lang="en-US" sz="1400" dirty="0"/>
          </a:p>
          <a:p>
            <a:pPr marL="0" indent="0">
              <a:lnSpc>
                <a:spcPct val="128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Yontef, G., &amp; Fuhr, R. (2005). Gestalt therapy theory of change. In A. L. Woldt &amp; S. Toman (Eds.), </a:t>
            </a:r>
            <a:r>
              <a:rPr lang="en-US" sz="1400" i="1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Gestalt therapy: History, theory, and practice</a:t>
            </a:r>
            <a:r>
              <a:rPr lang="en-US" sz="1400" dirty="0">
                <a:solidFill>
                  <a:srgbClr val="2B35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(pp. 81–100). SAGE.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03504" y="6519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AFRICAN CHRISTIAN UNIVERSITY  ·  MCP504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0698480" y="651967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0" presetClass="entr" presetSubtype="0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1492</Words>
  <Application>Microsoft Office PowerPoint</Application>
  <PresentationFormat>Widescreen</PresentationFormat>
  <Paragraphs>383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Corbel</vt:lpstr>
      <vt:lpstr>IBM Plex Mono</vt:lpstr>
      <vt:lpstr>Outfit</vt:lpstr>
      <vt:lpstr>Playfair Display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Pan African Christian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Gestalt Theory and Its Application to Counselling</dc:title>
  <dc:subject>MCP504 Theories of Counseling and Psychotherapy</dc:subject>
  <dc:creator>Group 4 — Pan African Christian University</dc:creator>
  <cp:lastModifiedBy>USER</cp:lastModifiedBy>
  <cp:revision>9</cp:revision>
  <dcterms:created xsi:type="dcterms:W3CDTF">2026-10-06T10:47:38Z</dcterms:created>
  <dcterms:modified xsi:type="dcterms:W3CDTF">2026-10-06T12:10:10Z</dcterms:modified>
</cp:coreProperties>
</file>